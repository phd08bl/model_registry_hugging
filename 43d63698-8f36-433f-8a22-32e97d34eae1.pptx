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jpeg"/><Relationship Id="rId15" Type="http://schemas.openxmlformats.org/officeDocument/2006/relationships/image" Target="../media/image-1-15.jpe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jpe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jpe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jpe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jpeg"/><Relationship Id="rId53" Type="http://schemas.openxmlformats.org/officeDocument/2006/relationships/image" Target="../media/image-1-53.png"/><Relationship Id="rId54" Type="http://schemas.openxmlformats.org/officeDocument/2006/relationships/image" Target="../media/image-1-54.jpe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slideLayout" Target="../slideLayouts/slideLayout1.xml"/><Relationship Id="rId6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953375"/>
            <a:ext cx="15925800" cy="10096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54300" y="8343900"/>
            <a:ext cx="257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627" dirty="0">
                <a:solidFill>
                  <a:srgbClr val="C4D2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627" dirty="0"/>
          </a:p>
        </p:txBody>
      </p:sp>
      <p:sp>
        <p:nvSpPr>
          <p:cNvPr id="5" name="Text 2"/>
          <p:cNvSpPr/>
          <p:nvPr/>
        </p:nvSpPr>
        <p:spPr>
          <a:xfrm>
            <a:off x="1371600" y="8162925"/>
            <a:ext cx="136493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07"/>
              </a:lnSpc>
              <a:buNone/>
            </a:pPr>
            <a:r>
              <a:rPr lang="en-US" sz="2964" b="1" dirty="0">
                <a:solidFill>
                  <a:srgbClr val="DFE6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digitises the workflow. Intelligence continuously improves it.</a:t>
            </a:r>
            <a:endParaRPr lang="en-US" sz="2964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8124825"/>
            <a:ext cx="457200" cy="6477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925800" cy="795337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23850" y="6048375"/>
            <a:ext cx="15201900" cy="1885950"/>
          </a:xfrm>
          <a:prstGeom prst="roundRect">
            <a:avLst>
              <a:gd name="adj" fmla="val 3030"/>
            </a:avLst>
          </a:prstGeom>
          <a:solidFill>
            <a:srgbClr val="F3F6EC"/>
          </a:solidFill>
          <a:ln w="9525">
            <a:solidFill>
              <a:srgbClr val="D4DDD5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975" y="6410325"/>
            <a:ext cx="13230225" cy="1457325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600" y="7648575"/>
            <a:ext cx="428625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096375" y="7353300"/>
            <a:ext cx="2257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2"/>
              </a:lnSpc>
              <a:buNone/>
            </a:pPr>
            <a:r>
              <a:rPr lang="en-US" sz="974" dirty="0">
                <a:solidFill>
                  <a:srgbClr val="8484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Continuously improves decision support</a:t>
            </a:r>
            <a:endParaRPr lang="en-US" sz="974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7372350"/>
            <a:ext cx="428625" cy="1143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610100" y="7362825"/>
            <a:ext cx="1304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1"/>
              </a:lnSpc>
              <a:buNone/>
            </a:pPr>
            <a:r>
              <a:rPr lang="en-US" sz="934" dirty="0">
                <a:solidFill>
                  <a:srgbClr val="808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Standardises processes</a:t>
            </a:r>
            <a:endParaRPr lang="en-US" sz="934" dirty="0"/>
          </a:p>
        </p:txBody>
      </p:sp>
      <p:sp>
        <p:nvSpPr>
          <p:cNvPr id="14" name="Text 6"/>
          <p:cNvSpPr/>
          <p:nvPr/>
        </p:nvSpPr>
        <p:spPr>
          <a:xfrm>
            <a:off x="9096375" y="7629525"/>
            <a:ext cx="19050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949" dirty="0">
                <a:solidFill>
                  <a:srgbClr val="7E7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reusable intelligence assets</a:t>
            </a:r>
            <a:endParaRPr lang="en-US" sz="949" dirty="0"/>
          </a:p>
        </p:txBody>
      </p:sp>
      <p:sp>
        <p:nvSpPr>
          <p:cNvPr id="15" name="Text 7"/>
          <p:cNvSpPr/>
          <p:nvPr/>
        </p:nvSpPr>
        <p:spPr>
          <a:xfrm>
            <a:off x="4762500" y="7620000"/>
            <a:ext cx="1085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2"/>
              </a:lnSpc>
              <a:buNone/>
            </a:pPr>
            <a:r>
              <a:rPr lang="en-US" sz="988" dirty="0">
                <a:solidFill>
                  <a:srgbClr val="807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project data</a:t>
            </a:r>
            <a:endParaRPr lang="en-US" sz="988" dirty="0"/>
          </a:p>
        </p:txBody>
      </p:sp>
      <p:sp>
        <p:nvSpPr>
          <p:cNvPr id="16" name="Text 8"/>
          <p:cNvSpPr/>
          <p:nvPr/>
        </p:nvSpPr>
        <p:spPr>
          <a:xfrm>
            <a:off x="9096375" y="7067550"/>
            <a:ext cx="1981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8"/>
              </a:lnSpc>
              <a:buNone/>
            </a:pPr>
            <a:r>
              <a:rPr lang="en-US" sz="958" dirty="0">
                <a:solidFill>
                  <a:srgbClr val="8383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organisational knowledge</a:t>
            </a:r>
            <a:endParaRPr lang="en-US" sz="958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7125" y="7096125"/>
            <a:ext cx="419100" cy="1047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905375" y="7067550"/>
            <a:ext cx="942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9"/>
              </a:lnSpc>
              <a:buNone/>
            </a:pPr>
            <a:r>
              <a:rPr lang="en-US" sz="939" dirty="0">
                <a:solidFill>
                  <a:srgbClr val="85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reports</a:t>
            </a:r>
            <a:endParaRPr lang="en-US" sz="939" dirty="0"/>
          </a:p>
        </p:txBody>
      </p:sp>
      <p:sp>
        <p:nvSpPr>
          <p:cNvPr id="19" name="Text 10"/>
          <p:cNvSpPr/>
          <p:nvPr/>
        </p:nvSpPr>
        <p:spPr>
          <a:xfrm>
            <a:off x="9096375" y="680085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984" dirty="0">
                <a:solidFill>
                  <a:srgbClr val="7C7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every future project</a:t>
            </a:r>
            <a:endParaRPr lang="en-US" sz="984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7125" y="6819900"/>
            <a:ext cx="419100" cy="12382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362450" y="6791325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4"/>
              </a:lnSpc>
              <a:buNone/>
            </a:pPr>
            <a:r>
              <a:rPr lang="en-US" sz="985" dirty="0">
                <a:solidFill>
                  <a:srgbClr val="7A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individual projects</a:t>
            </a:r>
            <a:endParaRPr lang="en-US" sz="985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7125" y="6543675"/>
            <a:ext cx="419100" cy="1143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591300" y="6105525"/>
            <a:ext cx="27336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9"/>
              </a:lnSpc>
              <a:buNone/>
            </a:pPr>
            <a:r>
              <a:rPr lang="en-US" sz="1860" b="1" dirty="0">
                <a:solidFill>
                  <a:srgbClr val="2E55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vs Intelligence</a:t>
            </a:r>
            <a:endParaRPr lang="en-US" sz="1860" dirty="0"/>
          </a:p>
        </p:txBody>
      </p:sp>
      <p:sp>
        <p:nvSpPr>
          <p:cNvPr id="24" name="Text 13"/>
          <p:cNvSpPr/>
          <p:nvPr/>
        </p:nvSpPr>
        <p:spPr>
          <a:xfrm>
            <a:off x="9105900" y="6515100"/>
            <a:ext cx="19240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3"/>
              </a:lnSpc>
              <a:buNone/>
            </a:pPr>
            <a:r>
              <a:rPr lang="en-US" sz="983" dirty="0">
                <a:solidFill>
                  <a:srgbClr val="797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from governed experience</a:t>
            </a:r>
            <a:endParaRPr lang="en-US" sz="983" dirty="0"/>
          </a:p>
        </p:txBody>
      </p:sp>
      <p:sp>
        <p:nvSpPr>
          <p:cNvPr id="25" name="Text 14"/>
          <p:cNvSpPr/>
          <p:nvPr/>
        </p:nvSpPr>
        <p:spPr>
          <a:xfrm>
            <a:off x="4667250" y="6505575"/>
            <a:ext cx="1114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6"/>
              </a:lnSpc>
              <a:buNone/>
            </a:pPr>
            <a:r>
              <a:rPr lang="en-US" sz="964" dirty="0">
                <a:solidFill>
                  <a:srgbClr val="7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Executes workflows</a:t>
            </a:r>
            <a:endParaRPr lang="en-US" sz="964" dirty="0"/>
          </a:p>
        </p:txBody>
      </p:sp>
      <p:sp>
        <p:nvSpPr>
          <p:cNvPr id="26" name="Text 15"/>
          <p:cNvSpPr/>
          <p:nvPr/>
        </p:nvSpPr>
        <p:spPr>
          <a:xfrm>
            <a:off x="14173200" y="5457825"/>
            <a:ext cx="1266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3"/>
              </a:lnSpc>
              <a:buNone/>
            </a:pPr>
            <a:r>
              <a:rPr lang="en-US" sz="969" dirty="0">
                <a:solidFill>
                  <a:srgbClr val="9292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with consistency</a:t>
            </a:r>
            <a:endParaRPr lang="en-US" sz="969" dirty="0"/>
          </a:p>
          <a:p>
            <a:pPr algn="l" indent="0" marL="0">
              <a:lnSpc>
                <a:spcPts val="1143"/>
              </a:lnSpc>
              <a:buNone/>
            </a:pPr>
            <a:r>
              <a:rPr lang="en-US" sz="969" dirty="0">
                <a:solidFill>
                  <a:srgbClr val="9292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explainability</a:t>
            </a:r>
            <a:endParaRPr lang="en-US" sz="969" dirty="0"/>
          </a:p>
        </p:txBody>
      </p:sp>
      <p:sp>
        <p:nvSpPr>
          <p:cNvPr id="27" name="Text 16"/>
          <p:cNvSpPr/>
          <p:nvPr/>
        </p:nvSpPr>
        <p:spPr>
          <a:xfrm>
            <a:off x="14173200" y="5019675"/>
            <a:ext cx="1047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1036" b="1" dirty="0">
                <a:solidFill>
                  <a:srgbClr val="5A7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Al Risk</a:t>
            </a:r>
            <a:endParaRPr lang="en-US" sz="1036" dirty="0"/>
          </a:p>
          <a:p>
            <a:pPr algn="l" indent="0" marL="0">
              <a:lnSpc>
                <a:spcPts val="1264"/>
              </a:lnSpc>
              <a:buNone/>
            </a:pPr>
            <a:r>
              <a:rPr lang="en-US" sz="1036" b="1" dirty="0">
                <a:solidFill>
                  <a:srgbClr val="5A7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036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16000" y="5067300"/>
            <a:ext cx="323850" cy="400050"/>
          </a:xfrm>
          <a:prstGeom prst="rect">
            <a:avLst/>
          </a:prstGeom>
        </p:spPr>
      </p:pic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92150" y="5029200"/>
            <a:ext cx="247650" cy="295275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11649075" y="5495925"/>
            <a:ext cx="11906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5"/>
              </a:lnSpc>
              <a:buNone/>
            </a:pPr>
            <a:r>
              <a:rPr lang="en-US" sz="919" dirty="0">
                <a:solidFill>
                  <a:srgbClr val="9190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strengthens</a:t>
            </a:r>
            <a:endParaRPr lang="en-US" sz="919" dirty="0"/>
          </a:p>
          <a:p>
            <a:pPr algn="l" indent="0" marL="0">
              <a:lnSpc>
                <a:spcPts val="1085"/>
              </a:lnSpc>
              <a:buNone/>
            </a:pPr>
            <a:r>
              <a:rPr lang="en-US" sz="919" dirty="0">
                <a:solidFill>
                  <a:srgbClr val="9190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quality</a:t>
            </a:r>
            <a:endParaRPr lang="en-US" sz="919" dirty="0"/>
          </a:p>
        </p:txBody>
      </p:sp>
      <p:sp>
        <p:nvSpPr>
          <p:cNvPr id="31" name="Text 18"/>
          <p:cNvSpPr/>
          <p:nvPr/>
        </p:nvSpPr>
        <p:spPr>
          <a:xfrm>
            <a:off x="11649075" y="5010150"/>
            <a:ext cx="1485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4"/>
              </a:lnSpc>
              <a:buNone/>
            </a:pPr>
            <a:r>
              <a:rPr lang="en-US" sz="937" b="1" dirty="0">
                <a:solidFill>
                  <a:srgbClr val="4E67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Methodology</a:t>
            </a:r>
            <a:endParaRPr lang="en-US" sz="937" dirty="0"/>
          </a:p>
          <a:p>
            <a:pPr algn="l" indent="0" marL="0">
              <a:lnSpc>
                <a:spcPts val="1144"/>
              </a:lnSpc>
              <a:buNone/>
            </a:pPr>
            <a:r>
              <a:rPr lang="en-US" sz="937" b="1" dirty="0">
                <a:solidFill>
                  <a:srgbClr val="4E67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</a:t>
            </a:r>
            <a:endParaRPr lang="en-US" sz="937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44250" y="5114925"/>
            <a:ext cx="352425" cy="390525"/>
          </a:xfrm>
          <a:prstGeom prst="rect">
            <a:avLst/>
          </a:prstGeom>
        </p:spPr>
      </p:pic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10875" y="5057775"/>
            <a:ext cx="247650" cy="295275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10877550" y="5105400"/>
            <a:ext cx="114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9"/>
              </a:lnSpc>
              <a:buNone/>
            </a:pPr>
            <a:r>
              <a:rPr lang="en-US" sz="1462" dirty="0">
                <a:solidFill>
                  <a:srgbClr val="B9C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62" dirty="0"/>
          </a:p>
        </p:txBody>
      </p:sp>
      <p:sp>
        <p:nvSpPr>
          <p:cNvPr id="35" name="Text 20"/>
          <p:cNvSpPr/>
          <p:nvPr/>
        </p:nvSpPr>
        <p:spPr>
          <a:xfrm>
            <a:off x="5324475" y="5410200"/>
            <a:ext cx="95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59" b="1" dirty="0">
                <a:solidFill>
                  <a:srgbClr val="D1A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Captured as</a:t>
            </a:r>
            <a:endParaRPr lang="en-US" sz="1259" dirty="0"/>
          </a:p>
          <a:p>
            <a:pPr algn="l" indent="0" marL="0">
              <a:lnSpc>
                <a:spcPts val="1536"/>
              </a:lnSpc>
              <a:buNone/>
            </a:pPr>
            <a:r>
              <a:rPr lang="en-US" sz="1259" b="1" dirty="0">
                <a:solidFill>
                  <a:srgbClr val="D1A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259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87375" y="4886325"/>
            <a:ext cx="2286000" cy="38100"/>
          </a:xfrm>
          <a:prstGeom prst="rect">
            <a:avLst/>
          </a:prstGeom>
        </p:spPr>
      </p:pic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91825" y="4886325"/>
            <a:ext cx="2305050" cy="47625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14163675" y="4400550"/>
            <a:ext cx="12573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965" dirty="0">
                <a:solidFill>
                  <a:srgbClr val="9B9B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in approved</a:t>
            </a:r>
            <a:endParaRPr lang="en-US" sz="965" dirty="0"/>
          </a:p>
          <a:p>
            <a:pPr algn="l" indent="0" marL="0">
              <a:lnSpc>
                <a:spcPts val="1139"/>
              </a:lnSpc>
              <a:buNone/>
            </a:pPr>
            <a:r>
              <a:rPr lang="en-US" sz="965" dirty="0">
                <a:solidFill>
                  <a:srgbClr val="9B9B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knowledge</a:t>
            </a:r>
            <a:endParaRPr lang="en-US" sz="965" dirty="0"/>
          </a:p>
        </p:txBody>
      </p:sp>
      <p:sp>
        <p:nvSpPr>
          <p:cNvPr id="39" name="Text 22"/>
          <p:cNvSpPr/>
          <p:nvPr/>
        </p:nvSpPr>
        <p:spPr>
          <a:xfrm>
            <a:off x="14163675" y="3933825"/>
            <a:ext cx="13144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6"/>
              </a:lnSpc>
              <a:buNone/>
            </a:pPr>
            <a:r>
              <a:rPr lang="en-US" sz="1021" b="1" dirty="0">
                <a:solidFill>
                  <a:srgbClr val="536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Knowledge-Powered</a:t>
            </a:r>
            <a:endParaRPr lang="en-US" sz="1021" dirty="0"/>
          </a:p>
          <a:p>
            <a:pPr algn="l" indent="0" marL="0">
              <a:lnSpc>
                <a:spcPts val="1246"/>
              </a:lnSpc>
              <a:buNone/>
            </a:pPr>
            <a:r>
              <a:rPr lang="en-US" sz="1021" b="1" dirty="0">
                <a:solidFill>
                  <a:srgbClr val="536E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Assistants</a:t>
            </a:r>
            <a:endParaRPr lang="en-US" sz="1021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87425" y="4029075"/>
            <a:ext cx="361950" cy="361950"/>
          </a:xfrm>
          <a:prstGeom prst="rect">
            <a:avLst/>
          </a:prstGeom>
        </p:spPr>
      </p:pic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392150" y="3962400"/>
            <a:ext cx="247650" cy="285750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13468350" y="4010025"/>
            <a:ext cx="104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67"/>
              </a:lnSpc>
              <a:buNone/>
            </a:pPr>
            <a:r>
              <a:rPr lang="en-US" sz="1439" dirty="0">
                <a:solidFill>
                  <a:srgbClr val="B8CA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39" dirty="0"/>
          </a:p>
        </p:txBody>
      </p:sp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173075" y="1876425"/>
            <a:ext cx="28575" cy="4057650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11639550" y="4438650"/>
            <a:ext cx="1285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930" dirty="0">
                <a:solidFill>
                  <a:srgbClr val="9595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scope, scenarios</a:t>
            </a:r>
            <a:endParaRPr lang="en-US" sz="930" dirty="0"/>
          </a:p>
          <a:p>
            <a:pPr algn="l" indent="0" marL="0">
              <a:lnSpc>
                <a:spcPts val="1097"/>
              </a:lnSpc>
              <a:buNone/>
            </a:pPr>
            <a:r>
              <a:rPr lang="en-US" sz="930" dirty="0">
                <a:solidFill>
                  <a:srgbClr val="9595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tests</a:t>
            </a:r>
            <a:endParaRPr lang="en-US" sz="930" dirty="0"/>
          </a:p>
        </p:txBody>
      </p:sp>
      <p:sp>
        <p:nvSpPr>
          <p:cNvPr id="45" name="Text 25"/>
          <p:cNvSpPr/>
          <p:nvPr/>
        </p:nvSpPr>
        <p:spPr>
          <a:xfrm>
            <a:off x="11649075" y="3962400"/>
            <a:ext cx="131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3"/>
              </a:lnSpc>
              <a:buNone/>
            </a:pPr>
            <a:r>
              <a:rPr lang="en-US" sz="960" b="1" dirty="0">
                <a:solidFill>
                  <a:srgbClr val="526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Risk-Based Validation</a:t>
            </a:r>
            <a:endParaRPr lang="en-US" sz="960" dirty="0"/>
          </a:p>
          <a:p>
            <a:pPr algn="l" indent="0" marL="0">
              <a:lnSpc>
                <a:spcPts val="1173"/>
              </a:lnSpc>
              <a:buNone/>
            </a:pPr>
            <a:r>
              <a:rPr lang="en-US" sz="960" b="1" dirty="0">
                <a:solidFill>
                  <a:srgbClr val="526C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</a:t>
            </a:r>
            <a:endParaRPr lang="en-US" sz="960" dirty="0"/>
          </a:p>
        </p:txBody>
      </p:sp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34725" y="4010025"/>
            <a:ext cx="409575" cy="438150"/>
          </a:xfrm>
          <a:prstGeom prst="rect">
            <a:avLst/>
          </a:prstGeom>
        </p:spPr>
      </p:pic>
      <p:pic>
        <p:nvPicPr>
          <p:cNvPr id="4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10875" y="3990975"/>
            <a:ext cx="247650" cy="285750"/>
          </a:xfrm>
          <a:prstGeom prst="rect">
            <a:avLst/>
          </a:prstGeom>
        </p:spPr>
      </p:pic>
      <p:sp>
        <p:nvSpPr>
          <p:cNvPr id="48" name="Text 26"/>
          <p:cNvSpPr/>
          <p:nvPr/>
        </p:nvSpPr>
        <p:spPr>
          <a:xfrm>
            <a:off x="10877550" y="4029075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7"/>
              </a:lnSpc>
              <a:buNone/>
            </a:pPr>
            <a:r>
              <a:rPr lang="en-US" sz="1439" dirty="0">
                <a:solidFill>
                  <a:srgbClr val="B4C7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39" dirty="0"/>
          </a:p>
        </p:txBody>
      </p:sp>
      <p:sp>
        <p:nvSpPr>
          <p:cNvPr id="49" name="Text 27"/>
          <p:cNvSpPr/>
          <p:nvPr/>
        </p:nvSpPr>
        <p:spPr>
          <a:xfrm>
            <a:off x="3619500" y="4467225"/>
            <a:ext cx="9620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027" dirty="0">
                <a:solidFill>
                  <a:srgbClr val="646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platform</a:t>
            </a:r>
            <a:endParaRPr lang="en-US" sz="1027" dirty="0"/>
          </a:p>
        </p:txBody>
      </p:sp>
      <p:pic>
        <p:nvPicPr>
          <p:cNvPr id="5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86125" y="4419600"/>
            <a:ext cx="238125" cy="276225"/>
          </a:xfrm>
          <a:prstGeom prst="rect">
            <a:avLst/>
          </a:prstGeom>
        </p:spPr>
      </p:pic>
      <p:sp>
        <p:nvSpPr>
          <p:cNvPr id="51" name="Shape 28"/>
          <p:cNvSpPr/>
          <p:nvPr/>
        </p:nvSpPr>
        <p:spPr>
          <a:xfrm>
            <a:off x="438150" y="4333875"/>
            <a:ext cx="2619375" cy="933450"/>
          </a:xfrm>
          <a:prstGeom prst="roundRect">
            <a:avLst>
              <a:gd name="adj" fmla="val 7143"/>
            </a:avLst>
          </a:prstGeom>
          <a:solidFill>
            <a:srgbClr val="FAF8F2"/>
          </a:solidFill>
          <a:ln w="19050">
            <a:solidFill>
              <a:srgbClr val="5D7A6C"/>
            </a:solidFill>
            <a:prstDash val="solid"/>
          </a:ln>
        </p:spPr>
      </p:sp>
      <p:pic>
        <p:nvPicPr>
          <p:cNvPr id="5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" y="4476750"/>
            <a:ext cx="504825" cy="676275"/>
          </a:xfrm>
          <a:prstGeom prst="rect">
            <a:avLst/>
          </a:prstGeom>
        </p:spPr>
      </p:pic>
      <p:sp>
        <p:nvSpPr>
          <p:cNvPr id="53" name="Text 29"/>
          <p:cNvSpPr/>
          <p:nvPr/>
        </p:nvSpPr>
        <p:spPr>
          <a:xfrm>
            <a:off x="1495425" y="4686300"/>
            <a:ext cx="7143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444" b="1" dirty="0">
                <a:solidFill>
                  <a:srgbClr val="3058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444" dirty="0"/>
          </a:p>
        </p:txBody>
      </p:sp>
      <p:sp>
        <p:nvSpPr>
          <p:cNvPr id="54" name="Text 30"/>
          <p:cNvSpPr/>
          <p:nvPr/>
        </p:nvSpPr>
        <p:spPr>
          <a:xfrm>
            <a:off x="3619500" y="4067175"/>
            <a:ext cx="1200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21" dirty="0">
                <a:solidFill>
                  <a:srgbClr val="6666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reporting</a:t>
            </a:r>
            <a:endParaRPr lang="en-US" sz="1021" dirty="0"/>
          </a:p>
        </p:txBody>
      </p:sp>
      <p:pic>
        <p:nvPicPr>
          <p:cNvPr id="5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86125" y="4010025"/>
            <a:ext cx="238125" cy="285750"/>
          </a:xfrm>
          <a:prstGeom prst="rect">
            <a:avLst/>
          </a:prstGeom>
        </p:spPr>
      </p:pic>
      <p:pic>
        <p:nvPicPr>
          <p:cNvPr id="5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87375" y="3800475"/>
            <a:ext cx="2286000" cy="38100"/>
          </a:xfrm>
          <a:prstGeom prst="rect">
            <a:avLst/>
          </a:prstGeom>
        </p:spPr>
      </p:pic>
      <p:sp>
        <p:nvSpPr>
          <p:cNvPr id="57" name="Text 31"/>
          <p:cNvSpPr/>
          <p:nvPr/>
        </p:nvSpPr>
        <p:spPr>
          <a:xfrm>
            <a:off x="14163675" y="3209925"/>
            <a:ext cx="1057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8"/>
              </a:lnSpc>
              <a:buNone/>
            </a:pPr>
            <a:r>
              <a:rPr lang="en-US" sz="982" dirty="0">
                <a:solidFill>
                  <a:srgbClr val="98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recurring and</a:t>
            </a:r>
            <a:endParaRPr lang="en-US" sz="982" dirty="0"/>
          </a:p>
          <a:p>
            <a:pPr algn="l" indent="0" marL="0">
              <a:lnSpc>
                <a:spcPts val="1158"/>
              </a:lnSpc>
              <a:buNone/>
            </a:pPr>
            <a:r>
              <a:rPr lang="en-US" sz="982" dirty="0">
                <a:solidFill>
                  <a:srgbClr val="98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emerging risks</a:t>
            </a:r>
            <a:endParaRPr lang="en-US" sz="982" dirty="0"/>
          </a:p>
        </p:txBody>
      </p:sp>
      <p:sp>
        <p:nvSpPr>
          <p:cNvPr id="58" name="Text 32"/>
          <p:cNvSpPr/>
          <p:nvPr/>
        </p:nvSpPr>
        <p:spPr>
          <a:xfrm>
            <a:off x="14163675" y="2952750"/>
            <a:ext cx="13811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943" b="1" dirty="0">
                <a:solidFill>
                  <a:srgbClr val="5E7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Trend Analytics</a:t>
            </a:r>
            <a:endParaRPr lang="en-US" sz="943" dirty="0"/>
          </a:p>
        </p:txBody>
      </p:sp>
      <p:pic>
        <p:nvPicPr>
          <p:cNvPr id="5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696950" y="2981325"/>
            <a:ext cx="409575" cy="447675"/>
          </a:xfrm>
          <a:prstGeom prst="rect">
            <a:avLst/>
          </a:prstGeom>
        </p:spPr>
      </p:pic>
      <p:pic>
        <p:nvPicPr>
          <p:cNvPr id="60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392150" y="2905125"/>
            <a:ext cx="247650" cy="285750"/>
          </a:xfrm>
          <a:prstGeom prst="rect">
            <a:avLst/>
          </a:prstGeom>
        </p:spPr>
      </p:pic>
      <p:sp>
        <p:nvSpPr>
          <p:cNvPr id="61" name="Text 33"/>
          <p:cNvSpPr/>
          <p:nvPr/>
        </p:nvSpPr>
        <p:spPr>
          <a:xfrm>
            <a:off x="13468350" y="2952750"/>
            <a:ext cx="104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67"/>
              </a:lnSpc>
              <a:buNone/>
            </a:pPr>
            <a:r>
              <a:rPr lang="en-US" sz="1439" dirty="0">
                <a:solidFill>
                  <a:srgbClr val="BFCF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39" dirty="0"/>
          </a:p>
        </p:txBody>
      </p:sp>
      <p:sp>
        <p:nvSpPr>
          <p:cNvPr id="62" name="Text 34"/>
          <p:cNvSpPr/>
          <p:nvPr/>
        </p:nvSpPr>
        <p:spPr>
          <a:xfrm>
            <a:off x="11639550" y="3324225"/>
            <a:ext cx="14097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41"/>
              </a:lnSpc>
              <a:buNone/>
            </a:pPr>
            <a:r>
              <a:rPr lang="en-US" sz="882" dirty="0">
                <a:solidFill>
                  <a:srgbClr val="949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Calibrated, evidence-based</a:t>
            </a:r>
            <a:endParaRPr lang="en-US" sz="882" dirty="0"/>
          </a:p>
          <a:p>
            <a:pPr algn="l" indent="0" marL="0">
              <a:lnSpc>
                <a:spcPts val="1041"/>
              </a:lnSpc>
              <a:buNone/>
            </a:pPr>
            <a:r>
              <a:rPr lang="en-US" sz="882" dirty="0">
                <a:solidFill>
                  <a:srgbClr val="949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882" dirty="0"/>
          </a:p>
        </p:txBody>
      </p:sp>
      <p:sp>
        <p:nvSpPr>
          <p:cNvPr id="63" name="Text 35"/>
          <p:cNvSpPr/>
          <p:nvPr/>
        </p:nvSpPr>
        <p:spPr>
          <a:xfrm>
            <a:off x="11639550" y="2867025"/>
            <a:ext cx="120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952" b="1" dirty="0">
                <a:solidFill>
                  <a:srgbClr val="5B73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Decision</a:t>
            </a:r>
            <a:endParaRPr lang="en-US" sz="952" dirty="0"/>
          </a:p>
          <a:p>
            <a:pPr algn="l" indent="0" marL="0">
              <a:lnSpc>
                <a:spcPts val="1161"/>
              </a:lnSpc>
              <a:buNone/>
            </a:pPr>
            <a:r>
              <a:rPr lang="en-US" sz="952" b="1" dirty="0">
                <a:solidFill>
                  <a:srgbClr val="5B73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952" dirty="0"/>
          </a:p>
        </p:txBody>
      </p:sp>
      <p:pic>
        <p:nvPicPr>
          <p:cNvPr id="6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134725" y="2952750"/>
            <a:ext cx="409575" cy="371475"/>
          </a:xfrm>
          <a:prstGeom prst="rect">
            <a:avLst/>
          </a:prstGeom>
        </p:spPr>
      </p:pic>
      <p:pic>
        <p:nvPicPr>
          <p:cNvPr id="6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10875" y="2905125"/>
            <a:ext cx="247650" cy="285750"/>
          </a:xfrm>
          <a:prstGeom prst="rect">
            <a:avLst/>
          </a:prstGeom>
        </p:spPr>
      </p:pic>
      <p:sp>
        <p:nvSpPr>
          <p:cNvPr id="66" name="Text 36"/>
          <p:cNvSpPr/>
          <p:nvPr/>
        </p:nvSpPr>
        <p:spPr>
          <a:xfrm>
            <a:off x="10877550" y="2943225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3"/>
              </a:lnSpc>
              <a:buNone/>
            </a:pPr>
            <a:r>
              <a:rPr lang="en-US" sz="1439" dirty="0">
                <a:solidFill>
                  <a:srgbClr val="B7C9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39" dirty="0"/>
          </a:p>
        </p:txBody>
      </p:sp>
      <p:sp>
        <p:nvSpPr>
          <p:cNvPr id="67" name="Text 37"/>
          <p:cNvSpPr/>
          <p:nvPr/>
        </p:nvSpPr>
        <p:spPr>
          <a:xfrm>
            <a:off x="3629025" y="3667125"/>
            <a:ext cx="1314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926" b="1" dirty="0">
                <a:solidFill>
                  <a:srgbClr val="6A6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traceability</a:t>
            </a:r>
            <a:endParaRPr lang="en-US" sz="926" dirty="0"/>
          </a:p>
        </p:txBody>
      </p:sp>
      <p:pic>
        <p:nvPicPr>
          <p:cNvPr id="6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86125" y="3609975"/>
            <a:ext cx="238125" cy="285750"/>
          </a:xfrm>
          <a:prstGeom prst="rect">
            <a:avLst/>
          </a:prstGeom>
        </p:spPr>
      </p:pic>
      <p:sp>
        <p:nvSpPr>
          <p:cNvPr id="69" name="Text 38"/>
          <p:cNvSpPr/>
          <p:nvPr/>
        </p:nvSpPr>
        <p:spPr>
          <a:xfrm>
            <a:off x="3629025" y="3267075"/>
            <a:ext cx="11334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8"/>
              </a:lnSpc>
              <a:buNone/>
            </a:pPr>
            <a:r>
              <a:rPr lang="en-US" sz="963" dirty="0">
                <a:solidFill>
                  <a:srgbClr val="646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assessments</a:t>
            </a:r>
            <a:endParaRPr lang="en-US" sz="963" dirty="0"/>
          </a:p>
        </p:txBody>
      </p:sp>
      <p:pic>
        <p:nvPicPr>
          <p:cNvPr id="70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86125" y="3209925"/>
            <a:ext cx="238125" cy="285750"/>
          </a:xfrm>
          <a:prstGeom prst="rect">
            <a:avLst/>
          </a:prstGeom>
        </p:spPr>
      </p:pic>
      <p:sp>
        <p:nvSpPr>
          <p:cNvPr id="71" name="Shape 39"/>
          <p:cNvSpPr/>
          <p:nvPr/>
        </p:nvSpPr>
        <p:spPr>
          <a:xfrm>
            <a:off x="438150" y="3095625"/>
            <a:ext cx="2628900" cy="942975"/>
          </a:xfrm>
          <a:prstGeom prst="roundRect">
            <a:avLst>
              <a:gd name="adj" fmla="val 6061"/>
            </a:avLst>
          </a:prstGeom>
          <a:solidFill>
            <a:srgbClr val="F9F8F2"/>
          </a:solidFill>
          <a:ln w="9525">
            <a:solidFill>
              <a:srgbClr val="4E6B5C"/>
            </a:solidFill>
            <a:prstDash val="solid"/>
          </a:ln>
        </p:spPr>
      </p:sp>
      <p:sp>
        <p:nvSpPr>
          <p:cNvPr id="72" name="Text 40"/>
          <p:cNvSpPr/>
          <p:nvPr/>
        </p:nvSpPr>
        <p:spPr>
          <a:xfrm>
            <a:off x="1495425" y="3629025"/>
            <a:ext cx="14097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1"/>
              </a:lnSpc>
              <a:buNone/>
            </a:pPr>
            <a:r>
              <a:rPr lang="en-US" sz="1059" dirty="0">
                <a:solidFill>
                  <a:srgbClr val="6E6E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Validation</a:t>
            </a:r>
            <a:endParaRPr lang="en-US" sz="1059" dirty="0"/>
          </a:p>
        </p:txBody>
      </p:sp>
      <p:sp>
        <p:nvSpPr>
          <p:cNvPr id="73" name="Text 41"/>
          <p:cNvSpPr/>
          <p:nvPr/>
        </p:nvSpPr>
        <p:spPr>
          <a:xfrm>
            <a:off x="1495425" y="3295650"/>
            <a:ext cx="666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454" b="1" dirty="0">
                <a:solidFill>
                  <a:srgbClr val="3359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2</a:t>
            </a:r>
            <a:endParaRPr lang="en-US" sz="1454" dirty="0"/>
          </a:p>
        </p:txBody>
      </p:sp>
      <p:pic>
        <p:nvPicPr>
          <p:cNvPr id="74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6275" y="3228975"/>
            <a:ext cx="457200" cy="676275"/>
          </a:xfrm>
          <a:prstGeom prst="rect">
            <a:avLst/>
          </a:prstGeom>
        </p:spPr>
      </p:pic>
      <p:sp>
        <p:nvSpPr>
          <p:cNvPr id="75" name="Text 42"/>
          <p:cNvSpPr/>
          <p:nvPr/>
        </p:nvSpPr>
        <p:spPr>
          <a:xfrm>
            <a:off x="3629025" y="2867025"/>
            <a:ext cx="1343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9"/>
              </a:lnSpc>
              <a:buNone/>
            </a:pPr>
            <a:r>
              <a:rPr lang="en-US" sz="1012" dirty="0">
                <a:solidFill>
                  <a:srgbClr val="6766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Standardised workflow</a:t>
            </a:r>
            <a:endParaRPr lang="en-US" sz="1012" dirty="0"/>
          </a:p>
        </p:txBody>
      </p:sp>
      <p:pic>
        <p:nvPicPr>
          <p:cNvPr id="7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287375" y="2724150"/>
            <a:ext cx="2286000" cy="47625"/>
          </a:xfrm>
          <a:prstGeom prst="rect">
            <a:avLst/>
          </a:prstGeom>
        </p:spPr>
      </p:pic>
      <p:sp>
        <p:nvSpPr>
          <p:cNvPr id="77" name="Text 43"/>
          <p:cNvSpPr/>
          <p:nvPr/>
        </p:nvSpPr>
        <p:spPr>
          <a:xfrm>
            <a:off x="14163675" y="2162175"/>
            <a:ext cx="124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53" dirty="0">
                <a:solidFill>
                  <a:srgbClr val="9696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requirements and</a:t>
            </a:r>
            <a:endParaRPr lang="en-US" sz="953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53" dirty="0">
                <a:solidFill>
                  <a:srgbClr val="9696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change</a:t>
            </a:r>
            <a:endParaRPr lang="en-US" sz="953" dirty="0"/>
          </a:p>
        </p:txBody>
      </p:sp>
      <p:sp>
        <p:nvSpPr>
          <p:cNvPr id="78" name="Text 44"/>
          <p:cNvSpPr/>
          <p:nvPr/>
        </p:nvSpPr>
        <p:spPr>
          <a:xfrm>
            <a:off x="14163675" y="1924050"/>
            <a:ext cx="1047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01"/>
              </a:lnSpc>
              <a:buNone/>
            </a:pPr>
            <a:r>
              <a:rPr lang="en-US" sz="915" b="1" dirty="0">
                <a:solidFill>
                  <a:srgbClr val="5B7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Intelligence</a:t>
            </a:r>
            <a:endParaRPr lang="en-US" sz="915" dirty="0"/>
          </a:p>
        </p:txBody>
      </p:sp>
      <p:pic>
        <p:nvPicPr>
          <p:cNvPr id="79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3735050" y="1905000"/>
            <a:ext cx="323850" cy="504825"/>
          </a:xfrm>
          <a:prstGeom prst="rect">
            <a:avLst/>
          </a:prstGeom>
        </p:spPr>
      </p:pic>
      <p:pic>
        <p:nvPicPr>
          <p:cNvPr id="8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3401675" y="1876425"/>
            <a:ext cx="238125" cy="285750"/>
          </a:xfrm>
          <a:prstGeom prst="rect">
            <a:avLst/>
          </a:prstGeom>
        </p:spPr>
      </p:pic>
      <p:sp>
        <p:nvSpPr>
          <p:cNvPr id="81" name="Text 45"/>
          <p:cNvSpPr/>
          <p:nvPr/>
        </p:nvSpPr>
        <p:spPr>
          <a:xfrm>
            <a:off x="13468350" y="1924050"/>
            <a:ext cx="104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96"/>
              </a:lnSpc>
              <a:buNone/>
            </a:pPr>
            <a:r>
              <a:rPr lang="en-US" sz="1387" dirty="0">
                <a:solidFill>
                  <a:srgbClr val="B5C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87" dirty="0"/>
          </a:p>
        </p:txBody>
      </p:sp>
      <p:sp>
        <p:nvSpPr>
          <p:cNvPr id="82" name="Text 46"/>
          <p:cNvSpPr/>
          <p:nvPr/>
        </p:nvSpPr>
        <p:spPr>
          <a:xfrm>
            <a:off x="11649075" y="2152650"/>
            <a:ext cx="904875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11"/>
              </a:lnSpc>
              <a:buNone/>
            </a:pPr>
            <a:r>
              <a:rPr lang="en-US" sz="942" dirty="0">
                <a:solidFill>
                  <a:srgbClr val="9191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approved</a:t>
            </a:r>
            <a:endParaRPr lang="en-US" sz="942" dirty="0"/>
          </a:p>
          <a:p>
            <a:pPr algn="l" indent="0" marL="0">
              <a:lnSpc>
                <a:spcPts val="1111"/>
              </a:lnSpc>
              <a:buNone/>
            </a:pPr>
            <a:r>
              <a:rPr lang="en-US" sz="942" dirty="0">
                <a:solidFill>
                  <a:srgbClr val="9191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precedents</a:t>
            </a:r>
            <a:endParaRPr lang="en-US" sz="942" dirty="0"/>
          </a:p>
        </p:txBody>
      </p:sp>
      <p:sp>
        <p:nvSpPr>
          <p:cNvPr id="83" name="Text 47"/>
          <p:cNvSpPr/>
          <p:nvPr/>
        </p:nvSpPr>
        <p:spPr>
          <a:xfrm>
            <a:off x="3381375" y="2362200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42"/>
              </a:lnSpc>
              <a:buNone/>
            </a:pPr>
            <a:r>
              <a:rPr lang="en-US" sz="1511" dirty="0">
                <a:solidFill>
                  <a:srgbClr val="4669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</a:t>
            </a:r>
            <a:endParaRPr lang="en-US" sz="1511" dirty="0"/>
          </a:p>
        </p:txBody>
      </p:sp>
      <p:pic>
        <p:nvPicPr>
          <p:cNvPr id="84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810875" y="1876425"/>
            <a:ext cx="247650" cy="285750"/>
          </a:xfrm>
          <a:prstGeom prst="rect">
            <a:avLst/>
          </a:prstGeom>
        </p:spPr>
      </p:pic>
      <p:sp>
        <p:nvSpPr>
          <p:cNvPr id="85" name="Text 48"/>
          <p:cNvSpPr/>
          <p:nvPr/>
        </p:nvSpPr>
        <p:spPr>
          <a:xfrm>
            <a:off x="10887075" y="1924050"/>
            <a:ext cx="95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39"/>
              </a:lnSpc>
              <a:buNone/>
            </a:pPr>
            <a:r>
              <a:rPr lang="en-US" sz="1308" dirty="0">
                <a:solidFill>
                  <a:srgbClr val="AFC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8" dirty="0"/>
          </a:p>
        </p:txBody>
      </p:sp>
      <p:sp>
        <p:nvSpPr>
          <p:cNvPr id="86" name="Shape 49"/>
          <p:cNvSpPr/>
          <p:nvPr/>
        </p:nvSpPr>
        <p:spPr>
          <a:xfrm>
            <a:off x="5343525" y="1562100"/>
            <a:ext cx="885825" cy="3781425"/>
          </a:xfrm>
          <a:prstGeom prst="roundRect">
            <a:avLst>
              <a:gd name="adj" fmla="val 13978"/>
            </a:avLst>
          </a:prstGeom>
          <a:solidFill>
            <a:srgbClr val="F0F4EA"/>
          </a:solidFill>
          <a:ln w="9525">
            <a:solidFill>
              <a:srgbClr val="B7C6B6"/>
            </a:solidFill>
            <a:prstDash val="solid"/>
          </a:ln>
        </p:spPr>
      </p:sp>
      <p:pic>
        <p:nvPicPr>
          <p:cNvPr id="8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629275" y="4914900"/>
            <a:ext cx="304800" cy="323850"/>
          </a:xfrm>
          <a:prstGeom prst="rect">
            <a:avLst/>
          </a:prstGeom>
        </p:spPr>
      </p:pic>
      <p:pic>
        <p:nvPicPr>
          <p:cNvPr id="88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591175" y="4057650"/>
            <a:ext cx="371475" cy="342900"/>
          </a:xfrm>
          <a:prstGeom prst="rect">
            <a:avLst/>
          </a:prstGeom>
        </p:spPr>
      </p:pic>
      <p:pic>
        <p:nvPicPr>
          <p:cNvPr id="8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619750" y="3114675"/>
            <a:ext cx="314325" cy="381000"/>
          </a:xfrm>
          <a:prstGeom prst="rect">
            <a:avLst/>
          </a:prstGeom>
        </p:spPr>
      </p:pic>
      <p:pic>
        <p:nvPicPr>
          <p:cNvPr id="9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619750" y="2143125"/>
            <a:ext cx="314325" cy="428625"/>
          </a:xfrm>
          <a:prstGeom prst="rect">
            <a:avLst/>
          </a:prstGeom>
        </p:spPr>
      </p:pic>
      <p:sp>
        <p:nvSpPr>
          <p:cNvPr id="91" name="Text 50"/>
          <p:cNvSpPr/>
          <p:nvPr/>
        </p:nvSpPr>
        <p:spPr>
          <a:xfrm>
            <a:off x="5562600" y="4467225"/>
            <a:ext cx="45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70"/>
              </a:lnSpc>
              <a:buNone/>
            </a:pPr>
            <a:r>
              <a:rPr lang="en-US" sz="545" b="1" dirty="0">
                <a:solidFill>
                  <a:srgbClr val="546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</a:t>
            </a:r>
            <a:endParaRPr lang="en-US" sz="545" dirty="0"/>
          </a:p>
          <a:p>
            <a:pPr algn="l" indent="0" marL="0">
              <a:lnSpc>
                <a:spcPts val="670"/>
              </a:lnSpc>
              <a:buNone/>
            </a:pPr>
            <a:r>
              <a:rPr lang="en-US" sz="545" b="1" dirty="0">
                <a:solidFill>
                  <a:srgbClr val="546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finding</a:t>
            </a:r>
            <a:endParaRPr lang="en-US" sz="545" dirty="0"/>
          </a:p>
        </p:txBody>
      </p:sp>
      <p:sp>
        <p:nvSpPr>
          <p:cNvPr id="92" name="Text 51"/>
          <p:cNvSpPr/>
          <p:nvPr/>
        </p:nvSpPr>
        <p:spPr>
          <a:xfrm>
            <a:off x="5534025" y="3571875"/>
            <a:ext cx="5238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87"/>
              </a:lnSpc>
              <a:buNone/>
            </a:pPr>
            <a:r>
              <a:rPr lang="en-US" sz="1091" dirty="0">
                <a:solidFill>
                  <a:srgbClr val="65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</a:t>
            </a:r>
            <a:endParaRPr lang="en-US" sz="1091" dirty="0"/>
          </a:p>
          <a:p>
            <a:pPr algn="ctr" indent="0" marL="0">
              <a:lnSpc>
                <a:spcPts val="1287"/>
              </a:lnSpc>
              <a:buNone/>
            </a:pPr>
            <a:r>
              <a:rPr lang="en-US" sz="1091" dirty="0">
                <a:solidFill>
                  <a:srgbClr val="65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091" dirty="0"/>
          </a:p>
        </p:txBody>
      </p:sp>
      <p:sp>
        <p:nvSpPr>
          <p:cNvPr id="93" name="Text 52"/>
          <p:cNvSpPr/>
          <p:nvPr/>
        </p:nvSpPr>
        <p:spPr>
          <a:xfrm>
            <a:off x="5495925" y="2667000"/>
            <a:ext cx="609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80"/>
              </a:lnSpc>
              <a:buNone/>
            </a:pPr>
            <a:r>
              <a:rPr lang="en-US" sz="1085" dirty="0">
                <a:solidFill>
                  <a:srgbClr val="576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</a:t>
            </a:r>
            <a:endParaRPr lang="en-US" sz="1085" dirty="0"/>
          </a:p>
          <a:p>
            <a:pPr algn="ctr" indent="0" marL="0">
              <a:lnSpc>
                <a:spcPts val="1280"/>
              </a:lnSpc>
              <a:buNone/>
            </a:pPr>
            <a:r>
              <a:rPr lang="en-US" sz="1085" dirty="0">
                <a:solidFill>
                  <a:srgbClr val="576C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85" dirty="0"/>
          </a:p>
        </p:txBody>
      </p:sp>
      <p:sp>
        <p:nvSpPr>
          <p:cNvPr id="94" name="Text 53"/>
          <p:cNvSpPr/>
          <p:nvPr/>
        </p:nvSpPr>
        <p:spPr>
          <a:xfrm>
            <a:off x="5438775" y="1685925"/>
            <a:ext cx="7239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13"/>
              </a:lnSpc>
              <a:buNone/>
            </a:pPr>
            <a:r>
              <a:rPr lang="en-US" sz="975" dirty="0">
                <a:solidFill>
                  <a:srgbClr val="5F73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</a:t>
            </a:r>
            <a:endParaRPr lang="en-US" sz="975" dirty="0"/>
          </a:p>
          <a:p>
            <a:pPr algn="ctr" indent="0" marL="0">
              <a:lnSpc>
                <a:spcPts val="1513"/>
              </a:lnSpc>
              <a:buNone/>
            </a:pPr>
            <a:r>
              <a:rPr lang="en-US" sz="975" dirty="0">
                <a:solidFill>
                  <a:srgbClr val="5F73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975" dirty="0"/>
          </a:p>
        </p:txBody>
      </p:sp>
      <p:pic>
        <p:nvPicPr>
          <p:cNvPr id="95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562725" y="1295400"/>
            <a:ext cx="4076700" cy="4572000"/>
          </a:xfrm>
          <a:prstGeom prst="rect">
            <a:avLst/>
          </a:prstGeom>
        </p:spPr>
      </p:pic>
      <p:pic>
        <p:nvPicPr>
          <p:cNvPr id="96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620125" y="4591050"/>
            <a:ext cx="419100" cy="371475"/>
          </a:xfrm>
          <a:prstGeom prst="rect">
            <a:avLst/>
          </a:prstGeom>
        </p:spPr>
      </p:pic>
      <p:pic>
        <p:nvPicPr>
          <p:cNvPr id="9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210425" y="4543425"/>
            <a:ext cx="504825" cy="390525"/>
          </a:xfrm>
          <a:prstGeom prst="rect">
            <a:avLst/>
          </a:prstGeom>
        </p:spPr>
      </p:pic>
      <p:pic>
        <p:nvPicPr>
          <p:cNvPr id="98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267825" y="3933825"/>
            <a:ext cx="285750" cy="409575"/>
          </a:xfrm>
          <a:prstGeom prst="rect">
            <a:avLst/>
          </a:prstGeom>
        </p:spPr>
      </p:pic>
      <p:pic>
        <p:nvPicPr>
          <p:cNvPr id="99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896100" y="3933825"/>
            <a:ext cx="361950" cy="361950"/>
          </a:xfrm>
          <a:prstGeom prst="rect">
            <a:avLst/>
          </a:prstGeom>
        </p:spPr>
      </p:pic>
      <p:pic>
        <p:nvPicPr>
          <p:cNvPr id="100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315450" y="3143250"/>
            <a:ext cx="333375" cy="428625"/>
          </a:xfrm>
          <a:prstGeom prst="rect">
            <a:avLst/>
          </a:prstGeom>
        </p:spPr>
      </p:pic>
      <p:pic>
        <p:nvPicPr>
          <p:cNvPr id="101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96225" y="2838450"/>
            <a:ext cx="1323975" cy="1676400"/>
          </a:xfrm>
          <a:prstGeom prst="rect">
            <a:avLst/>
          </a:prstGeom>
        </p:spPr>
      </p:pic>
      <p:pic>
        <p:nvPicPr>
          <p:cNvPr id="102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877050" y="3209925"/>
            <a:ext cx="361950" cy="333375"/>
          </a:xfrm>
          <a:prstGeom prst="rect">
            <a:avLst/>
          </a:prstGeom>
        </p:spPr>
      </p:pic>
      <p:pic>
        <p:nvPicPr>
          <p:cNvPr id="103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219825" y="3295650"/>
            <a:ext cx="361950" cy="304800"/>
          </a:xfrm>
          <a:prstGeom prst="rect">
            <a:avLst/>
          </a:prstGeom>
        </p:spPr>
      </p:pic>
      <p:pic>
        <p:nvPicPr>
          <p:cNvPr id="104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696325" y="2438400"/>
            <a:ext cx="390525" cy="342900"/>
          </a:xfrm>
          <a:prstGeom prst="rect">
            <a:avLst/>
          </a:prstGeom>
        </p:spPr>
      </p:pic>
      <p:pic>
        <p:nvPicPr>
          <p:cNvPr id="105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143750" y="2419350"/>
            <a:ext cx="304800" cy="390525"/>
          </a:xfrm>
          <a:prstGeom prst="rect">
            <a:avLst/>
          </a:prstGeom>
        </p:spPr>
      </p:pic>
      <p:pic>
        <p:nvPicPr>
          <p:cNvPr id="106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90675" y="4038600"/>
            <a:ext cx="219075" cy="276225"/>
          </a:xfrm>
          <a:prstGeom prst="rect">
            <a:avLst/>
          </a:prstGeom>
        </p:spPr>
      </p:pic>
      <p:pic>
        <p:nvPicPr>
          <p:cNvPr id="107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782300" y="3800475"/>
            <a:ext cx="2314575" cy="38100"/>
          </a:xfrm>
          <a:prstGeom prst="rect">
            <a:avLst/>
          </a:prstGeom>
        </p:spPr>
      </p:pic>
      <p:pic>
        <p:nvPicPr>
          <p:cNvPr id="108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286125" y="2809875"/>
            <a:ext cx="238125" cy="285750"/>
          </a:xfrm>
          <a:prstGeom prst="rect">
            <a:avLst/>
          </a:prstGeom>
        </p:spPr>
      </p:pic>
      <p:pic>
        <p:nvPicPr>
          <p:cNvPr id="109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0791825" y="2714625"/>
            <a:ext cx="2314575" cy="57150"/>
          </a:xfrm>
          <a:prstGeom prst="rect">
            <a:avLst/>
          </a:prstGeom>
        </p:spPr>
      </p:pic>
      <p:sp>
        <p:nvSpPr>
          <p:cNvPr id="110" name="Text 54"/>
          <p:cNvSpPr/>
          <p:nvPr/>
        </p:nvSpPr>
        <p:spPr>
          <a:xfrm>
            <a:off x="11639550" y="1914525"/>
            <a:ext cx="1219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21"/>
              </a:lnSpc>
              <a:buNone/>
            </a:pPr>
            <a:r>
              <a:rPr lang="en-US" sz="945" b="1" dirty="0">
                <a:solidFill>
                  <a:srgbClr val="5873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Memory</a:t>
            </a:r>
            <a:endParaRPr lang="en-US" sz="945" dirty="0"/>
          </a:p>
        </p:txBody>
      </p:sp>
      <p:pic>
        <p:nvPicPr>
          <p:cNvPr id="111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1153775" y="1885950"/>
            <a:ext cx="352425" cy="438150"/>
          </a:xfrm>
          <a:prstGeom prst="rect">
            <a:avLst/>
          </a:prstGeom>
        </p:spPr>
      </p:pic>
      <p:sp>
        <p:nvSpPr>
          <p:cNvPr id="112" name="Text 55"/>
          <p:cNvSpPr/>
          <p:nvPr/>
        </p:nvSpPr>
        <p:spPr>
          <a:xfrm>
            <a:off x="11563350" y="1352550"/>
            <a:ext cx="2647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669" b="1" dirty="0">
                <a:solidFill>
                  <a:srgbClr val="3359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Capabilities Enabled</a:t>
            </a:r>
            <a:endParaRPr lang="en-US" sz="1669" dirty="0"/>
          </a:p>
        </p:txBody>
      </p:sp>
      <p:pic>
        <p:nvPicPr>
          <p:cNvPr id="113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153025" y="1647825"/>
            <a:ext cx="19050" cy="3762375"/>
          </a:xfrm>
          <a:prstGeom prst="rect">
            <a:avLst/>
          </a:prstGeom>
        </p:spPr>
      </p:pic>
      <p:sp>
        <p:nvSpPr>
          <p:cNvPr id="114" name="Shape 56"/>
          <p:cNvSpPr/>
          <p:nvPr/>
        </p:nvSpPr>
        <p:spPr>
          <a:xfrm>
            <a:off x="438150" y="1857375"/>
            <a:ext cx="2628900" cy="942975"/>
          </a:xfrm>
          <a:prstGeom prst="roundRect">
            <a:avLst>
              <a:gd name="adj" fmla="val 6061"/>
            </a:avLst>
          </a:prstGeom>
          <a:solidFill>
            <a:srgbClr val="F9F8F2"/>
          </a:solidFill>
          <a:ln w="9525">
            <a:solidFill>
              <a:srgbClr val="587567"/>
            </a:solidFill>
            <a:prstDash val="solid"/>
          </a:ln>
        </p:spPr>
      </p:sp>
      <p:sp>
        <p:nvSpPr>
          <p:cNvPr id="115" name="Text 57"/>
          <p:cNvSpPr/>
          <p:nvPr/>
        </p:nvSpPr>
        <p:spPr>
          <a:xfrm>
            <a:off x="1495425" y="2371725"/>
            <a:ext cx="13430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1140" dirty="0">
                <a:solidFill>
                  <a:srgbClr val="474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Intake &amp; Triage</a:t>
            </a:r>
            <a:endParaRPr lang="en-US" sz="1140" dirty="0"/>
          </a:p>
        </p:txBody>
      </p:sp>
      <p:sp>
        <p:nvSpPr>
          <p:cNvPr id="116" name="Text 58"/>
          <p:cNvSpPr/>
          <p:nvPr/>
        </p:nvSpPr>
        <p:spPr>
          <a:xfrm>
            <a:off x="1504950" y="2057400"/>
            <a:ext cx="657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6"/>
              </a:lnSpc>
              <a:buNone/>
            </a:pPr>
            <a:r>
              <a:rPr lang="en-US" sz="1433" b="1" dirty="0">
                <a:solidFill>
                  <a:srgbClr val="3358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1</a:t>
            </a:r>
            <a:endParaRPr lang="en-US" sz="1433" dirty="0"/>
          </a:p>
        </p:txBody>
      </p:sp>
      <p:pic>
        <p:nvPicPr>
          <p:cNvPr id="117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47700" y="2009775"/>
            <a:ext cx="600075" cy="619125"/>
          </a:xfrm>
          <a:prstGeom prst="rect">
            <a:avLst/>
          </a:prstGeom>
        </p:spPr>
      </p:pic>
      <p:pic>
        <p:nvPicPr>
          <p:cNvPr id="118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581150" y="2790825"/>
            <a:ext cx="228600" cy="285750"/>
          </a:xfrm>
          <a:prstGeom prst="rect">
            <a:avLst/>
          </a:prstGeom>
        </p:spPr>
      </p:pic>
      <p:sp>
        <p:nvSpPr>
          <p:cNvPr id="119" name="Text 59"/>
          <p:cNvSpPr/>
          <p:nvPr/>
        </p:nvSpPr>
        <p:spPr>
          <a:xfrm>
            <a:off x="590550" y="1362075"/>
            <a:ext cx="28765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67"/>
              </a:lnSpc>
              <a:buNone/>
            </a:pPr>
            <a:r>
              <a:rPr lang="en-US" sz="1732" b="1" dirty="0">
                <a:solidFill>
                  <a:srgbClr val="345A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Risk Oversight Platform</a:t>
            </a:r>
            <a:endParaRPr lang="en-US" sz="1732" dirty="0"/>
          </a:p>
        </p:txBody>
      </p:sp>
      <p:sp>
        <p:nvSpPr>
          <p:cNvPr id="120" name="Shape 60"/>
          <p:cNvSpPr/>
          <p:nvPr/>
        </p:nvSpPr>
        <p:spPr>
          <a:xfrm>
            <a:off x="342900" y="1238250"/>
            <a:ext cx="15230475" cy="9525"/>
          </a:xfrm>
          <a:prstGeom prst="rect">
            <a:avLst/>
          </a:prstGeom>
          <a:solidFill>
            <a:srgbClr val="C4D8CD"/>
          </a:solidFill>
          <a:ln/>
        </p:spPr>
      </p:sp>
      <p:sp>
        <p:nvSpPr>
          <p:cNvPr id="121" name="Text 61"/>
          <p:cNvSpPr/>
          <p:nvPr/>
        </p:nvSpPr>
        <p:spPr>
          <a:xfrm>
            <a:off x="342900" y="800100"/>
            <a:ext cx="103822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2"/>
              </a:lnSpc>
              <a:buNone/>
            </a:pPr>
            <a:r>
              <a:rPr lang="en-US" sz="1876" b="1" dirty="0">
                <a:solidFill>
                  <a:srgbClr val="335A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every Al risk assessment and validation into reusable organisational intelligence</a:t>
            </a:r>
            <a:endParaRPr lang="en-US" sz="1876" dirty="0"/>
          </a:p>
        </p:txBody>
      </p:sp>
      <p:sp>
        <p:nvSpPr>
          <p:cNvPr id="122" name="Text 62"/>
          <p:cNvSpPr/>
          <p:nvPr/>
        </p:nvSpPr>
        <p:spPr>
          <a:xfrm>
            <a:off x="333375" y="171450"/>
            <a:ext cx="110871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237"/>
              </a:lnSpc>
              <a:buNone/>
            </a:pPr>
            <a:r>
              <a:rPr lang="en-US" sz="3243" b="1" dirty="0">
                <a:solidFill>
                  <a:srgbClr val="1840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Al Risk Oversight Platform to Al Risk Intelligence</a:t>
            </a:r>
            <a:endParaRPr lang="en-US" sz="3243" dirty="0"/>
          </a:p>
        </p:txBody>
      </p:sp>
      <p:sp>
        <p:nvSpPr>
          <p:cNvPr id="123" name="Text 63"/>
          <p:cNvSpPr/>
          <p:nvPr/>
        </p:nvSpPr>
        <p:spPr>
          <a:xfrm>
            <a:off x="9144000" y="4552950"/>
            <a:ext cx="638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1069" dirty="0">
                <a:solidFill>
                  <a:srgbClr val="5D7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</a:t>
            </a:r>
            <a:endParaRPr lang="en-US" sz="1069" dirty="0"/>
          </a:p>
          <a:p>
            <a:pPr algn="l" indent="0" marL="0">
              <a:lnSpc>
                <a:spcPts val="1274"/>
              </a:lnSpc>
              <a:buNone/>
            </a:pPr>
            <a:r>
              <a:rPr lang="en-US" sz="1069" dirty="0">
                <a:solidFill>
                  <a:srgbClr val="5D7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Agents</a:t>
            </a:r>
            <a:endParaRPr lang="en-US" sz="1069" dirty="0"/>
          </a:p>
        </p:txBody>
      </p:sp>
      <p:sp>
        <p:nvSpPr>
          <p:cNvPr id="124" name="Text 64"/>
          <p:cNvSpPr/>
          <p:nvPr/>
        </p:nvSpPr>
        <p:spPr>
          <a:xfrm>
            <a:off x="7800975" y="4562475"/>
            <a:ext cx="4857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1077" dirty="0">
                <a:solidFill>
                  <a:srgbClr val="677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1077" dirty="0"/>
          </a:p>
          <a:p>
            <a:pPr algn="l" indent="0" marL="0">
              <a:lnSpc>
                <a:spcPts val="1271"/>
              </a:lnSpc>
              <a:buNone/>
            </a:pPr>
            <a:r>
              <a:rPr lang="en-US" sz="1077" dirty="0">
                <a:solidFill>
                  <a:srgbClr val="677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</a:t>
            </a:r>
            <a:endParaRPr lang="en-US" sz="1077" dirty="0"/>
          </a:p>
        </p:txBody>
      </p:sp>
      <p:sp>
        <p:nvSpPr>
          <p:cNvPr id="125" name="Text 65"/>
          <p:cNvSpPr/>
          <p:nvPr/>
        </p:nvSpPr>
        <p:spPr>
          <a:xfrm>
            <a:off x="9705975" y="4171950"/>
            <a:ext cx="6381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0"/>
              </a:lnSpc>
              <a:buNone/>
            </a:pPr>
            <a:r>
              <a:rPr lang="en-US" sz="980" dirty="0">
                <a:solidFill>
                  <a:srgbClr val="5F7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Judgement</a:t>
            </a:r>
            <a:endParaRPr lang="en-US" sz="980" dirty="0"/>
          </a:p>
        </p:txBody>
      </p:sp>
      <p:sp>
        <p:nvSpPr>
          <p:cNvPr id="126" name="Text 66"/>
          <p:cNvSpPr/>
          <p:nvPr/>
        </p:nvSpPr>
        <p:spPr>
          <a:xfrm>
            <a:off x="9715500" y="396240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06"/>
              </a:lnSpc>
              <a:buNone/>
            </a:pPr>
            <a:r>
              <a:rPr lang="en-US" sz="993" dirty="0">
                <a:solidFill>
                  <a:srgbClr val="576F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</a:t>
            </a:r>
            <a:endParaRPr lang="en-US" sz="993" dirty="0"/>
          </a:p>
        </p:txBody>
      </p:sp>
      <p:sp>
        <p:nvSpPr>
          <p:cNvPr id="127" name="Text 67"/>
          <p:cNvSpPr/>
          <p:nvPr/>
        </p:nvSpPr>
        <p:spPr>
          <a:xfrm>
            <a:off x="9705975" y="3152775"/>
            <a:ext cx="6667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94"/>
              </a:lnSpc>
              <a:buNone/>
            </a:pPr>
            <a:r>
              <a:rPr lang="en-US" sz="1007" dirty="0">
                <a:solidFill>
                  <a:srgbClr val="61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007" dirty="0"/>
          </a:p>
          <a:p>
            <a:pPr algn="l" indent="0" marL="0">
              <a:lnSpc>
                <a:spcPts val="1194"/>
              </a:lnSpc>
              <a:buNone/>
            </a:pPr>
            <a:r>
              <a:rPr lang="en-US" sz="1007" dirty="0">
                <a:solidFill>
                  <a:srgbClr val="617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</a:t>
            </a:r>
            <a:endParaRPr lang="en-US" sz="1007" dirty="0"/>
          </a:p>
        </p:txBody>
      </p:sp>
      <p:sp>
        <p:nvSpPr>
          <p:cNvPr id="128" name="Text 68"/>
          <p:cNvSpPr/>
          <p:nvPr/>
        </p:nvSpPr>
        <p:spPr>
          <a:xfrm>
            <a:off x="7324725" y="4038600"/>
            <a:ext cx="619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93"/>
              </a:lnSpc>
              <a:buNone/>
            </a:pPr>
            <a:r>
              <a:rPr lang="en-US" sz="906" b="1" dirty="0">
                <a:solidFill>
                  <a:srgbClr val="5A72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</a:t>
            </a:r>
            <a:endParaRPr lang="en-US" sz="906" dirty="0"/>
          </a:p>
        </p:txBody>
      </p:sp>
      <p:sp>
        <p:nvSpPr>
          <p:cNvPr id="129" name="Text 69"/>
          <p:cNvSpPr/>
          <p:nvPr/>
        </p:nvSpPr>
        <p:spPr>
          <a:xfrm>
            <a:off x="7286625" y="3276600"/>
            <a:ext cx="723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2"/>
              </a:lnSpc>
              <a:buNone/>
            </a:pPr>
            <a:r>
              <a:rPr lang="en-US" sz="958" dirty="0">
                <a:solidFill>
                  <a:srgbClr val="5D7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US" sz="958" dirty="0"/>
          </a:p>
        </p:txBody>
      </p:sp>
      <p:sp>
        <p:nvSpPr>
          <p:cNvPr id="130" name="Text 70"/>
          <p:cNvSpPr/>
          <p:nvPr/>
        </p:nvSpPr>
        <p:spPr>
          <a:xfrm>
            <a:off x="9182100" y="2371725"/>
            <a:ext cx="5810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967" b="1" dirty="0">
                <a:solidFill>
                  <a:srgbClr val="6478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</a:t>
            </a:r>
            <a:endParaRPr lang="en-US" sz="967" dirty="0"/>
          </a:p>
          <a:p>
            <a:pPr algn="l" indent="0" marL="0">
              <a:lnSpc>
                <a:spcPts val="1180"/>
              </a:lnSpc>
              <a:buNone/>
            </a:pPr>
            <a:r>
              <a:rPr lang="en-US" sz="967" b="1" dirty="0">
                <a:solidFill>
                  <a:srgbClr val="6478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</a:t>
            </a:r>
            <a:endParaRPr lang="en-US" sz="967" dirty="0"/>
          </a:p>
        </p:txBody>
      </p:sp>
      <p:sp>
        <p:nvSpPr>
          <p:cNvPr id="131" name="Text 71"/>
          <p:cNvSpPr/>
          <p:nvPr/>
        </p:nvSpPr>
        <p:spPr>
          <a:xfrm>
            <a:off x="7553325" y="2381250"/>
            <a:ext cx="714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6"/>
              </a:lnSpc>
              <a:buNone/>
            </a:pPr>
            <a:r>
              <a:rPr lang="en-US" sz="1056" dirty="0">
                <a:solidFill>
                  <a:srgbClr val="5D7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1056" dirty="0"/>
          </a:p>
          <a:p>
            <a:pPr algn="l" indent="0" marL="0">
              <a:lnSpc>
                <a:spcPts val="1246"/>
              </a:lnSpc>
              <a:buNone/>
            </a:pPr>
            <a:r>
              <a:rPr lang="en-US" sz="1056" dirty="0">
                <a:solidFill>
                  <a:srgbClr val="5D75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56" dirty="0"/>
          </a:p>
        </p:txBody>
      </p:sp>
      <p:sp>
        <p:nvSpPr>
          <p:cNvPr id="132" name="Text 72"/>
          <p:cNvSpPr/>
          <p:nvPr/>
        </p:nvSpPr>
        <p:spPr>
          <a:xfrm>
            <a:off x="7419975" y="1943100"/>
            <a:ext cx="22288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18"/>
              </a:lnSpc>
              <a:buNone/>
            </a:pPr>
            <a:r>
              <a:rPr lang="en-US" sz="1612" b="1" dirty="0">
                <a:solidFill>
                  <a:srgbClr val="2D56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Capability</a:t>
            </a:r>
            <a:endParaRPr lang="en-US" sz="1612" dirty="0"/>
          </a:p>
        </p:txBody>
      </p:sp>
      <p:sp>
        <p:nvSpPr>
          <p:cNvPr id="133" name="Text 73"/>
          <p:cNvSpPr/>
          <p:nvPr/>
        </p:nvSpPr>
        <p:spPr>
          <a:xfrm>
            <a:off x="7772400" y="1619250"/>
            <a:ext cx="14573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9"/>
              </a:lnSpc>
              <a:buNone/>
            </a:pPr>
            <a:r>
              <a:rPr lang="en-US" sz="1855" b="1" dirty="0">
                <a:solidFill>
                  <a:srgbClr val="2750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AI Risk</a:t>
            </a:r>
            <a:endParaRPr lang="en-US" sz="185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2026-07-24T22:03:55Z</dcterms:created>
  <dcterms:modified xsi:type="dcterms:W3CDTF">2026-07-24T22:03:55Z</dcterms:modified>
</cp:coreProperties>
</file>