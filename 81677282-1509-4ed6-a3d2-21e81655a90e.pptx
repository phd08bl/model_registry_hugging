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925800" cy="8963025"/>
  <p:notesSz cx="8963025" cy="15925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jpe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58925" y="7848600"/>
            <a:ext cx="1447800" cy="190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71650" y="7496175"/>
            <a:ext cx="12382500" cy="704850"/>
          </a:xfrm>
          <a:prstGeom prst="roundRect">
            <a:avLst>
              <a:gd name="adj" fmla="val 9459"/>
            </a:avLst>
          </a:prstGeom>
          <a:solidFill>
            <a:srgbClr val="163251"/>
          </a:solidFill>
          <a:ln w="9525">
            <a:solidFill>
              <a:srgbClr val="3E556F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0" y="7562850"/>
            <a:ext cx="466725" cy="5619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19525" y="7715250"/>
            <a:ext cx="85439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52" dirty="0">
                <a:solidFill>
                  <a:srgbClr val="C3CB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Deterministic risk rules • System-assigned automation • AIRO retains final judgement</a:t>
            </a:r>
            <a:endParaRPr lang="en-US" sz="1552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848600"/>
            <a:ext cx="1447800" cy="190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62775" y="4772025"/>
            <a:ext cx="1419225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84"/>
              </a:lnSpc>
              <a:buNone/>
            </a:pPr>
            <a:r>
              <a:rPr lang="en-US" sz="1336" b="1" dirty="0">
                <a:solidFill>
                  <a:srgbClr val="808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powerful</a:t>
            </a:r>
            <a:endParaRPr lang="en-US" sz="1336" dirty="0"/>
          </a:p>
          <a:p>
            <a:pPr algn="ctr" indent="0" marL="0">
              <a:lnSpc>
                <a:spcPts val="1784"/>
              </a:lnSpc>
              <a:buNone/>
            </a:pPr>
            <a:r>
              <a:rPr lang="en-US" sz="1336" b="1" dirty="0">
                <a:solidFill>
                  <a:srgbClr val="808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workbenches</a:t>
            </a:r>
            <a:endParaRPr lang="en-US" sz="1336" dirty="0"/>
          </a:p>
          <a:p>
            <a:pPr algn="ctr" indent="0" marL="0">
              <a:lnSpc>
                <a:spcPts val="1784"/>
              </a:lnSpc>
              <a:buNone/>
            </a:pPr>
            <a:r>
              <a:rPr lang="en-US" sz="1336" b="1" dirty="0">
                <a:solidFill>
                  <a:srgbClr val="808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a coordinated,</a:t>
            </a:r>
            <a:endParaRPr lang="en-US" sz="1336" dirty="0"/>
          </a:p>
          <a:p>
            <a:pPr algn="ctr" indent="0" marL="0">
              <a:lnSpc>
                <a:spcPts val="1784"/>
              </a:lnSpc>
              <a:buNone/>
            </a:pPr>
            <a:r>
              <a:rPr lang="en-US" sz="1336" b="1" dirty="0">
                <a:solidFill>
                  <a:srgbClr val="808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policy-governed</a:t>
            </a:r>
            <a:endParaRPr lang="en-US" sz="1336" dirty="0"/>
          </a:p>
          <a:p>
            <a:pPr algn="ctr" indent="0" marL="0">
              <a:lnSpc>
                <a:spcPts val="1784"/>
              </a:lnSpc>
              <a:buNone/>
            </a:pPr>
            <a:r>
              <a:rPr lang="en-US" sz="1336" b="1" dirty="0">
                <a:solidFill>
                  <a:srgbClr val="808A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</a:t>
            </a:r>
            <a:endParaRPr lang="en-US" sz="1336" dirty="0"/>
          </a:p>
        </p:txBody>
      </p:sp>
      <p:sp>
        <p:nvSpPr>
          <p:cNvPr id="9" name="Shape 4"/>
          <p:cNvSpPr/>
          <p:nvPr/>
        </p:nvSpPr>
        <p:spPr>
          <a:xfrm>
            <a:off x="8658225" y="1066800"/>
            <a:ext cx="7162800" cy="6153150"/>
          </a:xfrm>
          <a:prstGeom prst="roundRect">
            <a:avLst>
              <a:gd name="adj" fmla="val 7082"/>
            </a:avLst>
          </a:prstGeom>
          <a:solidFill>
            <a:srgbClr val="F7F6FD"/>
          </a:solidFill>
          <a:ln w="9525">
            <a:solidFill>
              <a:srgbClr val="FCFBFE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3277850" y="2581275"/>
            <a:ext cx="2419350" cy="4429125"/>
          </a:xfrm>
          <a:prstGeom prst="roundRect">
            <a:avLst>
              <a:gd name="adj" fmla="val 2362"/>
            </a:avLst>
          </a:prstGeom>
          <a:solidFill>
            <a:srgbClr val="FEFBF7"/>
          </a:solidFill>
          <a:ln w="9525">
            <a:solidFill>
              <a:srgbClr val="FCEACC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3315950" y="6029325"/>
            <a:ext cx="2333625" cy="857250"/>
          </a:xfrm>
          <a:prstGeom prst="rect">
            <a:avLst/>
          </a:prstGeom>
          <a:solidFill>
            <a:srgbClr val="FCF7EE"/>
          </a:solidFill>
          <a:ln w="47625">
            <a:solidFill>
              <a:srgbClr val="FEFBF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4173200" y="6219825"/>
            <a:ext cx="1095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5"/>
              </a:lnSpc>
              <a:buNone/>
            </a:pPr>
            <a:r>
              <a:rPr lang="en-US" sz="1425" dirty="0">
                <a:solidFill>
                  <a:srgbClr val="6B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</a:t>
            </a:r>
            <a:endParaRPr lang="en-US" sz="1425" dirty="0"/>
          </a:p>
          <a:p>
            <a:pPr algn="l" indent="0" marL="0">
              <a:lnSpc>
                <a:spcPts val="1685"/>
              </a:lnSpc>
              <a:buNone/>
            </a:pPr>
            <a:r>
              <a:rPr lang="en-US" sz="1425" dirty="0">
                <a:solidFill>
                  <a:srgbClr val="6B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</a:t>
            </a:r>
            <a:endParaRPr lang="en-US" sz="142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8825" y="6181725"/>
            <a:ext cx="571500" cy="5715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13335000" y="5181600"/>
            <a:ext cx="2314575" cy="838200"/>
          </a:xfrm>
          <a:prstGeom prst="rect">
            <a:avLst/>
          </a:prstGeom>
          <a:solidFill>
            <a:srgbClr val="FBF7EE"/>
          </a:solidFill>
          <a:ln w="19050">
            <a:solidFill>
              <a:srgbClr val="FDFBF7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14173200" y="5334000"/>
            <a:ext cx="12668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177" b="1" dirty="0">
                <a:solidFill>
                  <a:srgbClr val="69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Evidence-linked</a:t>
            </a:r>
            <a:endParaRPr lang="en-US" sz="1177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177" b="1" dirty="0">
                <a:solidFill>
                  <a:srgbClr val="69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decisions</a:t>
            </a:r>
            <a:endParaRPr lang="en-US" sz="1177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58825" y="5305425"/>
            <a:ext cx="571500" cy="58102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13335000" y="4305300"/>
            <a:ext cx="2276475" cy="819150"/>
          </a:xfrm>
          <a:prstGeom prst="rect">
            <a:avLst/>
          </a:prstGeom>
          <a:solidFill>
            <a:srgbClr val="FBF7EE"/>
          </a:solidFill>
          <a:ln w="19050">
            <a:solidFill>
              <a:srgbClr val="FDFAF6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58825" y="4419600"/>
            <a:ext cx="571500" cy="5810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4182725" y="4457700"/>
            <a:ext cx="13430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3"/>
              </a:lnSpc>
              <a:buNone/>
            </a:pPr>
            <a:r>
              <a:rPr lang="en-US" sz="1264" b="1" dirty="0">
                <a:solidFill>
                  <a:srgbClr val="6A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Exception-driven</a:t>
            </a:r>
            <a:endParaRPr lang="en-US" sz="1264" dirty="0"/>
          </a:p>
          <a:p>
            <a:pPr algn="l" indent="0" marL="0">
              <a:lnSpc>
                <a:spcPts val="1543"/>
              </a:lnSpc>
              <a:buNone/>
            </a:pPr>
            <a:r>
              <a:rPr lang="en-US" sz="1264" b="1" dirty="0">
                <a:solidFill>
                  <a:srgbClr val="6A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264" dirty="0"/>
          </a:p>
        </p:txBody>
      </p:sp>
      <p:sp>
        <p:nvSpPr>
          <p:cNvPr id="20" name="Shape 12"/>
          <p:cNvSpPr/>
          <p:nvPr/>
        </p:nvSpPr>
        <p:spPr>
          <a:xfrm>
            <a:off x="13335000" y="3457575"/>
            <a:ext cx="2295525" cy="809625"/>
          </a:xfrm>
          <a:prstGeom prst="rect">
            <a:avLst/>
          </a:prstGeom>
          <a:solidFill>
            <a:srgbClr val="FCF7EE"/>
          </a:solidFill>
          <a:ln w="19050">
            <a:solidFill>
              <a:srgbClr val="FDFBF7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58825" y="3562350"/>
            <a:ext cx="571500" cy="5715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4163675" y="3609975"/>
            <a:ext cx="13811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4"/>
              </a:lnSpc>
              <a:buNone/>
            </a:pPr>
            <a:r>
              <a:rPr lang="en-US" sz="1346" dirty="0">
                <a:solidFill>
                  <a:srgbClr val="6A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Faster, consistent</a:t>
            </a:r>
            <a:endParaRPr lang="en-US" sz="1346" dirty="0"/>
          </a:p>
          <a:p>
            <a:pPr algn="l" indent="0" marL="0">
              <a:lnSpc>
                <a:spcPts val="1594"/>
              </a:lnSpc>
              <a:buNone/>
            </a:pPr>
            <a:r>
              <a:rPr lang="en-US" sz="1346" dirty="0">
                <a:solidFill>
                  <a:srgbClr val="6A71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</a:t>
            </a:r>
            <a:endParaRPr lang="en-US" sz="1346" dirty="0"/>
          </a:p>
        </p:txBody>
      </p:sp>
      <p:sp>
        <p:nvSpPr>
          <p:cNvPr id="23" name="Shape 14"/>
          <p:cNvSpPr/>
          <p:nvPr/>
        </p:nvSpPr>
        <p:spPr>
          <a:xfrm>
            <a:off x="13325475" y="2628900"/>
            <a:ext cx="2305050" cy="781050"/>
          </a:xfrm>
          <a:prstGeom prst="rect">
            <a:avLst/>
          </a:prstGeom>
          <a:solidFill>
            <a:srgbClr val="FCF8EF"/>
          </a:solidFill>
          <a:ln w="28575">
            <a:solidFill>
              <a:srgbClr val="FDFAF4"/>
            </a:solidFill>
            <a:prstDash val="solid"/>
          </a:ln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58825" y="2743200"/>
            <a:ext cx="571500" cy="561975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4182725" y="2781300"/>
            <a:ext cx="9810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4"/>
              </a:lnSpc>
              <a:buNone/>
            </a:pPr>
            <a:r>
              <a:rPr lang="en-US" sz="1323" dirty="0">
                <a:solidFill>
                  <a:srgbClr val="6A71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manual</a:t>
            </a:r>
            <a:endParaRPr lang="en-US" sz="1323" dirty="0"/>
          </a:p>
          <a:p>
            <a:pPr algn="l" indent="0" marL="0">
              <a:lnSpc>
                <a:spcPts val="1564"/>
              </a:lnSpc>
              <a:buNone/>
            </a:pPr>
            <a:r>
              <a:rPr lang="en-US" sz="1323" dirty="0">
                <a:solidFill>
                  <a:srgbClr val="6A71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</a:t>
            </a:r>
            <a:endParaRPr lang="en-US" sz="1323" dirty="0"/>
          </a:p>
        </p:txBody>
      </p:sp>
      <p:sp>
        <p:nvSpPr>
          <p:cNvPr id="26" name="Shape 16"/>
          <p:cNvSpPr/>
          <p:nvPr/>
        </p:nvSpPr>
        <p:spPr>
          <a:xfrm>
            <a:off x="13277850" y="2066925"/>
            <a:ext cx="2428875" cy="495300"/>
          </a:xfrm>
          <a:prstGeom prst="roundRect">
            <a:avLst>
              <a:gd name="adj" fmla="val 14423"/>
            </a:avLst>
          </a:prstGeom>
          <a:solidFill>
            <a:srgbClr val="FDD58C"/>
          </a:solidFill>
          <a:ln w="9525">
            <a:solidFill>
              <a:srgbClr val="FCDCA7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13458825" y="2190750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7"/>
              </a:lnSpc>
              <a:buNone/>
            </a:pPr>
            <a:r>
              <a:rPr lang="en-US" sz="1542" b="1" dirty="0">
                <a:solidFill>
                  <a:srgbClr val="7B4A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BENEFITS</a:t>
            </a:r>
            <a:endParaRPr lang="en-US" sz="1542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0" y="1924050"/>
            <a:ext cx="4572000" cy="5248275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10382250" y="5648325"/>
            <a:ext cx="1200150" cy="1228725"/>
          </a:xfrm>
          <a:prstGeom prst="roundRect">
            <a:avLst>
              <a:gd name="adj" fmla="val 49206"/>
            </a:avLst>
          </a:prstGeom>
          <a:solidFill>
            <a:srgbClr val="F7F7FD"/>
          </a:solidFill>
          <a:ln w="9525">
            <a:solidFill>
              <a:srgbClr val="E2DEFD"/>
            </a:solidFill>
            <a:prstDash val="solid"/>
          </a:ln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72775" y="5829300"/>
            <a:ext cx="428625" cy="428625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0801350" y="6524625"/>
            <a:ext cx="3714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15"/>
              </a:lnSpc>
              <a:buNone/>
            </a:pPr>
            <a:r>
              <a:rPr lang="en-US" sz="1342" dirty="0">
                <a:solidFill>
                  <a:srgbClr val="5E6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342" dirty="0"/>
          </a:p>
        </p:txBody>
      </p:sp>
      <p:sp>
        <p:nvSpPr>
          <p:cNvPr id="32" name="Text 20"/>
          <p:cNvSpPr/>
          <p:nvPr/>
        </p:nvSpPr>
        <p:spPr>
          <a:xfrm>
            <a:off x="10525125" y="6315075"/>
            <a:ext cx="933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5"/>
              </a:lnSpc>
              <a:buNone/>
            </a:pPr>
            <a:r>
              <a:rPr lang="en-US" sz="1027" b="1" dirty="0">
                <a:solidFill>
                  <a:srgbClr val="575E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 approved</a:t>
            </a:r>
            <a:endParaRPr lang="en-US" sz="1027" dirty="0"/>
          </a:p>
        </p:txBody>
      </p:sp>
      <p:sp>
        <p:nvSpPr>
          <p:cNvPr id="33" name="Shape 21"/>
          <p:cNvSpPr/>
          <p:nvPr/>
        </p:nvSpPr>
        <p:spPr>
          <a:xfrm>
            <a:off x="11896725" y="2924175"/>
            <a:ext cx="1247775" cy="1247775"/>
          </a:xfrm>
          <a:prstGeom prst="roundRect">
            <a:avLst>
              <a:gd name="adj" fmla="val 48855"/>
            </a:avLst>
          </a:prstGeom>
          <a:solidFill>
            <a:srgbClr val="F7F7FE"/>
          </a:solidFill>
          <a:ln w="9525">
            <a:solidFill>
              <a:srgbClr val="E5DFFD"/>
            </a:solidFill>
            <a:prstDash val="solid"/>
          </a:ln>
        </p:spPr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44400" y="3105150"/>
            <a:ext cx="361950" cy="371475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12077700" y="3524250"/>
            <a:ext cx="914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1123" b="1" dirty="0">
                <a:solidFill>
                  <a:srgbClr val="5A5F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open</a:t>
            </a:r>
            <a:endParaRPr lang="en-US" sz="1123" dirty="0"/>
          </a:p>
          <a:p>
            <a:pPr algn="ctr" indent="0" marL="0">
              <a:lnSpc>
                <a:spcPts val="1434"/>
              </a:lnSpc>
              <a:buNone/>
            </a:pPr>
            <a:r>
              <a:rPr lang="en-US" sz="1123" b="1" dirty="0">
                <a:solidFill>
                  <a:srgbClr val="5A5F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</a:t>
            </a:r>
            <a:endParaRPr lang="en-US" sz="1123" dirty="0"/>
          </a:p>
        </p:txBody>
      </p:sp>
      <p:sp>
        <p:nvSpPr>
          <p:cNvPr id="36" name="Shape 23"/>
          <p:cNvSpPr/>
          <p:nvPr/>
        </p:nvSpPr>
        <p:spPr>
          <a:xfrm>
            <a:off x="11896725" y="4600575"/>
            <a:ext cx="1228725" cy="1257300"/>
          </a:xfrm>
          <a:prstGeom prst="roundRect">
            <a:avLst>
              <a:gd name="adj" fmla="val 48062"/>
            </a:avLst>
          </a:prstGeom>
          <a:solidFill>
            <a:srgbClr val="F7F8FE"/>
          </a:solidFill>
          <a:ln w="19050">
            <a:solidFill>
              <a:srgbClr val="DFD7FD"/>
            </a:solidFill>
            <a:prstDash val="solid"/>
          </a:ln>
        </p:spPr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15825" y="4781550"/>
            <a:ext cx="390525" cy="390525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12030075" y="5410200"/>
            <a:ext cx="971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3"/>
              </a:lnSpc>
              <a:buNone/>
            </a:pPr>
            <a:r>
              <a:rPr lang="en-US" sz="952" b="1" dirty="0">
                <a:solidFill>
                  <a:srgbClr val="575D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permitted action</a:t>
            </a:r>
            <a:endParaRPr lang="en-US" sz="952" dirty="0"/>
          </a:p>
        </p:txBody>
      </p:sp>
      <p:sp>
        <p:nvSpPr>
          <p:cNvPr id="39" name="Text 25"/>
          <p:cNvSpPr/>
          <p:nvPr/>
        </p:nvSpPr>
        <p:spPr>
          <a:xfrm>
            <a:off x="12306300" y="5229225"/>
            <a:ext cx="419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11"/>
              </a:lnSpc>
              <a:buNone/>
            </a:pPr>
            <a:r>
              <a:rPr lang="en-US" sz="1087" b="1" dirty="0">
                <a:solidFill>
                  <a:srgbClr val="5D62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1087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10975" y="5810250"/>
            <a:ext cx="619125" cy="419100"/>
          </a:xfrm>
          <a:prstGeom prst="rect">
            <a:avLst/>
          </a:prstGeom>
        </p:spPr>
      </p:pic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92075" y="4095750"/>
            <a:ext cx="161925" cy="561975"/>
          </a:xfrm>
          <a:prstGeom prst="rect">
            <a:avLst/>
          </a:prstGeom>
        </p:spPr>
      </p:pic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01450" y="2533650"/>
            <a:ext cx="676275" cy="438150"/>
          </a:xfrm>
          <a:prstGeom prst="rect">
            <a:avLst/>
          </a:prstGeom>
        </p:spPr>
      </p:pic>
      <p:sp>
        <p:nvSpPr>
          <p:cNvPr id="43" name="Shape 26"/>
          <p:cNvSpPr/>
          <p:nvPr/>
        </p:nvSpPr>
        <p:spPr>
          <a:xfrm>
            <a:off x="8858250" y="4581525"/>
            <a:ext cx="1219200" cy="1228725"/>
          </a:xfrm>
          <a:prstGeom prst="roundRect">
            <a:avLst>
              <a:gd name="adj" fmla="val 49219"/>
            </a:avLst>
          </a:prstGeom>
          <a:solidFill>
            <a:srgbClr val="F7F8FD"/>
          </a:solidFill>
          <a:ln w="19050">
            <a:solidFill>
              <a:srgbClr val="E5E2FD"/>
            </a:solidFill>
            <a:prstDash val="solid"/>
          </a:ln>
        </p:spPr>
      </p:sp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96400" y="4800600"/>
            <a:ext cx="352425" cy="409575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9229725" y="5476875"/>
            <a:ext cx="495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10"/>
              </a:lnSpc>
              <a:buNone/>
            </a:pPr>
            <a:r>
              <a:rPr lang="en-US" sz="1142" b="1" dirty="0">
                <a:solidFill>
                  <a:srgbClr val="535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1142" dirty="0"/>
          </a:p>
        </p:txBody>
      </p:sp>
      <p:sp>
        <p:nvSpPr>
          <p:cNvPr id="46" name="Text 28"/>
          <p:cNvSpPr/>
          <p:nvPr/>
        </p:nvSpPr>
        <p:spPr>
          <a:xfrm>
            <a:off x="9191625" y="5276850"/>
            <a:ext cx="561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79"/>
              </a:lnSpc>
              <a:buNone/>
            </a:pPr>
            <a:r>
              <a:rPr lang="en-US" sz="1130" b="1" dirty="0">
                <a:solidFill>
                  <a:srgbClr val="5F6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&amp;</a:t>
            </a:r>
            <a:endParaRPr lang="en-US" sz="1130" dirty="0"/>
          </a:p>
        </p:txBody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3125" y="5791200"/>
            <a:ext cx="600075" cy="428625"/>
          </a:xfrm>
          <a:prstGeom prst="rect">
            <a:avLst/>
          </a:prstGeom>
        </p:spPr>
      </p:pic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96550" y="3419475"/>
            <a:ext cx="990600" cy="1104900"/>
          </a:xfrm>
          <a:prstGeom prst="rect">
            <a:avLst/>
          </a:prstGeom>
        </p:spPr>
      </p:pic>
      <p:sp>
        <p:nvSpPr>
          <p:cNvPr id="49" name="Shape 29"/>
          <p:cNvSpPr/>
          <p:nvPr/>
        </p:nvSpPr>
        <p:spPr>
          <a:xfrm>
            <a:off x="10382250" y="2038350"/>
            <a:ext cx="1209675" cy="1200150"/>
          </a:xfrm>
          <a:prstGeom prst="roundRect">
            <a:avLst>
              <a:gd name="adj" fmla="val 49206"/>
            </a:avLst>
          </a:prstGeom>
          <a:solidFill>
            <a:srgbClr val="F6F7FE"/>
          </a:solidFill>
          <a:ln w="9525">
            <a:solidFill>
              <a:srgbClr val="E0DAFD"/>
            </a:solidFill>
            <a:prstDash val="solid"/>
          </a:ln>
        </p:spPr>
      </p:sp>
      <p:pic>
        <p:nvPicPr>
          <p:cNvPr id="5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63250" y="2276475"/>
            <a:ext cx="447675" cy="285750"/>
          </a:xfrm>
          <a:prstGeom prst="rect">
            <a:avLst/>
          </a:prstGeom>
        </p:spPr>
      </p:pic>
      <p:sp>
        <p:nvSpPr>
          <p:cNvPr id="51" name="Text 30"/>
          <p:cNvSpPr/>
          <p:nvPr/>
        </p:nvSpPr>
        <p:spPr>
          <a:xfrm>
            <a:off x="10648950" y="2638425"/>
            <a:ext cx="6858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67"/>
              </a:lnSpc>
              <a:buNone/>
            </a:pPr>
            <a:r>
              <a:rPr lang="en-US" sz="1083" b="1" dirty="0">
                <a:solidFill>
                  <a:srgbClr val="5B63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pPr algn="ctr" indent="0" marL="0">
              <a:lnSpc>
                <a:spcPts val="1267"/>
              </a:lnSpc>
              <a:buNone/>
            </a:pPr>
            <a:endParaRPr lang="en-US" sz="1083" dirty="0"/>
          </a:p>
          <a:p>
            <a:pPr algn="ctr" indent="0" marL="0">
              <a:lnSpc>
                <a:spcPts val="1267"/>
              </a:lnSpc>
              <a:buNone/>
            </a:pPr>
            <a:r>
              <a:rPr lang="en-US" sz="1083" b="1" dirty="0">
                <a:solidFill>
                  <a:srgbClr val="5B63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state</a:t>
            </a:r>
            <a:endParaRPr lang="en-US" sz="1083" dirty="0"/>
          </a:p>
        </p:txBody>
      </p:sp>
      <p:sp>
        <p:nvSpPr>
          <p:cNvPr id="52" name="Shape 31"/>
          <p:cNvSpPr/>
          <p:nvPr/>
        </p:nvSpPr>
        <p:spPr>
          <a:xfrm>
            <a:off x="8858250" y="2924175"/>
            <a:ext cx="1219200" cy="1228725"/>
          </a:xfrm>
          <a:prstGeom prst="roundRect">
            <a:avLst>
              <a:gd name="adj" fmla="val 49219"/>
            </a:avLst>
          </a:prstGeom>
          <a:solidFill>
            <a:srgbClr val="F7F7FE"/>
          </a:solidFill>
          <a:ln w="9525">
            <a:solidFill>
              <a:srgbClr val="E2DBFC"/>
            </a:solidFill>
            <a:prstDash val="solid"/>
          </a:ln>
        </p:spPr>
      </p:sp>
      <p:pic>
        <p:nvPicPr>
          <p:cNvPr id="5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96400" y="3114675"/>
            <a:ext cx="352425" cy="361950"/>
          </a:xfrm>
          <a:prstGeom prst="rect">
            <a:avLst/>
          </a:prstGeom>
        </p:spPr>
      </p:pic>
      <p:sp>
        <p:nvSpPr>
          <p:cNvPr id="54" name="Text 32"/>
          <p:cNvSpPr/>
          <p:nvPr/>
        </p:nvSpPr>
        <p:spPr>
          <a:xfrm>
            <a:off x="9182100" y="3752850"/>
            <a:ext cx="5810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88"/>
              </a:lnSpc>
              <a:buNone/>
            </a:pPr>
            <a:r>
              <a:rPr lang="en-US" sz="1188" dirty="0">
                <a:solidFill>
                  <a:srgbClr val="5D6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</a:t>
            </a:r>
            <a:endParaRPr lang="en-US" sz="1188" dirty="0"/>
          </a:p>
        </p:txBody>
      </p:sp>
      <p:sp>
        <p:nvSpPr>
          <p:cNvPr id="55" name="Text 33"/>
          <p:cNvSpPr/>
          <p:nvPr/>
        </p:nvSpPr>
        <p:spPr>
          <a:xfrm>
            <a:off x="9144000" y="3552825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1087" b="1" dirty="0">
                <a:solidFill>
                  <a:srgbClr val="565C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Replan or</a:t>
            </a:r>
            <a:endParaRPr lang="en-US" sz="1087" dirty="0"/>
          </a:p>
        </p:txBody>
      </p:sp>
      <p:pic>
        <p:nvPicPr>
          <p:cNvPr id="5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15500" y="2533650"/>
            <a:ext cx="647700" cy="438150"/>
          </a:xfrm>
          <a:prstGeom prst="rect">
            <a:avLst/>
          </a:prstGeom>
        </p:spPr>
      </p:pic>
      <p:sp>
        <p:nvSpPr>
          <p:cNvPr id="57" name="Shape 34"/>
          <p:cNvSpPr/>
          <p:nvPr/>
        </p:nvSpPr>
        <p:spPr>
          <a:xfrm>
            <a:off x="8820150" y="1200150"/>
            <a:ext cx="657225" cy="657225"/>
          </a:xfrm>
          <a:prstGeom prst="roundRect">
            <a:avLst>
              <a:gd name="adj" fmla="val 47826"/>
            </a:avLst>
          </a:prstGeom>
          <a:solidFill>
            <a:srgbClr val="563BEE"/>
          </a:solidFill>
          <a:ln w="9525">
            <a:solidFill>
              <a:srgbClr val="5B42F4"/>
            </a:solidFill>
            <a:prstDash val="solid"/>
          </a:ln>
        </p:spPr>
      </p:sp>
      <p:sp>
        <p:nvSpPr>
          <p:cNvPr id="58" name="Text 35"/>
          <p:cNvSpPr/>
          <p:nvPr/>
        </p:nvSpPr>
        <p:spPr>
          <a:xfrm>
            <a:off x="9029700" y="1333500"/>
            <a:ext cx="257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3255" dirty="0">
                <a:solidFill>
                  <a:srgbClr val="E0DC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255" dirty="0"/>
          </a:p>
        </p:txBody>
      </p:sp>
      <p:sp>
        <p:nvSpPr>
          <p:cNvPr id="59" name="Text 36"/>
          <p:cNvSpPr/>
          <p:nvPr/>
        </p:nvSpPr>
        <p:spPr>
          <a:xfrm>
            <a:off x="10401300" y="5029200"/>
            <a:ext cx="12001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33"/>
              </a:lnSpc>
              <a:buNone/>
            </a:pPr>
            <a:r>
              <a:rPr lang="en-US" sz="1174" b="1" dirty="0">
                <a:solidFill>
                  <a:srgbClr val="8C96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Policy-governed</a:t>
            </a:r>
            <a:endParaRPr lang="en-US" sz="1174" dirty="0"/>
          </a:p>
          <a:p>
            <a:pPr algn="ctr" indent="0" marL="0">
              <a:lnSpc>
                <a:spcPts val="1433"/>
              </a:lnSpc>
              <a:buNone/>
            </a:pPr>
            <a:r>
              <a:rPr lang="en-US" sz="1174" b="1" dirty="0">
                <a:solidFill>
                  <a:srgbClr val="8C96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</a:t>
            </a:r>
            <a:endParaRPr lang="en-US" sz="1174" dirty="0"/>
          </a:p>
        </p:txBody>
      </p:sp>
      <p:sp>
        <p:nvSpPr>
          <p:cNvPr id="60" name="Text 37"/>
          <p:cNvSpPr/>
          <p:nvPr/>
        </p:nvSpPr>
        <p:spPr>
          <a:xfrm>
            <a:off x="10382250" y="4572000"/>
            <a:ext cx="12477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65"/>
              </a:lnSpc>
              <a:buNone/>
            </a:pPr>
            <a:r>
              <a:rPr lang="en-US" sz="1365" b="1" dirty="0">
                <a:solidFill>
                  <a:srgbClr val="3D4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</a:t>
            </a:r>
            <a:endParaRPr lang="en-US" sz="1365" dirty="0"/>
          </a:p>
          <a:p>
            <a:pPr algn="ctr" indent="0" marL="0">
              <a:lnSpc>
                <a:spcPts val="1665"/>
              </a:lnSpc>
              <a:buNone/>
            </a:pPr>
            <a:r>
              <a:rPr lang="en-US" sz="1365" b="1" dirty="0">
                <a:solidFill>
                  <a:srgbClr val="3D48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Coordinator</a:t>
            </a:r>
            <a:endParaRPr lang="en-US" sz="1365" dirty="0"/>
          </a:p>
        </p:txBody>
      </p:sp>
      <p:sp>
        <p:nvSpPr>
          <p:cNvPr id="61" name="Text 38"/>
          <p:cNvSpPr/>
          <p:nvPr/>
        </p:nvSpPr>
        <p:spPr>
          <a:xfrm>
            <a:off x="9648825" y="1628775"/>
            <a:ext cx="48482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373" b="1" dirty="0">
                <a:solidFill>
                  <a:srgbClr val="7E8C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Orchestrates workbench capabilities as governed tools</a:t>
            </a:r>
            <a:endParaRPr lang="en-US" sz="1373" dirty="0"/>
          </a:p>
        </p:txBody>
      </p:sp>
      <p:sp>
        <p:nvSpPr>
          <p:cNvPr id="62" name="Text 39"/>
          <p:cNvSpPr/>
          <p:nvPr/>
        </p:nvSpPr>
        <p:spPr>
          <a:xfrm>
            <a:off x="9658350" y="1276350"/>
            <a:ext cx="5819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890" b="1" dirty="0">
                <a:solidFill>
                  <a:srgbClr val="3828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POLICY-GOVERNED AGENTIC AI COORDINATOR</a:t>
            </a:r>
            <a:endParaRPr lang="en-US" sz="1890" dirty="0"/>
          </a:p>
        </p:txBody>
      </p:sp>
      <p:pic>
        <p:nvPicPr>
          <p:cNvPr id="6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24650" y="3009900"/>
            <a:ext cx="2095500" cy="1638300"/>
          </a:xfrm>
          <a:prstGeom prst="rect">
            <a:avLst/>
          </a:prstGeom>
        </p:spPr>
      </p:pic>
      <p:sp>
        <p:nvSpPr>
          <p:cNvPr id="64" name="Shape 40"/>
          <p:cNvSpPr/>
          <p:nvPr/>
        </p:nvSpPr>
        <p:spPr>
          <a:xfrm>
            <a:off x="152400" y="4267200"/>
            <a:ext cx="6562725" cy="2838450"/>
          </a:xfrm>
          <a:prstGeom prst="roundRect">
            <a:avLst>
              <a:gd name="adj" fmla="val 4362"/>
            </a:avLst>
          </a:prstGeom>
          <a:solidFill>
            <a:srgbClr val="E9F3FA"/>
          </a:solidFill>
          <a:ln w="9525">
            <a:solidFill>
              <a:srgbClr val="C9DEF4"/>
            </a:solidFill>
            <a:prstDash val="solid"/>
          </a:ln>
        </p:spPr>
      </p:sp>
      <p:sp>
        <p:nvSpPr>
          <p:cNvPr id="65" name="Shape 41"/>
          <p:cNvSpPr/>
          <p:nvPr/>
        </p:nvSpPr>
        <p:spPr>
          <a:xfrm>
            <a:off x="5086350" y="5305425"/>
            <a:ext cx="1466850" cy="1609725"/>
          </a:xfrm>
          <a:prstGeom prst="roundRect">
            <a:avLst>
              <a:gd name="adj" fmla="val 5195"/>
            </a:avLst>
          </a:prstGeom>
          <a:solidFill>
            <a:srgbClr val="F4F9FC"/>
          </a:solidFill>
          <a:ln w="19050">
            <a:solidFill>
              <a:srgbClr val="CAE0F2"/>
            </a:solidFill>
            <a:prstDash val="solid"/>
          </a:ln>
        </p:spPr>
      </p:sp>
      <p:pic>
        <p:nvPicPr>
          <p:cNvPr id="6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43550" y="5562600"/>
            <a:ext cx="523875" cy="533400"/>
          </a:xfrm>
          <a:prstGeom prst="rect">
            <a:avLst/>
          </a:prstGeom>
        </p:spPr>
      </p:pic>
      <p:sp>
        <p:nvSpPr>
          <p:cNvPr id="67" name="Text 42"/>
          <p:cNvSpPr/>
          <p:nvPr/>
        </p:nvSpPr>
        <p:spPr>
          <a:xfrm>
            <a:off x="5372100" y="6315075"/>
            <a:ext cx="9239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1366" b="1" dirty="0">
                <a:solidFill>
                  <a:srgbClr val="4D5B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366" dirty="0"/>
          </a:p>
        </p:txBody>
      </p:sp>
      <p:sp>
        <p:nvSpPr>
          <p:cNvPr id="68" name="Shape 43"/>
          <p:cNvSpPr/>
          <p:nvPr/>
        </p:nvSpPr>
        <p:spPr>
          <a:xfrm>
            <a:off x="3476625" y="5305425"/>
            <a:ext cx="1476375" cy="1609725"/>
          </a:xfrm>
          <a:prstGeom prst="roundRect">
            <a:avLst>
              <a:gd name="adj" fmla="val 8387"/>
            </a:avLst>
          </a:prstGeom>
          <a:solidFill>
            <a:srgbClr val="F4F9FC"/>
          </a:solidFill>
          <a:ln w="19050">
            <a:solidFill>
              <a:srgbClr val="CADFF3"/>
            </a:solidFill>
            <a:prstDash val="solid"/>
          </a:ln>
        </p:spPr>
      </p:sp>
      <p:pic>
        <p:nvPicPr>
          <p:cNvPr id="6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990975" y="5562600"/>
            <a:ext cx="447675" cy="533400"/>
          </a:xfrm>
          <a:prstGeom prst="rect">
            <a:avLst/>
          </a:prstGeom>
        </p:spPr>
      </p:pic>
      <p:sp>
        <p:nvSpPr>
          <p:cNvPr id="70" name="Text 44"/>
          <p:cNvSpPr/>
          <p:nvPr/>
        </p:nvSpPr>
        <p:spPr>
          <a:xfrm>
            <a:off x="3686175" y="6296025"/>
            <a:ext cx="10763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56"/>
              </a:lnSpc>
              <a:buNone/>
            </a:pPr>
            <a:r>
              <a:rPr lang="en-US" sz="1357" b="1" dirty="0">
                <a:solidFill>
                  <a:srgbClr val="404D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</a:t>
            </a:r>
            <a:endParaRPr lang="en-US" sz="1357" dirty="0"/>
          </a:p>
          <a:p>
            <a:pPr algn="ctr" indent="0" marL="0">
              <a:lnSpc>
                <a:spcPts val="1656"/>
              </a:lnSpc>
              <a:buNone/>
            </a:pPr>
            <a:r>
              <a:rPr lang="en-US" sz="1357" b="1" dirty="0">
                <a:solidFill>
                  <a:srgbClr val="404D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357" dirty="0"/>
          </a:p>
        </p:txBody>
      </p:sp>
      <p:sp>
        <p:nvSpPr>
          <p:cNvPr id="71" name="Shape 45"/>
          <p:cNvSpPr/>
          <p:nvPr/>
        </p:nvSpPr>
        <p:spPr>
          <a:xfrm>
            <a:off x="1866900" y="5305425"/>
            <a:ext cx="1466850" cy="1600200"/>
          </a:xfrm>
          <a:prstGeom prst="roundRect">
            <a:avLst>
              <a:gd name="adj" fmla="val 4708"/>
            </a:avLst>
          </a:prstGeom>
          <a:solidFill>
            <a:srgbClr val="F4F9FC"/>
          </a:solidFill>
          <a:ln w="19050">
            <a:solidFill>
              <a:srgbClr val="C7DEF2"/>
            </a:solidFill>
            <a:prstDash val="solid"/>
          </a:ln>
        </p:spPr>
      </p:sp>
      <p:pic>
        <p:nvPicPr>
          <p:cNvPr id="72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305050" y="5591175"/>
            <a:ext cx="571500" cy="514350"/>
          </a:xfrm>
          <a:prstGeom prst="rect">
            <a:avLst/>
          </a:prstGeom>
        </p:spPr>
      </p:pic>
      <p:sp>
        <p:nvSpPr>
          <p:cNvPr id="73" name="Text 46"/>
          <p:cNvSpPr/>
          <p:nvPr/>
        </p:nvSpPr>
        <p:spPr>
          <a:xfrm>
            <a:off x="2162175" y="6286500"/>
            <a:ext cx="885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30"/>
              </a:lnSpc>
              <a:buNone/>
            </a:pPr>
            <a:r>
              <a:rPr lang="en-US" sz="1336" b="1" dirty="0">
                <a:solidFill>
                  <a:srgbClr val="4E5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1336" dirty="0"/>
          </a:p>
          <a:p>
            <a:pPr algn="l" indent="0" marL="0">
              <a:lnSpc>
                <a:spcPts val="1630"/>
              </a:lnSpc>
              <a:buNone/>
            </a:pPr>
            <a:r>
              <a:rPr lang="en-US" sz="1336" b="1" dirty="0">
                <a:solidFill>
                  <a:srgbClr val="4E5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</a:t>
            </a:r>
            <a:endParaRPr lang="en-US" sz="1336" dirty="0"/>
          </a:p>
        </p:txBody>
      </p:sp>
      <p:sp>
        <p:nvSpPr>
          <p:cNvPr id="74" name="Shape 47"/>
          <p:cNvSpPr/>
          <p:nvPr/>
        </p:nvSpPr>
        <p:spPr>
          <a:xfrm>
            <a:off x="276225" y="5305425"/>
            <a:ext cx="1447800" cy="1600200"/>
          </a:xfrm>
          <a:prstGeom prst="roundRect">
            <a:avLst>
              <a:gd name="adj" fmla="val 4605"/>
            </a:avLst>
          </a:prstGeom>
          <a:solidFill>
            <a:srgbClr val="F4F9FC"/>
          </a:solidFill>
          <a:ln w="9525">
            <a:solidFill>
              <a:srgbClr val="C4DCF0"/>
            </a:solidFill>
            <a:prstDash val="solid"/>
          </a:ln>
        </p:spPr>
      </p:sp>
      <p:pic>
        <p:nvPicPr>
          <p:cNvPr id="7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5800" y="5581650"/>
            <a:ext cx="609600" cy="533400"/>
          </a:xfrm>
          <a:prstGeom prst="rect">
            <a:avLst/>
          </a:prstGeom>
        </p:spPr>
      </p:pic>
      <p:sp>
        <p:nvSpPr>
          <p:cNvPr id="76" name="Text 48"/>
          <p:cNvSpPr/>
          <p:nvPr/>
        </p:nvSpPr>
        <p:spPr>
          <a:xfrm>
            <a:off x="533400" y="6315075"/>
            <a:ext cx="9429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5"/>
              </a:lnSpc>
              <a:buNone/>
            </a:pPr>
            <a:r>
              <a:rPr lang="en-US" sz="1271" b="1" dirty="0">
                <a:solidFill>
                  <a:srgbClr val="576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Backtesting</a:t>
            </a:r>
            <a:endParaRPr lang="en-US" sz="1271" dirty="0"/>
          </a:p>
        </p:txBody>
      </p:sp>
      <p:pic>
        <p:nvPicPr>
          <p:cNvPr id="77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3850" y="4400550"/>
            <a:ext cx="571500" cy="581025"/>
          </a:xfrm>
          <a:prstGeom prst="rect">
            <a:avLst/>
          </a:prstGeom>
        </p:spPr>
      </p:pic>
      <p:sp>
        <p:nvSpPr>
          <p:cNvPr id="78" name="Text 49"/>
          <p:cNvSpPr/>
          <p:nvPr/>
        </p:nvSpPr>
        <p:spPr>
          <a:xfrm>
            <a:off x="495300" y="4505325"/>
            <a:ext cx="2286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4"/>
              </a:lnSpc>
              <a:buNone/>
            </a:pPr>
            <a:r>
              <a:rPr lang="en-US" sz="2831" b="1" dirty="0">
                <a:solidFill>
                  <a:srgbClr val="D5D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31" dirty="0"/>
          </a:p>
        </p:txBody>
      </p:sp>
      <p:sp>
        <p:nvSpPr>
          <p:cNvPr id="79" name="Text 50"/>
          <p:cNvSpPr/>
          <p:nvPr/>
        </p:nvSpPr>
        <p:spPr>
          <a:xfrm>
            <a:off x="1057275" y="4800600"/>
            <a:ext cx="478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82" b="1" dirty="0">
                <a:solidFill>
                  <a:srgbClr val="7D9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Ensures accuracy, stability and ongoing perforormance</a:t>
            </a:r>
            <a:endParaRPr lang="en-US" sz="1382" dirty="0"/>
          </a:p>
        </p:txBody>
      </p:sp>
      <p:sp>
        <p:nvSpPr>
          <p:cNvPr id="80" name="Text 51"/>
          <p:cNvSpPr/>
          <p:nvPr/>
        </p:nvSpPr>
        <p:spPr>
          <a:xfrm>
            <a:off x="1047750" y="4467225"/>
            <a:ext cx="5095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9"/>
              </a:lnSpc>
              <a:buNone/>
            </a:pPr>
            <a:r>
              <a:rPr lang="en-US" sz="1817" b="1" dirty="0">
                <a:solidFill>
                  <a:srgbClr val="263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&amp; ASSURANCE WORKBENCH</a:t>
            </a:r>
            <a:endParaRPr lang="en-US" sz="1817" dirty="0"/>
          </a:p>
        </p:txBody>
      </p:sp>
      <p:sp>
        <p:nvSpPr>
          <p:cNvPr id="81" name="Shape 52"/>
          <p:cNvSpPr/>
          <p:nvPr/>
        </p:nvSpPr>
        <p:spPr>
          <a:xfrm>
            <a:off x="152400" y="1076325"/>
            <a:ext cx="6534150" cy="2867025"/>
          </a:xfrm>
          <a:prstGeom prst="roundRect">
            <a:avLst>
              <a:gd name="adj" fmla="val 4983"/>
            </a:avLst>
          </a:prstGeom>
          <a:solidFill>
            <a:srgbClr val="E7F5F6"/>
          </a:solidFill>
          <a:ln w="19050">
            <a:solidFill>
              <a:srgbClr val="B9DEDF"/>
            </a:solidFill>
            <a:prstDash val="solid"/>
          </a:ln>
        </p:spPr>
      </p:sp>
      <p:sp>
        <p:nvSpPr>
          <p:cNvPr id="82" name="Shape 53"/>
          <p:cNvSpPr/>
          <p:nvPr/>
        </p:nvSpPr>
        <p:spPr>
          <a:xfrm>
            <a:off x="5448300" y="2114550"/>
            <a:ext cx="1114425" cy="1524000"/>
          </a:xfrm>
          <a:prstGeom prst="roundRect">
            <a:avLst>
              <a:gd name="adj" fmla="val 7692"/>
            </a:avLst>
          </a:prstGeom>
          <a:solidFill>
            <a:srgbClr val="F4FCFC"/>
          </a:solidFill>
          <a:ln w="9525">
            <a:solidFill>
              <a:srgbClr val="B1DCDE"/>
            </a:solidFill>
            <a:prstDash val="solid"/>
          </a:ln>
        </p:spPr>
      </p:sp>
      <p:pic>
        <p:nvPicPr>
          <p:cNvPr id="8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81675" y="2362200"/>
            <a:ext cx="409575" cy="485775"/>
          </a:xfrm>
          <a:prstGeom prst="rect">
            <a:avLst/>
          </a:prstGeom>
        </p:spPr>
      </p:pic>
      <p:sp>
        <p:nvSpPr>
          <p:cNvPr id="84" name="Text 54"/>
          <p:cNvSpPr/>
          <p:nvPr/>
        </p:nvSpPr>
        <p:spPr>
          <a:xfrm>
            <a:off x="5562600" y="2990850"/>
            <a:ext cx="9239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57"/>
              </a:lnSpc>
              <a:buNone/>
            </a:pPr>
            <a:r>
              <a:rPr lang="en-US" sz="1195" b="1" dirty="0">
                <a:solidFill>
                  <a:srgbClr val="546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</a:t>
            </a:r>
            <a:endParaRPr lang="en-US" sz="1195" dirty="0"/>
          </a:p>
          <a:p>
            <a:pPr algn="ctr" indent="0" marL="0">
              <a:lnSpc>
                <a:spcPts val="1457"/>
              </a:lnSpc>
              <a:buNone/>
            </a:pPr>
            <a:r>
              <a:rPr lang="en-US" sz="1195" b="1" dirty="0">
                <a:solidFill>
                  <a:srgbClr val="546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pack</a:t>
            </a:r>
            <a:endParaRPr lang="en-US" sz="1195" dirty="0"/>
          </a:p>
        </p:txBody>
      </p:sp>
      <p:sp>
        <p:nvSpPr>
          <p:cNvPr id="85" name="Shape 55"/>
          <p:cNvSpPr/>
          <p:nvPr/>
        </p:nvSpPr>
        <p:spPr>
          <a:xfrm>
            <a:off x="2809875" y="2114550"/>
            <a:ext cx="1209675" cy="1524000"/>
          </a:xfrm>
          <a:prstGeom prst="roundRect">
            <a:avLst>
              <a:gd name="adj" fmla="val 7087"/>
            </a:avLst>
          </a:prstGeom>
          <a:solidFill>
            <a:srgbClr val="F5FCFD"/>
          </a:solidFill>
          <a:ln w="9525">
            <a:solidFill>
              <a:srgbClr val="B7DEE0"/>
            </a:solidFill>
            <a:prstDash val="solid"/>
          </a:ln>
        </p:spPr>
      </p:sp>
      <p:pic>
        <p:nvPicPr>
          <p:cNvPr id="86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209925" y="2371725"/>
            <a:ext cx="409575" cy="457200"/>
          </a:xfrm>
          <a:prstGeom prst="rect">
            <a:avLst/>
          </a:prstGeom>
        </p:spPr>
      </p:pic>
      <p:sp>
        <p:nvSpPr>
          <p:cNvPr id="87" name="Text 56"/>
          <p:cNvSpPr/>
          <p:nvPr/>
        </p:nvSpPr>
        <p:spPr>
          <a:xfrm>
            <a:off x="2914650" y="2990850"/>
            <a:ext cx="104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9"/>
              </a:lnSpc>
              <a:buNone/>
            </a:pPr>
            <a:r>
              <a:rPr lang="en-US" sz="1186" b="1" dirty="0">
                <a:solidFill>
                  <a:srgbClr val="525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Materiality</a:t>
            </a:r>
            <a:endParaRPr lang="en-US" sz="1186" dirty="0"/>
          </a:p>
          <a:p>
            <a:pPr algn="ctr" indent="0" marL="0">
              <a:lnSpc>
                <a:spcPts val="1449"/>
              </a:lnSpc>
              <a:buNone/>
            </a:pPr>
            <a:r>
              <a:rPr lang="en-US" sz="1186" b="1" dirty="0">
                <a:solidFill>
                  <a:srgbClr val="525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&amp; rating</a:t>
            </a:r>
            <a:endParaRPr lang="en-US" sz="1186" dirty="0"/>
          </a:p>
        </p:txBody>
      </p:sp>
      <p:sp>
        <p:nvSpPr>
          <p:cNvPr id="88" name="Shape 57"/>
          <p:cNvSpPr/>
          <p:nvPr/>
        </p:nvSpPr>
        <p:spPr>
          <a:xfrm>
            <a:off x="4210050" y="2114550"/>
            <a:ext cx="1076325" cy="1524000"/>
          </a:xfrm>
          <a:prstGeom prst="roundRect">
            <a:avLst>
              <a:gd name="adj" fmla="val 7965"/>
            </a:avLst>
          </a:prstGeom>
          <a:solidFill>
            <a:srgbClr val="F4FCFC"/>
          </a:solidFill>
          <a:ln w="9525">
            <a:solidFill>
              <a:srgbClr val="B2DCDF"/>
            </a:solidFill>
            <a:prstDash val="solid"/>
          </a:ln>
        </p:spPr>
      </p:sp>
      <p:pic>
        <p:nvPicPr>
          <p:cNvPr id="89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505325" y="2352675"/>
            <a:ext cx="485775" cy="514350"/>
          </a:xfrm>
          <a:prstGeom prst="rect">
            <a:avLst/>
          </a:prstGeom>
        </p:spPr>
      </p:pic>
      <p:sp>
        <p:nvSpPr>
          <p:cNvPr id="90" name="Text 58"/>
          <p:cNvSpPr/>
          <p:nvPr/>
        </p:nvSpPr>
        <p:spPr>
          <a:xfrm>
            <a:off x="4448175" y="2990850"/>
            <a:ext cx="6191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30"/>
              </a:lnSpc>
              <a:buNone/>
            </a:pPr>
            <a:r>
              <a:rPr lang="en-US" sz="1270" b="1" dirty="0">
                <a:solidFill>
                  <a:srgbClr val="535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2LoD</a:t>
            </a:r>
            <a:endParaRPr lang="en-US" sz="1270" dirty="0"/>
          </a:p>
          <a:p>
            <a:pPr algn="ctr" indent="0" marL="0">
              <a:lnSpc>
                <a:spcPts val="1630"/>
              </a:lnSpc>
              <a:buNone/>
            </a:pPr>
            <a:r>
              <a:rPr lang="en-US" sz="1270" b="1" dirty="0">
                <a:solidFill>
                  <a:srgbClr val="535E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triggers</a:t>
            </a:r>
            <a:endParaRPr lang="en-US" sz="1270" dirty="0"/>
          </a:p>
        </p:txBody>
      </p:sp>
      <p:pic>
        <p:nvPicPr>
          <p:cNvPr id="91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276850" y="2667000"/>
            <a:ext cx="180975" cy="171450"/>
          </a:xfrm>
          <a:prstGeom prst="rect">
            <a:avLst/>
          </a:prstGeom>
        </p:spPr>
      </p:pic>
      <p:pic>
        <p:nvPicPr>
          <p:cNvPr id="9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10025" y="2657475"/>
            <a:ext cx="209550" cy="190500"/>
          </a:xfrm>
          <a:prstGeom prst="rect">
            <a:avLst/>
          </a:prstGeom>
        </p:spPr>
      </p:pic>
      <p:sp>
        <p:nvSpPr>
          <p:cNvPr id="93" name="Shape 59"/>
          <p:cNvSpPr/>
          <p:nvPr/>
        </p:nvSpPr>
        <p:spPr>
          <a:xfrm>
            <a:off x="1571625" y="2114550"/>
            <a:ext cx="1076325" cy="1524000"/>
          </a:xfrm>
          <a:prstGeom prst="roundRect">
            <a:avLst>
              <a:gd name="adj" fmla="val 6195"/>
            </a:avLst>
          </a:prstGeom>
          <a:solidFill>
            <a:srgbClr val="F5FCFC"/>
          </a:solidFill>
          <a:ln w="9525">
            <a:solidFill>
              <a:srgbClr val="B1DBDC"/>
            </a:solidFill>
            <a:prstDash val="solid"/>
          </a:ln>
        </p:spPr>
      </p:sp>
      <p:pic>
        <p:nvPicPr>
          <p:cNvPr id="9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866900" y="2362200"/>
            <a:ext cx="476250" cy="485775"/>
          </a:xfrm>
          <a:prstGeom prst="rect">
            <a:avLst/>
          </a:prstGeom>
        </p:spPr>
      </p:pic>
      <p:sp>
        <p:nvSpPr>
          <p:cNvPr id="95" name="Text 60"/>
          <p:cNvSpPr/>
          <p:nvPr/>
        </p:nvSpPr>
        <p:spPr>
          <a:xfrm>
            <a:off x="1781175" y="2990850"/>
            <a:ext cx="6953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75"/>
              </a:lnSpc>
              <a:buNone/>
            </a:pPr>
            <a:r>
              <a:rPr lang="en-US" sz="1209" b="1" dirty="0">
                <a:solidFill>
                  <a:srgbClr val="525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09" dirty="0"/>
          </a:p>
          <a:p>
            <a:pPr algn="ctr" indent="0" marL="0">
              <a:lnSpc>
                <a:spcPts val="1475"/>
              </a:lnSpc>
              <a:buNone/>
            </a:pPr>
            <a:r>
              <a:rPr lang="en-US" sz="1209" b="1" dirty="0">
                <a:solidFill>
                  <a:srgbClr val="525D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</a:t>
            </a:r>
            <a:endParaRPr lang="en-US" sz="1209" dirty="0"/>
          </a:p>
        </p:txBody>
      </p:sp>
      <p:pic>
        <p:nvPicPr>
          <p:cNvPr id="96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638425" y="2638425"/>
            <a:ext cx="180975" cy="200025"/>
          </a:xfrm>
          <a:prstGeom prst="rect">
            <a:avLst/>
          </a:prstGeom>
        </p:spPr>
      </p:pic>
      <p:pic>
        <p:nvPicPr>
          <p:cNvPr id="97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381125" y="2667000"/>
            <a:ext cx="200025" cy="171450"/>
          </a:xfrm>
          <a:prstGeom prst="rect">
            <a:avLst/>
          </a:prstGeom>
        </p:spPr>
      </p:pic>
      <p:sp>
        <p:nvSpPr>
          <p:cNvPr id="98" name="Shape 61"/>
          <p:cNvSpPr/>
          <p:nvPr/>
        </p:nvSpPr>
        <p:spPr>
          <a:xfrm>
            <a:off x="295275" y="2114550"/>
            <a:ext cx="1076325" cy="1524000"/>
          </a:xfrm>
          <a:prstGeom prst="roundRect">
            <a:avLst>
              <a:gd name="adj" fmla="val 5310"/>
            </a:avLst>
          </a:prstGeom>
          <a:solidFill>
            <a:srgbClr val="F4FCFC"/>
          </a:solidFill>
          <a:ln w="9525">
            <a:solidFill>
              <a:srgbClr val="C3E3E5"/>
            </a:solidFill>
            <a:prstDash val="solid"/>
          </a:ln>
        </p:spPr>
      </p:sp>
      <p:pic>
        <p:nvPicPr>
          <p:cNvPr id="99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38175" y="2343150"/>
            <a:ext cx="400050" cy="523875"/>
          </a:xfrm>
          <a:prstGeom prst="rect">
            <a:avLst/>
          </a:prstGeom>
        </p:spPr>
      </p:pic>
      <p:sp>
        <p:nvSpPr>
          <p:cNvPr id="100" name="Text 62"/>
          <p:cNvSpPr/>
          <p:nvPr/>
        </p:nvSpPr>
        <p:spPr>
          <a:xfrm>
            <a:off x="600075" y="3038475"/>
            <a:ext cx="495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1"/>
              </a:lnSpc>
              <a:buNone/>
            </a:pPr>
            <a:r>
              <a:rPr lang="en-US" sz="1299" b="1" dirty="0">
                <a:solidFill>
                  <a:srgbClr val="555F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</a:t>
            </a:r>
            <a:endParaRPr lang="en-US" sz="1299" dirty="0"/>
          </a:p>
        </p:txBody>
      </p:sp>
      <p:sp>
        <p:nvSpPr>
          <p:cNvPr id="101" name="Shape 63"/>
          <p:cNvSpPr/>
          <p:nvPr/>
        </p:nvSpPr>
        <p:spPr>
          <a:xfrm>
            <a:off x="342900" y="1219200"/>
            <a:ext cx="561975" cy="581025"/>
          </a:xfrm>
          <a:prstGeom prst="roundRect">
            <a:avLst>
              <a:gd name="adj" fmla="val 50847"/>
            </a:avLst>
          </a:prstGeom>
          <a:solidFill>
            <a:srgbClr val="035268"/>
          </a:solidFill>
          <a:ln w="9525">
            <a:solidFill>
              <a:srgbClr val="316883"/>
            </a:solidFill>
            <a:prstDash val="solid"/>
          </a:ln>
        </p:spPr>
      </p:sp>
      <p:sp>
        <p:nvSpPr>
          <p:cNvPr id="102" name="Text 64"/>
          <p:cNvSpPr/>
          <p:nvPr/>
        </p:nvSpPr>
        <p:spPr>
          <a:xfrm>
            <a:off x="523875" y="1333500"/>
            <a:ext cx="2095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865" b="1" dirty="0">
                <a:solidFill>
                  <a:srgbClr val="BED4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865" dirty="0"/>
          </a:p>
        </p:txBody>
      </p:sp>
      <p:sp>
        <p:nvSpPr>
          <p:cNvPr id="103" name="Text 65"/>
          <p:cNvSpPr/>
          <p:nvPr/>
        </p:nvSpPr>
        <p:spPr>
          <a:xfrm>
            <a:off x="1038225" y="1609725"/>
            <a:ext cx="4743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690" dirty="0">
                <a:solidFill>
                  <a:srgbClr val="7C8E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Standardised workflow for consistent, traceable triage</a:t>
            </a:r>
            <a:endParaRPr lang="en-US" sz="690" dirty="0"/>
          </a:p>
        </p:txBody>
      </p:sp>
      <p:sp>
        <p:nvSpPr>
          <p:cNvPr id="104" name="Text 66"/>
          <p:cNvSpPr/>
          <p:nvPr/>
        </p:nvSpPr>
        <p:spPr>
          <a:xfrm>
            <a:off x="1047750" y="1276350"/>
            <a:ext cx="40767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87"/>
              </a:lnSpc>
              <a:buNone/>
            </a:pPr>
            <a:r>
              <a:rPr lang="en-US" sz="1953" b="1" dirty="0">
                <a:solidFill>
                  <a:srgbClr val="2738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RISK TRIAGE WORKBENCH</a:t>
            </a:r>
            <a:endParaRPr lang="en-US" sz="1953" dirty="0"/>
          </a:p>
        </p:txBody>
      </p:sp>
      <p:sp>
        <p:nvSpPr>
          <p:cNvPr id="105" name="Text 67"/>
          <p:cNvSpPr/>
          <p:nvPr/>
        </p:nvSpPr>
        <p:spPr>
          <a:xfrm>
            <a:off x="6791325" y="3733800"/>
            <a:ext cx="1819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1209" b="1" dirty="0">
                <a:solidFill>
                  <a:srgbClr val="C7D5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EVOLVE-NOT REPLACE</a:t>
            </a:r>
            <a:endParaRPr lang="en-US" sz="1209" dirty="0"/>
          </a:p>
        </p:txBody>
      </p:sp>
      <p:sp>
        <p:nvSpPr>
          <p:cNvPr id="106" name="Text 68"/>
          <p:cNvSpPr/>
          <p:nvPr/>
        </p:nvSpPr>
        <p:spPr>
          <a:xfrm>
            <a:off x="361950" y="171450"/>
            <a:ext cx="135826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86"/>
              </a:lnSpc>
              <a:buNone/>
            </a:pPr>
            <a:r>
              <a:rPr lang="en-US" sz="3681" b="1" dirty="0">
                <a:solidFill>
                  <a:srgbClr val="1D32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 Triage: From Workflow Tool to Governed Agentic AI</a:t>
            </a:r>
            <a:endParaRPr lang="en-US" sz="3681" dirty="0"/>
          </a:p>
        </p:txBody>
      </p:sp>
      <p:sp>
        <p:nvSpPr>
          <p:cNvPr id="107" name="Text 69"/>
          <p:cNvSpPr/>
          <p:nvPr/>
        </p:nvSpPr>
        <p:spPr>
          <a:xfrm>
            <a:off x="6038850" y="8324850"/>
            <a:ext cx="3867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414" dirty="0">
                <a:solidFill>
                  <a:srgbClr val="939F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judgement, empowered by governed Al</a:t>
            </a:r>
            <a:endParaRPr lang="en-US" sz="141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2026-09-09T10:20:19Z</dcterms:created>
  <dcterms:modified xsi:type="dcterms:W3CDTF">2026-09-09T10:20:19Z</dcterms:modified>
</cp:coreProperties>
</file>