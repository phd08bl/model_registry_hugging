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jpeg"/><Relationship Id="rId14" Type="http://schemas.openxmlformats.org/officeDocument/2006/relationships/image" Target="../media/image-1-14.png"/><Relationship Id="rId15" Type="http://schemas.openxmlformats.org/officeDocument/2006/relationships/image" Target="../media/image-1-15.jpeg"/><Relationship Id="rId16" Type="http://schemas.openxmlformats.org/officeDocument/2006/relationships/image" Target="../media/image-1-16.png"/><Relationship Id="rId17" Type="http://schemas.openxmlformats.org/officeDocument/2006/relationships/image" Target="../media/image-1-17.jpeg"/><Relationship Id="rId18" Type="http://schemas.openxmlformats.org/officeDocument/2006/relationships/image" Target="../media/image-1-18.png"/><Relationship Id="rId19" Type="http://schemas.openxmlformats.org/officeDocument/2006/relationships/image" Target="../media/image-1-19.jpe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jpe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8505825"/>
            <a:ext cx="9782175" cy="390525"/>
          </a:xfrm>
          <a:prstGeom prst="roundRect">
            <a:avLst>
              <a:gd name="adj" fmla="val 14634"/>
            </a:avLst>
          </a:prstGeom>
          <a:solidFill>
            <a:srgbClr val="F3F9F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9450" y="8572500"/>
            <a:ext cx="285750" cy="238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53350" y="8562975"/>
            <a:ext cx="4314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70"/>
              </a:lnSpc>
              <a:buNone/>
            </a:pPr>
            <a:r>
              <a:rPr lang="en-US" sz="1707" b="1" dirty="0">
                <a:solidFill>
                  <a:srgbClr val="368D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building the bank's Al Risk brain.</a:t>
            </a:r>
            <a:endParaRPr lang="en-US" sz="1707" dirty="0"/>
          </a:p>
        </p:txBody>
      </p:sp>
      <p:sp>
        <p:nvSpPr>
          <p:cNvPr id="6" name="Text 3"/>
          <p:cNvSpPr/>
          <p:nvPr/>
        </p:nvSpPr>
        <p:spPr>
          <a:xfrm>
            <a:off x="3867150" y="8572500"/>
            <a:ext cx="37814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8"/>
              </a:lnSpc>
              <a:buNone/>
            </a:pPr>
            <a:r>
              <a:rPr lang="en-US" sz="1726" b="1" dirty="0">
                <a:solidFill>
                  <a:srgbClr val="393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not just building a platform.</a:t>
            </a:r>
            <a:endParaRPr lang="en-US" sz="1726" dirty="0"/>
          </a:p>
        </p:txBody>
      </p:sp>
      <p:sp>
        <p:nvSpPr>
          <p:cNvPr id="7" name="Shape 4"/>
          <p:cNvSpPr/>
          <p:nvPr/>
        </p:nvSpPr>
        <p:spPr>
          <a:xfrm>
            <a:off x="666750" y="7353300"/>
            <a:ext cx="10229850" cy="1123950"/>
          </a:xfrm>
          <a:prstGeom prst="rect">
            <a:avLst/>
          </a:prstGeom>
          <a:solidFill>
            <a:srgbClr val="FCFCFC"/>
          </a:solidFill>
          <a:ln w="19050">
            <a:solidFill>
              <a:srgbClr val="F9FBF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350" y="7667625"/>
            <a:ext cx="533400" cy="1619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3525" y="8058150"/>
            <a:ext cx="295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7"/>
              </a:lnSpc>
              <a:buNone/>
            </a:pPr>
            <a:r>
              <a:rPr lang="en-US" sz="1012" dirty="0">
                <a:solidFill>
                  <a:srgbClr val="67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1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7419975"/>
            <a:ext cx="600075" cy="6000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7667625"/>
            <a:ext cx="495300" cy="1619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29450" y="8039100"/>
            <a:ext cx="666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968" dirty="0">
                <a:solidFill>
                  <a:srgbClr val="7475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68" dirty="0"/>
          </a:p>
          <a:p>
            <a:pPr algn="l" indent="0" marL="0">
              <a:lnSpc>
                <a:spcPts val="1151"/>
              </a:lnSpc>
              <a:buNone/>
            </a:pPr>
            <a:r>
              <a:rPr lang="en-US" sz="968" dirty="0">
                <a:solidFill>
                  <a:srgbClr val="7475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968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550" y="7419975"/>
            <a:ext cx="590550" cy="6000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00" y="7667625"/>
            <a:ext cx="504825" cy="16192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095875" y="8039100"/>
            <a:ext cx="6572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78"/>
              </a:lnSpc>
              <a:buNone/>
            </a:pPr>
            <a:r>
              <a:rPr lang="en-US" sz="1012" dirty="0">
                <a:solidFill>
                  <a:srgbClr val="6F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012" dirty="0"/>
          </a:p>
          <a:p>
            <a:pPr algn="ctr" indent="0" marL="0">
              <a:lnSpc>
                <a:spcPts val="1378"/>
              </a:lnSpc>
              <a:buNone/>
            </a:pPr>
            <a:r>
              <a:rPr lang="en-US" sz="1012" dirty="0">
                <a:solidFill>
                  <a:srgbClr val="6F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012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4925" y="7419975"/>
            <a:ext cx="590550" cy="60007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1950" y="7667625"/>
            <a:ext cx="533400" cy="16192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2924175" y="8039100"/>
            <a:ext cx="9810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68"/>
              </a:lnSpc>
              <a:buNone/>
            </a:pPr>
            <a:r>
              <a:rPr lang="en-US" sz="982" dirty="0">
                <a:solidFill>
                  <a:srgbClr val="79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982" dirty="0"/>
          </a:p>
          <a:p>
            <a:pPr algn="ctr" indent="0" marL="0">
              <a:lnSpc>
                <a:spcPts val="1168"/>
              </a:lnSpc>
              <a:buNone/>
            </a:pPr>
            <a:r>
              <a:rPr lang="en-US" sz="982" dirty="0">
                <a:solidFill>
                  <a:srgbClr val="79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Data</a:t>
            </a:r>
            <a:endParaRPr lang="en-US" sz="982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3725" y="7419975"/>
            <a:ext cx="590550" cy="59055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610600" y="8239125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52" dirty="0">
                <a:solidFill>
                  <a:srgbClr val="6A6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Organisational Memory</a:t>
            </a:r>
            <a:endParaRPr lang="en-US" sz="952" dirty="0"/>
          </a:p>
        </p:txBody>
      </p:sp>
      <p:sp>
        <p:nvSpPr>
          <p:cNvPr id="21" name="Text 10"/>
          <p:cNvSpPr/>
          <p:nvPr/>
        </p:nvSpPr>
        <p:spPr>
          <a:xfrm>
            <a:off x="1009650" y="7734300"/>
            <a:ext cx="13144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7"/>
              </a:lnSpc>
              <a:buNone/>
            </a:pPr>
            <a:r>
              <a:rPr lang="en-US" sz="1116" dirty="0">
                <a:solidFill>
                  <a:srgbClr val="767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transactions</a:t>
            </a:r>
            <a:endParaRPr lang="en-US" sz="1116" dirty="0"/>
          </a:p>
          <a:p>
            <a:pPr algn="l" indent="0" marL="0">
              <a:lnSpc>
                <a:spcPts val="1467"/>
              </a:lnSpc>
              <a:buNone/>
            </a:pPr>
            <a:r>
              <a:rPr lang="en-US" sz="1116" dirty="0">
                <a:solidFill>
                  <a:srgbClr val="767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intelligence</a:t>
            </a:r>
            <a:endParaRPr lang="en-US" sz="1116" dirty="0"/>
          </a:p>
          <a:p>
            <a:pPr algn="l" indent="0" marL="0">
              <a:lnSpc>
                <a:spcPts val="1467"/>
              </a:lnSpc>
              <a:buNone/>
            </a:pPr>
            <a:r>
              <a:rPr lang="en-US" sz="1116" dirty="0">
                <a:solidFill>
                  <a:srgbClr val="767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enduring memory</a:t>
            </a:r>
            <a:endParaRPr lang="en-US" sz="1116" dirty="0"/>
          </a:p>
        </p:txBody>
      </p:sp>
      <p:sp>
        <p:nvSpPr>
          <p:cNvPr id="22" name="Text 11"/>
          <p:cNvSpPr/>
          <p:nvPr/>
        </p:nvSpPr>
        <p:spPr>
          <a:xfrm>
            <a:off x="1009650" y="7486650"/>
            <a:ext cx="1181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474" dirty="0">
                <a:solidFill>
                  <a:srgbClr val="465B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Evolution</a:t>
            </a:r>
            <a:endParaRPr lang="en-US" sz="1474" dirty="0"/>
          </a:p>
        </p:txBody>
      </p:sp>
      <p:sp>
        <p:nvSpPr>
          <p:cNvPr id="23" name="Shape 12"/>
          <p:cNvSpPr/>
          <p:nvPr/>
        </p:nvSpPr>
        <p:spPr>
          <a:xfrm>
            <a:off x="10887075" y="7391400"/>
            <a:ext cx="4248150" cy="1047750"/>
          </a:xfrm>
          <a:prstGeom prst="roundRect">
            <a:avLst>
              <a:gd name="adj" fmla="val 3636"/>
            </a:avLst>
          </a:prstGeom>
          <a:solidFill>
            <a:srgbClr val="014222"/>
          </a:solidFill>
          <a:ln w="9525">
            <a:solidFill>
              <a:srgbClr val="1F4C32"/>
            </a:solidFill>
            <a:prstDash val="solid"/>
          </a:ln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39475" y="7610475"/>
            <a:ext cx="619125" cy="54292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1877675" y="7715250"/>
            <a:ext cx="2609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045" dirty="0">
                <a:solidFill>
                  <a:srgbClr val="92AC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differentiated capability that</a:t>
            </a:r>
            <a:endParaRPr lang="en-US" sz="1045" dirty="0"/>
          </a:p>
          <a:p>
            <a:pPr algn="l" indent="0" marL="0">
              <a:lnSpc>
                <a:spcPts val="1594"/>
              </a:lnSpc>
              <a:buNone/>
            </a:pPr>
            <a:r>
              <a:rPr lang="en-US" sz="1045" dirty="0">
                <a:solidFill>
                  <a:srgbClr val="92AC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strengthens our risk culture, earns trust,</a:t>
            </a:r>
            <a:endParaRPr lang="en-US" sz="1045" dirty="0"/>
          </a:p>
          <a:p>
            <a:pPr algn="l" indent="0" marL="0">
              <a:lnSpc>
                <a:spcPts val="1594"/>
              </a:lnSpc>
              <a:buNone/>
            </a:pPr>
            <a:r>
              <a:rPr lang="en-US" sz="1045" dirty="0">
                <a:solidFill>
                  <a:srgbClr val="92AC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creates sustainable value for the bank.</a:t>
            </a:r>
            <a:endParaRPr lang="en-US" sz="1045" dirty="0"/>
          </a:p>
        </p:txBody>
      </p:sp>
      <p:sp>
        <p:nvSpPr>
          <p:cNvPr id="26" name="Text 14"/>
          <p:cNvSpPr/>
          <p:nvPr/>
        </p:nvSpPr>
        <p:spPr>
          <a:xfrm>
            <a:off x="11887200" y="748665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279" b="1" dirty="0">
                <a:solidFill>
                  <a:srgbClr val="ACC1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Term Impact</a:t>
            </a:r>
            <a:endParaRPr lang="en-US" sz="1279" dirty="0"/>
          </a:p>
        </p:txBody>
      </p:sp>
      <p:sp>
        <p:nvSpPr>
          <p:cNvPr id="27" name="Shape 15"/>
          <p:cNvSpPr/>
          <p:nvPr/>
        </p:nvSpPr>
        <p:spPr>
          <a:xfrm>
            <a:off x="7600950" y="5962650"/>
            <a:ext cx="3457575" cy="1314450"/>
          </a:xfrm>
          <a:prstGeom prst="roundRect">
            <a:avLst>
              <a:gd name="adj" fmla="val 4348"/>
            </a:avLst>
          </a:prstGeom>
          <a:solidFill>
            <a:srgbClr val="F4F9F7"/>
          </a:solidFill>
          <a:ln w="9525">
            <a:solidFill>
              <a:srgbClr val="F7FAF9"/>
            </a:solidFill>
            <a:prstDash val="solid"/>
          </a:ln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4300" y="6210300"/>
            <a:ext cx="762000" cy="8382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8705850" y="6772275"/>
            <a:ext cx="20859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4"/>
              </a:lnSpc>
              <a:buNone/>
            </a:pPr>
            <a:r>
              <a:rPr lang="en-US" sz="1057" dirty="0">
                <a:solidFill>
                  <a:srgbClr val="6D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What have we learned</a:t>
            </a:r>
            <a:endParaRPr lang="en-US" sz="1057" dirty="0"/>
          </a:p>
          <a:p>
            <a:pPr algn="l" indent="0" marL="0">
              <a:lnSpc>
                <a:spcPts val="1254"/>
              </a:lnSpc>
              <a:buNone/>
            </a:pPr>
            <a:r>
              <a:rPr lang="en-US" sz="1057" dirty="0">
                <a:solidFill>
                  <a:srgbClr val="6D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similar systems in the past?</a:t>
            </a:r>
            <a:endParaRPr lang="en-US" sz="1057" dirty="0"/>
          </a:p>
        </p:txBody>
      </p:sp>
      <p:sp>
        <p:nvSpPr>
          <p:cNvPr id="30" name="Text 17"/>
          <p:cNvSpPr/>
          <p:nvPr/>
        </p:nvSpPr>
        <p:spPr>
          <a:xfrm>
            <a:off x="8705850" y="6276975"/>
            <a:ext cx="22479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356" b="1" dirty="0">
                <a:solidFill>
                  <a:srgbClr val="3C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has our organisation</a:t>
            </a:r>
            <a:endParaRPr lang="en-US" sz="1356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356" b="1" dirty="0">
                <a:solidFill>
                  <a:srgbClr val="3C3E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learned?</a:t>
            </a:r>
            <a:endParaRPr lang="en-US" sz="1356" dirty="0"/>
          </a:p>
        </p:txBody>
      </p:sp>
      <p:sp>
        <p:nvSpPr>
          <p:cNvPr id="31" name="Text 18"/>
          <p:cNvSpPr/>
          <p:nvPr/>
        </p:nvSpPr>
        <p:spPr>
          <a:xfrm>
            <a:off x="8705850" y="6038850"/>
            <a:ext cx="1571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216" dirty="0">
                <a:solidFill>
                  <a:srgbClr val="4F9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216" dirty="0"/>
          </a:p>
        </p:txBody>
      </p:sp>
      <p:sp>
        <p:nvSpPr>
          <p:cNvPr id="32" name="Shape 19"/>
          <p:cNvSpPr/>
          <p:nvPr/>
        </p:nvSpPr>
        <p:spPr>
          <a:xfrm>
            <a:off x="11344275" y="1314450"/>
            <a:ext cx="3895725" cy="6029325"/>
          </a:xfrm>
          <a:prstGeom prst="roundRect">
            <a:avLst>
              <a:gd name="adj" fmla="val 3667"/>
            </a:avLst>
          </a:prstGeom>
          <a:solidFill>
            <a:srgbClr val="FCFCFC"/>
          </a:solidFill>
          <a:ln w="19050">
            <a:solidFill>
              <a:srgbClr val="F6F8F8"/>
            </a:solidFill>
            <a:prstDash val="solid"/>
          </a:ln>
        </p:spPr>
      </p:sp>
      <p:sp>
        <p:nvSpPr>
          <p:cNvPr id="33" name="Text 20"/>
          <p:cNvSpPr/>
          <p:nvPr/>
        </p:nvSpPr>
        <p:spPr>
          <a:xfrm>
            <a:off x="12382500" y="6648450"/>
            <a:ext cx="2038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108" dirty="0">
                <a:solidFill>
                  <a:srgbClr val="787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learns and adapts</a:t>
            </a:r>
            <a:endParaRPr lang="en-US" sz="1108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108" dirty="0">
                <a:solidFill>
                  <a:srgbClr val="787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Al technology, risks and</a:t>
            </a:r>
            <a:endParaRPr lang="en-US" sz="1108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108" dirty="0">
                <a:solidFill>
                  <a:srgbClr val="7878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regulations evolve.</a:t>
            </a:r>
            <a:endParaRPr lang="en-US" sz="1108" dirty="0"/>
          </a:p>
        </p:txBody>
      </p:sp>
      <p:sp>
        <p:nvSpPr>
          <p:cNvPr id="34" name="Text 21"/>
          <p:cNvSpPr/>
          <p:nvPr/>
        </p:nvSpPr>
        <p:spPr>
          <a:xfrm>
            <a:off x="12401550" y="64008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237" b="1" dirty="0">
                <a:solidFill>
                  <a:srgbClr val="559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Future-Proofs Our Capability</a:t>
            </a:r>
            <a:endParaRPr lang="en-US" sz="1237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8100" y="6334125"/>
            <a:ext cx="704850" cy="752475"/>
          </a:xfrm>
          <a:prstGeom prst="rect">
            <a:avLst/>
          </a:prstGeom>
        </p:spPr>
      </p:pic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9525" y="6257925"/>
            <a:ext cx="3695700" cy="47625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12382500" y="5581650"/>
            <a:ext cx="21907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107" dirty="0">
                <a:solidFill>
                  <a:srgbClr val="7575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Codify expert knowledge so every</a:t>
            </a:r>
            <a:endParaRPr lang="en-US" sz="1107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107" dirty="0">
                <a:solidFill>
                  <a:srgbClr val="7575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and business unit can</a:t>
            </a:r>
            <a:endParaRPr lang="en-US" sz="1107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107" dirty="0">
                <a:solidFill>
                  <a:srgbClr val="7575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 from collective experience.</a:t>
            </a:r>
            <a:endParaRPr lang="en-US" sz="1107" dirty="0"/>
          </a:p>
        </p:txBody>
      </p:sp>
      <p:sp>
        <p:nvSpPr>
          <p:cNvPr id="38" name="Text 23"/>
          <p:cNvSpPr/>
          <p:nvPr/>
        </p:nvSpPr>
        <p:spPr>
          <a:xfrm>
            <a:off x="12401550" y="5314950"/>
            <a:ext cx="21526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265" b="1" dirty="0">
                <a:solidFill>
                  <a:srgbClr val="509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Scalable Expertise</a:t>
            </a:r>
            <a:endParaRPr lang="en-US" sz="1265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68100" y="5248275"/>
            <a:ext cx="723900" cy="771525"/>
          </a:xfrm>
          <a:prstGeom prst="rect">
            <a:avLst/>
          </a:prstGeom>
        </p:spPr>
      </p:pic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39525" y="5133975"/>
            <a:ext cx="3686175" cy="47625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12392025" y="4467225"/>
            <a:ext cx="238125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1"/>
              </a:lnSpc>
              <a:buNone/>
            </a:pPr>
            <a:r>
              <a:rPr lang="en-US" sz="1123" dirty="0">
                <a:solidFill>
                  <a:srgbClr val="707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proven methods, tools and</a:t>
            </a:r>
            <a:endParaRPr lang="en-US" sz="1123" dirty="0"/>
          </a:p>
          <a:p>
            <a:pPr algn="l" indent="0" marL="0">
              <a:lnSpc>
                <a:spcPts val="1331"/>
              </a:lnSpc>
              <a:buNone/>
            </a:pPr>
            <a:r>
              <a:rPr lang="en-US" sz="1123" dirty="0">
                <a:solidFill>
                  <a:srgbClr val="707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to reduce effort and improve</a:t>
            </a:r>
            <a:endParaRPr lang="en-US" sz="1123" dirty="0"/>
          </a:p>
          <a:p>
            <a:pPr algn="l" indent="0" marL="0">
              <a:lnSpc>
                <a:spcPts val="1331"/>
              </a:lnSpc>
              <a:buNone/>
            </a:pPr>
            <a:r>
              <a:rPr lang="en-US" sz="1123" dirty="0">
                <a:solidFill>
                  <a:srgbClr val="7070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quality.</a:t>
            </a:r>
            <a:endParaRPr lang="en-US" sz="1123" dirty="0"/>
          </a:p>
        </p:txBody>
      </p:sp>
      <p:sp>
        <p:nvSpPr>
          <p:cNvPr id="42" name="Text 25"/>
          <p:cNvSpPr/>
          <p:nvPr/>
        </p:nvSpPr>
        <p:spPr>
          <a:xfrm>
            <a:off x="12401550" y="4191000"/>
            <a:ext cx="2362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1260" b="1" dirty="0">
                <a:solidFill>
                  <a:srgbClr val="579A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Increases Efficiency &amp; Quality</a:t>
            </a:r>
            <a:endParaRPr lang="en-US" sz="126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68100" y="4114800"/>
            <a:ext cx="714375" cy="752475"/>
          </a:xfrm>
          <a:prstGeom prst="rect">
            <a:avLst/>
          </a:prstGeom>
        </p:spPr>
      </p:pic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39525" y="3981450"/>
            <a:ext cx="3686175" cy="57150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12392025" y="3286125"/>
            <a:ext cx="2362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975" dirty="0">
                <a:solidFill>
                  <a:srgbClr val="6B6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Data-driven insights and institutional</a:t>
            </a:r>
            <a:endParaRPr lang="en-US" sz="975" dirty="0"/>
          </a:p>
          <a:p>
            <a:pPr algn="l" indent="0" marL="0">
              <a:lnSpc>
                <a:spcPts val="1553"/>
              </a:lnSpc>
              <a:buNone/>
            </a:pPr>
            <a:r>
              <a:rPr lang="en-US" sz="975" dirty="0">
                <a:solidFill>
                  <a:srgbClr val="6B6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lead to more accurate and</a:t>
            </a:r>
            <a:endParaRPr lang="en-US" sz="975" dirty="0"/>
          </a:p>
          <a:p>
            <a:pPr algn="l" indent="0" marL="0">
              <a:lnSpc>
                <a:spcPts val="1553"/>
              </a:lnSpc>
              <a:buNone/>
            </a:pPr>
            <a:r>
              <a:rPr lang="en-US" sz="975" dirty="0">
                <a:solidFill>
                  <a:srgbClr val="6B6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risk decisions.</a:t>
            </a:r>
            <a:endParaRPr lang="en-US" sz="975" dirty="0"/>
          </a:p>
        </p:txBody>
      </p:sp>
      <p:sp>
        <p:nvSpPr>
          <p:cNvPr id="46" name="Text 27"/>
          <p:cNvSpPr/>
          <p:nvPr/>
        </p:nvSpPr>
        <p:spPr>
          <a:xfrm>
            <a:off x="12392025" y="2990850"/>
            <a:ext cx="1876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4"/>
              </a:lnSpc>
              <a:buNone/>
            </a:pPr>
            <a:r>
              <a:rPr lang="en-US" sz="1277" b="1" dirty="0">
                <a:solidFill>
                  <a:srgbClr val="509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Drives Better Decisions</a:t>
            </a:r>
            <a:endParaRPr lang="en-US" sz="1277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68100" y="2905125"/>
            <a:ext cx="723900" cy="790575"/>
          </a:xfrm>
          <a:prstGeom prst="rect">
            <a:avLst/>
          </a:prstGeom>
        </p:spPr>
      </p:pic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39525" y="2781300"/>
            <a:ext cx="3695700" cy="57150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12392025" y="2238375"/>
            <a:ext cx="23241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5"/>
              </a:lnSpc>
              <a:buNone/>
            </a:pPr>
            <a:r>
              <a:rPr lang="en-US" sz="1117" dirty="0">
                <a:solidFill>
                  <a:srgbClr val="6C6C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accumulated knowledge and</a:t>
            </a:r>
            <a:endParaRPr lang="en-US" sz="1117" dirty="0"/>
          </a:p>
          <a:p>
            <a:pPr algn="l" indent="0" marL="0">
              <a:lnSpc>
                <a:spcPts val="1325"/>
              </a:lnSpc>
              <a:buNone/>
            </a:pPr>
            <a:r>
              <a:rPr lang="en-US" sz="1117" dirty="0">
                <a:solidFill>
                  <a:srgbClr val="6C6C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cannot be easily copied.</a:t>
            </a:r>
            <a:endParaRPr lang="en-US" sz="1117" dirty="0"/>
          </a:p>
        </p:txBody>
      </p:sp>
      <p:sp>
        <p:nvSpPr>
          <p:cNvPr id="50" name="Text 29"/>
          <p:cNvSpPr/>
          <p:nvPr/>
        </p:nvSpPr>
        <p:spPr>
          <a:xfrm>
            <a:off x="12401550" y="1971675"/>
            <a:ext cx="19907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1283" b="1" dirty="0">
                <a:solidFill>
                  <a:srgbClr val="4A5C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a Defensible Moat</a:t>
            </a:r>
            <a:endParaRPr lang="en-US" sz="1283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68100" y="1866900"/>
            <a:ext cx="723900" cy="781050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11849100" y="1476375"/>
            <a:ext cx="29337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1"/>
              </a:lnSpc>
              <a:buNone/>
            </a:pPr>
            <a:r>
              <a:rPr lang="en-US" sz="1612" b="1" dirty="0">
                <a:solidFill>
                  <a:srgbClr val="3437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Is a Game Changer</a:t>
            </a:r>
            <a:endParaRPr lang="en-US" sz="1612" dirty="0"/>
          </a:p>
        </p:txBody>
      </p:sp>
      <p:sp>
        <p:nvSpPr>
          <p:cNvPr id="53" name="Shape 31"/>
          <p:cNvSpPr/>
          <p:nvPr/>
        </p:nvSpPr>
        <p:spPr>
          <a:xfrm>
            <a:off x="7553325" y="4419600"/>
            <a:ext cx="3543300" cy="1457325"/>
          </a:xfrm>
          <a:prstGeom prst="rect">
            <a:avLst/>
          </a:prstGeom>
          <a:solidFill>
            <a:srgbClr val="F4F9F7"/>
          </a:solidFill>
          <a:ln w="28575">
            <a:solidFill>
              <a:srgbClr val="FDFCFC"/>
            </a:solidFill>
            <a:prstDash val="solid"/>
          </a:ln>
        </p:spPr>
      </p:sp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34300" y="4705350"/>
            <a:ext cx="781050" cy="847725"/>
          </a:xfrm>
          <a:prstGeom prst="rect">
            <a:avLst/>
          </a:prstGeom>
        </p:spPr>
      </p:pic>
      <p:sp>
        <p:nvSpPr>
          <p:cNvPr id="55" name="Text 32"/>
          <p:cNvSpPr/>
          <p:nvPr/>
        </p:nvSpPr>
        <p:spPr>
          <a:xfrm>
            <a:off x="8705850" y="5334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1089" dirty="0">
                <a:solidFill>
                  <a:srgbClr val="656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Which tests are most</a:t>
            </a:r>
            <a:endParaRPr lang="en-US" sz="1089" dirty="0"/>
          </a:p>
          <a:p>
            <a:pPr algn="l" indent="0" marL="0">
              <a:lnSpc>
                <a:spcPts val="1291"/>
              </a:lnSpc>
              <a:buNone/>
            </a:pPr>
            <a:r>
              <a:rPr lang="en-US" sz="1089" dirty="0">
                <a:solidFill>
                  <a:srgbClr val="656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for Agentic Al systems?</a:t>
            </a:r>
            <a:endParaRPr lang="en-US" sz="1089" dirty="0"/>
          </a:p>
        </p:txBody>
      </p:sp>
      <p:sp>
        <p:nvSpPr>
          <p:cNvPr id="56" name="Text 33"/>
          <p:cNvSpPr/>
          <p:nvPr/>
        </p:nvSpPr>
        <p:spPr>
          <a:xfrm>
            <a:off x="8705850" y="4781550"/>
            <a:ext cx="1438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9"/>
              </a:lnSpc>
              <a:buNone/>
            </a:pPr>
            <a:r>
              <a:rPr lang="en-US" sz="1430" b="1" dirty="0">
                <a:solidFill>
                  <a:srgbClr val="444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we</a:t>
            </a:r>
            <a:endParaRPr lang="en-US" sz="1430" dirty="0"/>
          </a:p>
          <a:p>
            <a:pPr algn="l" indent="0" marL="0">
              <a:lnSpc>
                <a:spcPts val="1749"/>
              </a:lnSpc>
              <a:buNone/>
            </a:pPr>
            <a:r>
              <a:rPr lang="en-US" sz="1430" b="1" dirty="0">
                <a:solidFill>
                  <a:srgbClr val="444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recommend?</a:t>
            </a:r>
            <a:endParaRPr lang="en-US" sz="1430" dirty="0"/>
          </a:p>
        </p:txBody>
      </p:sp>
      <p:sp>
        <p:nvSpPr>
          <p:cNvPr id="57" name="Text 34"/>
          <p:cNvSpPr/>
          <p:nvPr/>
        </p:nvSpPr>
        <p:spPr>
          <a:xfrm>
            <a:off x="8705850" y="4514850"/>
            <a:ext cx="1581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23" dirty="0">
                <a:solidFill>
                  <a:srgbClr val="559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223" dirty="0"/>
          </a:p>
        </p:txBody>
      </p:sp>
      <p:sp>
        <p:nvSpPr>
          <p:cNvPr id="58" name="Shape 35"/>
          <p:cNvSpPr/>
          <p:nvPr/>
        </p:nvSpPr>
        <p:spPr>
          <a:xfrm>
            <a:off x="7572375" y="2867025"/>
            <a:ext cx="3514725" cy="1504950"/>
          </a:xfrm>
          <a:prstGeom prst="rect">
            <a:avLst/>
          </a:prstGeom>
          <a:solidFill>
            <a:srgbClr val="F4F9F7"/>
          </a:solidFill>
          <a:ln w="19050">
            <a:solidFill>
              <a:srgbClr val="FDFDFD"/>
            </a:solidFill>
            <a:prstDash val="solid"/>
          </a:ln>
        </p:spPr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24775" y="3200400"/>
            <a:ext cx="781050" cy="876300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8715375" y="3600450"/>
            <a:ext cx="17430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229" dirty="0">
                <a:solidFill>
                  <a:srgbClr val="66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What are our</a:t>
            </a:r>
            <a:endParaRPr lang="en-US" sz="1229" dirty="0"/>
          </a:p>
          <a:p>
            <a:pPr algn="l" indent="0" marL="0">
              <a:lnSpc>
                <a:spcPts val="1667"/>
              </a:lnSpc>
              <a:buNone/>
            </a:pPr>
            <a:r>
              <a:rPr lang="en-US" sz="1229" dirty="0">
                <a:solidFill>
                  <a:srgbClr val="66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methods for</a:t>
            </a:r>
            <a:endParaRPr lang="en-US" sz="1229" dirty="0"/>
          </a:p>
          <a:p>
            <a:pPr algn="l" indent="0" marL="0">
              <a:lnSpc>
                <a:spcPts val="1667"/>
              </a:lnSpc>
              <a:buNone/>
            </a:pPr>
            <a:r>
              <a:rPr lang="en-US" sz="1229" dirty="0">
                <a:solidFill>
                  <a:srgbClr val="66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 testing?</a:t>
            </a:r>
            <a:endParaRPr lang="en-US" sz="1229" dirty="0"/>
          </a:p>
        </p:txBody>
      </p:sp>
      <p:sp>
        <p:nvSpPr>
          <p:cNvPr id="61" name="Text 37"/>
          <p:cNvSpPr/>
          <p:nvPr/>
        </p:nvSpPr>
        <p:spPr>
          <a:xfrm>
            <a:off x="8705850" y="3305175"/>
            <a:ext cx="16573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393" b="1" dirty="0">
                <a:solidFill>
                  <a:srgbClr val="444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know?</a:t>
            </a:r>
            <a:endParaRPr lang="en-US" sz="1393" dirty="0"/>
          </a:p>
        </p:txBody>
      </p:sp>
      <p:sp>
        <p:nvSpPr>
          <p:cNvPr id="62" name="Text 38"/>
          <p:cNvSpPr/>
          <p:nvPr/>
        </p:nvSpPr>
        <p:spPr>
          <a:xfrm>
            <a:off x="8705850" y="298132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8"/>
              </a:lnSpc>
              <a:buNone/>
            </a:pPr>
            <a:r>
              <a:rPr lang="en-US" sz="1153" b="1" dirty="0">
                <a:solidFill>
                  <a:srgbClr val="5297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153" dirty="0"/>
          </a:p>
        </p:txBody>
      </p:sp>
      <p:sp>
        <p:nvSpPr>
          <p:cNvPr id="63" name="Shape 39"/>
          <p:cNvSpPr/>
          <p:nvPr/>
        </p:nvSpPr>
        <p:spPr>
          <a:xfrm>
            <a:off x="7600950" y="1381125"/>
            <a:ext cx="3457575" cy="1419225"/>
          </a:xfrm>
          <a:prstGeom prst="roundRect">
            <a:avLst>
              <a:gd name="adj" fmla="val 4698"/>
            </a:avLst>
          </a:prstGeom>
          <a:solidFill>
            <a:srgbClr val="F4F9F7"/>
          </a:solidFill>
          <a:ln/>
        </p:spPr>
      </p:sp>
      <p:pic>
        <p:nvPicPr>
          <p:cNvPr id="6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43825" y="1638300"/>
            <a:ext cx="790575" cy="857250"/>
          </a:xfrm>
          <a:prstGeom prst="rect">
            <a:avLst/>
          </a:prstGeom>
        </p:spPr>
      </p:pic>
      <p:sp>
        <p:nvSpPr>
          <p:cNvPr id="65" name="Text 40"/>
          <p:cNvSpPr/>
          <p:nvPr/>
        </p:nvSpPr>
        <p:spPr>
          <a:xfrm>
            <a:off x="8715375" y="2057400"/>
            <a:ext cx="174307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198" dirty="0">
                <a:solidFill>
                  <a:srgbClr val="60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How do we run</a:t>
            </a:r>
            <a:endParaRPr lang="en-US" sz="1198" dirty="0"/>
          </a:p>
          <a:p>
            <a:pPr algn="l" indent="0" marL="0">
              <a:lnSpc>
                <a:spcPts val="1420"/>
              </a:lnSpc>
              <a:buNone/>
            </a:pPr>
            <a:r>
              <a:rPr lang="en-US" sz="1198" dirty="0">
                <a:solidFill>
                  <a:srgbClr val="60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hallucination test and</a:t>
            </a:r>
            <a:endParaRPr lang="en-US" sz="1198" dirty="0"/>
          </a:p>
          <a:p>
            <a:pPr algn="l" indent="0" marL="0">
              <a:lnSpc>
                <a:spcPts val="1420"/>
              </a:lnSpc>
              <a:buNone/>
            </a:pPr>
            <a:r>
              <a:rPr lang="en-US" sz="1198" dirty="0">
                <a:solidFill>
                  <a:srgbClr val="60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report?</a:t>
            </a:r>
            <a:endParaRPr lang="en-US" sz="1198" dirty="0"/>
          </a:p>
        </p:txBody>
      </p:sp>
      <p:sp>
        <p:nvSpPr>
          <p:cNvPr id="66" name="Text 41"/>
          <p:cNvSpPr/>
          <p:nvPr/>
        </p:nvSpPr>
        <p:spPr>
          <a:xfrm>
            <a:off x="8724900" y="177165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354" b="1" dirty="0">
                <a:solidFill>
                  <a:srgbClr val="4B4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operate?</a:t>
            </a:r>
            <a:endParaRPr lang="en-US" sz="1354" dirty="0"/>
          </a:p>
        </p:txBody>
      </p:sp>
      <p:sp>
        <p:nvSpPr>
          <p:cNvPr id="67" name="Text 42"/>
          <p:cNvSpPr/>
          <p:nvPr/>
        </p:nvSpPr>
        <p:spPr>
          <a:xfrm>
            <a:off x="8715375" y="1457325"/>
            <a:ext cx="1609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1147" b="1" dirty="0">
                <a:solidFill>
                  <a:srgbClr val="5398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the question:</a:t>
            </a:r>
            <a:endParaRPr lang="en-US" sz="1147" dirty="0"/>
          </a:p>
        </p:txBody>
      </p:sp>
      <p:sp>
        <p:nvSpPr>
          <p:cNvPr id="68" name="Text 43"/>
          <p:cNvSpPr/>
          <p:nvPr/>
        </p:nvSpPr>
        <p:spPr>
          <a:xfrm>
            <a:off x="4724400" y="7029450"/>
            <a:ext cx="2286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1076" dirty="0">
                <a:solidFill>
                  <a:srgbClr val="7070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memory across domains</a:t>
            </a:r>
            <a:endParaRPr lang="en-US" sz="1076" dirty="0"/>
          </a:p>
        </p:txBody>
      </p:sp>
      <p:pic>
        <p:nvPicPr>
          <p:cNvPr id="6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33900" y="7086600"/>
            <a:ext cx="47625" cy="57150"/>
          </a:xfrm>
          <a:prstGeom prst="rect">
            <a:avLst/>
          </a:prstGeom>
        </p:spPr>
      </p:pic>
      <p:sp>
        <p:nvSpPr>
          <p:cNvPr id="70" name="Text 44"/>
          <p:cNvSpPr/>
          <p:nvPr/>
        </p:nvSpPr>
        <p:spPr>
          <a:xfrm>
            <a:off x="4724400" y="681990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088" dirty="0">
                <a:solidFill>
                  <a:srgbClr val="727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Evolution of risks &amp; mitigations</a:t>
            </a:r>
            <a:endParaRPr lang="en-US" sz="1088" dirty="0"/>
          </a:p>
        </p:txBody>
      </p:sp>
      <p:pic>
        <p:nvPicPr>
          <p:cNvPr id="7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3900" y="6886575"/>
            <a:ext cx="47625" cy="47625"/>
          </a:xfrm>
          <a:prstGeom prst="rect">
            <a:avLst/>
          </a:prstGeom>
        </p:spPr>
      </p:pic>
      <p:sp>
        <p:nvSpPr>
          <p:cNvPr id="72" name="Text 45"/>
          <p:cNvSpPr/>
          <p:nvPr/>
        </p:nvSpPr>
        <p:spPr>
          <a:xfrm>
            <a:off x="4714875" y="6619875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1105" dirty="0">
                <a:solidFill>
                  <a:srgbClr val="6F6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wisdom &amp; playbooks</a:t>
            </a:r>
            <a:endParaRPr lang="en-US" sz="1105" dirty="0"/>
          </a:p>
        </p:txBody>
      </p:sp>
      <p:pic>
        <p:nvPicPr>
          <p:cNvPr id="7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33900" y="6696075"/>
            <a:ext cx="47625" cy="38100"/>
          </a:xfrm>
          <a:prstGeom prst="rect">
            <a:avLst/>
          </a:prstGeom>
        </p:spPr>
      </p:pic>
      <p:sp>
        <p:nvSpPr>
          <p:cNvPr id="74" name="Text 46"/>
          <p:cNvSpPr/>
          <p:nvPr/>
        </p:nvSpPr>
        <p:spPr>
          <a:xfrm>
            <a:off x="4724400" y="6419850"/>
            <a:ext cx="231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1060" dirty="0">
                <a:solidFill>
                  <a:srgbClr val="7474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Findings, overrides &amp; lessons learned</a:t>
            </a:r>
            <a:endParaRPr lang="en-US" sz="1060" dirty="0"/>
          </a:p>
        </p:txBody>
      </p:sp>
      <p:pic>
        <p:nvPicPr>
          <p:cNvPr id="7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33900" y="6486525"/>
            <a:ext cx="47625" cy="57150"/>
          </a:xfrm>
          <a:prstGeom prst="rect">
            <a:avLst/>
          </a:prstGeom>
        </p:spPr>
      </p:pic>
      <p:sp>
        <p:nvSpPr>
          <p:cNvPr id="76" name="Text 47"/>
          <p:cNvSpPr/>
          <p:nvPr/>
        </p:nvSpPr>
        <p:spPr>
          <a:xfrm>
            <a:off x="4724400" y="6219825"/>
            <a:ext cx="2009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1087" dirty="0">
                <a:solidFill>
                  <a:srgbClr val="6F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decisions &amp; rationales</a:t>
            </a:r>
            <a:endParaRPr lang="en-US" sz="1087" dirty="0"/>
          </a:p>
        </p:txBody>
      </p:sp>
      <p:pic>
        <p:nvPicPr>
          <p:cNvPr id="7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33900" y="6296025"/>
            <a:ext cx="47625" cy="47625"/>
          </a:xfrm>
          <a:prstGeom prst="rect">
            <a:avLst/>
          </a:prstGeom>
        </p:spPr>
      </p:pic>
      <p:sp>
        <p:nvSpPr>
          <p:cNvPr id="78" name="Text 48"/>
          <p:cNvSpPr/>
          <p:nvPr/>
        </p:nvSpPr>
        <p:spPr>
          <a:xfrm>
            <a:off x="4533900" y="5991225"/>
            <a:ext cx="116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1149" b="1" dirty="0">
                <a:solidFill>
                  <a:srgbClr val="5584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49" dirty="0"/>
          </a:p>
        </p:txBody>
      </p:sp>
      <p:sp>
        <p:nvSpPr>
          <p:cNvPr id="79" name="Text 49"/>
          <p:cNvSpPr/>
          <p:nvPr/>
        </p:nvSpPr>
        <p:spPr>
          <a:xfrm>
            <a:off x="4714875" y="569595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3"/>
              </a:lnSpc>
              <a:buNone/>
            </a:pPr>
            <a:r>
              <a:rPr lang="en-US" sz="1125" dirty="0">
                <a:solidFill>
                  <a:srgbClr val="6B6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 loop</a:t>
            </a:r>
            <a:endParaRPr lang="en-US" sz="1125" dirty="0"/>
          </a:p>
        </p:txBody>
      </p:sp>
      <p:pic>
        <p:nvPicPr>
          <p:cNvPr id="8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33900" y="5762625"/>
            <a:ext cx="47625" cy="57150"/>
          </a:xfrm>
          <a:prstGeom prst="rect">
            <a:avLst/>
          </a:prstGeom>
        </p:spPr>
      </p:pic>
      <p:sp>
        <p:nvSpPr>
          <p:cNvPr id="81" name="Text 50"/>
          <p:cNvSpPr/>
          <p:nvPr/>
        </p:nvSpPr>
        <p:spPr>
          <a:xfrm>
            <a:off x="4714875" y="5495925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1100" dirty="0">
                <a:solidFill>
                  <a:srgbClr val="6868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Auto-suggested test strategies</a:t>
            </a:r>
            <a:endParaRPr lang="en-US" sz="1100" dirty="0"/>
          </a:p>
        </p:txBody>
      </p:sp>
      <p:pic>
        <p:nvPicPr>
          <p:cNvPr id="8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33900" y="5562600"/>
            <a:ext cx="47625" cy="47625"/>
          </a:xfrm>
          <a:prstGeom prst="rect">
            <a:avLst/>
          </a:prstGeom>
        </p:spPr>
      </p:pic>
      <p:sp>
        <p:nvSpPr>
          <p:cNvPr id="83" name="Text 51"/>
          <p:cNvSpPr/>
          <p:nvPr/>
        </p:nvSpPr>
        <p:spPr>
          <a:xfrm>
            <a:off x="4724400" y="5295900"/>
            <a:ext cx="1628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9"/>
              </a:lnSpc>
              <a:buNone/>
            </a:pPr>
            <a:r>
              <a:rPr lang="en-US" sz="1114" dirty="0">
                <a:solidFill>
                  <a:srgbClr val="696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engine</a:t>
            </a:r>
            <a:endParaRPr lang="en-US" sz="1114" dirty="0"/>
          </a:p>
        </p:txBody>
      </p:sp>
      <p:pic>
        <p:nvPicPr>
          <p:cNvPr id="84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533900" y="5362575"/>
            <a:ext cx="47625" cy="47625"/>
          </a:xfrm>
          <a:prstGeom prst="rect">
            <a:avLst/>
          </a:prstGeom>
        </p:spPr>
      </p:pic>
      <p:sp>
        <p:nvSpPr>
          <p:cNvPr id="85" name="Text 52"/>
          <p:cNvSpPr/>
          <p:nvPr/>
        </p:nvSpPr>
        <p:spPr>
          <a:xfrm>
            <a:off x="4724400" y="5095875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6"/>
              </a:lnSpc>
              <a:buNone/>
            </a:pPr>
            <a:r>
              <a:rPr lang="en-US" sz="1094" dirty="0">
                <a:solidFill>
                  <a:srgbClr val="6F6F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prevalence &amp; trend analytics</a:t>
            </a:r>
            <a:endParaRPr lang="en-US" sz="1094" dirty="0"/>
          </a:p>
        </p:txBody>
      </p:sp>
      <p:pic>
        <p:nvPicPr>
          <p:cNvPr id="8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33900" y="5162550"/>
            <a:ext cx="47625" cy="47625"/>
          </a:xfrm>
          <a:prstGeom prst="rect">
            <a:avLst/>
          </a:prstGeom>
        </p:spPr>
      </p:pic>
      <p:sp>
        <p:nvSpPr>
          <p:cNvPr id="87" name="Text 53"/>
          <p:cNvSpPr/>
          <p:nvPr/>
        </p:nvSpPr>
        <p:spPr>
          <a:xfrm>
            <a:off x="4714875" y="4895850"/>
            <a:ext cx="2066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118" dirty="0">
                <a:solidFill>
                  <a:srgbClr val="6E6E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effectiveness analysis</a:t>
            </a:r>
            <a:endParaRPr lang="en-US" sz="1118" dirty="0"/>
          </a:p>
        </p:txBody>
      </p:sp>
      <p:pic>
        <p:nvPicPr>
          <p:cNvPr id="88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33900" y="4962525"/>
            <a:ext cx="47625" cy="47625"/>
          </a:xfrm>
          <a:prstGeom prst="rect">
            <a:avLst/>
          </a:prstGeom>
        </p:spPr>
      </p:pic>
      <p:sp>
        <p:nvSpPr>
          <p:cNvPr id="89" name="Text 54"/>
          <p:cNvSpPr/>
          <p:nvPr/>
        </p:nvSpPr>
        <p:spPr>
          <a:xfrm>
            <a:off x="4724400" y="4695825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1081" dirty="0">
                <a:solidFill>
                  <a:srgbClr val="6C6C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discovery across validations</a:t>
            </a:r>
            <a:endParaRPr lang="en-US" sz="1081" dirty="0"/>
          </a:p>
        </p:txBody>
      </p:sp>
      <p:pic>
        <p:nvPicPr>
          <p:cNvPr id="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33900" y="4772025"/>
            <a:ext cx="47625" cy="47625"/>
          </a:xfrm>
          <a:prstGeom prst="rect">
            <a:avLst/>
          </a:prstGeom>
        </p:spPr>
      </p:pic>
      <p:sp>
        <p:nvSpPr>
          <p:cNvPr id="91" name="Text 55"/>
          <p:cNvSpPr/>
          <p:nvPr/>
        </p:nvSpPr>
        <p:spPr>
          <a:xfrm>
            <a:off x="4533900" y="4476750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1"/>
              </a:lnSpc>
              <a:buNone/>
            </a:pPr>
            <a:r>
              <a:rPr lang="en-US" sz="1149" b="1" dirty="0">
                <a:solidFill>
                  <a:srgbClr val="588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49" dirty="0"/>
          </a:p>
        </p:txBody>
      </p:sp>
      <p:sp>
        <p:nvSpPr>
          <p:cNvPr id="92" name="Text 56"/>
          <p:cNvSpPr/>
          <p:nvPr/>
        </p:nvSpPr>
        <p:spPr>
          <a:xfrm>
            <a:off x="4695825" y="4162425"/>
            <a:ext cx="1847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1139" dirty="0">
                <a:solidFill>
                  <a:srgbClr val="6B6B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&amp; regulation mapping</a:t>
            </a:r>
            <a:endParaRPr lang="en-US" sz="1139" dirty="0"/>
          </a:p>
        </p:txBody>
      </p:sp>
      <p:pic>
        <p:nvPicPr>
          <p:cNvPr id="9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524375" y="4229100"/>
            <a:ext cx="47625" cy="47625"/>
          </a:xfrm>
          <a:prstGeom prst="rect">
            <a:avLst/>
          </a:prstGeom>
        </p:spPr>
      </p:pic>
      <p:sp>
        <p:nvSpPr>
          <p:cNvPr id="94" name="Text 57"/>
          <p:cNvSpPr/>
          <p:nvPr/>
        </p:nvSpPr>
        <p:spPr>
          <a:xfrm>
            <a:off x="4695825" y="3971925"/>
            <a:ext cx="1857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1126" dirty="0">
                <a:solidFill>
                  <a:srgbClr val="676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&amp; dataset library</a:t>
            </a:r>
            <a:endParaRPr lang="en-US" sz="1126" dirty="0"/>
          </a:p>
        </p:txBody>
      </p:sp>
      <p:pic>
        <p:nvPicPr>
          <p:cNvPr id="95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524375" y="4029075"/>
            <a:ext cx="47625" cy="57150"/>
          </a:xfrm>
          <a:prstGeom prst="rect">
            <a:avLst/>
          </a:prstGeom>
        </p:spPr>
      </p:pic>
      <p:pic>
        <p:nvPicPr>
          <p:cNvPr id="9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524375" y="3829050"/>
            <a:ext cx="47625" cy="57150"/>
          </a:xfrm>
          <a:prstGeom prst="rect">
            <a:avLst/>
          </a:prstGeom>
        </p:spPr>
      </p:pic>
      <p:sp>
        <p:nvSpPr>
          <p:cNvPr id="97" name="Text 58"/>
          <p:cNvSpPr/>
          <p:nvPr/>
        </p:nvSpPr>
        <p:spPr>
          <a:xfrm>
            <a:off x="4695825" y="3543300"/>
            <a:ext cx="19145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27"/>
              </a:lnSpc>
              <a:buNone/>
            </a:pPr>
            <a:r>
              <a:rPr lang="en-US" sz="1294" dirty="0">
                <a:solidFill>
                  <a:srgbClr val="6D6E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&amp; prompt library</a:t>
            </a:r>
            <a:endParaRPr lang="en-US" sz="1294" dirty="0"/>
          </a:p>
          <a:p>
            <a:pPr algn="l" indent="0" marL="0">
              <a:lnSpc>
                <a:spcPts val="1527"/>
              </a:lnSpc>
              <a:buNone/>
            </a:pPr>
            <a:r>
              <a:rPr lang="en-US" sz="1294" dirty="0">
                <a:solidFill>
                  <a:srgbClr val="6D6E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&amp; tool library</a:t>
            </a:r>
            <a:endParaRPr lang="en-US" sz="1294" dirty="0"/>
          </a:p>
        </p:txBody>
      </p:sp>
      <p:pic>
        <p:nvPicPr>
          <p:cNvPr id="9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524375" y="3629025"/>
            <a:ext cx="47625" cy="47625"/>
          </a:xfrm>
          <a:prstGeom prst="rect">
            <a:avLst/>
          </a:prstGeom>
        </p:spPr>
      </p:pic>
      <p:sp>
        <p:nvSpPr>
          <p:cNvPr id="99" name="Text 59"/>
          <p:cNvSpPr/>
          <p:nvPr/>
        </p:nvSpPr>
        <p:spPr>
          <a:xfrm>
            <a:off x="4695825" y="3362325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1118" dirty="0">
                <a:solidFill>
                  <a:srgbClr val="6969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methods &amp; metrics</a:t>
            </a:r>
            <a:endParaRPr lang="en-US" sz="1118" dirty="0"/>
          </a:p>
        </p:txBody>
      </p:sp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524375" y="3438525"/>
            <a:ext cx="47625" cy="38100"/>
          </a:xfrm>
          <a:prstGeom prst="rect">
            <a:avLst/>
          </a:prstGeom>
        </p:spPr>
      </p:pic>
      <p:sp>
        <p:nvSpPr>
          <p:cNvPr id="101" name="Text 60"/>
          <p:cNvSpPr/>
          <p:nvPr/>
        </p:nvSpPr>
        <p:spPr>
          <a:xfrm>
            <a:off x="4695825" y="31623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7"/>
              </a:lnSpc>
              <a:buNone/>
            </a:pPr>
            <a:r>
              <a:rPr lang="en-US" sz="1148" dirty="0">
                <a:solidFill>
                  <a:srgbClr val="6C6C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control library</a:t>
            </a:r>
            <a:endParaRPr lang="en-US" sz="1148" dirty="0"/>
          </a:p>
        </p:txBody>
      </p:sp>
      <p:pic>
        <p:nvPicPr>
          <p:cNvPr id="10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524375" y="3228975"/>
            <a:ext cx="47625" cy="47625"/>
          </a:xfrm>
          <a:prstGeom prst="rect">
            <a:avLst/>
          </a:prstGeom>
        </p:spPr>
      </p:pic>
      <p:sp>
        <p:nvSpPr>
          <p:cNvPr id="103" name="Text 61"/>
          <p:cNvSpPr/>
          <p:nvPr/>
        </p:nvSpPr>
        <p:spPr>
          <a:xfrm>
            <a:off x="4514850" y="2924175"/>
            <a:ext cx="1190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8"/>
              </a:lnSpc>
              <a:buNone/>
            </a:pPr>
            <a:r>
              <a:rPr lang="en-US" sz="1174" b="1" dirty="0">
                <a:solidFill>
                  <a:srgbClr val="5889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174" dirty="0"/>
          </a:p>
        </p:txBody>
      </p:sp>
      <p:sp>
        <p:nvSpPr>
          <p:cNvPr id="104" name="Text 62"/>
          <p:cNvSpPr/>
          <p:nvPr/>
        </p:nvSpPr>
        <p:spPr>
          <a:xfrm>
            <a:off x="4686300" y="2543175"/>
            <a:ext cx="1581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221" dirty="0">
                <a:solidFill>
                  <a:srgbClr val="65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&amp; follow-up</a:t>
            </a:r>
            <a:endParaRPr lang="en-US" sz="1221" dirty="0"/>
          </a:p>
        </p:txBody>
      </p:sp>
      <p:pic>
        <p:nvPicPr>
          <p:cNvPr id="105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514850" y="2619375"/>
            <a:ext cx="47625" cy="47625"/>
          </a:xfrm>
          <a:prstGeom prst="rect">
            <a:avLst/>
          </a:prstGeom>
        </p:spPr>
      </p:pic>
      <p:sp>
        <p:nvSpPr>
          <p:cNvPr id="106" name="Text 63"/>
          <p:cNvSpPr/>
          <p:nvPr/>
        </p:nvSpPr>
        <p:spPr>
          <a:xfrm>
            <a:off x="4686300" y="2333625"/>
            <a:ext cx="1971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327" dirty="0">
                <a:solidFill>
                  <a:srgbClr val="68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&amp; dashboards</a:t>
            </a:r>
            <a:endParaRPr lang="en-US" sz="1327" dirty="0"/>
          </a:p>
        </p:txBody>
      </p:sp>
      <p:pic>
        <p:nvPicPr>
          <p:cNvPr id="10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14850" y="2400300"/>
            <a:ext cx="47625" cy="47625"/>
          </a:xfrm>
          <a:prstGeom prst="rect">
            <a:avLst/>
          </a:prstGeom>
        </p:spPr>
      </p:pic>
      <p:sp>
        <p:nvSpPr>
          <p:cNvPr id="108" name="Text 64"/>
          <p:cNvSpPr/>
          <p:nvPr/>
        </p:nvSpPr>
        <p:spPr>
          <a:xfrm>
            <a:off x="4676775" y="2124075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3"/>
              </a:lnSpc>
              <a:buNone/>
            </a:pPr>
            <a:r>
              <a:rPr lang="en-US" sz="1156" dirty="0">
                <a:solidFill>
                  <a:srgbClr val="6565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execution (Layer 2)</a:t>
            </a:r>
            <a:endParaRPr lang="en-US" sz="1156" dirty="0"/>
          </a:p>
        </p:txBody>
      </p:sp>
      <p:pic>
        <p:nvPicPr>
          <p:cNvPr id="109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514850" y="2190750"/>
            <a:ext cx="47625" cy="47625"/>
          </a:xfrm>
          <a:prstGeom prst="rect">
            <a:avLst/>
          </a:prstGeom>
        </p:spPr>
      </p:pic>
      <p:sp>
        <p:nvSpPr>
          <p:cNvPr id="110" name="Text 65"/>
          <p:cNvSpPr/>
          <p:nvPr/>
        </p:nvSpPr>
        <p:spPr>
          <a:xfrm>
            <a:off x="4686300" y="1905000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1153" dirty="0">
                <a:solidFill>
                  <a:srgbClr val="696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Questionnaires &amp; risk triage</a:t>
            </a:r>
            <a:endParaRPr lang="en-US" sz="1153" dirty="0"/>
          </a:p>
        </p:txBody>
      </p:sp>
      <p:pic>
        <p:nvPicPr>
          <p:cNvPr id="111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514850" y="1971675"/>
            <a:ext cx="47625" cy="47625"/>
          </a:xfrm>
          <a:prstGeom prst="rect">
            <a:avLst/>
          </a:prstGeom>
        </p:spPr>
      </p:pic>
      <p:sp>
        <p:nvSpPr>
          <p:cNvPr id="112" name="Text 66"/>
          <p:cNvSpPr/>
          <p:nvPr/>
        </p:nvSpPr>
        <p:spPr>
          <a:xfrm>
            <a:off x="4686300" y="1685925"/>
            <a:ext cx="1743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1"/>
              </a:lnSpc>
              <a:buNone/>
            </a:pPr>
            <a:r>
              <a:rPr lang="en-US" sz="1167" dirty="0">
                <a:solidFill>
                  <a:srgbClr val="6A6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&amp; model inventory</a:t>
            </a:r>
            <a:endParaRPr lang="en-US" sz="1167" dirty="0"/>
          </a:p>
        </p:txBody>
      </p:sp>
      <p:pic>
        <p:nvPicPr>
          <p:cNvPr id="11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514850" y="1762125"/>
            <a:ext cx="47625" cy="47625"/>
          </a:xfrm>
          <a:prstGeom prst="rect">
            <a:avLst/>
          </a:prstGeom>
        </p:spPr>
      </p:pic>
      <p:sp>
        <p:nvSpPr>
          <p:cNvPr id="114" name="Text 67"/>
          <p:cNvSpPr/>
          <p:nvPr/>
        </p:nvSpPr>
        <p:spPr>
          <a:xfrm>
            <a:off x="4514850" y="1428750"/>
            <a:ext cx="1219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1"/>
              </a:lnSpc>
              <a:buNone/>
            </a:pPr>
            <a:r>
              <a:rPr lang="en-US" sz="1205" b="1" dirty="0">
                <a:solidFill>
                  <a:srgbClr val="567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Capabilities</a:t>
            </a:r>
            <a:endParaRPr lang="en-US" sz="1205" dirty="0"/>
          </a:p>
        </p:txBody>
      </p:sp>
      <p:pic>
        <p:nvPicPr>
          <p:cNvPr id="11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47675" y="1247775"/>
            <a:ext cx="3829050" cy="6067425"/>
          </a:xfrm>
          <a:prstGeom prst="rect">
            <a:avLst/>
          </a:prstGeom>
        </p:spPr>
      </p:pic>
      <p:sp>
        <p:nvSpPr>
          <p:cNvPr id="116" name="Text 68"/>
          <p:cNvSpPr/>
          <p:nvPr/>
        </p:nvSpPr>
        <p:spPr>
          <a:xfrm>
            <a:off x="2314575" y="6600825"/>
            <a:ext cx="16573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089" dirty="0">
                <a:solidFill>
                  <a:srgbClr val="89CA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living memory of</a:t>
            </a:r>
            <a:endParaRPr lang="en-US" sz="1089" dirty="0"/>
          </a:p>
          <a:p>
            <a:pPr algn="l" indent="0" marL="0">
              <a:lnSpc>
                <a:spcPts val="1464"/>
              </a:lnSpc>
              <a:buNone/>
            </a:pPr>
            <a:r>
              <a:rPr lang="en-US" sz="1089" dirty="0">
                <a:solidFill>
                  <a:srgbClr val="89CA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Al risk experience that</a:t>
            </a:r>
            <a:endParaRPr lang="en-US" sz="1089" dirty="0"/>
          </a:p>
          <a:p>
            <a:pPr algn="l" indent="0" marL="0">
              <a:lnSpc>
                <a:spcPts val="1464"/>
              </a:lnSpc>
              <a:buNone/>
            </a:pPr>
            <a:r>
              <a:rPr lang="en-US" sz="1089" dirty="0">
                <a:solidFill>
                  <a:srgbClr val="89CA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compounds over time.</a:t>
            </a:r>
            <a:endParaRPr lang="en-US" sz="1089" dirty="0"/>
          </a:p>
        </p:txBody>
      </p:sp>
      <p:sp>
        <p:nvSpPr>
          <p:cNvPr id="117" name="Text 69"/>
          <p:cNvSpPr/>
          <p:nvPr/>
        </p:nvSpPr>
        <p:spPr>
          <a:xfrm>
            <a:off x="2305050" y="6010275"/>
            <a:ext cx="14382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569" b="1" dirty="0">
                <a:solidFill>
                  <a:srgbClr val="C8E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Organisational</a:t>
            </a:r>
            <a:endParaRPr lang="en-US" sz="1569" dirty="0"/>
          </a:p>
          <a:p>
            <a:pPr algn="l" indent="0" marL="0">
              <a:lnSpc>
                <a:spcPts val="1921"/>
              </a:lnSpc>
              <a:buNone/>
            </a:pPr>
            <a:r>
              <a:rPr lang="en-US" sz="1569" b="1" dirty="0">
                <a:solidFill>
                  <a:srgbClr val="C8E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69" dirty="0"/>
          </a:p>
        </p:txBody>
      </p:sp>
      <p:sp>
        <p:nvSpPr>
          <p:cNvPr id="118" name="Text 70"/>
          <p:cNvSpPr/>
          <p:nvPr/>
        </p:nvSpPr>
        <p:spPr>
          <a:xfrm>
            <a:off x="1819275" y="5981700"/>
            <a:ext cx="3619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25"/>
              </a:lnSpc>
              <a:buNone/>
            </a:pPr>
            <a:r>
              <a:rPr lang="en-US" sz="4597" dirty="0">
                <a:solidFill>
                  <a:srgbClr val="E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4597" dirty="0"/>
          </a:p>
        </p:txBody>
      </p:sp>
      <p:pic>
        <p:nvPicPr>
          <p:cNvPr id="119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95350" y="6048375"/>
            <a:ext cx="723900" cy="876300"/>
          </a:xfrm>
          <a:prstGeom prst="rect">
            <a:avLst/>
          </a:prstGeom>
        </p:spPr>
      </p:pic>
      <p:sp>
        <p:nvSpPr>
          <p:cNvPr id="120" name="Text 71"/>
          <p:cNvSpPr/>
          <p:nvPr/>
        </p:nvSpPr>
        <p:spPr>
          <a:xfrm>
            <a:off x="2305050" y="5572125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1150" dirty="0">
                <a:solidFill>
                  <a:srgbClr val="8BC4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recommendations.</a:t>
            </a:r>
            <a:endParaRPr lang="en-US" sz="1150" dirty="0"/>
          </a:p>
        </p:txBody>
      </p:sp>
      <p:sp>
        <p:nvSpPr>
          <p:cNvPr id="121" name="Text 72"/>
          <p:cNvSpPr/>
          <p:nvPr/>
        </p:nvSpPr>
        <p:spPr>
          <a:xfrm>
            <a:off x="2295525" y="536257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9"/>
              </a:lnSpc>
              <a:buNone/>
            </a:pPr>
            <a:r>
              <a:rPr lang="en-US" sz="1133" dirty="0">
                <a:solidFill>
                  <a:srgbClr val="94C9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insights, patterns and</a:t>
            </a:r>
            <a:endParaRPr lang="en-US" sz="1133" dirty="0"/>
          </a:p>
        </p:txBody>
      </p:sp>
      <p:sp>
        <p:nvSpPr>
          <p:cNvPr id="122" name="Text 73"/>
          <p:cNvSpPr/>
          <p:nvPr/>
        </p:nvSpPr>
        <p:spPr>
          <a:xfrm>
            <a:off x="2295525" y="5143500"/>
            <a:ext cx="1333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2"/>
              </a:lnSpc>
              <a:buNone/>
            </a:pPr>
            <a:r>
              <a:rPr lang="en-US" sz="1131" dirty="0">
                <a:solidFill>
                  <a:srgbClr val="92C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knowledge into</a:t>
            </a:r>
            <a:endParaRPr lang="en-US" sz="1131" dirty="0"/>
          </a:p>
        </p:txBody>
      </p:sp>
      <p:sp>
        <p:nvSpPr>
          <p:cNvPr id="123" name="Text 74"/>
          <p:cNvSpPr/>
          <p:nvPr/>
        </p:nvSpPr>
        <p:spPr>
          <a:xfrm>
            <a:off x="2295525" y="4543425"/>
            <a:ext cx="1238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7"/>
              </a:lnSpc>
              <a:buNone/>
            </a:pPr>
            <a:r>
              <a:rPr lang="en-US" sz="1719" b="1" dirty="0">
                <a:solidFill>
                  <a:srgbClr val="C3E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</a:t>
            </a:r>
            <a:endParaRPr lang="en-US" sz="1719" dirty="0"/>
          </a:p>
          <a:p>
            <a:pPr algn="l" indent="0" marL="0">
              <a:lnSpc>
                <a:spcPts val="2107"/>
              </a:lnSpc>
              <a:buNone/>
            </a:pPr>
            <a:r>
              <a:rPr lang="en-US" sz="1719" b="1" dirty="0">
                <a:solidFill>
                  <a:srgbClr val="C3E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719" dirty="0"/>
          </a:p>
        </p:txBody>
      </p:sp>
      <p:sp>
        <p:nvSpPr>
          <p:cNvPr id="124" name="Text 75"/>
          <p:cNvSpPr/>
          <p:nvPr/>
        </p:nvSpPr>
        <p:spPr>
          <a:xfrm>
            <a:off x="1847850" y="4495800"/>
            <a:ext cx="3333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4305" b="1" dirty="0">
                <a:solidFill>
                  <a:srgbClr val="E1E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4305" dirty="0"/>
          </a:p>
        </p:txBody>
      </p:sp>
      <p:pic>
        <p:nvPicPr>
          <p:cNvPr id="125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33450" y="4648200"/>
            <a:ext cx="685800" cy="685800"/>
          </a:xfrm>
          <a:prstGeom prst="rect">
            <a:avLst/>
          </a:prstGeom>
        </p:spPr>
      </p:pic>
      <p:sp>
        <p:nvSpPr>
          <p:cNvPr id="126" name="Text 76"/>
          <p:cNvSpPr/>
          <p:nvPr/>
        </p:nvSpPr>
        <p:spPr>
          <a:xfrm>
            <a:off x="2276475" y="3829050"/>
            <a:ext cx="1543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43"/>
              </a:lnSpc>
              <a:buNone/>
            </a:pPr>
            <a:r>
              <a:rPr lang="en-US" sz="975" dirty="0">
                <a:solidFill>
                  <a:srgbClr val="92C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from every</a:t>
            </a:r>
            <a:endParaRPr lang="en-US" sz="975" dirty="0"/>
          </a:p>
          <a:p>
            <a:pPr algn="l" indent="0" marL="0">
              <a:lnSpc>
                <a:spcPts val="1443"/>
              </a:lnSpc>
              <a:buNone/>
            </a:pPr>
            <a:r>
              <a:rPr lang="en-US" sz="975" dirty="0">
                <a:solidFill>
                  <a:srgbClr val="92C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validation.</a:t>
            </a:r>
            <a:endParaRPr lang="en-US" sz="975" dirty="0"/>
          </a:p>
        </p:txBody>
      </p:sp>
      <p:sp>
        <p:nvSpPr>
          <p:cNvPr id="127" name="Text 77"/>
          <p:cNvSpPr/>
          <p:nvPr/>
        </p:nvSpPr>
        <p:spPr>
          <a:xfrm>
            <a:off x="2286000" y="3609975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088" dirty="0">
                <a:solidFill>
                  <a:srgbClr val="8CC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and structure</a:t>
            </a:r>
            <a:endParaRPr lang="en-US" sz="1088" dirty="0"/>
          </a:p>
        </p:txBody>
      </p:sp>
      <p:sp>
        <p:nvSpPr>
          <p:cNvPr id="128" name="Text 78"/>
          <p:cNvSpPr/>
          <p:nvPr/>
        </p:nvSpPr>
        <p:spPr>
          <a:xfrm>
            <a:off x="2276475" y="2990850"/>
            <a:ext cx="12477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787" b="1" dirty="0">
                <a:solidFill>
                  <a:srgbClr val="C4E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787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787" b="1" dirty="0">
                <a:solidFill>
                  <a:srgbClr val="C4E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Assets</a:t>
            </a:r>
            <a:endParaRPr lang="en-US" sz="1787" dirty="0"/>
          </a:p>
        </p:txBody>
      </p:sp>
      <p:sp>
        <p:nvSpPr>
          <p:cNvPr id="129" name="Text 79"/>
          <p:cNvSpPr/>
          <p:nvPr/>
        </p:nvSpPr>
        <p:spPr>
          <a:xfrm>
            <a:off x="1828800" y="2943225"/>
            <a:ext cx="3238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4193" b="1" dirty="0">
                <a:solidFill>
                  <a:srgbClr val="DFEF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4193" dirty="0"/>
          </a:p>
        </p:txBody>
      </p:sp>
      <p:pic>
        <p:nvPicPr>
          <p:cNvPr id="130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76300" y="3228975"/>
            <a:ext cx="704850" cy="581025"/>
          </a:xfrm>
          <a:prstGeom prst="rect">
            <a:avLst/>
          </a:prstGeom>
        </p:spPr>
      </p:pic>
      <p:pic>
        <p:nvPicPr>
          <p:cNvPr id="13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23875" y="1333500"/>
            <a:ext cx="3629025" cy="1495425"/>
          </a:xfrm>
          <a:prstGeom prst="rect">
            <a:avLst/>
          </a:prstGeom>
        </p:spPr>
      </p:pic>
      <p:pic>
        <p:nvPicPr>
          <p:cNvPr id="132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66775" y="1762125"/>
            <a:ext cx="714375" cy="676275"/>
          </a:xfrm>
          <a:prstGeom prst="rect">
            <a:avLst/>
          </a:prstGeom>
        </p:spPr>
      </p:pic>
      <p:sp>
        <p:nvSpPr>
          <p:cNvPr id="133" name="Text 80"/>
          <p:cNvSpPr/>
          <p:nvPr/>
        </p:nvSpPr>
        <p:spPr>
          <a:xfrm>
            <a:off x="2276475" y="2352675"/>
            <a:ext cx="121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5"/>
              </a:lnSpc>
              <a:buNone/>
            </a:pPr>
            <a:r>
              <a:rPr lang="en-US" sz="1284" dirty="0">
                <a:solidFill>
                  <a:srgbClr val="92A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validation</a:t>
            </a:r>
            <a:endParaRPr lang="en-US" sz="1284" dirty="0"/>
          </a:p>
          <a:p>
            <a:pPr algn="l" indent="0" marL="0">
              <a:lnSpc>
                <a:spcPts val="1515"/>
              </a:lnSpc>
              <a:buNone/>
            </a:pPr>
            <a:r>
              <a:rPr lang="en-US" sz="1284" dirty="0">
                <a:solidFill>
                  <a:srgbClr val="92A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end-to-end.</a:t>
            </a:r>
            <a:endParaRPr lang="en-US" sz="1284" dirty="0"/>
          </a:p>
        </p:txBody>
      </p:sp>
      <p:sp>
        <p:nvSpPr>
          <p:cNvPr id="134" name="Text 81"/>
          <p:cNvSpPr/>
          <p:nvPr/>
        </p:nvSpPr>
        <p:spPr>
          <a:xfrm>
            <a:off x="2286000" y="2124075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211" dirty="0">
                <a:solidFill>
                  <a:srgbClr val="93A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Digitise and operate</a:t>
            </a:r>
            <a:endParaRPr lang="en-US" sz="1211" dirty="0"/>
          </a:p>
        </p:txBody>
      </p:sp>
      <p:sp>
        <p:nvSpPr>
          <p:cNvPr id="135" name="Text 82"/>
          <p:cNvSpPr/>
          <p:nvPr/>
        </p:nvSpPr>
        <p:spPr>
          <a:xfrm>
            <a:off x="2286000" y="1476375"/>
            <a:ext cx="131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807" b="1" dirty="0">
                <a:solidFill>
                  <a:srgbClr val="C8D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1807" dirty="0"/>
          </a:p>
          <a:p>
            <a:pPr algn="l" indent="0" marL="0">
              <a:lnSpc>
                <a:spcPts val="2205"/>
              </a:lnSpc>
              <a:buNone/>
            </a:pPr>
            <a:r>
              <a:rPr lang="en-US" sz="1807" b="1" dirty="0">
                <a:solidFill>
                  <a:srgbClr val="C8D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807" dirty="0"/>
          </a:p>
        </p:txBody>
      </p:sp>
      <p:sp>
        <p:nvSpPr>
          <p:cNvPr id="136" name="Text 83"/>
          <p:cNvSpPr/>
          <p:nvPr/>
        </p:nvSpPr>
        <p:spPr>
          <a:xfrm>
            <a:off x="1866900" y="1466850"/>
            <a:ext cx="2190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69"/>
              </a:lnSpc>
              <a:buNone/>
            </a:pPr>
            <a:r>
              <a:rPr lang="en-US" sz="3008" dirty="0">
                <a:solidFill>
                  <a:srgbClr val="DBE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008" dirty="0"/>
          </a:p>
        </p:txBody>
      </p:sp>
      <p:sp>
        <p:nvSpPr>
          <p:cNvPr id="137" name="Shape 84"/>
          <p:cNvSpPr/>
          <p:nvPr/>
        </p:nvSpPr>
        <p:spPr>
          <a:xfrm>
            <a:off x="11601450" y="142875"/>
            <a:ext cx="3629025" cy="1095375"/>
          </a:xfrm>
          <a:prstGeom prst="roundRect">
            <a:avLst>
              <a:gd name="adj" fmla="val 11304"/>
            </a:avLst>
          </a:prstGeom>
          <a:solidFill>
            <a:srgbClr val="F3F9F7"/>
          </a:solidFill>
          <a:ln w="9525">
            <a:solidFill>
              <a:srgbClr val="E9F2EF"/>
            </a:solidFill>
            <a:prstDash val="solid"/>
          </a:ln>
        </p:spPr>
      </p:sp>
      <p:pic>
        <p:nvPicPr>
          <p:cNvPr id="138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1811000" y="295275"/>
            <a:ext cx="762000" cy="800100"/>
          </a:xfrm>
          <a:prstGeom prst="rect">
            <a:avLst/>
          </a:prstGeom>
        </p:spPr>
      </p:pic>
      <p:sp>
        <p:nvSpPr>
          <p:cNvPr id="139" name="Text 85"/>
          <p:cNvSpPr/>
          <p:nvPr/>
        </p:nvSpPr>
        <p:spPr>
          <a:xfrm>
            <a:off x="12734925" y="514350"/>
            <a:ext cx="23241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3"/>
              </a:lnSpc>
              <a:buNone/>
            </a:pPr>
            <a:r>
              <a:rPr lang="en-US" sz="1155" dirty="0">
                <a:solidFill>
                  <a:srgbClr val="63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become the trusted source of</a:t>
            </a:r>
            <a:endParaRPr lang="en-US" sz="1155" dirty="0"/>
          </a:p>
          <a:p>
            <a:pPr algn="l" indent="0" marL="0">
              <a:lnSpc>
                <a:spcPts val="1373"/>
              </a:lnSpc>
              <a:buNone/>
            </a:pPr>
            <a:r>
              <a:rPr lang="en-US" sz="1155" dirty="0">
                <a:solidFill>
                  <a:srgbClr val="63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intelligence that empowers</a:t>
            </a:r>
            <a:endParaRPr lang="en-US" sz="1155" dirty="0"/>
          </a:p>
          <a:p>
            <a:pPr algn="l" indent="0" marL="0">
              <a:lnSpc>
                <a:spcPts val="1373"/>
              </a:lnSpc>
              <a:buNone/>
            </a:pPr>
            <a:r>
              <a:rPr lang="en-US" sz="1155" dirty="0">
                <a:solidFill>
                  <a:srgbClr val="63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decisions across the bank.</a:t>
            </a:r>
            <a:endParaRPr lang="en-US" sz="1155" dirty="0"/>
          </a:p>
        </p:txBody>
      </p:sp>
      <p:sp>
        <p:nvSpPr>
          <p:cNvPr id="140" name="Text 86"/>
          <p:cNvSpPr/>
          <p:nvPr/>
        </p:nvSpPr>
        <p:spPr>
          <a:xfrm>
            <a:off x="12734925" y="266700"/>
            <a:ext cx="1466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606" b="1" dirty="0">
                <a:solidFill>
                  <a:srgbClr val="444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North Star</a:t>
            </a:r>
            <a:endParaRPr lang="en-US" sz="1606" dirty="0"/>
          </a:p>
        </p:txBody>
      </p:sp>
      <p:sp>
        <p:nvSpPr>
          <p:cNvPr id="141" name="Text 87"/>
          <p:cNvSpPr/>
          <p:nvPr/>
        </p:nvSpPr>
        <p:spPr>
          <a:xfrm>
            <a:off x="685800" y="857250"/>
            <a:ext cx="10334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9"/>
              </a:lnSpc>
              <a:buNone/>
            </a:pPr>
            <a:r>
              <a:rPr lang="en-US" sz="1536" b="1" dirty="0">
                <a:solidFill>
                  <a:srgbClr val="7F8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an operational platform to an organisational memory and Al Risk intelligence that no one can replicate</a:t>
            </a:r>
            <a:endParaRPr lang="en-US" sz="1536" dirty="0"/>
          </a:p>
        </p:txBody>
      </p:sp>
      <p:sp>
        <p:nvSpPr>
          <p:cNvPr id="142" name="Text 88"/>
          <p:cNvSpPr/>
          <p:nvPr/>
        </p:nvSpPr>
        <p:spPr>
          <a:xfrm>
            <a:off x="657225" y="247650"/>
            <a:ext cx="1028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34"/>
              </a:lnSpc>
              <a:buNone/>
            </a:pPr>
            <a:r>
              <a:rPr lang="en-US" sz="3224" b="1" dirty="0">
                <a:solidFill>
                  <a:srgbClr val="2129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Long Term Strategy: Four Layers of Advantage</a:t>
            </a:r>
            <a:endParaRPr lang="en-US" sz="322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2026-07-28T21:19:23Z</dcterms:created>
  <dcterms:modified xsi:type="dcterms:W3CDTF">2026-07-28T21:19:23Z</dcterms:modified>
</cp:coreProperties>
</file>