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6217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of AI Risk &amp; Control Framework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438912" y="12070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Simplifying End-to-End AI Governance through MRO-led Oversight</a:t>
            </a:r>
            <a:endParaRPr lang="en-US" sz="1500" dirty="0"/>
          </a:p>
        </p:txBody>
      </p:sp>
      <p:pic>
        <p:nvPicPr>
          <p:cNvPr id="5" name="Image 1" descr="/mnt/data/ppt_assets/s1_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896112"/>
            <a:ext cx="2148840" cy="11155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084832"/>
            <a:ext cx="9692640" cy="566928"/>
          </a:xfrm>
          <a:prstGeom prst="roundRect">
            <a:avLst>
              <a:gd name="adj" fmla="val 12903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04672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✦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417320" y="2176272"/>
            <a:ext cx="0" cy="914400"/>
          </a:xfrm>
          <a:prstGeom prst="line">
            <a:avLst/>
          </a:prstGeom>
          <a:noFill/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627632" y="22128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is leading the evolution of AI risk oversight to make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clearer, more proportionate and easier to navigate.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94360" y="2816352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BD8"/>
            </a:solidFill>
            <a:prstDash val="solid"/>
          </a:ln>
          <a:effectLst>
            <a:outerShdw sx="100000" sy="100000" kx="0" ky="0" algn="bl" rotWithShape="0" blurRad="25400" dist="50800" dir="2700000">
              <a:srgbClr val="D6D6D6">
                <a:alpha val="18000"/>
              </a:srgbClr>
            </a:outerShdw>
          </a:effectLst>
        </p:spPr>
      </p:sp>
      <p:pic>
        <p:nvPicPr>
          <p:cNvPr id="11" name="Image 2" descr="/mnt/data/ppt_asset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44952"/>
            <a:ext cx="914400" cy="914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48840" y="3072384"/>
            <a:ext cx="3566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2148840" y="3474720"/>
            <a:ext cx="34747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adoption is accelerating across the Group, including GenAI and agentic AI.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is increasingly material to strategy, customer proposition and operational delivery.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144768" y="2816352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BD8"/>
            </a:solidFill>
            <a:prstDash val="solid"/>
          </a:ln>
          <a:effectLst>
            <a:outerShdw sx="100000" sy="100000" kx="0" ky="0" algn="bl" rotWithShape="0" blurRad="25400" dist="50800" dir="2700000">
              <a:srgbClr val="D6D6D6">
                <a:alpha val="18000"/>
              </a:srgbClr>
            </a:outerShdw>
          </a:effectLst>
        </p:spPr>
      </p:sp>
      <p:pic>
        <p:nvPicPr>
          <p:cNvPr id="15" name="Image 3" descr="/mnt/data/ppt_assets/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044952"/>
            <a:ext cx="914400" cy="914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99248" y="3072384"/>
            <a:ext cx="3566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heard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7699248" y="3474720"/>
            <a:ext cx="34747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Stakeholders highlighted complexity, duplication and unclear ownership.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ask is not less governance, but a clearer route through governance.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94360" y="457200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BD8"/>
            </a:solidFill>
            <a:prstDash val="solid"/>
          </a:ln>
          <a:effectLst>
            <a:outerShdw sx="100000" sy="100000" kx="0" ky="0" algn="bl" rotWithShape="0" blurRad="25400" dist="50800" dir="2700000">
              <a:srgbClr val="D6D6D6">
                <a:alpha val="18000"/>
              </a:srgbClr>
            </a:outerShdw>
          </a:effectLst>
        </p:spPr>
      </p:sp>
      <p:pic>
        <p:nvPicPr>
          <p:cNvPr id="19" name="Image 4" descr="/mnt/data/ppt_assets/buil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00600"/>
            <a:ext cx="914400" cy="914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148840" y="4828032"/>
            <a:ext cx="3566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MRO is doing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2148840" y="5230368"/>
            <a:ext cx="34747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Leading a coordinated programme to simplify governance, strengthen independent validation and scale oversight through tooling.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Providing the second-line front door for AI risk oversight.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144768" y="457200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EBD8"/>
            </a:solidFill>
            <a:prstDash val="solid"/>
          </a:ln>
          <a:effectLst>
            <a:outerShdw sx="100000" sy="100000" kx="0" ky="0" algn="bl" rotWithShape="0" blurRad="25400" dist="50800" dir="2700000">
              <a:srgbClr val="D6D6D6">
                <a:alpha val="18000"/>
              </a:srgbClr>
            </a:outerShdw>
          </a:effectLst>
        </p:spPr>
      </p:sp>
      <p:pic>
        <p:nvPicPr>
          <p:cNvPr id="23" name="Image 5" descr="/mnt/data/ppt_assets/handsh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4800600"/>
            <a:ext cx="914400" cy="9144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699248" y="4828032"/>
            <a:ext cx="3566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support</a:t>
            </a:r>
            <a:endParaRPr lang="en-US" sz="1700" dirty="0"/>
          </a:p>
        </p:txBody>
      </p:sp>
      <p:sp>
        <p:nvSpPr>
          <p:cNvPr id="25" name="Text 17"/>
          <p:cNvSpPr/>
          <p:nvPr/>
        </p:nvSpPr>
        <p:spPr>
          <a:xfrm>
            <a:off x="7699248" y="5230368"/>
            <a:ext cx="34747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PwC is supporting three targeted workstreams under MRO direction.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Framework, tooling and independent validation.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12700">
            <a:solidFill>
              <a:srgbClr val="006A3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5029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Adoption is Scaling;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Needs to Scale With It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502920" y="1755648"/>
            <a:ext cx="8823960" cy="658368"/>
          </a:xfrm>
          <a:prstGeom prst="roundRect">
            <a:avLst>
              <a:gd name="adj" fmla="val 11111"/>
            </a:avLst>
          </a:prstGeom>
          <a:solidFill>
            <a:srgbClr val="DFF4DE"/>
          </a:solidFill>
          <a:ln w="12700">
            <a:solidFill>
              <a:srgbClr val="DFF4DE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865376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07592" y="1883664"/>
            <a:ext cx="7772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already material to the Group’s strategy, customer proposition and operating model.</a:t>
            </a:r>
            <a:endParaRPr lang="en-US" sz="1380" dirty="0"/>
          </a:p>
        </p:txBody>
      </p:sp>
      <p:sp>
        <p:nvSpPr>
          <p:cNvPr id="7" name="Shape 4"/>
          <p:cNvSpPr/>
          <p:nvPr/>
        </p:nvSpPr>
        <p:spPr>
          <a:xfrm>
            <a:off x="594360" y="2788920"/>
            <a:ext cx="2011680" cy="3200400"/>
          </a:xfrm>
          <a:prstGeom prst="roundRect">
            <a:avLst>
              <a:gd name="adj" fmla="val 4091"/>
            </a:avLst>
          </a:prstGeom>
          <a:solidFill>
            <a:srgbClr val="DFF4DE"/>
          </a:solidFill>
          <a:ln w="12700">
            <a:solidFill>
              <a:srgbClr val="DFF4DE"/>
            </a:solidFill>
            <a:prstDash val="solid"/>
          </a:ln>
        </p:spPr>
      </p:sp>
      <p:pic>
        <p:nvPicPr>
          <p:cNvPr id="8" name="Image 1" descr="/mnt/data/ppt_assets/s2_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08960"/>
            <a:ext cx="914400" cy="777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live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95528" y="452628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are already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across the Group —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theoretical or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future-state.</a:t>
            </a:r>
            <a:endParaRPr lang="en-US" sz="1120" dirty="0"/>
          </a:p>
        </p:txBody>
      </p:sp>
      <p:sp>
        <p:nvSpPr>
          <p:cNvPr id="11" name="Shape 7"/>
          <p:cNvSpPr/>
          <p:nvPr/>
        </p:nvSpPr>
        <p:spPr>
          <a:xfrm>
            <a:off x="2862072" y="2788920"/>
            <a:ext cx="2011680" cy="3200400"/>
          </a:xfrm>
          <a:prstGeom prst="roundRect">
            <a:avLst>
              <a:gd name="adj" fmla="val 4091"/>
            </a:avLst>
          </a:prstGeom>
          <a:solidFill>
            <a:srgbClr val="DFF4DE"/>
          </a:solidFill>
          <a:ln w="12700">
            <a:solidFill>
              <a:srgbClr val="DFF4DE"/>
            </a:solidFill>
            <a:prstDash val="solid"/>
          </a:ln>
        </p:spPr>
      </p:sp>
      <p:pic>
        <p:nvPicPr>
          <p:cNvPr id="12" name="Image 2" descr="/mnt/data/ppt_assets/s2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3108960"/>
            <a:ext cx="914400" cy="777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6324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accelerating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063240" y="452628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Bets are accelerating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and increasing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need for consistent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governance.</a:t>
            </a:r>
            <a:endParaRPr lang="en-US" sz="1120" dirty="0"/>
          </a:p>
        </p:txBody>
      </p:sp>
      <p:sp>
        <p:nvSpPr>
          <p:cNvPr id="15" name="Shape 10"/>
          <p:cNvSpPr/>
          <p:nvPr/>
        </p:nvSpPr>
        <p:spPr>
          <a:xfrm>
            <a:off x="5129784" y="2788920"/>
            <a:ext cx="2011680" cy="3200400"/>
          </a:xfrm>
          <a:prstGeom prst="roundRect">
            <a:avLst>
              <a:gd name="adj" fmla="val 4091"/>
            </a:avLst>
          </a:prstGeom>
          <a:solidFill>
            <a:srgbClr val="B4E8B5"/>
          </a:solidFill>
          <a:ln w="12700">
            <a:solidFill>
              <a:srgbClr val="B4E8B5"/>
            </a:solidFill>
            <a:prstDash val="solid"/>
          </a:ln>
        </p:spPr>
      </p:sp>
      <p:pic>
        <p:nvPicPr>
          <p:cNvPr id="16" name="Image 3" descr="/mnt/data/ppt_assets/s2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3108960"/>
            <a:ext cx="914400" cy="777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30952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 evolving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330952" y="452628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and agentic AI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new risks: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non-deterministic outputs,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complexity, tool use,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and third-party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dependencies.</a:t>
            </a:r>
            <a:endParaRPr lang="en-US" sz="1120" dirty="0"/>
          </a:p>
        </p:txBody>
      </p:sp>
      <p:sp>
        <p:nvSpPr>
          <p:cNvPr id="19" name="Shape 13"/>
          <p:cNvSpPr/>
          <p:nvPr/>
        </p:nvSpPr>
        <p:spPr>
          <a:xfrm>
            <a:off x="7397496" y="2788920"/>
            <a:ext cx="2011680" cy="3200400"/>
          </a:xfrm>
          <a:prstGeom prst="roundRect">
            <a:avLst>
              <a:gd name="adj" fmla="val 4091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pic>
        <p:nvPicPr>
          <p:cNvPr id="20" name="Image 4" descr="/mnt/data/ppt_assets/s2_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16" y="3108960"/>
            <a:ext cx="914400" cy="777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598664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oversight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598664" y="4526280"/>
            <a:ext cx="1691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delivery and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scrutiny increase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need for stronger central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oversight.</a:t>
            </a:r>
            <a:endParaRPr lang="en-US" sz="1120" dirty="0"/>
          </a:p>
        </p:txBody>
      </p:sp>
      <p:sp>
        <p:nvSpPr>
          <p:cNvPr id="23" name="Shape 16"/>
          <p:cNvSpPr/>
          <p:nvPr/>
        </p:nvSpPr>
        <p:spPr>
          <a:xfrm>
            <a:off x="9555480" y="278892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24" name="Image 5" descr="/mnt/data/ppt_asset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297180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351008" y="3090672"/>
            <a:ext cx="1005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context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9875520" y="3730752"/>
            <a:ext cx="1417320" cy="0"/>
          </a:xfrm>
          <a:prstGeom prst="line">
            <a:avLst/>
          </a:prstGeom>
          <a:noFill/>
          <a:ln w="12700">
            <a:solidFill>
              <a:srgbClr val="006A3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9857232" y="3977640"/>
            <a:ext cx="1417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Increasing regulatory scrutiny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Peer banks facing similar ambiguity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Clearer accountability and 2LoD assurance expected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 Heard: AI Governance Can Feel Complex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188720"/>
            <a:ext cx="11384280" cy="640080"/>
          </a:xfrm>
          <a:prstGeom prst="roundRect">
            <a:avLst>
              <a:gd name="adj" fmla="val 11429"/>
            </a:avLst>
          </a:prstGeom>
          <a:solidFill>
            <a:srgbClr val="DFF4DE"/>
          </a:solidFill>
          <a:ln w="12700">
            <a:solidFill>
              <a:srgbClr val="DFF4DE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98448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16152" y="1316736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is directly responding to stakeholder feedback that governance needs to be simpler and clearer.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11480" y="1965960"/>
            <a:ext cx="5577840" cy="329184"/>
          </a:xfrm>
          <a:prstGeom prst="roundRect">
            <a:avLst>
              <a:gd name="adj" fmla="val 11111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08192" y="1965960"/>
            <a:ext cx="5577840" cy="329184"/>
          </a:xfrm>
          <a:prstGeom prst="roundRect">
            <a:avLst>
              <a:gd name="adj" fmla="val 11111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0" y="2011680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heard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2011680"/>
            <a:ext cx="16459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response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395728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8F7E8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08192" y="2395728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9F8F0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7008" y="2514600"/>
            <a:ext cx="4572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Governance routes can be unclear</a:t>
            </a:r>
            <a:endParaRPr lang="en-US" sz="1200" dirty="0"/>
          </a:p>
        </p:txBody>
      </p:sp>
      <p:pic>
        <p:nvPicPr>
          <p:cNvPr id="14" name="Image 1" descr="/mnt/data/ppt_assets/frontdo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5059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2514600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Establishing a single 2LoD front door</a:t>
            </a:r>
            <a:endParaRPr lang="en-US" sz="1200" dirty="0"/>
          </a:p>
        </p:txBody>
      </p:sp>
      <p:pic>
        <p:nvPicPr>
          <p:cNvPr id="16" name="Image 2" descr="/mnt/data/ppt_assets/s2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450592"/>
            <a:ext cx="329184" cy="3291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11480" y="2962656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08192" y="2962656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9F8F0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207008" y="3081528"/>
            <a:ext cx="4572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Evidence requests can be duplicative</a:t>
            </a:r>
            <a:endParaRPr lang="en-US" sz="1200" dirty="0"/>
          </a:p>
        </p:txBody>
      </p:sp>
      <p:pic>
        <p:nvPicPr>
          <p:cNvPr id="20" name="Image 3" descr="/mnt/data/ppt_assets/bind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01752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3081528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Developing a common evidence spine</a:t>
            </a:r>
            <a:endParaRPr lang="en-US" sz="1200" dirty="0"/>
          </a:p>
        </p:txBody>
      </p:sp>
      <p:pic>
        <p:nvPicPr>
          <p:cNvPr id="22" name="Image 4" descr="/mnt/data/ppt_assets/s8_mod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017520"/>
            <a:ext cx="329184" cy="32918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11480" y="3529584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8F7E8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108192" y="3529584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9F8F0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207008" y="3648456"/>
            <a:ext cx="4572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Ownership and decision rights are not always clear</a:t>
            </a:r>
            <a:endParaRPr lang="en-US" sz="1200" dirty="0"/>
          </a:p>
        </p:txBody>
      </p:sp>
      <p:pic>
        <p:nvPicPr>
          <p:cNvPr id="26" name="Image 5" descr="/mnt/data/ppt_assets/hierarch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58444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3648456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Updating RAPID and forum hierarchy</a:t>
            </a:r>
            <a:endParaRPr lang="en-US" sz="1200" dirty="0"/>
          </a:p>
        </p:txBody>
      </p:sp>
      <p:pic>
        <p:nvPicPr>
          <p:cNvPr id="28" name="Image 6" descr="/mnt/data/ppt_assets/s10_peo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584448"/>
            <a:ext cx="329184" cy="329184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11480" y="4096512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6108192" y="4096512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9F8F0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1207008" y="4215384"/>
            <a:ext cx="4572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Risk expectations vary across MVP, pilot and scale</a:t>
            </a:r>
            <a:endParaRPr lang="en-US" sz="1200" dirty="0"/>
          </a:p>
        </p:txBody>
      </p:sp>
      <p:pic>
        <p:nvPicPr>
          <p:cNvPr id="32" name="Image 7" descr="/mnt/data/ppt_assets/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151376"/>
            <a:ext cx="329184" cy="32918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03720" y="4215384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Introducing risk-based triage and proportionate pathways</a:t>
            </a:r>
            <a:endParaRPr lang="en-US" sz="1200" dirty="0"/>
          </a:p>
        </p:txBody>
      </p:sp>
      <p:pic>
        <p:nvPicPr>
          <p:cNvPr id="34" name="Image 8" descr="/mnt/data/ppt_assets/s5_scale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151376"/>
            <a:ext cx="329184" cy="329184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11480" y="4663440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8F7E8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6108192" y="4663440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9F8F0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1207008" y="4782312"/>
            <a:ext cx="4572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Late-stage challenge creates delivery friction</a:t>
            </a:r>
            <a:endParaRPr lang="en-US" sz="1200" dirty="0"/>
          </a:p>
        </p:txBody>
      </p:sp>
      <p:pic>
        <p:nvPicPr>
          <p:cNvPr id="38" name="Image 9" descr="/mnt/data/ppt_assets/peoplecha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5080" y="4718304"/>
            <a:ext cx="329184" cy="32918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903720" y="4782312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Enabling earlier 2LoD engagement</a:t>
            </a:r>
            <a:endParaRPr lang="en-US" sz="1200" dirty="0"/>
          </a:p>
        </p:txBody>
      </p:sp>
      <p:pic>
        <p:nvPicPr>
          <p:cNvPr id="40" name="Image 10" descr="/mnt/data/ppt_assets/s10_targ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4718304"/>
            <a:ext cx="329184" cy="329184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411480" y="5230368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6108192" y="5230368"/>
            <a:ext cx="5577840" cy="457200"/>
          </a:xfrm>
          <a:prstGeom prst="roundRect">
            <a:avLst>
              <a:gd name="adj" fmla="val 18000"/>
            </a:avLst>
          </a:prstGeom>
          <a:solidFill>
            <a:srgbClr val="E9F8F0"/>
          </a:solidFill>
          <a:ln w="12700">
            <a:solidFill>
              <a:srgbClr val="E1F2E1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1207008" y="5349240"/>
            <a:ext cx="4572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Monitoring and residual risks are not consistently captured</a:t>
            </a:r>
            <a:endParaRPr lang="en-US" sz="1200" dirty="0"/>
          </a:p>
        </p:txBody>
      </p:sp>
      <p:pic>
        <p:nvPicPr>
          <p:cNvPr id="44" name="Image 11" descr="/mnt/data/ppt_assets/chartu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5285232"/>
            <a:ext cx="329184" cy="329184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903720" y="5349240"/>
            <a:ext cx="4389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Building ongoing oversight and monitoring capability</a:t>
            </a:r>
            <a:endParaRPr lang="en-US" sz="1200" dirty="0"/>
          </a:p>
        </p:txBody>
      </p:sp>
      <p:pic>
        <p:nvPicPr>
          <p:cNvPr id="46" name="Image 12" descr="/mnt/data/ppt_assets/s10_ma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285232"/>
            <a:ext cx="329184" cy="329184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438912" y="612648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658368" y="6217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34"/>
          <p:cNvSpPr/>
          <p:nvPr/>
        </p:nvSpPr>
        <p:spPr>
          <a:xfrm>
            <a:off x="1115568" y="619048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are not asking for less risk management; they are asking for a clearer route through risk management.</a:t>
            </a:r>
            <a:endParaRPr lang="en-US" sz="1300" dirty="0"/>
          </a:p>
        </p:txBody>
      </p:sp>
      <p:sp>
        <p:nvSpPr>
          <p:cNvPr id="50" name="Text 35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4754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MRO is Leading the Second-Line AI Risk Oversight Agenda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298448"/>
            <a:ext cx="11384280" cy="658368"/>
          </a:xfrm>
          <a:prstGeom prst="roundRect">
            <a:avLst>
              <a:gd name="adj" fmla="val 11111"/>
            </a:avLst>
          </a:prstGeom>
          <a:solidFill>
            <a:srgbClr val="DFF4DE"/>
          </a:solidFill>
          <a:ln w="12700">
            <a:solidFill>
              <a:srgbClr val="DFF4DE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408176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16152" y="1426464"/>
            <a:ext cx="10332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provides the central second-line front door for AI risk oversight while accountable policy and control ownership remains with relevant domain owners.</a:t>
            </a:r>
            <a:endParaRPr lang="en-US" sz="1320" dirty="0"/>
          </a:p>
        </p:txBody>
      </p:sp>
      <p:sp>
        <p:nvSpPr>
          <p:cNvPr id="7" name="Shape 4"/>
          <p:cNvSpPr/>
          <p:nvPr/>
        </p:nvSpPr>
        <p:spPr>
          <a:xfrm>
            <a:off x="502920" y="2240280"/>
            <a:ext cx="3657600" cy="3337560"/>
          </a:xfrm>
          <a:prstGeom prst="roundRect">
            <a:avLst>
              <a:gd name="adj" fmla="val 2466"/>
            </a:avLst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pic>
        <p:nvPicPr>
          <p:cNvPr id="8" name="Image 1" descr="/mnt/data/ppt_assets/s4_over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96012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898648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Oversight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14400" y="3474720"/>
            <a:ext cx="2999232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Coordinates AI use case oversight across the lifecycle.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triage, routing and cross-risk review.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Promotes consistent expectations for transparency, fairness, security and regulatory compliance.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97680" y="2240280"/>
            <a:ext cx="3657600" cy="3337560"/>
          </a:xfrm>
          <a:prstGeom prst="roundRect">
            <a:avLst>
              <a:gd name="adj" fmla="val 2466"/>
            </a:avLst>
          </a:prstGeom>
          <a:solidFill>
            <a:srgbClr val="65D66E"/>
          </a:solidFill>
          <a:ln w="12700">
            <a:solidFill>
              <a:srgbClr val="65D66E"/>
            </a:solidFill>
            <a:prstDash val="solid"/>
          </a:ln>
        </p:spPr>
      </p:sp>
      <p:pic>
        <p:nvPicPr>
          <p:cNvPr id="12" name="Image 2" descr="/mnt/data/ppt_assets/s4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514600"/>
            <a:ext cx="960120" cy="822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2898648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Tech &amp; Tooling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709160" y="3474720"/>
            <a:ext cx="2999232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Builds tooling to support repeatable AI validation and oversight.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Develops reusable test suites, LLM-as-a-judge, RAG / agentic testing and evidence capture.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scalable dashboards, reporting and workflow automation.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92440" y="2240280"/>
            <a:ext cx="3657600" cy="3337560"/>
          </a:xfrm>
          <a:prstGeom prst="roundRect">
            <a:avLst>
              <a:gd name="adj" fmla="val 2466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pic>
        <p:nvPicPr>
          <p:cNvPr id="16" name="Image 3" descr="/mnt/data/ppt_assets/s4_val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514600"/>
            <a:ext cx="960120" cy="822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18320" y="2898648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Independent Validation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8503920" y="3474720"/>
            <a:ext cx="2999232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independent assurance over AI model risk.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Reviews model documentation, data, architecture, implementation, testing evidence and monitoring.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Assesses performance, robustness, fairness and monitoring arrangements.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02920" y="5806440"/>
            <a:ext cx="112471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49808" y="5879592"/>
            <a:ext cx="2286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234440" y="5879592"/>
            <a:ext cx="10058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coordinates the second-line oversight pathway; domain-specific policy and control owners retain accountable ownership.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25400">
            <a:solidFill>
              <a:srgbClr val="006A3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384048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Simpler, Embedded and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Easy-to-Navigate AI Governance Model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02920" y="160020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004C32"/>
          </a:solidFill>
          <a:ln w="12700">
            <a:solidFill>
              <a:srgbClr val="004C32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709928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07592" y="1728216"/>
            <a:ext cx="10104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state is not to create more governance, but to simplify the route through governance.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DFF4DE"/>
          </a:solidFill>
          <a:ln w="12700">
            <a:solidFill>
              <a:srgbClr val="DFF4DE"/>
            </a:solidFill>
            <a:prstDash val="solid"/>
          </a:ln>
        </p:spPr>
      </p:sp>
      <p:pic>
        <p:nvPicPr>
          <p:cNvPr id="8" name="Image 1" descr="/mnt/data/ppt_assets/s5_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43200"/>
            <a:ext cx="1234440" cy="960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23160" y="2715768"/>
            <a:ext cx="3291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Efficient and embedded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423160" y="3172968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existing Group governance wherever possible.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Enhances existing governance where required for AI-specific risks.</a:t>
            </a:r>
            <a:endParaRPr lang="en-US" sz="1120" dirty="0"/>
          </a:p>
        </p:txBody>
      </p:sp>
      <p:sp>
        <p:nvSpPr>
          <p:cNvPr id="11" name="Shape 7"/>
          <p:cNvSpPr/>
          <p:nvPr/>
        </p:nvSpPr>
        <p:spPr>
          <a:xfrm>
            <a:off x="6126480" y="24231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9FE899"/>
          </a:solidFill>
          <a:ln w="12700">
            <a:solidFill>
              <a:srgbClr val="9FE899"/>
            </a:solidFill>
            <a:prstDash val="solid"/>
          </a:ln>
        </p:spPr>
      </p:sp>
      <p:pic>
        <p:nvPicPr>
          <p:cNvPr id="12" name="Image 2" descr="/mnt/data/ppt_assets/s5_docm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743200"/>
            <a:ext cx="1234440" cy="9601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2715768"/>
            <a:ext cx="3291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One-view of requirements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046720" y="3172968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a clear view of AI requirements and good practice.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Clarifies ownership, approvals and evidence expectations.</a:t>
            </a:r>
            <a:endParaRPr lang="en-US" sz="1120" dirty="0"/>
          </a:p>
        </p:txBody>
      </p:sp>
      <p:sp>
        <p:nvSpPr>
          <p:cNvPr id="15" name="Shape 10"/>
          <p:cNvSpPr/>
          <p:nvPr/>
        </p:nvSpPr>
        <p:spPr>
          <a:xfrm>
            <a:off x="502920" y="42062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008C4E"/>
          </a:solidFill>
          <a:ln w="12700">
            <a:solidFill>
              <a:srgbClr val="008C4E"/>
            </a:solidFill>
            <a:prstDash val="solid"/>
          </a:ln>
        </p:spPr>
      </p:sp>
      <p:pic>
        <p:nvPicPr>
          <p:cNvPr id="16" name="Image 3" descr="/mnt/data/ppt_assets/s5_sca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526280"/>
            <a:ext cx="1234440" cy="9601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423160" y="4498848"/>
            <a:ext cx="3291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Proportionate governance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2423160" y="4956048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 upfront AI risk assessment, tiering and approval routing.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Links validation depth to risk, autonomy and materiality.</a:t>
            </a:r>
            <a:endParaRPr lang="en-US" sz="1120" dirty="0"/>
          </a:p>
        </p:txBody>
      </p:sp>
      <p:sp>
        <p:nvSpPr>
          <p:cNvPr id="19" name="Shape 13"/>
          <p:cNvSpPr/>
          <p:nvPr/>
        </p:nvSpPr>
        <p:spPr>
          <a:xfrm>
            <a:off x="6126480" y="42062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pic>
        <p:nvPicPr>
          <p:cNvPr id="20" name="Image 4" descr="/mnt/data/ppt_assets/s5_clip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4526280"/>
            <a:ext cx="1234440" cy="9601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46720" y="4498848"/>
            <a:ext cx="3291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Ongoing oversight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8046720" y="4956048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Captures issues, agreed actions, ownership and residual risk position.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monitoring, incident capture and revalidation triggers.</a:t>
            </a:r>
            <a:endParaRPr lang="en-US" sz="1120" dirty="0"/>
          </a:p>
        </p:txBody>
      </p:sp>
      <p:sp>
        <p:nvSpPr>
          <p:cNvPr id="23" name="Shape 16"/>
          <p:cNvSpPr/>
          <p:nvPr/>
        </p:nvSpPr>
        <p:spPr>
          <a:xfrm>
            <a:off x="502920" y="6016752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BDDCC0"/>
            </a:solidFill>
            <a:prstDash val="solid"/>
          </a:ln>
        </p:spPr>
      </p:sp>
      <p:pic>
        <p:nvPicPr>
          <p:cNvPr id="24" name="Image 5" descr="/mnt/data/ppt_assets/s4_val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6053328"/>
            <a:ext cx="411480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874520" y="6144768"/>
            <a:ext cx="9144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Group governance is being enhanced, clarified and increasingly automated for AI risk.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7432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Fragmented Engagement to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Risk-Based, Proportionate Oversight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02920" y="1417320"/>
            <a:ext cx="11155680" cy="548640"/>
          </a:xfrm>
          <a:prstGeom prst="roundRect">
            <a:avLst>
              <a:gd name="adj" fmla="val 13333"/>
            </a:avLst>
          </a:prstGeom>
          <a:solidFill>
            <a:srgbClr val="DFF4DE"/>
          </a:solidFill>
          <a:ln w="12700">
            <a:solidFill>
              <a:srgbClr val="DFF4DE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527048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07592" y="1545336"/>
            <a:ext cx="10104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is moving the framework from informal and duplicative engagement to a structured, risk-based operating model.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1488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25880" y="2258568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21488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2258568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mechanism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138160" y="21488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0" y="2258568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2743200"/>
            <a:ext cx="347472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2743200"/>
            <a:ext cx="374904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38160" y="2743200"/>
            <a:ext cx="324612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pic>
        <p:nvPicPr>
          <p:cNvPr id="16" name="Image 1" descr="/mnt/data/ppt_assets/s10_squar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9806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34440" y="2843784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governance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4407408" y="2843784"/>
            <a:ext cx="3246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2LoD front door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8394192" y="2843784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Clearer route through oversight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502920" y="3246120"/>
            <a:ext cx="347472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60520" y="3246120"/>
            <a:ext cx="374904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38160" y="3246120"/>
            <a:ext cx="324612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pic>
        <p:nvPicPr>
          <p:cNvPr id="23" name="Image 2" descr="/mnt/data/ppt_assets/s10_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0098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34440" y="3346704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Duplicated engagement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4407408" y="3346704"/>
            <a:ext cx="3246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De-duplicated oversight paths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8394192" y="3346704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rework</a:t>
            </a:r>
            <a:endParaRPr lang="en-US" sz="1080" dirty="0"/>
          </a:p>
        </p:txBody>
      </p:sp>
      <p:sp>
        <p:nvSpPr>
          <p:cNvPr id="27" name="Shape 22"/>
          <p:cNvSpPr/>
          <p:nvPr/>
        </p:nvSpPr>
        <p:spPr>
          <a:xfrm>
            <a:off x="502920" y="3749040"/>
            <a:ext cx="347472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60520" y="3749040"/>
            <a:ext cx="374904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138160" y="3749040"/>
            <a:ext cx="324612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pic>
        <p:nvPicPr>
          <p:cNvPr id="30" name="Image 3" descr="/mnt/data/ppt_assets/s10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803904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34440" y="3849624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ownership</a:t>
            </a:r>
            <a:endParaRPr lang="en-US" sz="1080" dirty="0"/>
          </a:p>
        </p:txBody>
      </p:sp>
      <p:sp>
        <p:nvSpPr>
          <p:cNvPr id="32" name="Text 26"/>
          <p:cNvSpPr/>
          <p:nvPr/>
        </p:nvSpPr>
        <p:spPr>
          <a:xfrm>
            <a:off x="4407408" y="3849624"/>
            <a:ext cx="3246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RAPID and clearer decision rights</a:t>
            </a:r>
            <a:endParaRPr lang="en-US" sz="1080" dirty="0"/>
          </a:p>
        </p:txBody>
      </p:sp>
      <p:sp>
        <p:nvSpPr>
          <p:cNvPr id="33" name="Text 27"/>
          <p:cNvSpPr/>
          <p:nvPr/>
        </p:nvSpPr>
        <p:spPr>
          <a:xfrm>
            <a:off x="8394192" y="3849624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accountability</a:t>
            </a:r>
            <a:endParaRPr lang="en-US" sz="1080" dirty="0"/>
          </a:p>
        </p:txBody>
      </p:sp>
      <p:sp>
        <p:nvSpPr>
          <p:cNvPr id="34" name="Shape 28"/>
          <p:cNvSpPr/>
          <p:nvPr/>
        </p:nvSpPr>
        <p:spPr>
          <a:xfrm>
            <a:off x="502920" y="4251960"/>
            <a:ext cx="347472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160520" y="4251960"/>
            <a:ext cx="374904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138160" y="4251960"/>
            <a:ext cx="324612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pic>
        <p:nvPicPr>
          <p:cNvPr id="37" name="Image 4" descr="/mnt/data/ppt_assets/s10_do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06824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234440" y="4352544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evidence</a:t>
            </a:r>
            <a:endParaRPr lang="en-US" sz="1080" dirty="0"/>
          </a:p>
        </p:txBody>
      </p:sp>
      <p:sp>
        <p:nvSpPr>
          <p:cNvPr id="39" name="Text 32"/>
          <p:cNvSpPr/>
          <p:nvPr/>
        </p:nvSpPr>
        <p:spPr>
          <a:xfrm>
            <a:off x="4407408" y="4352544"/>
            <a:ext cx="3246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evidence spine</a:t>
            </a:r>
            <a:endParaRPr lang="en-US" sz="1080" dirty="0"/>
          </a:p>
        </p:txBody>
      </p:sp>
      <p:sp>
        <p:nvSpPr>
          <p:cNvPr id="40" name="Text 33"/>
          <p:cNvSpPr/>
          <p:nvPr/>
        </p:nvSpPr>
        <p:spPr>
          <a:xfrm>
            <a:off x="8394192" y="4352544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consistent review</a:t>
            </a:r>
            <a:endParaRPr lang="en-US" sz="1080" dirty="0"/>
          </a:p>
        </p:txBody>
      </p:sp>
      <p:sp>
        <p:nvSpPr>
          <p:cNvPr id="41" name="Shape 34"/>
          <p:cNvSpPr/>
          <p:nvPr/>
        </p:nvSpPr>
        <p:spPr>
          <a:xfrm>
            <a:off x="502920" y="4754880"/>
            <a:ext cx="347472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160520" y="4754880"/>
            <a:ext cx="374904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138160" y="4754880"/>
            <a:ext cx="3246120" cy="393192"/>
          </a:xfrm>
          <a:prstGeom prst="roundRect">
            <a:avLst>
              <a:gd name="adj" fmla="val 20930"/>
            </a:avLst>
          </a:prstGeom>
          <a:solidFill>
            <a:srgbClr val="E8F7E8"/>
          </a:solidFill>
          <a:ln w="12700">
            <a:solidFill>
              <a:srgbClr val="DDEDDD"/>
            </a:solidFill>
            <a:prstDash val="solid"/>
          </a:ln>
        </p:spPr>
      </p:sp>
      <p:pic>
        <p:nvPicPr>
          <p:cNvPr id="44" name="Image 5" descr="/mnt/data/ppt_assets/s10_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809744"/>
            <a:ext cx="256032" cy="25603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234440" y="4855464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Late-stage challenge</a:t>
            </a:r>
            <a:endParaRPr lang="en-US" sz="1080" dirty="0"/>
          </a:p>
        </p:txBody>
      </p:sp>
      <p:sp>
        <p:nvSpPr>
          <p:cNvPr id="46" name="Text 38"/>
          <p:cNvSpPr/>
          <p:nvPr/>
        </p:nvSpPr>
        <p:spPr>
          <a:xfrm>
            <a:off x="4407408" y="4855464"/>
            <a:ext cx="3246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2LoD engagement</a:t>
            </a:r>
            <a:endParaRPr lang="en-US" sz="1080" dirty="0"/>
          </a:p>
        </p:txBody>
      </p:sp>
      <p:sp>
        <p:nvSpPr>
          <p:cNvPr id="47" name="Text 39"/>
          <p:cNvSpPr/>
          <p:nvPr/>
        </p:nvSpPr>
        <p:spPr>
          <a:xfrm>
            <a:off x="8394192" y="4855464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delivery friction</a:t>
            </a:r>
            <a:endParaRPr lang="en-US" sz="1080" dirty="0"/>
          </a:p>
        </p:txBody>
      </p:sp>
      <p:sp>
        <p:nvSpPr>
          <p:cNvPr id="48" name="Shape 40"/>
          <p:cNvSpPr/>
          <p:nvPr/>
        </p:nvSpPr>
        <p:spPr>
          <a:xfrm>
            <a:off x="502920" y="5257800"/>
            <a:ext cx="347472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160520" y="5257800"/>
            <a:ext cx="374904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8138160" y="5257800"/>
            <a:ext cx="3246120" cy="393192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 w="12700">
            <a:solidFill>
              <a:srgbClr val="DDEDDD"/>
            </a:solidFill>
            <a:prstDash val="solid"/>
          </a:ln>
        </p:spPr>
      </p:sp>
      <p:pic>
        <p:nvPicPr>
          <p:cNvPr id="51" name="Image 6" descr="/mnt/data/ppt_assets/s10_ba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312664"/>
            <a:ext cx="256032" cy="256032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1234440" y="5358384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AI change and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monitoring</a:t>
            </a:r>
            <a:endParaRPr lang="en-US" sz="1080" dirty="0"/>
          </a:p>
        </p:txBody>
      </p:sp>
      <p:sp>
        <p:nvSpPr>
          <p:cNvPr id="53" name="Text 44"/>
          <p:cNvSpPr/>
          <p:nvPr/>
        </p:nvSpPr>
        <p:spPr>
          <a:xfrm>
            <a:off x="4407408" y="5358384"/>
            <a:ext cx="3246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triage, monitoring expectations</a:t>
            </a: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revalidation triggers</a:t>
            </a:r>
            <a:endParaRPr lang="en-US" sz="1080" dirty="0"/>
          </a:p>
        </p:txBody>
      </p:sp>
      <p:sp>
        <p:nvSpPr>
          <p:cNvPr id="54" name="Text 45"/>
          <p:cNvSpPr/>
          <p:nvPr/>
        </p:nvSpPr>
        <p:spPr>
          <a:xfrm>
            <a:off x="8394192" y="5358384"/>
            <a:ext cx="2743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ongoing oversight</a:t>
            </a:r>
            <a:endParaRPr lang="en-US" sz="1080" dirty="0"/>
          </a:p>
        </p:txBody>
      </p:sp>
      <p:sp>
        <p:nvSpPr>
          <p:cNvPr id="55" name="Shape 46"/>
          <p:cNvSpPr/>
          <p:nvPr/>
        </p:nvSpPr>
        <p:spPr>
          <a:xfrm>
            <a:off x="438912" y="612648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658368" y="6217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7" name="Text 48"/>
          <p:cNvSpPr/>
          <p:nvPr/>
        </p:nvSpPr>
        <p:spPr>
          <a:xfrm>
            <a:off x="1115568" y="619048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oversight needs clearer triage, documented approval routes, consistent evidence standards, proportionate validation, and defined monitoring / revalidation triggers across the AI lifecycle.</a:t>
            </a:r>
            <a:endParaRPr lang="en-US" sz="1300" dirty="0"/>
          </a:p>
        </p:txBody>
      </p:sp>
      <p:sp>
        <p:nvSpPr>
          <p:cNvPr id="58" name="Text 49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32004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Workstreams to Accelerate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Framework, Tooling and Validation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57200" y="16002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DFF4DE"/>
          </a:solidFill>
          <a:ln w="12700">
            <a:solidFill>
              <a:srgbClr val="DFF4DE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709928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61872" y="1728216"/>
            <a:ext cx="10195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PwC is supporting targeted delivery, but MRO owns the direction, second-line risk view and oversight outcomes.</a:t>
            </a:r>
            <a:endParaRPr lang="en-US" sz="124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3749040" cy="4023360"/>
          </a:xfrm>
          <a:prstGeom prst="roundRect">
            <a:avLst>
              <a:gd name="adj" fmla="val 2195"/>
            </a:avLst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pic>
        <p:nvPicPr>
          <p:cNvPr id="8" name="Image 1" descr="/mnt/data/ppt_assets/s7_te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5176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5448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Risk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Framework</a:t>
            </a:r>
            <a:endParaRPr lang="en-US" sz="1220" dirty="0"/>
          </a:p>
        </p:txBody>
      </p:sp>
      <p:sp>
        <p:nvSpPr>
          <p:cNvPr id="11" name="Shape 7"/>
          <p:cNvSpPr/>
          <p:nvPr/>
        </p:nvSpPr>
        <p:spPr>
          <a:xfrm>
            <a:off x="777240" y="3749040"/>
            <a:ext cx="3108960" cy="0"/>
          </a:xfrm>
          <a:prstGeom prst="line">
            <a:avLst/>
          </a:prstGeom>
          <a:noFill/>
          <a:ln w="12700">
            <a:solidFill>
              <a:srgbClr val="006A3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68680" y="3977640"/>
            <a:ext cx="31089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Establish AI Risk Policy Enabler and operating model.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 proportionate end-to-end AI lifecycle controls.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Clarify accountabilities across MRO, CCOR, CDAO and the business.</a:t>
            </a:r>
            <a:endParaRPr lang="en-US" sz="1040" dirty="0"/>
          </a:p>
        </p:txBody>
      </p:sp>
      <p:sp>
        <p:nvSpPr>
          <p:cNvPr id="13" name="Shape 9"/>
          <p:cNvSpPr/>
          <p:nvPr/>
        </p:nvSpPr>
        <p:spPr>
          <a:xfrm>
            <a:off x="777240" y="5422392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D9F3D7"/>
          </a:solidFill>
          <a:ln w="12700">
            <a:solidFill>
              <a:srgbClr val="C7E8C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417320" y="5532120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417320" y="5760720"/>
            <a:ext cx="2331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Clearer expectations, evidence requirements and decision routes.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343400" y="2331720"/>
            <a:ext cx="3749040" cy="4023360"/>
          </a:xfrm>
          <a:prstGeom prst="roundRect">
            <a:avLst>
              <a:gd name="adj" fmla="val 2195"/>
            </a:avLst>
          </a:prstGeom>
          <a:solidFill>
            <a:srgbClr val="8BDF7F"/>
          </a:solidFill>
          <a:ln w="12700">
            <a:solidFill>
              <a:srgbClr val="8BDF7F"/>
            </a:solidFill>
            <a:prstDash val="solid"/>
          </a:ln>
        </p:spPr>
      </p:sp>
      <p:pic>
        <p:nvPicPr>
          <p:cNvPr id="17" name="Image 2" descr="/mnt/data/ppt_assets/s7_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65176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2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44068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AI Risk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Tooling for MRO</a:t>
            </a:r>
            <a:endParaRPr lang="en-US" sz="1220" dirty="0"/>
          </a:p>
        </p:txBody>
      </p:sp>
      <p:sp>
        <p:nvSpPr>
          <p:cNvPr id="20" name="Shape 15"/>
          <p:cNvSpPr/>
          <p:nvPr/>
        </p:nvSpPr>
        <p:spPr>
          <a:xfrm>
            <a:off x="4663440" y="3749040"/>
            <a:ext cx="3108960" cy="0"/>
          </a:xfrm>
          <a:prstGeom prst="line">
            <a:avLst/>
          </a:prstGeom>
          <a:noFill/>
          <a:ln w="12700">
            <a:solidFill>
              <a:srgbClr val="006A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54880" y="3977640"/>
            <a:ext cx="31089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 tooling for AI model risk classification, independent validation and ongoing oversight.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 triage workflow, testing, evidence capture, dashboards and monitoring.</a:t>
            </a:r>
            <a:endParaRPr lang="en-US" sz="1040" dirty="0"/>
          </a:p>
        </p:txBody>
      </p:sp>
      <p:sp>
        <p:nvSpPr>
          <p:cNvPr id="22" name="Shape 17"/>
          <p:cNvSpPr/>
          <p:nvPr/>
        </p:nvSpPr>
        <p:spPr>
          <a:xfrm>
            <a:off x="4663440" y="5422392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D9F3D7"/>
          </a:solidFill>
          <a:ln w="12700">
            <a:solidFill>
              <a:srgbClr val="C7E8C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03520" y="5532120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303520" y="5760720"/>
            <a:ext cx="2331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Regulator- and audit-ready evidence with reduced rework and scalable second-line capability.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8229600" y="2331720"/>
            <a:ext cx="3749040" cy="4023360"/>
          </a:xfrm>
          <a:prstGeom prst="roundRect">
            <a:avLst>
              <a:gd name="adj" fmla="val 2195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pic>
        <p:nvPicPr>
          <p:cNvPr id="26" name="Image 3" descr="/mnt/data/ppt_assets/s7_magn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651760"/>
            <a:ext cx="731520" cy="7315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26880" y="2679192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3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32688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Validation of</a:t>
            </a:r>
            <a:endParaRPr lang="en-US" sz="1220" dirty="0"/>
          </a:p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AI Use Case</a:t>
            </a:r>
            <a:endParaRPr lang="en-US" sz="1220" dirty="0"/>
          </a:p>
        </p:txBody>
      </p:sp>
      <p:sp>
        <p:nvSpPr>
          <p:cNvPr id="29" name="Shape 23"/>
          <p:cNvSpPr/>
          <p:nvPr/>
        </p:nvSpPr>
        <p:spPr>
          <a:xfrm>
            <a:off x="8549640" y="3749040"/>
            <a:ext cx="3108960" cy="0"/>
          </a:xfrm>
          <a:prstGeom prst="line">
            <a:avLst/>
          </a:prstGeom>
          <a:noFill/>
          <a:ln w="12700">
            <a:solidFill>
              <a:srgbClr val="77BB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641080" y="3977640"/>
            <a:ext cx="31089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 full independent validation of a high-risk GenAI / agentic AI use case.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Assess documentation, architecture, controls, developer testing and monitoring.</a:t>
            </a:r>
            <a:endParaRPr lang="en-US" sz="1040" dirty="0"/>
          </a:p>
        </p:txBody>
      </p:sp>
      <p:sp>
        <p:nvSpPr>
          <p:cNvPr id="31" name="Shape 25"/>
          <p:cNvSpPr/>
          <p:nvPr/>
        </p:nvSpPr>
        <p:spPr>
          <a:xfrm>
            <a:off x="8549640" y="5422392"/>
            <a:ext cx="3108960" cy="822960"/>
          </a:xfrm>
          <a:prstGeom prst="roundRect">
            <a:avLst>
              <a:gd name="adj" fmla="val 5556"/>
            </a:avLst>
          </a:prstGeom>
          <a:solidFill>
            <a:srgbClr val="00603C"/>
          </a:solidFill>
          <a:ln w="12700">
            <a:solidFill>
              <a:srgbClr val="4D9E6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189720" y="5532120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9189720" y="5760720"/>
            <a:ext cx="2331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validation blueprint to standardise and accelerate future AI validations.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286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Model, Risk Taxonomy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Policy Enabler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411480" y="1389888"/>
            <a:ext cx="11384280" cy="658368"/>
          </a:xfrm>
          <a:prstGeom prst="roundRect">
            <a:avLst>
              <a:gd name="adj" fmla="val 11111"/>
            </a:avLst>
          </a:prstGeom>
          <a:solidFill>
            <a:srgbClr val="DFF4DE"/>
          </a:solidFill>
          <a:ln w="12700">
            <a:solidFill>
              <a:srgbClr val="DFF4DE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499616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16152" y="1517904"/>
            <a:ext cx="10332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PwC artefacts help translate AI policy expectations into a practical, navigable governance journey.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11480" y="2331720"/>
            <a:ext cx="3794760" cy="3474720"/>
          </a:xfrm>
          <a:prstGeom prst="roundRect">
            <a:avLst>
              <a:gd name="adj" fmla="val 2368"/>
            </a:avLst>
          </a:prstGeom>
          <a:solidFill>
            <a:srgbClr val="EEF8EE"/>
          </a:solidFill>
          <a:ln w="12700">
            <a:solidFill>
              <a:srgbClr val="CDE8CD"/>
            </a:solidFill>
            <a:prstDash val="solid"/>
          </a:ln>
        </p:spPr>
      </p:sp>
      <p:pic>
        <p:nvPicPr>
          <p:cNvPr id="8" name="Image 1" descr="/mnt/data/ppt_assets/s8_mod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24328"/>
            <a:ext cx="1051560" cy="822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715768"/>
            <a:ext cx="2148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31520" y="3749040"/>
            <a:ext cx="32918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Sets out the end-to-end governance process for AI use cases.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Defines what happens, when, who is involved and how actions are performed.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Introduces triage and governance pathways based on inherent risk.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15968" y="2331720"/>
            <a:ext cx="3794760" cy="3474720"/>
          </a:xfrm>
          <a:prstGeom prst="roundRect">
            <a:avLst>
              <a:gd name="adj" fmla="val 2368"/>
            </a:avLst>
          </a:prstGeom>
          <a:solidFill>
            <a:srgbClr val="D5F0D3"/>
          </a:solidFill>
          <a:ln w="12700">
            <a:solidFill>
              <a:srgbClr val="CDE8CD"/>
            </a:solidFill>
            <a:prstDash val="solid"/>
          </a:ln>
        </p:spPr>
      </p:sp>
      <p:pic>
        <p:nvPicPr>
          <p:cNvPr id="12" name="Image 2" descr="/mnt/data/ppt_assets/s8_taxonom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2624328"/>
            <a:ext cx="1051560" cy="822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33288" y="2715768"/>
            <a:ext cx="2148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636008" y="3749040"/>
            <a:ext cx="32918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Maps AI-specific risk manifestations into the existing enterprise risk structure.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existing L1 / L2 / L3 risks as the baseline.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Identifies where additional clarity, review or uplift may be required.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211312" y="2331720"/>
            <a:ext cx="3794760" cy="3474720"/>
          </a:xfrm>
          <a:prstGeom prst="roundRect">
            <a:avLst>
              <a:gd name="adj" fmla="val 2368"/>
            </a:avLst>
          </a:prstGeom>
          <a:solidFill>
            <a:srgbClr val="E8F7E8"/>
          </a:solidFill>
          <a:ln w="12700">
            <a:solidFill>
              <a:srgbClr val="CDE8CD"/>
            </a:solidFill>
            <a:prstDash val="solid"/>
          </a:ln>
        </p:spPr>
      </p:sp>
      <p:pic>
        <p:nvPicPr>
          <p:cNvPr id="16" name="Image 3" descr="/mnt/data/ppt_assets/s8_polic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2624328"/>
            <a:ext cx="1051560" cy="822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28632" y="2715768"/>
            <a:ext cx="2148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Policy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6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8531352" y="3749040"/>
            <a:ext cx="32918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a Group-wide approach for identifying, routing and coordinating AI risks across existing policies.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Helps teams understand which policies apply, which risk teams to engage, and what evidence or approvals are required.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Clarifies that 1LoD owns AI use cases end to end; 2LoD retains policy review and challenge ownership within domains.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38912" y="612648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58368" y="6217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15568" y="619048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these artefacts create the practical interpretation layer for way of working, routing and oversight.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3200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Clearer Escalation, Review and Approval Routes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11480" y="1170432"/>
            <a:ext cx="11384280" cy="502920"/>
          </a:xfrm>
          <a:prstGeom prst="roundRect">
            <a:avLst>
              <a:gd name="adj" fmla="val 14545"/>
            </a:avLst>
          </a:prstGeom>
          <a:solidFill>
            <a:srgbClr val="DFF4DE"/>
          </a:solidFill>
          <a:ln w="12700">
            <a:solidFill>
              <a:srgbClr val="DFF4DE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80160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16152" y="1298448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way of working separates delivery coordination from independent second-line oversight.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977640" y="1810512"/>
            <a:ext cx="4251960" cy="749808"/>
          </a:xfrm>
          <a:prstGeom prst="roundRect">
            <a:avLst>
              <a:gd name="adj" fmla="val 10976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pic>
        <p:nvPicPr>
          <p:cNvPr id="8" name="Image 1" descr="/mnt/data/ppt_assets/s9_gr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19202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09160" y="1920240"/>
            <a:ext cx="3337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Risk Committee (GRC)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09160" y="2194560"/>
            <a:ext cx="3337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sign-off for Tier 1 use cases and escalated cases.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977640" y="2761488"/>
            <a:ext cx="4251960" cy="749808"/>
          </a:xfrm>
          <a:prstGeom prst="roundRect">
            <a:avLst>
              <a:gd name="adj" fmla="val 10976"/>
            </a:avLst>
          </a:prstGeom>
          <a:solidFill>
            <a:srgbClr val="006A3A"/>
          </a:solidFill>
          <a:ln w="12700">
            <a:solidFill>
              <a:srgbClr val="006A3A"/>
            </a:solidFill>
            <a:prstDash val="solid"/>
          </a:ln>
        </p:spPr>
      </p:sp>
      <p:pic>
        <p:nvPicPr>
          <p:cNvPr id="12" name="Image 2" descr="/mnt/data/ppt_assets/s9_mg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871216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2871216"/>
            <a:ext cx="3337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Governance Committee (MGC)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709160" y="3145536"/>
            <a:ext cx="3337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sign-off for Tier 2 use cases and escalated Tier 3–5 cases.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108192" y="2560320"/>
            <a:ext cx="0" cy="201168"/>
          </a:xfrm>
          <a:prstGeom prst="line">
            <a:avLst/>
          </a:prstGeom>
          <a:noFill/>
          <a:ln w="12700">
            <a:solidFill>
              <a:srgbClr val="004C3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108192" y="3511296"/>
            <a:ext cx="0" cy="365760"/>
          </a:xfrm>
          <a:prstGeom prst="line">
            <a:avLst/>
          </a:prstGeom>
          <a:noFill/>
          <a:ln w="12700">
            <a:solidFill>
              <a:srgbClr val="004C3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423160" y="3877056"/>
            <a:ext cx="7315200" cy="0"/>
          </a:xfrm>
          <a:prstGeom prst="line">
            <a:avLst/>
          </a:prstGeom>
          <a:noFill/>
          <a:ln w="12700">
            <a:solidFill>
              <a:srgbClr val="004C3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423160" y="3877056"/>
            <a:ext cx="0" cy="219456"/>
          </a:xfrm>
          <a:prstGeom prst="line">
            <a:avLst/>
          </a:prstGeom>
          <a:noFill/>
          <a:ln w="12700">
            <a:solidFill>
              <a:srgbClr val="004C3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08192" y="3877056"/>
            <a:ext cx="0" cy="219456"/>
          </a:xfrm>
          <a:prstGeom prst="line">
            <a:avLst/>
          </a:prstGeom>
          <a:noFill/>
          <a:ln w="12700">
            <a:solidFill>
              <a:srgbClr val="004C3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38360" y="3877056"/>
            <a:ext cx="0" cy="219456"/>
          </a:xfrm>
          <a:prstGeom prst="line">
            <a:avLst/>
          </a:prstGeom>
          <a:noFill/>
          <a:ln w="12700">
            <a:solidFill>
              <a:srgbClr val="004C3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4069080"/>
            <a:ext cx="3383280" cy="1097280"/>
          </a:xfrm>
          <a:prstGeom prst="roundRect">
            <a:avLst>
              <a:gd name="adj" fmla="val 7500"/>
            </a:avLst>
          </a:prstGeom>
          <a:solidFill>
            <a:srgbClr val="DFF4DE"/>
          </a:solidFill>
          <a:ln w="12700">
            <a:solidFill>
              <a:srgbClr val="DFF4DE"/>
            </a:solidFill>
            <a:prstDash val="solid"/>
          </a:ln>
        </p:spPr>
      </p:sp>
      <p:pic>
        <p:nvPicPr>
          <p:cNvPr id="22" name="Image 3" descr="/mnt/data/ppt_assets/s9_to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7880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178808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Control Tower (1LoD)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417320" y="4453128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delivery escalations and blockers; tracks AI outcomes at Group level.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343400" y="4069080"/>
            <a:ext cx="3383280" cy="1097280"/>
          </a:xfrm>
          <a:prstGeom prst="roundRect">
            <a:avLst>
              <a:gd name="adj" fmla="val 7500"/>
            </a:avLst>
          </a:prstGeom>
          <a:solidFill>
            <a:srgbClr val="DFF5EE"/>
          </a:solidFill>
          <a:ln w="12700">
            <a:solidFill>
              <a:srgbClr val="DFF5EE"/>
            </a:solidFill>
            <a:prstDash val="solid"/>
          </a:ln>
        </p:spPr>
      </p:sp>
      <p:pic>
        <p:nvPicPr>
          <p:cNvPr id="26" name="Image 4" descr="/mnt/data/ppt_assets/s9_riskforu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417880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74920" y="4178808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Oversight Forum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(2LoD, run by MRO)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074920" y="4453128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forum for reviewing and triaging AI, GenAI and agentic AI use cases.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01000" y="4069080"/>
            <a:ext cx="3383280" cy="1097280"/>
          </a:xfrm>
          <a:prstGeom prst="roundRect">
            <a:avLst>
              <a:gd name="adj" fmla="val 7500"/>
            </a:avLst>
          </a:prstGeom>
          <a:solidFill>
            <a:srgbClr val="DFF4DE"/>
          </a:solidFill>
          <a:ln w="12700">
            <a:solidFill>
              <a:srgbClr val="DFF4DE"/>
            </a:solidFill>
            <a:prstDash val="solid"/>
          </a:ln>
        </p:spPr>
      </p:sp>
      <p:pic>
        <p:nvPicPr>
          <p:cNvPr id="30" name="Image 5" descr="/mnt/data/ppt_assets/s9_ethic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4178808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732520" y="4178808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Ethics Committee (1LoD)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732520" y="4453128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use cases with ethical dilemmas and has decision-making power.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035040" y="5166360"/>
            <a:ext cx="0" cy="329184"/>
          </a:xfrm>
          <a:prstGeom prst="line">
            <a:avLst/>
          </a:prstGeom>
          <a:noFill/>
          <a:ln w="12700">
            <a:solidFill>
              <a:srgbClr val="004C3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434840" y="5413248"/>
            <a:ext cx="3246120" cy="658368"/>
          </a:xfrm>
          <a:prstGeom prst="roundRect">
            <a:avLst>
              <a:gd name="adj" fmla="val 12500"/>
            </a:avLst>
          </a:prstGeom>
          <a:solidFill>
            <a:srgbClr val="DFF5EE"/>
          </a:solidFill>
          <a:ln w="12700">
            <a:solidFill>
              <a:srgbClr val="DFF5EE"/>
            </a:solidFill>
            <a:prstDash val="solid"/>
          </a:ln>
        </p:spPr>
      </p:sp>
      <p:pic>
        <p:nvPicPr>
          <p:cNvPr id="35" name="Image 6" descr="/mnt/data/ppt_assets/s9_tria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5522976"/>
            <a:ext cx="411480" cy="41148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166360" y="5522976"/>
            <a:ext cx="2331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Triaging Forum (2LoD)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5166360" y="5797296"/>
            <a:ext cx="2331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Triages AI use cases and ensures relevant 2LoD teams are engaged.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438912" y="612648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58368" y="6217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115568" y="6190488"/>
            <a:ext cx="992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Control Tower supports delivery coordination; the MRO-led AI Risk Oversight Forum provides second-line risk oversight and challenge.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56032"/>
            <a:ext cx="150876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4114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B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Risk-Managed Acceleration Through Clearer Governance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07008"/>
            <a:ext cx="11155680" cy="502920"/>
          </a:xfrm>
          <a:prstGeom prst="roundRect">
            <a:avLst>
              <a:gd name="adj" fmla="val 14545"/>
            </a:avLst>
          </a:prstGeom>
          <a:solidFill>
            <a:srgbClr val="DFF4DE"/>
          </a:solidFill>
          <a:ln w="12700">
            <a:solidFill>
              <a:srgbClr val="DFF4DE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316736"/>
            <a:ext cx="347472" cy="347472"/>
          </a:xfrm>
          <a:prstGeom prst="ellipse">
            <a:avLst/>
          </a:prstGeom>
          <a:solidFill>
            <a:srgbClr val="006A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07592" y="1335024"/>
            <a:ext cx="10104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aim is not to slow AI delivery, but to enable safe, consistent and scalable AI adoption.</a:t>
            </a:r>
            <a:endParaRPr lang="en-US" sz="132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5440680" cy="4069080"/>
          </a:xfrm>
          <a:prstGeom prst="roundRect">
            <a:avLst>
              <a:gd name="adj" fmla="val 2022"/>
            </a:avLst>
          </a:prstGeom>
          <a:solidFill>
            <a:srgbClr val="EEF8EE"/>
          </a:solidFill>
          <a:ln w="12700">
            <a:solidFill>
              <a:srgbClr val="EEF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4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1700" dirty="0"/>
          </a:p>
        </p:txBody>
      </p:sp>
      <p:pic>
        <p:nvPicPr>
          <p:cNvPr id="9" name="Image 1" descr="/mnt/data/ppt_assets/s10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60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642616"/>
            <a:ext cx="3931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Simpler end-to-end AI governance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749808" y="2999232"/>
            <a:ext cx="4892040" cy="0"/>
          </a:xfrm>
          <a:prstGeom prst="line">
            <a:avLst/>
          </a:prstGeom>
          <a:noFill/>
          <a:ln w="6350">
            <a:solidFill>
              <a:srgbClr val="BDDCC0"/>
            </a:solidFill>
            <a:prstDash val="solid"/>
          </a:ln>
        </p:spPr>
      </p:sp>
      <p:pic>
        <p:nvPicPr>
          <p:cNvPr id="12" name="Image 2" descr="/mnt/data/ppt_assets/s10_peo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4495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081528"/>
            <a:ext cx="3931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Clearer ownership and decision rights</a:t>
            </a:r>
            <a:endParaRPr lang="en-US" sz="1080" dirty="0"/>
          </a:p>
        </p:txBody>
      </p:sp>
      <p:sp>
        <p:nvSpPr>
          <p:cNvPr id="14" name="Shape 9"/>
          <p:cNvSpPr/>
          <p:nvPr/>
        </p:nvSpPr>
        <p:spPr>
          <a:xfrm>
            <a:off x="749808" y="3438144"/>
            <a:ext cx="4892040" cy="0"/>
          </a:xfrm>
          <a:prstGeom prst="line">
            <a:avLst/>
          </a:prstGeom>
          <a:noFill/>
          <a:ln w="6350">
            <a:solidFill>
              <a:srgbClr val="BDDCC0"/>
            </a:solidFill>
            <a:prstDash val="solid"/>
          </a:ln>
        </p:spPr>
      </p:sp>
      <p:pic>
        <p:nvPicPr>
          <p:cNvPr id="15" name="Image 3" descr="/mnt/data/ppt_assets/s10_squa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83864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3520440"/>
            <a:ext cx="3931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Reduced duplication and rework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749808" y="3877056"/>
            <a:ext cx="4892040" cy="0"/>
          </a:xfrm>
          <a:prstGeom prst="line">
            <a:avLst/>
          </a:prstGeom>
          <a:noFill/>
          <a:ln w="6350">
            <a:solidFill>
              <a:srgbClr val="BDDCC0"/>
            </a:solidFill>
            <a:prstDash val="solid"/>
          </a:ln>
        </p:spPr>
      </p:sp>
      <p:pic>
        <p:nvPicPr>
          <p:cNvPr id="18" name="Image 4" descr="/mnt/data/ppt_assets/s10_cl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2277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00200" y="3959352"/>
            <a:ext cx="3931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Consistent evidence and approval expectations</a:t>
            </a:r>
            <a:endParaRPr lang="en-US" sz="1080" dirty="0"/>
          </a:p>
        </p:txBody>
      </p:sp>
      <p:sp>
        <p:nvSpPr>
          <p:cNvPr id="20" name="Shape 13"/>
          <p:cNvSpPr/>
          <p:nvPr/>
        </p:nvSpPr>
        <p:spPr>
          <a:xfrm>
            <a:off x="749808" y="4315968"/>
            <a:ext cx="4892040" cy="0"/>
          </a:xfrm>
          <a:prstGeom prst="line">
            <a:avLst/>
          </a:prstGeom>
          <a:noFill/>
          <a:ln w="6350">
            <a:solidFill>
              <a:srgbClr val="BDDCC0"/>
            </a:solidFill>
            <a:prstDash val="solid"/>
          </a:ln>
        </p:spPr>
      </p:sp>
      <p:pic>
        <p:nvPicPr>
          <p:cNvPr id="21" name="Image 5" descr="/mnt/data/ppt_assets/s10_scal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61688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00200" y="4398264"/>
            <a:ext cx="3931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Proportionate validation based on risk, materiality and autonomy</a:t>
            </a:r>
            <a:endParaRPr lang="en-US" sz="1080" dirty="0"/>
          </a:p>
        </p:txBody>
      </p:sp>
      <p:sp>
        <p:nvSpPr>
          <p:cNvPr id="23" name="Shape 15"/>
          <p:cNvSpPr/>
          <p:nvPr/>
        </p:nvSpPr>
        <p:spPr>
          <a:xfrm>
            <a:off x="749808" y="4754880"/>
            <a:ext cx="4892040" cy="0"/>
          </a:xfrm>
          <a:prstGeom prst="line">
            <a:avLst/>
          </a:prstGeom>
          <a:noFill/>
          <a:ln w="6350">
            <a:solidFill>
              <a:srgbClr val="BDDCC0"/>
            </a:solidFill>
            <a:prstDash val="solid"/>
          </a:ln>
        </p:spPr>
      </p:sp>
      <p:pic>
        <p:nvPicPr>
          <p:cNvPr id="24" name="Image 6" descr="/mnt/data/ppt_assets/s10_m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800600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600200" y="4837176"/>
            <a:ext cx="3931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Stronger monitoring, incident capture and revalidation triggers</a:t>
            </a:r>
            <a:endParaRPr lang="en-US" sz="1080" dirty="0"/>
          </a:p>
        </p:txBody>
      </p:sp>
      <p:sp>
        <p:nvSpPr>
          <p:cNvPr id="26" name="Shape 17"/>
          <p:cNvSpPr/>
          <p:nvPr/>
        </p:nvSpPr>
        <p:spPr>
          <a:xfrm>
            <a:off x="749808" y="5193792"/>
            <a:ext cx="4892040" cy="0"/>
          </a:xfrm>
          <a:prstGeom prst="line">
            <a:avLst/>
          </a:prstGeom>
          <a:noFill/>
          <a:ln w="6350">
            <a:solidFill>
              <a:srgbClr val="BDDCC0"/>
            </a:solidFill>
            <a:prstDash val="solid"/>
          </a:ln>
        </p:spPr>
      </p:sp>
      <p:pic>
        <p:nvPicPr>
          <p:cNvPr id="27" name="Image 7" descr="/mnt/data/ppt_assets/s10_ba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39512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600200" y="5276088"/>
            <a:ext cx="39319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Scalable second-line tooling and independent validation capability</a:t>
            </a:r>
            <a:endParaRPr lang="en-US" sz="1080" dirty="0"/>
          </a:p>
        </p:txBody>
      </p:sp>
      <p:sp>
        <p:nvSpPr>
          <p:cNvPr id="29" name="Shape 19"/>
          <p:cNvSpPr/>
          <p:nvPr/>
        </p:nvSpPr>
        <p:spPr>
          <a:xfrm>
            <a:off x="6144768" y="1965960"/>
            <a:ext cx="5440680" cy="4069080"/>
          </a:xfrm>
          <a:prstGeom prst="roundRect">
            <a:avLst>
              <a:gd name="adj" fmla="val 2022"/>
            </a:avLst>
          </a:prstGeom>
          <a:solidFill>
            <a:srgbClr val="004C32"/>
          </a:solidFill>
          <a:ln w="12700">
            <a:solidFill>
              <a:srgbClr val="004C32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382512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</a:t>
            </a:r>
            <a:endParaRPr lang="en-US" sz="1700" dirty="0"/>
          </a:p>
        </p:txBody>
      </p:sp>
      <p:pic>
        <p:nvPicPr>
          <p:cNvPr id="31" name="Image 8" descr="/mnt/data/ppt_assets/s10_targ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2" y="2697480"/>
            <a:ext cx="384048" cy="38404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360920" y="2752344"/>
            <a:ext cx="3840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Finalise AI governance target-state narrative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400800" y="3227832"/>
            <a:ext cx="4800600" cy="0"/>
          </a:xfrm>
          <a:prstGeom prst="line">
            <a:avLst/>
          </a:prstGeom>
          <a:noFill/>
          <a:ln w="6350">
            <a:solidFill>
              <a:srgbClr val="7AB786">
                <a:alpha val="75000"/>
              </a:srgbClr>
            </a:solidFill>
            <a:prstDash val="solid"/>
          </a:ln>
        </p:spPr>
      </p:sp>
      <p:pic>
        <p:nvPicPr>
          <p:cNvPr id="34" name="Image 9" descr="/mnt/data/ppt_assets/s10_hierarch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3319272"/>
            <a:ext cx="384048" cy="38404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360920" y="3374136"/>
            <a:ext cx="3840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Progress AI Risk Policy Enabler, Risk Taxonomy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Operating Model</a:t>
            </a:r>
            <a:endParaRPr lang="en-US" sz="1150" dirty="0"/>
          </a:p>
        </p:txBody>
      </p:sp>
      <p:sp>
        <p:nvSpPr>
          <p:cNvPr id="36" name="Shape 24"/>
          <p:cNvSpPr/>
          <p:nvPr/>
        </p:nvSpPr>
        <p:spPr>
          <a:xfrm>
            <a:off x="6400800" y="3849624"/>
            <a:ext cx="4800600" cy="0"/>
          </a:xfrm>
          <a:prstGeom prst="line">
            <a:avLst/>
          </a:prstGeom>
          <a:noFill/>
          <a:ln w="6350">
            <a:solidFill>
              <a:srgbClr val="7AB786">
                <a:alpha val="75000"/>
              </a:srgbClr>
            </a:solidFill>
            <a:prstDash val="solid"/>
          </a:ln>
        </p:spPr>
      </p:sp>
      <p:pic>
        <p:nvPicPr>
          <p:cNvPr id="37" name="Image 10" descr="/mnt/data/ppt_assets/s10_wrenc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3952" y="3941064"/>
            <a:ext cx="384048" cy="38404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360920" y="3995928"/>
            <a:ext cx="3840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Continue PwC Workstream 2 tooling assessment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integration</a:t>
            </a:r>
            <a:endParaRPr lang="en-US" sz="1150" dirty="0"/>
          </a:p>
        </p:txBody>
      </p:sp>
      <p:sp>
        <p:nvSpPr>
          <p:cNvPr id="39" name="Shape 26"/>
          <p:cNvSpPr/>
          <p:nvPr/>
        </p:nvSpPr>
        <p:spPr>
          <a:xfrm>
            <a:off x="6400800" y="4471416"/>
            <a:ext cx="4800600" cy="0"/>
          </a:xfrm>
          <a:prstGeom prst="line">
            <a:avLst/>
          </a:prstGeom>
          <a:noFill/>
          <a:ln w="6350">
            <a:solidFill>
              <a:srgbClr val="7AB786">
                <a:alpha val="75000"/>
              </a:srgbClr>
            </a:solidFill>
            <a:prstDash val="solid"/>
          </a:ln>
        </p:spPr>
      </p:sp>
      <p:pic>
        <p:nvPicPr>
          <p:cNvPr id="40" name="Image 11" descr="/mnt/data/ppt_assets/s10_do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3952" y="4562856"/>
            <a:ext cx="384048" cy="38404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7360920" y="4617720"/>
            <a:ext cx="3840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Execute priority AI use case validation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Workstream 3</a:t>
            </a:r>
            <a:endParaRPr lang="en-US" sz="1150" dirty="0"/>
          </a:p>
        </p:txBody>
      </p:sp>
      <p:sp>
        <p:nvSpPr>
          <p:cNvPr id="42" name="Shape 28"/>
          <p:cNvSpPr/>
          <p:nvPr/>
        </p:nvSpPr>
        <p:spPr>
          <a:xfrm>
            <a:off x="6400800" y="5093208"/>
            <a:ext cx="4800600" cy="0"/>
          </a:xfrm>
          <a:prstGeom prst="line">
            <a:avLst/>
          </a:prstGeom>
          <a:noFill/>
          <a:ln w="6350">
            <a:solidFill>
              <a:srgbClr val="7AB786">
                <a:alpha val="75000"/>
              </a:srgbClr>
            </a:solidFill>
            <a:prstDash val="solid"/>
          </a:ln>
        </p:spPr>
      </p:sp>
      <p:pic>
        <p:nvPicPr>
          <p:cNvPr id="43" name="Image 12" descr="/mnt/data/ppt_assets/s10_refresh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3952" y="5184648"/>
            <a:ext cx="384048" cy="384048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7360920" y="5239512"/>
            <a:ext cx="3840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Prepare ongoing updates for AI Control Tower,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MGC and GRC as required</a:t>
            </a:r>
            <a:endParaRPr lang="en-US" sz="1150" dirty="0"/>
          </a:p>
        </p:txBody>
      </p:sp>
      <p:sp>
        <p:nvSpPr>
          <p:cNvPr id="45" name="Shape 30"/>
          <p:cNvSpPr/>
          <p:nvPr/>
        </p:nvSpPr>
        <p:spPr>
          <a:xfrm>
            <a:off x="502920" y="6199632"/>
            <a:ext cx="11155680" cy="438912"/>
          </a:xfrm>
          <a:prstGeom prst="roundRect">
            <a:avLst>
              <a:gd name="adj" fmla="val 10417"/>
            </a:avLst>
          </a:prstGeom>
          <a:solidFill>
            <a:srgbClr val="E8F7E8"/>
          </a:solidFill>
          <a:ln w="12700">
            <a:solidFill>
              <a:srgbClr val="E8F7E8"/>
            </a:solidFill>
            <a:prstDash val="solid"/>
          </a:ln>
        </p:spPr>
      </p:sp>
      <p:sp>
        <p:nvSpPr>
          <p:cNvPr id="46" name="Text 31"/>
          <p:cNvSpPr/>
          <p:nvPr/>
        </p:nvSpPr>
        <p:spPr>
          <a:xfrm>
            <a:off x="2514600" y="6281928"/>
            <a:ext cx="8412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is leading the evolution towards a joined-up, proportionate and evidence-based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risk oversight model that supports responsible AI adoption across the Group.</a:t>
            </a:r>
            <a:endParaRPr lang="en-US" sz="1150" dirty="0"/>
          </a:p>
        </p:txBody>
      </p:sp>
      <p:sp>
        <p:nvSpPr>
          <p:cNvPr id="47" name="Text 32"/>
          <p:cNvSpPr/>
          <p:nvPr/>
        </p:nvSpPr>
        <p:spPr>
          <a:xfrm>
            <a:off x="1165860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71B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 of AI Risk &amp; Control Framework</dc:title>
  <dc:subject>MRO AI Risk Oversight</dc:subject>
  <dc:creator>OpenAI</dc:creator>
  <cp:lastModifiedBy>OpenAI</cp:lastModifiedBy>
  <cp:revision>1</cp:revision>
  <dcterms:created xsi:type="dcterms:W3CDTF">2026-06-27T22:04:45Z</dcterms:created>
  <dcterms:modified xsi:type="dcterms:W3CDTF">2026-06-27T22:04:45Z</dcterms:modified>
</cp:coreProperties>
</file>