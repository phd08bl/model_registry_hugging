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image" Target="../media/image-1-6.png"/><Relationship Id="rId7" Type="http://schemas.openxmlformats.org/officeDocument/2006/relationships/image" Target="../media/image-1-7.jpeg"/><Relationship Id="rId8" Type="http://schemas.openxmlformats.org/officeDocument/2006/relationships/image" Target="../media/image-1-8.png"/><Relationship Id="rId9" Type="http://schemas.openxmlformats.org/officeDocument/2006/relationships/image" Target="../media/image-1-9.jpe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jpe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jpe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jpe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image" Target="../media/image-1-64.png"/><Relationship Id="rId65" Type="http://schemas.openxmlformats.org/officeDocument/2006/relationships/image" Target="../media/image-1-65.png"/><Relationship Id="rId66" Type="http://schemas.openxmlformats.org/officeDocument/2006/relationships/image" Target="../media/image-1-66.png"/><Relationship Id="rId67" Type="http://schemas.openxmlformats.org/officeDocument/2006/relationships/image" Target="../media/image-1-67.png"/><Relationship Id="rId68" Type="http://schemas.openxmlformats.org/officeDocument/2006/relationships/image" Target="../media/image-1-68.png"/><Relationship Id="rId69" Type="http://schemas.openxmlformats.org/officeDocument/2006/relationships/image" Target="../media/image-1-69.png"/><Relationship Id="rId70" Type="http://schemas.openxmlformats.org/officeDocument/2006/relationships/image" Target="../media/image-1-70.png"/><Relationship Id="rId71" Type="http://schemas.openxmlformats.org/officeDocument/2006/relationships/image" Target="../media/image-1-71.png"/><Relationship Id="rId72" Type="http://schemas.openxmlformats.org/officeDocument/2006/relationships/image" Target="../media/image-1-72.png"/><Relationship Id="rId73" Type="http://schemas.openxmlformats.org/officeDocument/2006/relationships/image" Target="../media/image-1-73.png"/><Relationship Id="rId74" Type="http://schemas.openxmlformats.org/officeDocument/2006/relationships/image" Target="../media/image-1-74.png"/><Relationship Id="rId75" Type="http://schemas.openxmlformats.org/officeDocument/2006/relationships/image" Target="../media/image-1-75.png"/><Relationship Id="rId76" Type="http://schemas.openxmlformats.org/officeDocument/2006/relationships/image" Target="../media/image-1-76.png"/><Relationship Id="rId77" Type="http://schemas.openxmlformats.org/officeDocument/2006/relationships/image" Target="../media/image-1-77.png"/><Relationship Id="rId78" Type="http://schemas.openxmlformats.org/officeDocument/2006/relationships/image" Target="../media/image-1-78.png"/><Relationship Id="rId79" Type="http://schemas.openxmlformats.org/officeDocument/2006/relationships/image" Target="../media/image-1-79.png"/><Relationship Id="rId80" Type="http://schemas.openxmlformats.org/officeDocument/2006/relationships/image" Target="../media/image-1-80.png"/><Relationship Id="rId81" Type="http://schemas.openxmlformats.org/officeDocument/2006/relationships/image" Target="../media/image-1-81.png"/><Relationship Id="rId82" Type="http://schemas.openxmlformats.org/officeDocument/2006/relationships/image" Target="../media/image-1-82.png"/><Relationship Id="rId83" Type="http://schemas.openxmlformats.org/officeDocument/2006/relationships/image" Target="../media/image-1-83.png"/><Relationship Id="rId84" Type="http://schemas.openxmlformats.org/officeDocument/2006/relationships/image" Target="../media/image-1-84.png"/><Relationship Id="rId85" Type="http://schemas.openxmlformats.org/officeDocument/2006/relationships/image" Target="../media/image-1-85.png"/><Relationship Id="rId86" Type="http://schemas.openxmlformats.org/officeDocument/2006/relationships/image" Target="../media/image-1-86.png"/><Relationship Id="rId87" Type="http://schemas.openxmlformats.org/officeDocument/2006/relationships/image" Target="../media/image-1-87.png"/><Relationship Id="rId88" Type="http://schemas.openxmlformats.org/officeDocument/2006/relationships/image" Target="../media/image-1-88.png"/><Relationship Id="rId89" Type="http://schemas.openxmlformats.org/officeDocument/2006/relationships/image" Target="../media/image-1-89.png"/><Relationship Id="rId90" Type="http://schemas.openxmlformats.org/officeDocument/2006/relationships/image" Target="../media/image-1-90.png"/><Relationship Id="rId91" Type="http://schemas.openxmlformats.org/officeDocument/2006/relationships/image" Target="../media/image-1-91.png"/><Relationship Id="rId92" Type="http://schemas.openxmlformats.org/officeDocument/2006/relationships/image" Target="../media/image-1-92.png"/><Relationship Id="rId93" Type="http://schemas.openxmlformats.org/officeDocument/2006/relationships/image" Target="../media/image-1-93.png"/><Relationship Id="rId94" Type="http://schemas.openxmlformats.org/officeDocument/2006/relationships/image" Target="../media/image-1-94.png"/><Relationship Id="rId95" Type="http://schemas.openxmlformats.org/officeDocument/2006/relationships/image" Target="../media/image-1-95.png"/><Relationship Id="rId96" Type="http://schemas.openxmlformats.org/officeDocument/2006/relationships/image" Target="../media/image-1-96.png"/><Relationship Id="rId97" Type="http://schemas.openxmlformats.org/officeDocument/2006/relationships/image" Target="../media/image-1-97.png"/><Relationship Id="rId98" Type="http://schemas.openxmlformats.org/officeDocument/2006/relationships/image" Target="../media/image-1-98.png"/><Relationship Id="rId99" Type="http://schemas.openxmlformats.org/officeDocument/2006/relationships/image" Target="../media/image-1-99.jpeg"/><Relationship Id="rId100" Type="http://schemas.openxmlformats.org/officeDocument/2006/relationships/image" Target="../media/image-1-100.jpeg"/><Relationship Id="rId101" Type="http://schemas.openxmlformats.org/officeDocument/2006/relationships/image" Target="../media/image-1-101.jpeg"/><Relationship Id="rId102" Type="http://schemas.openxmlformats.org/officeDocument/2006/relationships/image" Target="../media/image-1-102.jpeg"/><Relationship Id="rId103" Type="http://schemas.openxmlformats.org/officeDocument/2006/relationships/image" Target="../media/image-1-103.jpeg"/><Relationship Id="rId104" Type="http://schemas.openxmlformats.org/officeDocument/2006/relationships/slideLayout" Target="../slideLayouts/slideLayout1.xml"/><Relationship Id="rId10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jpe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image" Target="../media/image-2-44.png"/><Relationship Id="rId45" Type="http://schemas.openxmlformats.org/officeDocument/2006/relationships/image" Target="../media/image-2-45.png"/><Relationship Id="rId46" Type="http://schemas.openxmlformats.org/officeDocument/2006/relationships/image" Target="../media/image-2-46.png"/><Relationship Id="rId47" Type="http://schemas.openxmlformats.org/officeDocument/2006/relationships/image" Target="../media/image-2-47.png"/><Relationship Id="rId48" Type="http://schemas.openxmlformats.org/officeDocument/2006/relationships/image" Target="../media/image-2-48.png"/><Relationship Id="rId49" Type="http://schemas.openxmlformats.org/officeDocument/2006/relationships/image" Target="../media/image-2-49.png"/><Relationship Id="rId50" Type="http://schemas.openxmlformats.org/officeDocument/2006/relationships/image" Target="../media/image-2-50.png"/><Relationship Id="rId51" Type="http://schemas.openxmlformats.org/officeDocument/2006/relationships/image" Target="../media/image-2-51.png"/><Relationship Id="rId52" Type="http://schemas.openxmlformats.org/officeDocument/2006/relationships/image" Target="../media/image-2-52.png"/><Relationship Id="rId53" Type="http://schemas.openxmlformats.org/officeDocument/2006/relationships/image" Target="../media/image-2-53.png"/><Relationship Id="rId54" Type="http://schemas.openxmlformats.org/officeDocument/2006/relationships/image" Target="../media/image-2-54.png"/><Relationship Id="rId55" Type="http://schemas.openxmlformats.org/officeDocument/2006/relationships/image" Target="../media/image-2-55.png"/><Relationship Id="rId56" Type="http://schemas.openxmlformats.org/officeDocument/2006/relationships/image" Target="../media/image-2-56.png"/><Relationship Id="rId57" Type="http://schemas.openxmlformats.org/officeDocument/2006/relationships/image" Target="../media/image-2-57.png"/><Relationship Id="rId58" Type="http://schemas.openxmlformats.org/officeDocument/2006/relationships/image" Target="../media/image-2-58.png"/><Relationship Id="rId59" Type="http://schemas.openxmlformats.org/officeDocument/2006/relationships/image" Target="../media/image-2-59.png"/><Relationship Id="rId60" Type="http://schemas.openxmlformats.org/officeDocument/2006/relationships/image" Target="../media/image-2-60.png"/><Relationship Id="rId61" Type="http://schemas.openxmlformats.org/officeDocument/2006/relationships/image" Target="../media/image-2-61.png"/><Relationship Id="rId62" Type="http://schemas.openxmlformats.org/officeDocument/2006/relationships/image" Target="../media/image-2-62.png"/><Relationship Id="rId63" Type="http://schemas.openxmlformats.org/officeDocument/2006/relationships/image" Target="../media/image-2-63.png"/><Relationship Id="rId64" Type="http://schemas.openxmlformats.org/officeDocument/2006/relationships/image" Target="../media/image-2-64.png"/><Relationship Id="rId65" Type="http://schemas.openxmlformats.org/officeDocument/2006/relationships/image" Target="../media/image-2-65.png"/><Relationship Id="rId66" Type="http://schemas.openxmlformats.org/officeDocument/2006/relationships/image" Target="../media/image-2-66.jpeg"/><Relationship Id="rId67" Type="http://schemas.openxmlformats.org/officeDocument/2006/relationships/image" Target="../media/image-2-67.png"/><Relationship Id="rId68" Type="http://schemas.openxmlformats.org/officeDocument/2006/relationships/image" Target="../media/image-2-68.png"/><Relationship Id="rId69" Type="http://schemas.openxmlformats.org/officeDocument/2006/relationships/image" Target="../media/image-2-69.png"/><Relationship Id="rId70" Type="http://schemas.openxmlformats.org/officeDocument/2006/relationships/image" Target="../media/image-2-70.jpeg"/><Relationship Id="rId71" Type="http://schemas.openxmlformats.org/officeDocument/2006/relationships/image" Target="../media/image-2-71.png"/><Relationship Id="rId72" Type="http://schemas.openxmlformats.org/officeDocument/2006/relationships/image" Target="../media/image-2-72.png"/><Relationship Id="rId73" Type="http://schemas.openxmlformats.org/officeDocument/2006/relationships/image" Target="../media/image-2-73.png"/><Relationship Id="rId74" Type="http://schemas.openxmlformats.org/officeDocument/2006/relationships/image" Target="../media/image-2-74.png"/><Relationship Id="rId75" Type="http://schemas.openxmlformats.org/officeDocument/2006/relationships/image" Target="../media/image-2-75.jpeg"/><Relationship Id="rId76" Type="http://schemas.openxmlformats.org/officeDocument/2006/relationships/slideLayout" Target="../slideLayouts/slideLayout1.xml"/><Relationship Id="rId7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jpeg"/><Relationship Id="rId7" Type="http://schemas.openxmlformats.org/officeDocument/2006/relationships/image" Target="../media/image-3-7.png"/><Relationship Id="rId8" Type="http://schemas.openxmlformats.org/officeDocument/2006/relationships/image" Target="../media/image-3-8.jpeg"/><Relationship Id="rId9" Type="http://schemas.openxmlformats.org/officeDocument/2006/relationships/image" Target="../media/image-3-9.png"/><Relationship Id="rId10" Type="http://schemas.openxmlformats.org/officeDocument/2006/relationships/image" Target="../media/image-3-10.jpeg"/><Relationship Id="rId11" Type="http://schemas.openxmlformats.org/officeDocument/2006/relationships/image" Target="../media/image-3-11.png"/><Relationship Id="rId12" Type="http://schemas.openxmlformats.org/officeDocument/2006/relationships/image" Target="../media/image-3-12.jpe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jpeg"/><Relationship Id="rId23" Type="http://schemas.openxmlformats.org/officeDocument/2006/relationships/image" Target="../media/image-3-23.png"/><Relationship Id="rId24" Type="http://schemas.openxmlformats.org/officeDocument/2006/relationships/image" Target="../media/image-3-24.jpeg"/><Relationship Id="rId25" Type="http://schemas.openxmlformats.org/officeDocument/2006/relationships/image" Target="../media/image-3-25.png"/><Relationship Id="rId26" Type="http://schemas.openxmlformats.org/officeDocument/2006/relationships/image" Target="../media/image-3-26.jpeg"/><Relationship Id="rId27" Type="http://schemas.openxmlformats.org/officeDocument/2006/relationships/image" Target="../media/image-3-27.png"/><Relationship Id="rId28" Type="http://schemas.openxmlformats.org/officeDocument/2006/relationships/image" Target="../media/image-3-28.jpeg"/><Relationship Id="rId29" Type="http://schemas.openxmlformats.org/officeDocument/2006/relationships/image" Target="../media/image-3-29.png"/><Relationship Id="rId30" Type="http://schemas.openxmlformats.org/officeDocument/2006/relationships/image" Target="../media/image-3-30.jpe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image" Target="../media/image-3-42.png"/><Relationship Id="rId43" Type="http://schemas.openxmlformats.org/officeDocument/2006/relationships/image" Target="../media/image-3-43.png"/><Relationship Id="rId44" Type="http://schemas.openxmlformats.org/officeDocument/2006/relationships/image" Target="../media/image-3-44.png"/><Relationship Id="rId45" Type="http://schemas.openxmlformats.org/officeDocument/2006/relationships/image" Target="../media/image-3-45.png"/><Relationship Id="rId46" Type="http://schemas.openxmlformats.org/officeDocument/2006/relationships/image" Target="../media/image-3-46.png"/><Relationship Id="rId47" Type="http://schemas.openxmlformats.org/officeDocument/2006/relationships/image" Target="../media/image-3-47.png"/><Relationship Id="rId48" Type="http://schemas.openxmlformats.org/officeDocument/2006/relationships/image" Target="../media/image-3-48.png"/><Relationship Id="rId49" Type="http://schemas.openxmlformats.org/officeDocument/2006/relationships/image" Target="../media/image-3-49.png"/><Relationship Id="rId50" Type="http://schemas.openxmlformats.org/officeDocument/2006/relationships/image" Target="../media/image-3-50.png"/><Relationship Id="rId51" Type="http://schemas.openxmlformats.org/officeDocument/2006/relationships/image" Target="../media/image-3-51.png"/><Relationship Id="rId52" Type="http://schemas.openxmlformats.org/officeDocument/2006/relationships/image" Target="../media/image-3-52.jpeg"/><Relationship Id="rId53" Type="http://schemas.openxmlformats.org/officeDocument/2006/relationships/image" Target="../media/image-3-53.png"/><Relationship Id="rId54" Type="http://schemas.openxmlformats.org/officeDocument/2006/relationships/image" Target="../media/image-3-54.png"/><Relationship Id="rId55" Type="http://schemas.openxmlformats.org/officeDocument/2006/relationships/image" Target="../media/image-3-55.png"/><Relationship Id="rId56" Type="http://schemas.openxmlformats.org/officeDocument/2006/relationships/image" Target="../media/image-3-56.png"/><Relationship Id="rId57" Type="http://schemas.openxmlformats.org/officeDocument/2006/relationships/image" Target="../media/image-3-57.png"/><Relationship Id="rId58" Type="http://schemas.openxmlformats.org/officeDocument/2006/relationships/image" Target="../media/image-3-58.png"/><Relationship Id="rId59" Type="http://schemas.openxmlformats.org/officeDocument/2006/relationships/image" Target="../media/image-3-59.png"/><Relationship Id="rId60" Type="http://schemas.openxmlformats.org/officeDocument/2006/relationships/image" Target="../media/image-3-60.png"/><Relationship Id="rId61" Type="http://schemas.openxmlformats.org/officeDocument/2006/relationships/image" Target="../media/image-3-61.png"/><Relationship Id="rId62" Type="http://schemas.openxmlformats.org/officeDocument/2006/relationships/image" Target="../media/image-3-62.png"/><Relationship Id="rId63" Type="http://schemas.openxmlformats.org/officeDocument/2006/relationships/image" Target="../media/image-3-63.png"/><Relationship Id="rId64" Type="http://schemas.openxmlformats.org/officeDocument/2006/relationships/image" Target="../media/image-3-64.png"/><Relationship Id="rId65" Type="http://schemas.openxmlformats.org/officeDocument/2006/relationships/image" Target="../media/image-3-65.png"/><Relationship Id="rId66" Type="http://schemas.openxmlformats.org/officeDocument/2006/relationships/image" Target="../media/image-3-66.png"/><Relationship Id="rId67" Type="http://schemas.openxmlformats.org/officeDocument/2006/relationships/image" Target="../media/image-3-67.png"/><Relationship Id="rId68" Type="http://schemas.openxmlformats.org/officeDocument/2006/relationships/image" Target="../media/image-3-68.png"/><Relationship Id="rId69" Type="http://schemas.openxmlformats.org/officeDocument/2006/relationships/image" Target="../media/image-3-69.png"/><Relationship Id="rId70" Type="http://schemas.openxmlformats.org/officeDocument/2006/relationships/image" Target="../media/image-3-70.png"/><Relationship Id="rId71" Type="http://schemas.openxmlformats.org/officeDocument/2006/relationships/image" Target="../media/image-3-71.png"/><Relationship Id="rId72" Type="http://schemas.openxmlformats.org/officeDocument/2006/relationships/image" Target="../media/image-3-72.png"/><Relationship Id="rId73" Type="http://schemas.openxmlformats.org/officeDocument/2006/relationships/image" Target="../media/image-3-73.png"/><Relationship Id="rId74" Type="http://schemas.openxmlformats.org/officeDocument/2006/relationships/image" Target="../media/image-3-74.png"/><Relationship Id="rId75" Type="http://schemas.openxmlformats.org/officeDocument/2006/relationships/image" Target="../media/image-3-75.png"/><Relationship Id="rId76" Type="http://schemas.openxmlformats.org/officeDocument/2006/relationships/image" Target="../media/image-3-76.png"/><Relationship Id="rId77" Type="http://schemas.openxmlformats.org/officeDocument/2006/relationships/image" Target="../media/image-3-77.png"/><Relationship Id="rId78" Type="http://schemas.openxmlformats.org/officeDocument/2006/relationships/image" Target="../media/image-3-78.png"/><Relationship Id="rId79" Type="http://schemas.openxmlformats.org/officeDocument/2006/relationships/image" Target="../media/image-3-79.png"/><Relationship Id="rId80" Type="http://schemas.openxmlformats.org/officeDocument/2006/relationships/image" Target="../media/image-3-80.png"/><Relationship Id="rId81" Type="http://schemas.openxmlformats.org/officeDocument/2006/relationships/image" Target="../media/image-3-81.png"/><Relationship Id="rId82" Type="http://schemas.openxmlformats.org/officeDocument/2006/relationships/image" Target="../media/image-3-82.png"/><Relationship Id="rId83" Type="http://schemas.openxmlformats.org/officeDocument/2006/relationships/image" Target="../media/image-3-83.png"/><Relationship Id="rId84" Type="http://schemas.openxmlformats.org/officeDocument/2006/relationships/image" Target="../media/image-3-84.png"/><Relationship Id="rId85" Type="http://schemas.openxmlformats.org/officeDocument/2006/relationships/image" Target="../media/image-3-85.jpeg"/><Relationship Id="rId86" Type="http://schemas.openxmlformats.org/officeDocument/2006/relationships/image" Target="../media/image-3-86.png"/><Relationship Id="rId87" Type="http://schemas.openxmlformats.org/officeDocument/2006/relationships/image" Target="../media/image-3-87.png"/><Relationship Id="rId88" Type="http://schemas.openxmlformats.org/officeDocument/2006/relationships/image" Target="../media/image-3-88.png"/><Relationship Id="rId89" Type="http://schemas.openxmlformats.org/officeDocument/2006/relationships/image" Target="../media/image-3-89.png"/><Relationship Id="rId90" Type="http://schemas.openxmlformats.org/officeDocument/2006/relationships/image" Target="../media/image-3-90.png"/><Relationship Id="rId91" Type="http://schemas.openxmlformats.org/officeDocument/2006/relationships/image" Target="../media/image-3-91.png"/><Relationship Id="rId92" Type="http://schemas.openxmlformats.org/officeDocument/2006/relationships/image" Target="../media/image-3-92.png"/><Relationship Id="rId93" Type="http://schemas.openxmlformats.org/officeDocument/2006/relationships/image" Target="../media/image-3-93.png"/><Relationship Id="rId94" Type="http://schemas.openxmlformats.org/officeDocument/2006/relationships/image" Target="../media/image-3-94.png"/><Relationship Id="rId95" Type="http://schemas.openxmlformats.org/officeDocument/2006/relationships/image" Target="../media/image-3-95.png"/><Relationship Id="rId96" Type="http://schemas.openxmlformats.org/officeDocument/2006/relationships/image" Target="../media/image-3-96.png"/><Relationship Id="rId97" Type="http://schemas.openxmlformats.org/officeDocument/2006/relationships/image" Target="../media/image-3-97.png"/><Relationship Id="rId98" Type="http://schemas.openxmlformats.org/officeDocument/2006/relationships/image" Target="../media/image-3-98.png"/><Relationship Id="rId99" Type="http://schemas.openxmlformats.org/officeDocument/2006/relationships/image" Target="../media/image-3-99.png"/><Relationship Id="rId100" Type="http://schemas.openxmlformats.org/officeDocument/2006/relationships/image" Target="../media/image-3-100.png"/><Relationship Id="rId101" Type="http://schemas.openxmlformats.org/officeDocument/2006/relationships/image" Target="../media/image-3-101.png"/><Relationship Id="rId102" Type="http://schemas.openxmlformats.org/officeDocument/2006/relationships/image" Target="../media/image-3-102.png"/><Relationship Id="rId103" Type="http://schemas.openxmlformats.org/officeDocument/2006/relationships/image" Target="../media/image-3-103.jpeg"/><Relationship Id="rId104" Type="http://schemas.openxmlformats.org/officeDocument/2006/relationships/image" Target="../media/image-3-104.jpeg"/><Relationship Id="rId105" Type="http://schemas.openxmlformats.org/officeDocument/2006/relationships/image" Target="../media/image-3-105.jpeg"/><Relationship Id="rId106" Type="http://schemas.openxmlformats.org/officeDocument/2006/relationships/image" Target="../media/image-3-106.jpeg"/><Relationship Id="rId107" Type="http://schemas.openxmlformats.org/officeDocument/2006/relationships/slideLayout" Target="../slideLayouts/slideLayout1.xml"/><Relationship Id="rId10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623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19756" y="1033622"/>
            <a:ext cx="787522" cy="2964144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507" y="3439938"/>
            <a:ext cx="175005" cy="26797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976" y="3314153"/>
            <a:ext cx="689081" cy="16407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445" y="2909455"/>
            <a:ext cx="164067" cy="278914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976" y="2772732"/>
            <a:ext cx="689081" cy="5469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4445" y="2357096"/>
            <a:ext cx="164067" cy="278914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8976" y="2203967"/>
            <a:ext cx="689081" cy="10938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8976" y="1821144"/>
            <a:ext cx="196880" cy="229694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8976" y="1662545"/>
            <a:ext cx="689081" cy="10938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9914" y="1235971"/>
            <a:ext cx="185943" cy="295321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9756" y="776584"/>
            <a:ext cx="787522" cy="262507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8340072" y="847679"/>
            <a:ext cx="607595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5" dirty="0">
                <a:solidFill>
                  <a:srgbClr val="9DB5A3"/>
                </a:solidFill>
                <a:latin typeface="Viga" pitchFamily="34" charset="0"/>
                <a:ea typeface="Viga" pitchFamily="34" charset="-122"/>
                <a:cs typeface="Viga" pitchFamily="34" charset="-120"/>
              </a:rPr>
              <a:t>Final Outputs</a:t>
            </a:r>
            <a:endParaRPr lang="en-US" sz="715" dirty="0"/>
          </a:p>
        </p:txBody>
      </p:sp>
      <p:sp>
        <p:nvSpPr>
          <p:cNvPr id="15" name="Text 2"/>
          <p:cNvSpPr/>
          <p:nvPr/>
        </p:nvSpPr>
        <p:spPr>
          <a:xfrm>
            <a:off x="8476794" y="3450876"/>
            <a:ext cx="559468" cy="3226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1" b="1" dirty="0">
                <a:solidFill>
                  <a:srgbClr val="757677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Confirmed</a:t>
            </a:r>
            <a:endParaRPr lang="en-US" sz="551" dirty="0"/>
          </a:p>
          <a:p>
            <a:pPr algn="l" indent="0" marL="0">
              <a:buNone/>
            </a:pPr>
            <a:r>
              <a:rPr lang="en-US" sz="551" b="1" dirty="0">
                <a:solidFill>
                  <a:srgbClr val="757677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communication</a:t>
            </a:r>
            <a:endParaRPr lang="en-US" sz="551" dirty="0"/>
          </a:p>
          <a:p>
            <a:pPr algn="l" indent="0" marL="0">
              <a:buNone/>
            </a:pPr>
            <a:r>
              <a:rPr lang="en-US" sz="551" b="1" dirty="0">
                <a:solidFill>
                  <a:srgbClr val="757677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to use case owner</a:t>
            </a:r>
            <a:endParaRPr lang="en-US" sz="551" dirty="0"/>
          </a:p>
        </p:txBody>
      </p:sp>
      <p:sp>
        <p:nvSpPr>
          <p:cNvPr id="16" name="Text 3"/>
          <p:cNvSpPr/>
          <p:nvPr/>
        </p:nvSpPr>
        <p:spPr>
          <a:xfrm>
            <a:off x="8515077" y="2936799"/>
            <a:ext cx="481263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dirty="0">
                <a:solidFill>
                  <a:srgbClr val="7D7E7F"/>
                </a:solidFill>
                <a:latin typeface="Voltaire" pitchFamily="34" charset="0"/>
                <a:ea typeface="Voltaire" pitchFamily="34" charset="-122"/>
                <a:cs typeface="Voltaire" pitchFamily="34" charset="-120"/>
              </a:rPr>
              <a:t>Open actions/</a:t>
            </a:r>
            <a:endParaRPr lang="en-US" sz="685" dirty="0"/>
          </a:p>
          <a:p>
            <a:pPr algn="l" indent="0" marL="0">
              <a:buNone/>
            </a:pPr>
            <a:r>
              <a:rPr lang="en-US" sz="685" dirty="0">
                <a:solidFill>
                  <a:srgbClr val="7D7E7F"/>
                </a:solidFill>
                <a:latin typeface="Voltaire" pitchFamily="34" charset="0"/>
                <a:ea typeface="Voltaire" pitchFamily="34" charset="-122"/>
                <a:cs typeface="Voltaire" pitchFamily="34" charset="-120"/>
              </a:rPr>
              <a:t>conditions</a:t>
            </a:r>
            <a:endParaRPr lang="en-US" sz="685" dirty="0"/>
          </a:p>
        </p:txBody>
      </p:sp>
      <p:sp>
        <p:nvSpPr>
          <p:cNvPr id="17" name="Text 4"/>
          <p:cNvSpPr/>
          <p:nvPr/>
        </p:nvSpPr>
        <p:spPr>
          <a:xfrm>
            <a:off x="8515077" y="2389909"/>
            <a:ext cx="439153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797A7A"/>
                </a:solidFill>
                <a:latin typeface="Voltaire" pitchFamily="34" charset="0"/>
                <a:ea typeface="Voltaire" pitchFamily="34" charset="-122"/>
                <a:cs typeface="Voltaire" pitchFamily="34" charset="-120"/>
              </a:rPr>
              <a:t>Rationale and</a:t>
            </a:r>
            <a:endParaRPr lang="en-US" sz="655" dirty="0"/>
          </a:p>
          <a:p>
            <a:pPr algn="l" indent="0" marL="0">
              <a:buNone/>
            </a:pPr>
            <a:r>
              <a:rPr lang="en-US" sz="655" dirty="0">
                <a:solidFill>
                  <a:srgbClr val="797A7A"/>
                </a:solidFill>
                <a:latin typeface="Voltaire" pitchFamily="34" charset="0"/>
                <a:ea typeface="Voltaire" pitchFamily="34" charset="-122"/>
                <a:cs typeface="Voltaire" pitchFamily="34" charset="-120"/>
              </a:rPr>
              <a:t> evidence trail</a:t>
            </a:r>
            <a:endParaRPr lang="en-US" sz="655" dirty="0"/>
          </a:p>
        </p:txBody>
      </p:sp>
      <p:sp>
        <p:nvSpPr>
          <p:cNvPr id="18" name="Text 5"/>
          <p:cNvSpPr/>
          <p:nvPr/>
        </p:nvSpPr>
        <p:spPr>
          <a:xfrm>
            <a:off x="8520545" y="1815675"/>
            <a:ext cx="511342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1" dirty="0">
                <a:solidFill>
                  <a:srgbClr val="7D7D7F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Risk area-specific</a:t>
            </a:r>
            <a:endParaRPr lang="en-US" sz="551" dirty="0"/>
          </a:p>
          <a:p>
            <a:pPr algn="l" indent="0" marL="0">
              <a:buNone/>
            </a:pPr>
            <a:r>
              <a:rPr lang="en-US" sz="551" dirty="0">
                <a:solidFill>
                  <a:srgbClr val="7D7D7F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views</a:t>
            </a:r>
            <a:endParaRPr lang="en-US" sz="551" dirty="0"/>
          </a:p>
        </p:txBody>
      </p:sp>
      <p:sp>
        <p:nvSpPr>
          <p:cNvPr id="19" name="Text 6"/>
          <p:cNvSpPr/>
          <p:nvPr/>
        </p:nvSpPr>
        <p:spPr>
          <a:xfrm>
            <a:off x="8520545" y="1263316"/>
            <a:ext cx="409074" cy="235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dirty="0">
                <a:solidFill>
                  <a:srgbClr val="78797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Overall risk</a:t>
            </a:r>
            <a:endParaRPr lang="en-US" sz="607" dirty="0"/>
          </a:p>
          <a:p>
            <a:pPr algn="l" indent="0" marL="0">
              <a:buNone/>
            </a:pPr>
            <a:r>
              <a:rPr lang="en-US" sz="607" dirty="0">
                <a:solidFill>
                  <a:srgbClr val="78797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outcome</a:t>
            </a:r>
            <a:endParaRPr lang="en-US" sz="607" dirty="0"/>
          </a:p>
        </p:txBody>
      </p:sp>
      <p:sp>
        <p:nvSpPr>
          <p:cNvPr id="20" name="Text 7"/>
          <p:cNvSpPr/>
          <p:nvPr/>
        </p:nvSpPr>
        <p:spPr>
          <a:xfrm>
            <a:off x="432043" y="3314153"/>
            <a:ext cx="553453" cy="3281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2" b="1" dirty="0">
                <a:solidFill>
                  <a:srgbClr val="6B726E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4.Shared</a:t>
            </a:r>
            <a:endParaRPr lang="en-US" sz="642" dirty="0"/>
          </a:p>
          <a:p>
            <a:pPr algn="l" indent="0" marL="0">
              <a:buNone/>
            </a:pPr>
            <a:r>
              <a:rPr lang="en-US" sz="642" b="1" dirty="0">
                <a:solidFill>
                  <a:srgbClr val="6B726E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Review /</a:t>
            </a:r>
            <a:endParaRPr lang="en-US" sz="642" dirty="0"/>
          </a:p>
          <a:p>
            <a:pPr algn="l" indent="0" marL="0">
              <a:buNone/>
            </a:pPr>
            <a:r>
              <a:rPr lang="en-US" sz="642" b="1" dirty="0">
                <a:solidFill>
                  <a:srgbClr val="6B726E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Evidenec Space</a:t>
            </a:r>
            <a:endParaRPr lang="en-US" sz="642" dirty="0"/>
          </a:p>
        </p:txBody>
      </p:sp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536" y="3325091"/>
            <a:ext cx="213287" cy="246100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437512" y="2832890"/>
            <a:ext cx="385011" cy="3609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66736B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3.Other</a:t>
            </a:r>
            <a:endParaRPr lang="en-US" sz="775" dirty="0"/>
          </a:p>
          <a:p>
            <a:pPr algn="l" indent="0" marL="0">
              <a:buNone/>
            </a:pPr>
            <a:r>
              <a:rPr lang="en-US" sz="775" b="1" dirty="0">
                <a:solidFill>
                  <a:srgbClr val="66736B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2LoD Risk</a:t>
            </a:r>
            <a:endParaRPr lang="en-US" sz="775" dirty="0"/>
          </a:p>
          <a:p>
            <a:pPr algn="l" indent="0" marL="0">
              <a:buNone/>
            </a:pPr>
            <a:r>
              <a:rPr lang="en-US" sz="775" b="1" dirty="0">
                <a:solidFill>
                  <a:srgbClr val="66736B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Teams</a:t>
            </a:r>
            <a:endParaRPr lang="en-US" sz="775" dirty="0"/>
          </a:p>
        </p:txBody>
      </p:sp>
      <p:pic>
        <p:nvPicPr>
          <p:cNvPr id="2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4067" y="2805545"/>
            <a:ext cx="229694" cy="267976"/>
          </a:xfrm>
          <a:prstGeom prst="rect">
            <a:avLst/>
          </a:prstGeom>
        </p:spPr>
      </p:pic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847" y="2750856"/>
            <a:ext cx="1060967" cy="32813"/>
          </a:xfrm>
          <a:prstGeom prst="rect">
            <a:avLst/>
          </a:prstGeom>
        </p:spPr>
      </p:pic>
      <p:sp>
        <p:nvSpPr>
          <p:cNvPr id="25" name="Shape 9"/>
          <p:cNvSpPr/>
          <p:nvPr/>
        </p:nvSpPr>
        <p:spPr>
          <a:xfrm>
            <a:off x="1235971" y="2286000"/>
            <a:ext cx="743770" cy="278914"/>
          </a:xfrm>
          <a:prstGeom prst="rect">
            <a:avLst/>
          </a:prstGeom>
          <a:solidFill>
            <a:srgbClr val="F3F8F2"/>
          </a:solidFill>
          <a:ln/>
        </p:spPr>
      </p:sp>
      <p:sp>
        <p:nvSpPr>
          <p:cNvPr id="26" name="Text 10"/>
          <p:cNvSpPr/>
          <p:nvPr/>
        </p:nvSpPr>
        <p:spPr>
          <a:xfrm>
            <a:off x="1274254" y="2340689"/>
            <a:ext cx="733926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4" dirty="0">
                <a:solidFill>
                  <a:srgbClr val="79807E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Input: Intake information</a:t>
            </a:r>
            <a:endParaRPr lang="en-US" sz="504" dirty="0"/>
          </a:p>
          <a:p>
            <a:pPr algn="l" indent="0" marL="0">
              <a:buNone/>
            </a:pPr>
            <a:r>
              <a:rPr lang="en-US" sz="504" dirty="0">
                <a:solidFill>
                  <a:srgbClr val="79807E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(see examples)</a:t>
            </a:r>
            <a:endParaRPr lang="en-US" sz="504" dirty="0"/>
          </a:p>
        </p:txBody>
      </p:sp>
      <p:sp>
        <p:nvSpPr>
          <p:cNvPr id="27" name="Shape 11"/>
          <p:cNvSpPr/>
          <p:nvPr/>
        </p:nvSpPr>
        <p:spPr>
          <a:xfrm>
            <a:off x="1235971" y="1897708"/>
            <a:ext cx="743770" cy="377354"/>
          </a:xfrm>
          <a:prstGeom prst="rect">
            <a:avLst/>
          </a:prstGeom>
          <a:solidFill>
            <a:srgbClr val="02421A"/>
          </a:solidFill>
          <a:ln/>
        </p:spPr>
      </p:sp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8785" y="2160215"/>
            <a:ext cx="32813" cy="49220"/>
          </a:xfrm>
          <a:prstGeom prst="rect">
            <a:avLst/>
          </a:prstGeom>
        </p:spPr>
      </p:pic>
      <p:pic>
        <p:nvPicPr>
          <p:cNvPr id="2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4254" y="2061775"/>
            <a:ext cx="27344" cy="32813"/>
          </a:xfrm>
          <a:prstGeom prst="rect">
            <a:avLst/>
          </a:prstGeom>
        </p:spPr>
      </p:pic>
      <p:pic>
        <p:nvPicPr>
          <p:cNvPr id="3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4254" y="1957866"/>
            <a:ext cx="27344" cy="32813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>
            <a:off x="1334411" y="2143809"/>
            <a:ext cx="601579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6" b="1" dirty="0">
                <a:solidFill>
                  <a:srgbClr val="8EAA97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Acknowledge receipt</a:t>
            </a:r>
            <a:endParaRPr lang="en-US" sz="556" dirty="0"/>
          </a:p>
        </p:txBody>
      </p:sp>
      <p:sp>
        <p:nvSpPr>
          <p:cNvPr id="32" name="Text 13"/>
          <p:cNvSpPr/>
          <p:nvPr/>
        </p:nvSpPr>
        <p:spPr>
          <a:xfrm>
            <a:off x="1334411" y="2034431"/>
            <a:ext cx="577516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dirty="0">
                <a:solidFill>
                  <a:srgbClr val="8AA896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Validate submission</a:t>
            </a:r>
            <a:endParaRPr lang="en-US" sz="538" dirty="0"/>
          </a:p>
        </p:txBody>
      </p:sp>
      <p:sp>
        <p:nvSpPr>
          <p:cNvPr id="33" name="Text 14"/>
          <p:cNvSpPr/>
          <p:nvPr/>
        </p:nvSpPr>
        <p:spPr>
          <a:xfrm>
            <a:off x="1334411" y="1925053"/>
            <a:ext cx="685800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2" dirty="0">
                <a:solidFill>
                  <a:srgbClr val="87A692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Ingest intake and evidence</a:t>
            </a:r>
            <a:endParaRPr lang="en-US" sz="482" dirty="0"/>
          </a:p>
        </p:txBody>
      </p:sp>
      <p:sp>
        <p:nvSpPr>
          <p:cNvPr id="34" name="Text 15"/>
          <p:cNvSpPr/>
          <p:nvPr/>
        </p:nvSpPr>
        <p:spPr>
          <a:xfrm>
            <a:off x="437512" y="2050837"/>
            <a:ext cx="378995" cy="235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2" b="1" dirty="0">
                <a:solidFill>
                  <a:srgbClr val="65726B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Oversight</a:t>
            </a:r>
            <a:endParaRPr lang="en-US" sz="732" dirty="0"/>
          </a:p>
          <a:p>
            <a:pPr algn="l" indent="0" marL="0">
              <a:buNone/>
            </a:pPr>
            <a:r>
              <a:rPr lang="en-US" sz="732" b="1" dirty="0">
                <a:solidFill>
                  <a:srgbClr val="65726B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Team</a:t>
            </a:r>
            <a:endParaRPr lang="en-US" sz="732" dirty="0"/>
          </a:p>
        </p:txBody>
      </p:sp>
      <p:sp>
        <p:nvSpPr>
          <p:cNvPr id="35" name="Text 16"/>
          <p:cNvSpPr/>
          <p:nvPr/>
        </p:nvSpPr>
        <p:spPr>
          <a:xfrm>
            <a:off x="442981" y="1941459"/>
            <a:ext cx="350010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b="1" dirty="0">
                <a:solidFill>
                  <a:srgbClr val="616D66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2. AI Risk</a:t>
            </a:r>
            <a:endParaRPr lang="en-US" sz="685" dirty="0"/>
          </a:p>
        </p:txBody>
      </p:sp>
      <p:pic>
        <p:nvPicPr>
          <p:cNvPr id="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9536" y="1892239"/>
            <a:ext cx="224225" cy="262507"/>
          </a:xfrm>
          <a:prstGeom prst="rect">
            <a:avLst/>
          </a:prstGeom>
        </p:spPr>
      </p:pic>
      <p:pic>
        <p:nvPicPr>
          <p:cNvPr id="3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847" y="1843019"/>
            <a:ext cx="1066435" cy="27344"/>
          </a:xfrm>
          <a:prstGeom prst="rect">
            <a:avLst/>
          </a:prstGeom>
        </p:spPr>
      </p:pic>
      <p:pic>
        <p:nvPicPr>
          <p:cNvPr id="3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34411" y="1711766"/>
            <a:ext cx="180474" cy="27344"/>
          </a:xfrm>
          <a:prstGeom prst="rect">
            <a:avLst/>
          </a:prstGeom>
        </p:spPr>
      </p:pic>
      <p:sp>
        <p:nvSpPr>
          <p:cNvPr id="39" name="Shape 17"/>
          <p:cNvSpPr/>
          <p:nvPr/>
        </p:nvSpPr>
        <p:spPr>
          <a:xfrm>
            <a:off x="1235971" y="3325091"/>
            <a:ext cx="727364" cy="344541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4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79722" y="3374311"/>
            <a:ext cx="169536" cy="207818"/>
          </a:xfrm>
          <a:prstGeom prst="rect">
            <a:avLst/>
          </a:prstGeom>
        </p:spPr>
      </p:pic>
      <p:sp>
        <p:nvSpPr>
          <p:cNvPr id="41" name="Text 18"/>
          <p:cNvSpPr/>
          <p:nvPr/>
        </p:nvSpPr>
        <p:spPr>
          <a:xfrm>
            <a:off x="1482072" y="3489158"/>
            <a:ext cx="439153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dirty="0">
                <a:solidFill>
                  <a:srgbClr val="88898B"/>
                </a:solidFill>
                <a:latin typeface="Pompiere" pitchFamily="34" charset="0"/>
                <a:ea typeface="Pompiere" pitchFamily="34" charset="-122"/>
                <a:cs typeface="Pompiere" pitchFamily="34" charset="-120"/>
              </a:rPr>
              <a:t>Raw intake pack</a:t>
            </a:r>
            <a:endParaRPr lang="en-US" sz="525" dirty="0"/>
          </a:p>
        </p:txBody>
      </p:sp>
      <p:sp>
        <p:nvSpPr>
          <p:cNvPr id="42" name="Text 19"/>
          <p:cNvSpPr/>
          <p:nvPr/>
        </p:nvSpPr>
        <p:spPr>
          <a:xfrm>
            <a:off x="1482072" y="3390718"/>
            <a:ext cx="235163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dirty="0">
                <a:solidFill>
                  <a:srgbClr val="6C6D6D"/>
                </a:solidFill>
                <a:latin typeface="Jockey One" pitchFamily="34" charset="0"/>
                <a:ea typeface="Jockey One" pitchFamily="34" charset="-122"/>
                <a:cs typeface="Jockey One" pitchFamily="34" charset="-120"/>
              </a:rPr>
              <a:t>Output:</a:t>
            </a:r>
            <a:endParaRPr lang="en-US" sz="564" dirty="0"/>
          </a:p>
        </p:txBody>
      </p:sp>
      <p:pic>
        <p:nvPicPr>
          <p:cNvPr id="4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07086" y="1208627"/>
            <a:ext cx="6065010" cy="2854766"/>
          </a:xfrm>
          <a:prstGeom prst="rect">
            <a:avLst/>
          </a:prstGeom>
        </p:spPr>
      </p:pic>
      <p:sp>
        <p:nvSpPr>
          <p:cNvPr id="44" name="Shape 20"/>
          <p:cNvSpPr/>
          <p:nvPr/>
        </p:nvSpPr>
        <p:spPr>
          <a:xfrm>
            <a:off x="7082225" y="3319622"/>
            <a:ext cx="683612" cy="360947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4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20507" y="3385249"/>
            <a:ext cx="175005" cy="196880"/>
          </a:xfrm>
          <a:prstGeom prst="rect">
            <a:avLst/>
          </a:prstGeom>
        </p:spPr>
      </p:pic>
      <p:sp>
        <p:nvSpPr>
          <p:cNvPr id="46" name="Text 21"/>
          <p:cNvSpPr/>
          <p:nvPr/>
        </p:nvSpPr>
        <p:spPr>
          <a:xfrm>
            <a:off x="7344732" y="3352435"/>
            <a:ext cx="317196" cy="26250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6" dirty="0">
                <a:solidFill>
                  <a:srgbClr val="747576"/>
                </a:solidFill>
                <a:latin typeface="Alumni Sans" pitchFamily="34" charset="0"/>
                <a:ea typeface="Alumni Sans" pitchFamily="34" charset="-122"/>
                <a:cs typeface="Alumni Sans" pitchFamily="34" charset="-120"/>
              </a:rPr>
              <a:t>Output:</a:t>
            </a:r>
            <a:endParaRPr lang="en-US" sz="646" dirty="0"/>
          </a:p>
          <a:p>
            <a:pPr algn="l" indent="0" marL="0">
              <a:buNone/>
            </a:pPr>
            <a:r>
              <a:rPr lang="en-US" sz="646" dirty="0">
                <a:solidFill>
                  <a:srgbClr val="747576"/>
                </a:solidFill>
                <a:latin typeface="Alumni Sans" pitchFamily="34" charset="0"/>
                <a:ea typeface="Alumni Sans" pitchFamily="34" charset="-122"/>
                <a:cs typeface="Alumni Sans" pitchFamily="34" charset="-120"/>
              </a:rPr>
              <a:t>Final triage</a:t>
            </a:r>
            <a:endParaRPr lang="en-US" sz="646" dirty="0"/>
          </a:p>
          <a:p>
            <a:pPr algn="l" indent="0" marL="0">
              <a:buNone/>
            </a:pPr>
            <a:r>
              <a:rPr lang="en-US" sz="646" dirty="0">
                <a:solidFill>
                  <a:srgbClr val="747576"/>
                </a:solidFill>
                <a:latin typeface="Alumni Sans" pitchFamily="34" charset="0"/>
                <a:ea typeface="Alumni Sans" pitchFamily="34" charset="-122"/>
                <a:cs typeface="Alumni Sans" pitchFamily="34" charset="-120"/>
              </a:rPr>
              <a:t>outcome</a:t>
            </a:r>
            <a:endParaRPr lang="en-US" sz="646" dirty="0"/>
          </a:p>
        </p:txBody>
      </p:sp>
      <p:sp>
        <p:nvSpPr>
          <p:cNvPr id="47" name="Shape 22"/>
          <p:cNvSpPr/>
          <p:nvPr/>
        </p:nvSpPr>
        <p:spPr>
          <a:xfrm>
            <a:off x="6207201" y="3319622"/>
            <a:ext cx="716426" cy="360947"/>
          </a:xfrm>
          <a:prstGeom prst="rect">
            <a:avLst/>
          </a:prstGeom>
          <a:solidFill>
            <a:srgbClr val="FCFDFC"/>
          </a:solidFill>
          <a:ln/>
        </p:spPr>
      </p:sp>
      <p:pic>
        <p:nvPicPr>
          <p:cNvPr id="4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61890" y="3357904"/>
            <a:ext cx="147660" cy="246100"/>
          </a:xfrm>
          <a:prstGeom prst="rect">
            <a:avLst/>
          </a:prstGeom>
        </p:spPr>
      </p:pic>
      <p:sp>
        <p:nvSpPr>
          <p:cNvPr id="49" name="Text 23"/>
          <p:cNvSpPr/>
          <p:nvPr/>
        </p:nvSpPr>
        <p:spPr>
          <a:xfrm>
            <a:off x="6475177" y="3456344"/>
            <a:ext cx="355478" cy="1640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dirty="0">
                <a:solidFill>
                  <a:srgbClr val="898A8C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Consolidated</a:t>
            </a:r>
            <a:endParaRPr lang="en-US" sz="525" dirty="0"/>
          </a:p>
          <a:p>
            <a:pPr algn="l" indent="0" marL="0">
              <a:buNone/>
            </a:pPr>
            <a:r>
              <a:rPr lang="en-US" sz="525" dirty="0">
                <a:solidFill>
                  <a:srgbClr val="898A8C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assessment</a:t>
            </a:r>
            <a:endParaRPr lang="en-US" sz="525" dirty="0"/>
          </a:p>
        </p:txBody>
      </p:sp>
      <p:sp>
        <p:nvSpPr>
          <p:cNvPr id="50" name="Text 24"/>
          <p:cNvSpPr/>
          <p:nvPr/>
        </p:nvSpPr>
        <p:spPr>
          <a:xfrm>
            <a:off x="6475177" y="3368842"/>
            <a:ext cx="235163" cy="76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7" dirty="0">
                <a:solidFill>
                  <a:srgbClr val="6C6D6E"/>
                </a:solidFill>
                <a:latin typeface="Tuffy" pitchFamily="34" charset="0"/>
                <a:ea typeface="Tuffy" pitchFamily="34" charset="-122"/>
                <a:cs typeface="Tuffy" pitchFamily="34" charset="-120"/>
              </a:rPr>
              <a:t>Output:</a:t>
            </a:r>
            <a:endParaRPr lang="en-US" sz="487" dirty="0"/>
          </a:p>
        </p:txBody>
      </p:sp>
      <p:pic>
        <p:nvPicPr>
          <p:cNvPr id="5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12689" y="3450876"/>
            <a:ext cx="169536" cy="71096"/>
          </a:xfrm>
          <a:prstGeom prst="rect">
            <a:avLst/>
          </a:prstGeom>
        </p:spPr>
      </p:pic>
      <p:sp>
        <p:nvSpPr>
          <p:cNvPr id="52" name="Shape 25"/>
          <p:cNvSpPr/>
          <p:nvPr/>
        </p:nvSpPr>
        <p:spPr>
          <a:xfrm>
            <a:off x="5069670" y="3319622"/>
            <a:ext cx="798459" cy="350010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5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29828" y="3401656"/>
            <a:ext cx="213287" cy="169536"/>
          </a:xfrm>
          <a:prstGeom prst="rect">
            <a:avLst/>
          </a:prstGeom>
        </p:spPr>
      </p:pic>
      <p:sp>
        <p:nvSpPr>
          <p:cNvPr id="54" name="Text 26"/>
          <p:cNvSpPr/>
          <p:nvPr/>
        </p:nvSpPr>
        <p:spPr>
          <a:xfrm>
            <a:off x="5392335" y="3357904"/>
            <a:ext cx="284383" cy="26250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707173"/>
                </a:solidFill>
                <a:latin typeface="Pompiere" pitchFamily="34" charset="0"/>
                <a:ea typeface="Pompiere" pitchFamily="34" charset="-122"/>
                <a:cs typeface="Pompiere" pitchFamily="34" charset="-120"/>
              </a:rPr>
              <a:t>Output:</a:t>
            </a:r>
            <a:endParaRPr lang="en-US" sz="655" dirty="0"/>
          </a:p>
          <a:p>
            <a:pPr algn="l" indent="0" marL="0">
              <a:buNone/>
            </a:pPr>
            <a:r>
              <a:rPr lang="en-US" sz="655" dirty="0">
                <a:solidFill>
                  <a:srgbClr val="707173"/>
                </a:solidFill>
                <a:latin typeface="Pompiere" pitchFamily="34" charset="0"/>
                <a:ea typeface="Pompiere" pitchFamily="34" charset="-122"/>
                <a:cs typeface="Pompiere" pitchFamily="34" charset="-120"/>
              </a:rPr>
              <a:t>Risk team</a:t>
            </a:r>
            <a:endParaRPr lang="en-US" sz="655" dirty="0"/>
          </a:p>
          <a:p>
            <a:pPr algn="l" indent="0" marL="0">
              <a:buNone/>
            </a:pPr>
            <a:r>
              <a:rPr lang="en-US" sz="655" dirty="0">
                <a:solidFill>
                  <a:srgbClr val="707173"/>
                </a:solidFill>
                <a:latin typeface="Pompiere" pitchFamily="34" charset="0"/>
                <a:ea typeface="Pompiere" pitchFamily="34" charset="-122"/>
                <a:cs typeface="Pompiere" pitchFamily="34" charset="-120"/>
              </a:rPr>
              <a:t>inputs</a:t>
            </a:r>
            <a:endParaRPr lang="en-US" sz="655" dirty="0"/>
          </a:p>
        </p:txBody>
      </p:sp>
      <p:pic>
        <p:nvPicPr>
          <p:cNvPr id="55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862660" y="3456344"/>
            <a:ext cx="333603" cy="65627"/>
          </a:xfrm>
          <a:prstGeom prst="rect">
            <a:avLst/>
          </a:prstGeom>
        </p:spPr>
      </p:pic>
      <p:pic>
        <p:nvPicPr>
          <p:cNvPr id="5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83727" y="3461813"/>
            <a:ext cx="180474" cy="54689"/>
          </a:xfrm>
          <a:prstGeom prst="rect">
            <a:avLst/>
          </a:prstGeom>
        </p:spPr>
      </p:pic>
      <p:sp>
        <p:nvSpPr>
          <p:cNvPr id="57" name="Shape 27"/>
          <p:cNvSpPr/>
          <p:nvPr/>
        </p:nvSpPr>
        <p:spPr>
          <a:xfrm>
            <a:off x="4074330" y="3319622"/>
            <a:ext cx="809397" cy="350010"/>
          </a:xfrm>
          <a:prstGeom prst="rect">
            <a:avLst/>
          </a:prstGeom>
          <a:solidFill>
            <a:srgbClr val="FCFDFD"/>
          </a:solidFill>
          <a:ln/>
        </p:spPr>
      </p:sp>
      <p:sp>
        <p:nvSpPr>
          <p:cNvPr id="58" name="Text 28"/>
          <p:cNvSpPr/>
          <p:nvPr/>
        </p:nvSpPr>
        <p:spPr>
          <a:xfrm>
            <a:off x="4336837" y="3352435"/>
            <a:ext cx="439153" cy="2734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1" dirty="0">
                <a:solidFill>
                  <a:srgbClr val="6E6F6F"/>
                </a:solidFill>
                <a:latin typeface="Black And White Picture" pitchFamily="34" charset="0"/>
                <a:ea typeface="Black And White Picture" pitchFamily="34" charset="-122"/>
                <a:cs typeface="Black And White Picture" pitchFamily="34" charset="-120"/>
              </a:rPr>
              <a:t>Output:</a:t>
            </a:r>
            <a:endParaRPr lang="en-US" sz="521" dirty="0"/>
          </a:p>
          <a:p>
            <a:pPr algn="l" indent="0" marL="0">
              <a:buNone/>
            </a:pPr>
            <a:r>
              <a:rPr lang="en-US" sz="521" dirty="0">
                <a:solidFill>
                  <a:srgbClr val="6E6F6F"/>
                </a:solidFill>
                <a:latin typeface="Black And White Picture" pitchFamily="34" charset="0"/>
                <a:ea typeface="Black And White Picture" pitchFamily="34" charset="-122"/>
                <a:cs typeface="Black And White Picture" pitchFamily="34" charset="-120"/>
              </a:rPr>
              <a:t>Targeted review</a:t>
            </a:r>
            <a:endParaRPr lang="en-US" sz="521" dirty="0"/>
          </a:p>
          <a:p>
            <a:pPr algn="l" indent="0" marL="0">
              <a:buNone/>
            </a:pPr>
            <a:r>
              <a:rPr lang="en-US" sz="521" dirty="0">
                <a:solidFill>
                  <a:srgbClr val="6E6F6F"/>
                </a:solidFill>
                <a:latin typeface="Black And White Picture" pitchFamily="34" charset="0"/>
                <a:ea typeface="Black And White Picture" pitchFamily="34" charset="-122"/>
                <a:cs typeface="Black And White Picture" pitchFamily="34" charset="-120"/>
              </a:rPr>
              <a:t>pack</a:t>
            </a:r>
            <a:endParaRPr lang="en-US" sz="521" dirty="0"/>
          </a:p>
        </p:txBody>
      </p:sp>
      <p:pic>
        <p:nvPicPr>
          <p:cNvPr id="5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129019" y="3374311"/>
            <a:ext cx="169536" cy="207818"/>
          </a:xfrm>
          <a:prstGeom prst="rect">
            <a:avLst/>
          </a:prstGeom>
        </p:spPr>
      </p:pic>
      <p:pic>
        <p:nvPicPr>
          <p:cNvPr id="60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844636" y="3461813"/>
            <a:ext cx="229694" cy="54689"/>
          </a:xfrm>
          <a:prstGeom prst="rect">
            <a:avLst/>
          </a:prstGeom>
        </p:spPr>
      </p:pic>
      <p:sp>
        <p:nvSpPr>
          <p:cNvPr id="61" name="Shape 29"/>
          <p:cNvSpPr/>
          <p:nvPr/>
        </p:nvSpPr>
        <p:spPr>
          <a:xfrm>
            <a:off x="3073522" y="3319622"/>
            <a:ext cx="771115" cy="350010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6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22742" y="3374311"/>
            <a:ext cx="136722" cy="224225"/>
          </a:xfrm>
          <a:prstGeom prst="rect">
            <a:avLst/>
          </a:prstGeom>
        </p:spPr>
      </p:pic>
      <p:sp>
        <p:nvSpPr>
          <p:cNvPr id="63" name="Text 30"/>
          <p:cNvSpPr/>
          <p:nvPr/>
        </p:nvSpPr>
        <p:spPr>
          <a:xfrm>
            <a:off x="3346967" y="3352435"/>
            <a:ext cx="439153" cy="2734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3" b="1" dirty="0">
                <a:solidFill>
                  <a:srgbClr val="6C6D6E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Output:</a:t>
            </a:r>
            <a:endParaRPr lang="en-US" sz="543" dirty="0"/>
          </a:p>
          <a:p>
            <a:pPr algn="l" indent="0" marL="0">
              <a:buNone/>
            </a:pPr>
            <a:r>
              <a:rPr lang="en-US" sz="543" b="1" dirty="0">
                <a:solidFill>
                  <a:srgbClr val="6C6D6E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Validated triage</a:t>
            </a:r>
            <a:endParaRPr lang="en-US" sz="543" dirty="0"/>
          </a:p>
          <a:p>
            <a:pPr algn="l" indent="0" marL="0">
              <a:buNone/>
            </a:pPr>
            <a:r>
              <a:rPr lang="en-US" sz="543" b="1" dirty="0">
                <a:solidFill>
                  <a:srgbClr val="6C6D6E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profile</a:t>
            </a:r>
            <a:endParaRPr lang="en-US" sz="543" dirty="0"/>
          </a:p>
        </p:txBody>
      </p:sp>
      <p:sp>
        <p:nvSpPr>
          <p:cNvPr id="64" name="Shape 31"/>
          <p:cNvSpPr/>
          <p:nvPr/>
        </p:nvSpPr>
        <p:spPr>
          <a:xfrm>
            <a:off x="2138340" y="3325091"/>
            <a:ext cx="716426" cy="350010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65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93029" y="3379780"/>
            <a:ext cx="136722" cy="218756"/>
          </a:xfrm>
          <a:prstGeom prst="rect">
            <a:avLst/>
          </a:prstGeom>
        </p:spPr>
      </p:pic>
      <p:sp>
        <p:nvSpPr>
          <p:cNvPr id="66" name="Text 32"/>
          <p:cNvSpPr/>
          <p:nvPr/>
        </p:nvSpPr>
        <p:spPr>
          <a:xfrm>
            <a:off x="2384440" y="3456344"/>
            <a:ext cx="445168" cy="169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6" dirty="0">
                <a:solidFill>
                  <a:srgbClr val="87888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Structured triage</a:t>
            </a:r>
            <a:endParaRPr lang="en-US" sz="456" dirty="0"/>
          </a:p>
          <a:p>
            <a:pPr algn="l" indent="0" marL="0">
              <a:buNone/>
            </a:pPr>
            <a:r>
              <a:rPr lang="en-US" sz="456" dirty="0">
                <a:solidFill>
                  <a:srgbClr val="87888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profile</a:t>
            </a:r>
            <a:endParaRPr lang="en-US" sz="456" dirty="0"/>
          </a:p>
        </p:txBody>
      </p:sp>
      <p:sp>
        <p:nvSpPr>
          <p:cNvPr id="67" name="Text 33"/>
          <p:cNvSpPr/>
          <p:nvPr/>
        </p:nvSpPr>
        <p:spPr>
          <a:xfrm>
            <a:off x="2384440" y="3368842"/>
            <a:ext cx="229694" cy="76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7" b="1" dirty="0">
                <a:solidFill>
                  <a:srgbClr val="6B6C6D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Output:</a:t>
            </a:r>
            <a:endParaRPr lang="en-US" sz="517" dirty="0"/>
          </a:p>
        </p:txBody>
      </p:sp>
      <p:pic>
        <p:nvPicPr>
          <p:cNvPr id="6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849297" y="3450876"/>
            <a:ext cx="202349" cy="65627"/>
          </a:xfrm>
          <a:prstGeom prst="rect">
            <a:avLst/>
          </a:prstGeom>
        </p:spPr>
      </p:pic>
      <p:pic>
        <p:nvPicPr>
          <p:cNvPr id="69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957866" y="3450876"/>
            <a:ext cx="180474" cy="65627"/>
          </a:xfrm>
          <a:prstGeom prst="rect">
            <a:avLst/>
          </a:prstGeom>
        </p:spPr>
      </p:pic>
      <p:sp>
        <p:nvSpPr>
          <p:cNvPr id="70" name="Shape 34"/>
          <p:cNvSpPr/>
          <p:nvPr/>
        </p:nvSpPr>
        <p:spPr>
          <a:xfrm>
            <a:off x="5069670" y="2811014"/>
            <a:ext cx="847679" cy="448450"/>
          </a:xfrm>
          <a:prstGeom prst="rect">
            <a:avLst/>
          </a:prstGeom>
          <a:solidFill>
            <a:srgbClr val="F4F8F3"/>
          </a:solidFill>
          <a:ln/>
        </p:spPr>
      </p:sp>
      <p:pic>
        <p:nvPicPr>
          <p:cNvPr id="71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18890" y="2849297"/>
            <a:ext cx="136722" cy="213287"/>
          </a:xfrm>
          <a:prstGeom prst="rect">
            <a:avLst/>
          </a:prstGeom>
        </p:spPr>
      </p:pic>
      <p:sp>
        <p:nvSpPr>
          <p:cNvPr id="72" name="Text 35"/>
          <p:cNvSpPr/>
          <p:nvPr/>
        </p:nvSpPr>
        <p:spPr>
          <a:xfrm>
            <a:off x="5321239" y="3095397"/>
            <a:ext cx="577516" cy="1640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dirty="0">
                <a:solidFill>
                  <a:srgbClr val="767B7A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Request more info if</a:t>
            </a:r>
            <a:endParaRPr lang="en-US" sz="607" dirty="0"/>
          </a:p>
          <a:p>
            <a:pPr algn="l" indent="0" marL="0">
              <a:buNone/>
            </a:pPr>
            <a:r>
              <a:rPr lang="en-US" sz="607" dirty="0">
                <a:solidFill>
                  <a:srgbClr val="767B7A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needed</a:t>
            </a:r>
            <a:endParaRPr lang="en-US" sz="607" dirty="0"/>
          </a:p>
        </p:txBody>
      </p:sp>
      <p:sp>
        <p:nvSpPr>
          <p:cNvPr id="73" name="Text 36"/>
          <p:cNvSpPr/>
          <p:nvPr/>
        </p:nvSpPr>
        <p:spPr>
          <a:xfrm>
            <a:off x="5321239" y="2832890"/>
            <a:ext cx="595563" cy="257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1" b="1" dirty="0">
                <a:solidFill>
                  <a:srgbClr val="7A7E7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Provide assessment,</a:t>
            </a:r>
            <a:endParaRPr lang="en-US" sz="521" dirty="0"/>
          </a:p>
          <a:p>
            <a:pPr algn="l" indent="0" marL="0">
              <a:buNone/>
            </a:pPr>
            <a:r>
              <a:rPr lang="en-US" sz="521" b="1" dirty="0">
                <a:solidFill>
                  <a:srgbClr val="7A7E7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comments, and</a:t>
            </a:r>
            <a:endParaRPr lang="en-US" sz="521" dirty="0"/>
          </a:p>
          <a:p>
            <a:pPr algn="l" indent="0" marL="0">
              <a:buNone/>
            </a:pPr>
            <a:r>
              <a:rPr lang="en-US" sz="521" b="1" dirty="0">
                <a:solidFill>
                  <a:srgbClr val="7A7E7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conditions</a:t>
            </a:r>
            <a:endParaRPr lang="en-US" sz="521" dirty="0"/>
          </a:p>
        </p:txBody>
      </p:sp>
      <p:sp>
        <p:nvSpPr>
          <p:cNvPr id="74" name="Shape 37"/>
          <p:cNvSpPr/>
          <p:nvPr/>
        </p:nvSpPr>
        <p:spPr>
          <a:xfrm>
            <a:off x="4079799" y="2811014"/>
            <a:ext cx="825804" cy="448450"/>
          </a:xfrm>
          <a:prstGeom prst="rect">
            <a:avLst/>
          </a:prstGeom>
          <a:solidFill>
            <a:srgbClr val="F4F8F3"/>
          </a:solidFill>
          <a:ln/>
        </p:spPr>
      </p:sp>
      <p:pic>
        <p:nvPicPr>
          <p:cNvPr id="75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112612" y="2860234"/>
            <a:ext cx="169536" cy="136722"/>
          </a:xfrm>
          <a:prstGeom prst="rect">
            <a:avLst/>
          </a:prstGeom>
        </p:spPr>
      </p:pic>
      <p:sp>
        <p:nvSpPr>
          <p:cNvPr id="76" name="Text 38"/>
          <p:cNvSpPr/>
          <p:nvPr/>
        </p:nvSpPr>
        <p:spPr>
          <a:xfrm>
            <a:off x="4325900" y="3062584"/>
            <a:ext cx="469232" cy="1640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dirty="0">
                <a:solidFill>
                  <a:srgbClr val="7A7D7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Review assigned</a:t>
            </a:r>
            <a:endParaRPr lang="en-US" sz="525" dirty="0"/>
          </a:p>
          <a:p>
            <a:pPr algn="l" indent="0" marL="0">
              <a:buNone/>
            </a:pPr>
            <a:r>
              <a:rPr lang="en-US" sz="525" dirty="0">
                <a:solidFill>
                  <a:srgbClr val="7A7D7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risk areas</a:t>
            </a:r>
            <a:endParaRPr lang="en-US" sz="525" dirty="0"/>
          </a:p>
        </p:txBody>
      </p:sp>
      <p:sp>
        <p:nvSpPr>
          <p:cNvPr id="77" name="Text 39"/>
          <p:cNvSpPr/>
          <p:nvPr/>
        </p:nvSpPr>
        <p:spPr>
          <a:xfrm>
            <a:off x="4325900" y="2838359"/>
            <a:ext cx="493295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3" dirty="0">
                <a:solidFill>
                  <a:srgbClr val="757978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Receive targeted</a:t>
            </a:r>
            <a:endParaRPr lang="en-US" sz="543" dirty="0"/>
          </a:p>
          <a:p>
            <a:pPr algn="l" indent="0" marL="0">
              <a:buNone/>
            </a:pPr>
            <a:r>
              <a:rPr lang="en-US" sz="543" dirty="0">
                <a:solidFill>
                  <a:srgbClr val="757978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review pack</a:t>
            </a:r>
            <a:endParaRPr lang="en-US" sz="543" dirty="0"/>
          </a:p>
        </p:txBody>
      </p:sp>
      <p:sp>
        <p:nvSpPr>
          <p:cNvPr id="78" name="Shape 40"/>
          <p:cNvSpPr/>
          <p:nvPr/>
        </p:nvSpPr>
        <p:spPr>
          <a:xfrm>
            <a:off x="7043943" y="1881301"/>
            <a:ext cx="924244" cy="880493"/>
          </a:xfrm>
          <a:prstGeom prst="rect">
            <a:avLst/>
          </a:prstGeom>
          <a:solidFill>
            <a:srgbClr val="FCFCFC"/>
          </a:solidFill>
          <a:ln/>
        </p:spPr>
      </p:sp>
      <p:sp>
        <p:nvSpPr>
          <p:cNvPr id="79" name="Shape 41"/>
          <p:cNvSpPr/>
          <p:nvPr/>
        </p:nvSpPr>
        <p:spPr>
          <a:xfrm>
            <a:off x="7076756" y="2504756"/>
            <a:ext cx="864086" cy="229694"/>
          </a:xfrm>
          <a:prstGeom prst="rect">
            <a:avLst/>
          </a:prstGeom>
          <a:solidFill>
            <a:srgbClr val="F3F8F2"/>
          </a:solidFill>
          <a:ln/>
        </p:spPr>
      </p:sp>
      <p:sp>
        <p:nvSpPr>
          <p:cNvPr id="80" name="Text 42"/>
          <p:cNvSpPr/>
          <p:nvPr/>
        </p:nvSpPr>
        <p:spPr>
          <a:xfrm>
            <a:off x="7124882" y="2559445"/>
            <a:ext cx="613611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77" b="1" dirty="0">
                <a:solidFill>
                  <a:srgbClr val="797F7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Input: Consolidated</a:t>
            </a:r>
            <a:endParaRPr lang="en-US" sz="577" dirty="0"/>
          </a:p>
          <a:p>
            <a:pPr algn="r" indent="0" marL="0">
              <a:buNone/>
            </a:pPr>
            <a:r>
              <a:rPr lang="en-US" sz="577" b="1" dirty="0">
                <a:solidFill>
                  <a:srgbClr val="797F7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assessment</a:t>
            </a:r>
            <a:endParaRPr lang="en-US" sz="577" dirty="0"/>
          </a:p>
        </p:txBody>
      </p:sp>
      <p:sp>
        <p:nvSpPr>
          <p:cNvPr id="81" name="Shape 43"/>
          <p:cNvSpPr/>
          <p:nvPr/>
        </p:nvSpPr>
        <p:spPr>
          <a:xfrm>
            <a:off x="7076756" y="1897708"/>
            <a:ext cx="864086" cy="596110"/>
          </a:xfrm>
          <a:prstGeom prst="rect">
            <a:avLst/>
          </a:prstGeom>
          <a:solidFill>
            <a:srgbClr val="01421A"/>
          </a:solidFill>
          <a:ln/>
        </p:spPr>
      </p:sp>
      <p:pic>
        <p:nvPicPr>
          <p:cNvPr id="8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120507" y="2340689"/>
            <a:ext cx="27344" cy="27344"/>
          </a:xfrm>
          <a:prstGeom prst="rect">
            <a:avLst/>
          </a:prstGeom>
        </p:spPr>
      </p:pic>
      <p:pic>
        <p:nvPicPr>
          <p:cNvPr id="83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115038" y="2138340"/>
            <a:ext cx="32813" cy="43751"/>
          </a:xfrm>
          <a:prstGeom prst="rect">
            <a:avLst/>
          </a:prstGeom>
        </p:spPr>
      </p:pic>
      <p:pic>
        <p:nvPicPr>
          <p:cNvPr id="84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120507" y="1957866"/>
            <a:ext cx="32813" cy="32813"/>
          </a:xfrm>
          <a:prstGeom prst="rect">
            <a:avLst/>
          </a:prstGeom>
        </p:spPr>
      </p:pic>
      <p:sp>
        <p:nvSpPr>
          <p:cNvPr id="85" name="Text 44"/>
          <p:cNvSpPr/>
          <p:nvPr/>
        </p:nvSpPr>
        <p:spPr>
          <a:xfrm>
            <a:off x="7180665" y="2296938"/>
            <a:ext cx="757989" cy="1859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7" b="1" dirty="0">
                <a:solidFill>
                  <a:srgbClr val="8BA994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Record actions, conditions,</a:t>
            </a:r>
            <a:endParaRPr lang="en-US" sz="547" dirty="0"/>
          </a:p>
          <a:p>
            <a:pPr algn="l" indent="0" marL="0">
              <a:buNone/>
            </a:pPr>
            <a:r>
              <a:rPr lang="en-US" sz="547" b="1" dirty="0">
                <a:solidFill>
                  <a:srgbClr val="8BA994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and next steps</a:t>
            </a:r>
            <a:endParaRPr lang="en-US" sz="547" dirty="0"/>
          </a:p>
        </p:txBody>
      </p:sp>
      <p:sp>
        <p:nvSpPr>
          <p:cNvPr id="86" name="Text 45"/>
          <p:cNvSpPr/>
          <p:nvPr/>
        </p:nvSpPr>
        <p:spPr>
          <a:xfrm>
            <a:off x="7186134" y="2203967"/>
            <a:ext cx="511342" cy="76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b="1" dirty="0">
                <a:solidFill>
                  <a:srgbClr val="8CAB99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to use case owner</a:t>
            </a:r>
            <a:endParaRPr lang="en-US" sz="538" dirty="0"/>
          </a:p>
        </p:txBody>
      </p:sp>
      <p:sp>
        <p:nvSpPr>
          <p:cNvPr id="87" name="Text 46"/>
          <p:cNvSpPr/>
          <p:nvPr/>
        </p:nvSpPr>
        <p:spPr>
          <a:xfrm>
            <a:off x="7186134" y="2116464"/>
            <a:ext cx="661737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b="1" dirty="0">
                <a:solidFill>
                  <a:srgbClr val="82A28F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Communicate outcome</a:t>
            </a:r>
            <a:endParaRPr lang="en-US" sz="538" dirty="0"/>
          </a:p>
        </p:txBody>
      </p:sp>
      <p:sp>
        <p:nvSpPr>
          <p:cNvPr id="88" name="Text 47"/>
          <p:cNvSpPr/>
          <p:nvPr/>
        </p:nvSpPr>
        <p:spPr>
          <a:xfrm>
            <a:off x="7180665" y="1914115"/>
            <a:ext cx="637674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1" dirty="0">
                <a:solidFill>
                  <a:srgbClr val="91AE9C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Save final assessment</a:t>
            </a:r>
            <a:endParaRPr lang="en-US" sz="521" dirty="0"/>
          </a:p>
          <a:p>
            <a:pPr algn="l" indent="0" marL="0">
              <a:buNone/>
            </a:pPr>
            <a:r>
              <a:rPr lang="en-US" sz="521" dirty="0">
                <a:solidFill>
                  <a:srgbClr val="91AE9C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and rationale</a:t>
            </a:r>
            <a:endParaRPr lang="en-US" sz="521" dirty="0"/>
          </a:p>
        </p:txBody>
      </p:sp>
      <p:sp>
        <p:nvSpPr>
          <p:cNvPr id="89" name="Shape 48"/>
          <p:cNvSpPr/>
          <p:nvPr/>
        </p:nvSpPr>
        <p:spPr>
          <a:xfrm>
            <a:off x="7087694" y="1274254"/>
            <a:ext cx="885962" cy="333603"/>
          </a:xfrm>
          <a:prstGeom prst="rect">
            <a:avLst/>
          </a:prstGeom>
          <a:solidFill>
            <a:srgbClr val="F2F8F2"/>
          </a:solidFill>
          <a:ln/>
        </p:spPr>
      </p:sp>
      <p:pic>
        <p:nvPicPr>
          <p:cNvPr id="90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142383" y="1307067"/>
            <a:ext cx="191411" cy="229694"/>
          </a:xfrm>
          <a:prstGeom prst="rect">
            <a:avLst/>
          </a:prstGeom>
        </p:spPr>
      </p:pic>
      <p:sp>
        <p:nvSpPr>
          <p:cNvPr id="91" name="Text 49"/>
          <p:cNvSpPr/>
          <p:nvPr/>
        </p:nvSpPr>
        <p:spPr>
          <a:xfrm>
            <a:off x="7383014" y="1405507"/>
            <a:ext cx="547437" cy="1804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8" dirty="0">
                <a:solidFill>
                  <a:srgbClr val="757A77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outcome, actions,</a:t>
            </a:r>
            <a:endParaRPr lang="en-US" sz="568" dirty="0"/>
          </a:p>
          <a:p>
            <a:pPr algn="l" indent="0" marL="0">
              <a:buNone/>
            </a:pPr>
            <a:r>
              <a:rPr lang="en-US" sz="568" dirty="0">
                <a:solidFill>
                  <a:srgbClr val="757A77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and conditions</a:t>
            </a:r>
            <a:endParaRPr lang="en-US" sz="568" dirty="0"/>
          </a:p>
        </p:txBody>
      </p:sp>
      <p:sp>
        <p:nvSpPr>
          <p:cNvPr id="92" name="Text 50"/>
          <p:cNvSpPr/>
          <p:nvPr/>
        </p:nvSpPr>
        <p:spPr>
          <a:xfrm>
            <a:off x="7383014" y="1312536"/>
            <a:ext cx="391026" cy="76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8" b="1" dirty="0">
                <a:solidFill>
                  <a:srgbClr val="6F7472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Receive final</a:t>
            </a:r>
            <a:endParaRPr lang="en-US" sz="568" dirty="0"/>
          </a:p>
        </p:txBody>
      </p:sp>
      <p:pic>
        <p:nvPicPr>
          <p:cNvPr id="93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481455" y="1602388"/>
            <a:ext cx="65627" cy="289852"/>
          </a:xfrm>
          <a:prstGeom prst="rect">
            <a:avLst/>
          </a:prstGeom>
        </p:spPr>
      </p:pic>
      <p:sp>
        <p:nvSpPr>
          <p:cNvPr id="94" name="Shape 51"/>
          <p:cNvSpPr/>
          <p:nvPr/>
        </p:nvSpPr>
        <p:spPr>
          <a:xfrm>
            <a:off x="6179856" y="1864895"/>
            <a:ext cx="809397" cy="880493"/>
          </a:xfrm>
          <a:prstGeom prst="rect">
            <a:avLst/>
          </a:prstGeom>
          <a:solidFill>
            <a:srgbClr val="FCFCFC"/>
          </a:solidFill>
          <a:ln/>
        </p:spPr>
      </p:sp>
      <p:sp>
        <p:nvSpPr>
          <p:cNvPr id="95" name="Shape 52"/>
          <p:cNvSpPr/>
          <p:nvPr/>
        </p:nvSpPr>
        <p:spPr>
          <a:xfrm>
            <a:off x="6212670" y="2493818"/>
            <a:ext cx="754708" cy="229694"/>
          </a:xfrm>
          <a:prstGeom prst="rect">
            <a:avLst/>
          </a:prstGeom>
          <a:solidFill>
            <a:srgbClr val="F4F8F3"/>
          </a:solidFill>
          <a:ln/>
        </p:spPr>
      </p:sp>
      <p:sp>
        <p:nvSpPr>
          <p:cNvPr id="96" name="Text 53"/>
          <p:cNvSpPr/>
          <p:nvPr/>
        </p:nvSpPr>
        <p:spPr>
          <a:xfrm>
            <a:off x="6267359" y="2564914"/>
            <a:ext cx="667753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dirty="0">
                <a:solidFill>
                  <a:srgbClr val="757C7A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Input: Risk team inputs</a:t>
            </a:r>
            <a:endParaRPr lang="en-US" sz="581" dirty="0"/>
          </a:p>
        </p:txBody>
      </p:sp>
      <p:sp>
        <p:nvSpPr>
          <p:cNvPr id="97" name="Shape 54"/>
          <p:cNvSpPr/>
          <p:nvPr/>
        </p:nvSpPr>
        <p:spPr>
          <a:xfrm>
            <a:off x="6212670" y="1897708"/>
            <a:ext cx="760177" cy="585172"/>
          </a:xfrm>
          <a:prstGeom prst="rect">
            <a:avLst/>
          </a:prstGeom>
          <a:solidFill>
            <a:srgbClr val="01441A"/>
          </a:solidFill>
          <a:ln/>
        </p:spPr>
      </p:sp>
      <p:pic>
        <p:nvPicPr>
          <p:cNvPr id="98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240014" y="2253187"/>
            <a:ext cx="43751" cy="43751"/>
          </a:xfrm>
          <a:prstGeom prst="rect">
            <a:avLst/>
          </a:prstGeom>
        </p:spPr>
      </p:pic>
      <p:pic>
        <p:nvPicPr>
          <p:cNvPr id="99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250952" y="2067244"/>
            <a:ext cx="27344" cy="32813"/>
          </a:xfrm>
          <a:prstGeom prst="rect">
            <a:avLst/>
          </a:prstGeom>
        </p:spPr>
      </p:pic>
      <p:pic>
        <p:nvPicPr>
          <p:cNvPr id="100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250952" y="1957866"/>
            <a:ext cx="27344" cy="32813"/>
          </a:xfrm>
          <a:prstGeom prst="rect">
            <a:avLst/>
          </a:prstGeom>
        </p:spPr>
      </p:pic>
      <p:sp>
        <p:nvSpPr>
          <p:cNvPr id="101" name="Text 55"/>
          <p:cNvSpPr/>
          <p:nvPr/>
        </p:nvSpPr>
        <p:spPr>
          <a:xfrm>
            <a:off x="6305641" y="2220373"/>
            <a:ext cx="715879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1" dirty="0">
                <a:solidFill>
                  <a:srgbClr val="8AA894"/>
                </a:solidFill>
                <a:latin typeface="Jolly Lodger" pitchFamily="34" charset="0"/>
                <a:ea typeface="Jolly Lodger" pitchFamily="34" charset="-122"/>
                <a:cs typeface="Jolly Lodger" pitchFamily="34" charset="-120"/>
              </a:rPr>
              <a:t>Confirm engagement path</a:t>
            </a:r>
            <a:endParaRPr lang="en-US" sz="711" dirty="0"/>
          </a:p>
          <a:p>
            <a:pPr algn="l" indent="0" marL="0">
              <a:buNone/>
            </a:pPr>
            <a:r>
              <a:rPr lang="en-US" sz="711" dirty="0">
                <a:solidFill>
                  <a:srgbClr val="8AA894"/>
                </a:solidFill>
                <a:latin typeface="Jolly Lodger" pitchFamily="34" charset="0"/>
                <a:ea typeface="Jolly Lodger" pitchFamily="34" charset="-122"/>
                <a:cs typeface="Jolly Lodger" pitchFamily="34" charset="-120"/>
              </a:rPr>
              <a:t>or next action</a:t>
            </a:r>
            <a:endParaRPr lang="en-US" sz="711" dirty="0"/>
          </a:p>
        </p:txBody>
      </p:sp>
      <p:sp>
        <p:nvSpPr>
          <p:cNvPr id="102" name="Text 56"/>
          <p:cNvSpPr/>
          <p:nvPr/>
        </p:nvSpPr>
        <p:spPr>
          <a:xfrm>
            <a:off x="6305641" y="2023493"/>
            <a:ext cx="637674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7" dirty="0">
                <a:solidFill>
                  <a:srgbClr val="86A791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Determine overall risk</a:t>
            </a:r>
            <a:endParaRPr lang="en-US" sz="517" dirty="0"/>
          </a:p>
          <a:p>
            <a:pPr algn="l" indent="0" marL="0">
              <a:buNone/>
            </a:pPr>
            <a:r>
              <a:rPr lang="en-US" sz="517" dirty="0">
                <a:solidFill>
                  <a:srgbClr val="86A791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outcome and rationale</a:t>
            </a:r>
            <a:endParaRPr lang="en-US" sz="517" dirty="0"/>
          </a:p>
        </p:txBody>
      </p:sp>
      <p:sp>
        <p:nvSpPr>
          <p:cNvPr id="103" name="Text 57"/>
          <p:cNvSpPr/>
          <p:nvPr/>
        </p:nvSpPr>
        <p:spPr>
          <a:xfrm>
            <a:off x="6305641" y="1925053"/>
            <a:ext cx="661737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7" dirty="0">
                <a:solidFill>
                  <a:srgbClr val="8AAA94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Consolidate 2LoD inputs</a:t>
            </a:r>
            <a:endParaRPr lang="en-US" sz="517" dirty="0"/>
          </a:p>
        </p:txBody>
      </p:sp>
      <p:sp>
        <p:nvSpPr>
          <p:cNvPr id="104" name="Shape 58"/>
          <p:cNvSpPr/>
          <p:nvPr/>
        </p:nvSpPr>
        <p:spPr>
          <a:xfrm>
            <a:off x="5058732" y="1886770"/>
            <a:ext cx="864086" cy="825804"/>
          </a:xfrm>
          <a:prstGeom prst="rect">
            <a:avLst/>
          </a:prstGeom>
          <a:solidFill>
            <a:srgbClr val="FBFCFB"/>
          </a:solidFill>
          <a:ln/>
        </p:spPr>
      </p:sp>
      <p:sp>
        <p:nvSpPr>
          <p:cNvPr id="105" name="Shape 59"/>
          <p:cNvSpPr/>
          <p:nvPr/>
        </p:nvSpPr>
        <p:spPr>
          <a:xfrm>
            <a:off x="5097014" y="2466474"/>
            <a:ext cx="803928" cy="224225"/>
          </a:xfrm>
          <a:prstGeom prst="rect">
            <a:avLst/>
          </a:prstGeom>
          <a:solidFill>
            <a:srgbClr val="F4F8F3"/>
          </a:solidFill>
          <a:ln/>
        </p:spPr>
      </p:sp>
      <p:sp>
        <p:nvSpPr>
          <p:cNvPr id="106" name="Text 60"/>
          <p:cNvSpPr/>
          <p:nvPr/>
        </p:nvSpPr>
        <p:spPr>
          <a:xfrm>
            <a:off x="5135297" y="2526632"/>
            <a:ext cx="800100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6" dirty="0">
                <a:solidFill>
                  <a:srgbClr val="757D7B"/>
                </a:solidFill>
                <a:latin typeface="Black And White Picture" pitchFamily="34" charset="0"/>
                <a:ea typeface="Black And White Picture" pitchFamily="34" charset="-122"/>
                <a:cs typeface="Black And White Picture" pitchFamily="34" charset="-120"/>
              </a:rPr>
              <a:t>Input: Targeted review pack</a:t>
            </a:r>
            <a:endParaRPr lang="en-US" sz="556" dirty="0"/>
          </a:p>
        </p:txBody>
      </p:sp>
      <p:sp>
        <p:nvSpPr>
          <p:cNvPr id="107" name="Shape 61"/>
          <p:cNvSpPr/>
          <p:nvPr/>
        </p:nvSpPr>
        <p:spPr>
          <a:xfrm>
            <a:off x="5097014" y="1897708"/>
            <a:ext cx="798459" cy="552359"/>
          </a:xfrm>
          <a:prstGeom prst="rect">
            <a:avLst/>
          </a:prstGeom>
          <a:solidFill>
            <a:srgbClr val="01431A"/>
          </a:solidFill>
          <a:ln/>
        </p:spPr>
      </p:sp>
      <p:pic>
        <p:nvPicPr>
          <p:cNvPr id="108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146234" y="2165684"/>
            <a:ext cx="27344" cy="27344"/>
          </a:xfrm>
          <a:prstGeom prst="rect">
            <a:avLst/>
          </a:prstGeom>
        </p:spPr>
      </p:pic>
      <p:pic>
        <p:nvPicPr>
          <p:cNvPr id="109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146234" y="1957866"/>
            <a:ext cx="27344" cy="32813"/>
          </a:xfrm>
          <a:prstGeom prst="rect">
            <a:avLst/>
          </a:prstGeom>
        </p:spPr>
      </p:pic>
      <p:sp>
        <p:nvSpPr>
          <p:cNvPr id="110" name="Text 62"/>
          <p:cNvSpPr/>
          <p:nvPr/>
        </p:nvSpPr>
        <p:spPr>
          <a:xfrm>
            <a:off x="5206392" y="2116464"/>
            <a:ext cx="667753" cy="2953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3" dirty="0">
                <a:solidFill>
                  <a:srgbClr val="87A591"/>
                </a:solidFill>
                <a:latin typeface="Voltaire" pitchFamily="34" charset="0"/>
                <a:ea typeface="Voltaire" pitchFamily="34" charset="-122"/>
                <a:cs typeface="Voltaire" pitchFamily="34" charset="-120"/>
              </a:rPr>
              <a:t>Provide risk-area</a:t>
            </a:r>
            <a:endParaRPr lang="en-US" sz="633" dirty="0"/>
          </a:p>
          <a:p>
            <a:pPr algn="l" indent="0" marL="0">
              <a:buNone/>
            </a:pPr>
            <a:r>
              <a:rPr lang="en-US" sz="633" dirty="0">
                <a:solidFill>
                  <a:srgbClr val="87A591"/>
                </a:solidFill>
                <a:latin typeface="Voltaire" pitchFamily="34" charset="0"/>
                <a:ea typeface="Voltaire" pitchFamily="34" charset="-122"/>
                <a:cs typeface="Voltaire" pitchFamily="34" charset="-120"/>
              </a:rPr>
              <a:t>assessment guidance</a:t>
            </a:r>
            <a:endParaRPr lang="en-US" sz="633" dirty="0"/>
          </a:p>
          <a:p>
            <a:pPr algn="l" indent="0" marL="0">
              <a:buNone/>
            </a:pPr>
            <a:r>
              <a:rPr lang="en-US" sz="633" dirty="0">
                <a:solidFill>
                  <a:srgbClr val="87A591"/>
                </a:solidFill>
                <a:latin typeface="Voltaire" pitchFamily="34" charset="0"/>
                <a:ea typeface="Voltaire" pitchFamily="34" charset="-122"/>
                <a:cs typeface="Voltaire" pitchFamily="34" charset="-120"/>
              </a:rPr>
              <a:t>and comments</a:t>
            </a:r>
            <a:endParaRPr lang="en-US" sz="633" dirty="0"/>
          </a:p>
        </p:txBody>
      </p:sp>
      <p:sp>
        <p:nvSpPr>
          <p:cNvPr id="111" name="Text 63"/>
          <p:cNvSpPr/>
          <p:nvPr/>
        </p:nvSpPr>
        <p:spPr>
          <a:xfrm>
            <a:off x="5211861" y="1914115"/>
            <a:ext cx="655721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b="1" dirty="0">
                <a:solidFill>
                  <a:srgbClr val="97B5A1"/>
                </a:solidFill>
                <a:latin typeface="Kirang Haerang" pitchFamily="34" charset="0"/>
                <a:ea typeface="Kirang Haerang" pitchFamily="34" charset="-122"/>
                <a:cs typeface="Kirang Haerang" pitchFamily="34" charset="-120"/>
              </a:rPr>
              <a:t>Review responses and</a:t>
            </a:r>
            <a:endParaRPr lang="en-US" sz="564" dirty="0"/>
          </a:p>
          <a:p>
            <a:pPr algn="l" indent="0" marL="0">
              <a:buNone/>
            </a:pPr>
            <a:r>
              <a:rPr lang="en-US" sz="564" b="1" dirty="0">
                <a:solidFill>
                  <a:srgbClr val="97B5A1"/>
                </a:solidFill>
                <a:latin typeface="Kirang Haerang" pitchFamily="34" charset="0"/>
                <a:ea typeface="Kirang Haerang" pitchFamily="34" charset="-122"/>
                <a:cs typeface="Kirang Haerang" pitchFamily="34" charset="-120"/>
              </a:rPr>
              <a:t>evidence</a:t>
            </a:r>
            <a:endParaRPr lang="en-US" sz="564" dirty="0"/>
          </a:p>
        </p:txBody>
      </p:sp>
      <p:sp>
        <p:nvSpPr>
          <p:cNvPr id="112" name="Shape 64"/>
          <p:cNvSpPr/>
          <p:nvPr/>
        </p:nvSpPr>
        <p:spPr>
          <a:xfrm>
            <a:off x="5080608" y="1274254"/>
            <a:ext cx="907837" cy="333603"/>
          </a:xfrm>
          <a:prstGeom prst="rect">
            <a:avLst/>
          </a:prstGeom>
          <a:solidFill>
            <a:srgbClr val="F1F7F1"/>
          </a:solidFill>
          <a:ln/>
        </p:spPr>
      </p:sp>
      <p:pic>
        <p:nvPicPr>
          <p:cNvPr id="113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129828" y="1328943"/>
            <a:ext cx="147660" cy="224225"/>
          </a:xfrm>
          <a:prstGeom prst="rect">
            <a:avLst/>
          </a:prstGeom>
        </p:spPr>
      </p:pic>
      <p:sp>
        <p:nvSpPr>
          <p:cNvPr id="114" name="Text 65"/>
          <p:cNvSpPr/>
          <p:nvPr/>
        </p:nvSpPr>
        <p:spPr>
          <a:xfrm>
            <a:off x="5343115" y="1301598"/>
            <a:ext cx="655721" cy="2898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6E7572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Provide clarifications</a:t>
            </a:r>
            <a:endParaRPr lang="en-US" sz="525" dirty="0"/>
          </a:p>
          <a:p>
            <a:pPr algn="l" indent="0" marL="0">
              <a:buNone/>
            </a:pPr>
            <a:r>
              <a:rPr lang="en-US" sz="525" b="1" dirty="0">
                <a:solidFill>
                  <a:srgbClr val="6E7572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and supporting</a:t>
            </a:r>
            <a:endParaRPr lang="en-US" sz="525" dirty="0"/>
          </a:p>
          <a:p>
            <a:pPr algn="l" indent="0" marL="0">
              <a:buNone/>
            </a:pPr>
            <a:r>
              <a:rPr lang="en-US" sz="525" b="1" dirty="0">
                <a:solidFill>
                  <a:srgbClr val="6E7572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evidence if requested</a:t>
            </a:r>
            <a:endParaRPr lang="en-US" sz="525" dirty="0"/>
          </a:p>
        </p:txBody>
      </p:sp>
      <p:pic>
        <p:nvPicPr>
          <p:cNvPr id="115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490775" y="1602388"/>
            <a:ext cx="60158" cy="289852"/>
          </a:xfrm>
          <a:prstGeom prst="rect">
            <a:avLst/>
          </a:prstGeom>
        </p:spPr>
      </p:pic>
      <p:sp>
        <p:nvSpPr>
          <p:cNvPr id="116" name="Shape 66"/>
          <p:cNvSpPr/>
          <p:nvPr/>
        </p:nvSpPr>
        <p:spPr>
          <a:xfrm>
            <a:off x="4057923" y="1870364"/>
            <a:ext cx="847679" cy="891431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117" name="Shape 67"/>
          <p:cNvSpPr/>
          <p:nvPr/>
        </p:nvSpPr>
        <p:spPr>
          <a:xfrm>
            <a:off x="4085268" y="2510225"/>
            <a:ext cx="820335" cy="235163"/>
          </a:xfrm>
          <a:prstGeom prst="rect">
            <a:avLst/>
          </a:prstGeom>
          <a:solidFill>
            <a:srgbClr val="F3F8F2"/>
          </a:solidFill>
          <a:ln/>
        </p:spPr>
      </p:sp>
      <p:sp>
        <p:nvSpPr>
          <p:cNvPr id="118" name="Text 68"/>
          <p:cNvSpPr/>
          <p:nvPr/>
        </p:nvSpPr>
        <p:spPr>
          <a:xfrm>
            <a:off x="4375120" y="2537569"/>
            <a:ext cx="475247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1" dirty="0">
                <a:solidFill>
                  <a:srgbClr val="757C7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Validated triage</a:t>
            </a:r>
            <a:endParaRPr lang="en-US" sz="521" dirty="0"/>
          </a:p>
          <a:p>
            <a:pPr algn="l" indent="0" marL="0">
              <a:buNone/>
            </a:pPr>
            <a:r>
              <a:rPr lang="en-US" sz="521" dirty="0">
                <a:solidFill>
                  <a:srgbClr val="757C7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profile</a:t>
            </a:r>
            <a:endParaRPr lang="en-US" sz="521" dirty="0"/>
          </a:p>
        </p:txBody>
      </p:sp>
      <p:sp>
        <p:nvSpPr>
          <p:cNvPr id="119" name="Text 69"/>
          <p:cNvSpPr/>
          <p:nvPr/>
        </p:nvSpPr>
        <p:spPr>
          <a:xfrm>
            <a:off x="4178239" y="2553976"/>
            <a:ext cx="191411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dirty="0">
                <a:solidFill>
                  <a:srgbClr val="727875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Input:</a:t>
            </a:r>
            <a:endParaRPr lang="en-US" sz="581" dirty="0"/>
          </a:p>
        </p:txBody>
      </p:sp>
      <p:sp>
        <p:nvSpPr>
          <p:cNvPr id="120" name="Shape 70"/>
          <p:cNvSpPr/>
          <p:nvPr/>
        </p:nvSpPr>
        <p:spPr>
          <a:xfrm>
            <a:off x="4085268" y="1897708"/>
            <a:ext cx="814866" cy="612517"/>
          </a:xfrm>
          <a:prstGeom prst="rect">
            <a:avLst/>
          </a:prstGeom>
          <a:solidFill>
            <a:srgbClr val="01431A"/>
          </a:solidFill>
          <a:ln/>
        </p:spPr>
      </p:sp>
      <p:pic>
        <p:nvPicPr>
          <p:cNvPr id="121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145426" y="2346158"/>
            <a:ext cx="27344" cy="27344"/>
          </a:xfrm>
          <a:prstGeom prst="rect">
            <a:avLst/>
          </a:prstGeom>
        </p:spPr>
      </p:pic>
      <p:pic>
        <p:nvPicPr>
          <p:cNvPr id="122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145426" y="2154746"/>
            <a:ext cx="27344" cy="27344"/>
          </a:xfrm>
          <a:prstGeom prst="rect">
            <a:avLst/>
          </a:prstGeom>
        </p:spPr>
      </p:pic>
      <p:pic>
        <p:nvPicPr>
          <p:cNvPr id="123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145426" y="1957866"/>
            <a:ext cx="27344" cy="32813"/>
          </a:xfrm>
          <a:prstGeom prst="rect">
            <a:avLst/>
          </a:prstGeom>
        </p:spPr>
      </p:pic>
      <p:sp>
        <p:nvSpPr>
          <p:cNvPr id="124" name="Text 71"/>
          <p:cNvSpPr/>
          <p:nvPr/>
        </p:nvSpPr>
        <p:spPr>
          <a:xfrm>
            <a:off x="4205584" y="2400847"/>
            <a:ext cx="601579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dirty="0">
                <a:solidFill>
                  <a:srgbClr val="8BAD98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the right reviewers</a:t>
            </a:r>
            <a:endParaRPr lang="en-US" sz="581" dirty="0"/>
          </a:p>
        </p:txBody>
      </p:sp>
      <p:sp>
        <p:nvSpPr>
          <p:cNvPr id="125" name="Text 72"/>
          <p:cNvSpPr/>
          <p:nvPr/>
        </p:nvSpPr>
        <p:spPr>
          <a:xfrm>
            <a:off x="4211053" y="2313344"/>
            <a:ext cx="685800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1" dirty="0">
                <a:solidFill>
                  <a:srgbClr val="97B5A1"/>
                </a:solidFill>
                <a:latin typeface="ZCOOL QingKe HuangYou" pitchFamily="34" charset="0"/>
                <a:ea typeface="ZCOOL QingKe HuangYou" pitchFamily="34" charset="-122"/>
                <a:cs typeface="ZCOOL QingKe HuangYou" pitchFamily="34" charset="-120"/>
              </a:rPr>
              <a:t>Route the use case to</a:t>
            </a:r>
            <a:endParaRPr lang="en-US" sz="611" dirty="0"/>
          </a:p>
        </p:txBody>
      </p:sp>
      <p:sp>
        <p:nvSpPr>
          <p:cNvPr id="126" name="Text 73"/>
          <p:cNvSpPr/>
          <p:nvPr/>
        </p:nvSpPr>
        <p:spPr>
          <a:xfrm>
            <a:off x="4211053" y="2121933"/>
            <a:ext cx="691816" cy="17500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1" b="1" dirty="0">
                <a:solidFill>
                  <a:srgbClr val="8EAD9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Highlight risk-relevant</a:t>
            </a:r>
            <a:endParaRPr lang="en-US" sz="521" dirty="0"/>
          </a:p>
          <a:p>
            <a:pPr algn="l" indent="0" marL="0">
              <a:buNone/>
            </a:pPr>
            <a:r>
              <a:rPr lang="en-US" sz="521" b="1" dirty="0">
                <a:solidFill>
                  <a:srgbClr val="8EAD9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information by area</a:t>
            </a:r>
            <a:endParaRPr lang="en-US" sz="521" dirty="0"/>
          </a:p>
        </p:txBody>
      </p:sp>
      <p:sp>
        <p:nvSpPr>
          <p:cNvPr id="127" name="Text 74"/>
          <p:cNvSpPr/>
          <p:nvPr/>
        </p:nvSpPr>
        <p:spPr>
          <a:xfrm>
            <a:off x="4205584" y="1914115"/>
            <a:ext cx="679784" cy="1804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b="1" dirty="0">
                <a:solidFill>
                  <a:srgbClr val="93B29D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Identify relevant 2LoD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93B29D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teams</a:t>
            </a:r>
            <a:endParaRPr lang="en-US" sz="581" dirty="0"/>
          </a:p>
        </p:txBody>
      </p:sp>
      <p:sp>
        <p:nvSpPr>
          <p:cNvPr id="128" name="Shape 75"/>
          <p:cNvSpPr/>
          <p:nvPr/>
        </p:nvSpPr>
        <p:spPr>
          <a:xfrm>
            <a:off x="3035239" y="1886770"/>
            <a:ext cx="929713" cy="880493"/>
          </a:xfrm>
          <a:prstGeom prst="rect">
            <a:avLst/>
          </a:prstGeom>
          <a:solidFill>
            <a:srgbClr val="FCFCFC"/>
          </a:solidFill>
          <a:ln/>
        </p:spPr>
      </p:sp>
      <p:sp>
        <p:nvSpPr>
          <p:cNvPr id="129" name="Shape 76"/>
          <p:cNvSpPr/>
          <p:nvPr/>
        </p:nvSpPr>
        <p:spPr>
          <a:xfrm>
            <a:off x="3068053" y="2504756"/>
            <a:ext cx="880493" cy="235163"/>
          </a:xfrm>
          <a:prstGeom prst="rect">
            <a:avLst/>
          </a:prstGeom>
          <a:solidFill>
            <a:srgbClr val="F3F8F2"/>
          </a:solidFill>
          <a:ln/>
        </p:spPr>
      </p:sp>
      <p:sp>
        <p:nvSpPr>
          <p:cNvPr id="130" name="Text 77"/>
          <p:cNvSpPr/>
          <p:nvPr/>
        </p:nvSpPr>
        <p:spPr>
          <a:xfrm>
            <a:off x="3117273" y="2537569"/>
            <a:ext cx="721895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3" dirty="0">
                <a:solidFill>
                  <a:srgbClr val="757C7A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Input:  Structured triage</a:t>
            </a:r>
            <a:endParaRPr lang="en-US" sz="543" dirty="0"/>
          </a:p>
          <a:p>
            <a:pPr algn="ctr" indent="0" marL="0">
              <a:buNone/>
            </a:pPr>
            <a:r>
              <a:rPr lang="en-US" sz="543" dirty="0">
                <a:solidFill>
                  <a:srgbClr val="757C7A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profile</a:t>
            </a:r>
            <a:endParaRPr lang="en-US" sz="543" dirty="0"/>
          </a:p>
        </p:txBody>
      </p:sp>
      <p:pic>
        <p:nvPicPr>
          <p:cNvPr id="131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068053" y="1897708"/>
            <a:ext cx="880493" cy="607048"/>
          </a:xfrm>
          <a:prstGeom prst="rect">
            <a:avLst/>
          </a:prstGeom>
        </p:spPr>
      </p:pic>
      <p:pic>
        <p:nvPicPr>
          <p:cNvPr id="132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117273" y="2335220"/>
            <a:ext cx="27344" cy="38282"/>
          </a:xfrm>
          <a:prstGeom prst="rect">
            <a:avLst/>
          </a:prstGeom>
        </p:spPr>
      </p:pic>
      <p:pic>
        <p:nvPicPr>
          <p:cNvPr id="13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117273" y="2149278"/>
            <a:ext cx="27344" cy="32813"/>
          </a:xfrm>
          <a:prstGeom prst="rect">
            <a:avLst/>
          </a:prstGeom>
        </p:spPr>
      </p:pic>
      <p:pic>
        <p:nvPicPr>
          <p:cNvPr id="134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117273" y="1957866"/>
            <a:ext cx="27344" cy="32813"/>
          </a:xfrm>
          <a:prstGeom prst="rect">
            <a:avLst/>
          </a:prstGeom>
        </p:spPr>
      </p:pic>
      <p:sp>
        <p:nvSpPr>
          <p:cNvPr id="135" name="Text 78"/>
          <p:cNvSpPr/>
          <p:nvPr/>
        </p:nvSpPr>
        <p:spPr>
          <a:xfrm>
            <a:off x="3177431" y="2400847"/>
            <a:ext cx="625642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8" b="1" dirty="0">
                <a:solidFill>
                  <a:srgbClr val="94B3A0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sufficient for review</a:t>
            </a:r>
            <a:endParaRPr lang="en-US" sz="568" dirty="0"/>
          </a:p>
        </p:txBody>
      </p:sp>
      <p:sp>
        <p:nvSpPr>
          <p:cNvPr id="136" name="Text 79"/>
          <p:cNvSpPr/>
          <p:nvPr/>
        </p:nvSpPr>
        <p:spPr>
          <a:xfrm>
            <a:off x="3177431" y="2307876"/>
            <a:ext cx="655721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8FAF9B"/>
                </a:solidFill>
                <a:latin typeface="Averia Sans Libre" pitchFamily="34" charset="0"/>
                <a:ea typeface="Averia Sans Libre" pitchFamily="34" charset="-122"/>
                <a:cs typeface="Averia Sans Libre" pitchFamily="34" charset="-120"/>
              </a:rPr>
              <a:t>Check information is</a:t>
            </a:r>
            <a:endParaRPr lang="en-US" sz="495" dirty="0"/>
          </a:p>
        </p:txBody>
      </p:sp>
      <p:sp>
        <p:nvSpPr>
          <p:cNvPr id="137" name="Text 80"/>
          <p:cNvSpPr/>
          <p:nvPr/>
        </p:nvSpPr>
        <p:spPr>
          <a:xfrm>
            <a:off x="3177431" y="2110995"/>
            <a:ext cx="595563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9" b="1" dirty="0">
                <a:solidFill>
                  <a:srgbClr val="89A792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Generate follow-up</a:t>
            </a:r>
            <a:endParaRPr lang="en-US" sz="599" dirty="0"/>
          </a:p>
          <a:p>
            <a:pPr algn="l" indent="0" marL="0">
              <a:buNone/>
            </a:pPr>
            <a:r>
              <a:rPr lang="en-US" sz="599" b="1" dirty="0">
                <a:solidFill>
                  <a:srgbClr val="89A792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questions</a:t>
            </a:r>
            <a:endParaRPr lang="en-US" sz="599" dirty="0"/>
          </a:p>
        </p:txBody>
      </p:sp>
      <p:sp>
        <p:nvSpPr>
          <p:cNvPr id="138" name="Text 81"/>
          <p:cNvSpPr/>
          <p:nvPr/>
        </p:nvSpPr>
        <p:spPr>
          <a:xfrm>
            <a:off x="3177431" y="1914115"/>
            <a:ext cx="577516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95B3A0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Identify missing or</a:t>
            </a:r>
            <a:endParaRPr lang="en-US" sz="560" dirty="0"/>
          </a:p>
          <a:p>
            <a:pPr algn="l" indent="0" marL="0">
              <a:buNone/>
            </a:pPr>
            <a:r>
              <a:rPr lang="en-US" sz="560" b="1" dirty="0">
                <a:solidFill>
                  <a:srgbClr val="95B3A0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 unclear information</a:t>
            </a:r>
            <a:endParaRPr lang="en-US" sz="560" dirty="0"/>
          </a:p>
        </p:txBody>
      </p:sp>
      <p:pic>
        <p:nvPicPr>
          <p:cNvPr id="139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757134" y="1607856"/>
            <a:ext cx="54689" cy="284383"/>
          </a:xfrm>
          <a:prstGeom prst="rect">
            <a:avLst/>
          </a:prstGeom>
        </p:spPr>
      </p:pic>
      <p:sp>
        <p:nvSpPr>
          <p:cNvPr id="140" name="Shape 82"/>
          <p:cNvSpPr/>
          <p:nvPr/>
        </p:nvSpPr>
        <p:spPr>
          <a:xfrm>
            <a:off x="2105526" y="2455536"/>
            <a:ext cx="831273" cy="240632"/>
          </a:xfrm>
          <a:prstGeom prst="rect">
            <a:avLst/>
          </a:prstGeom>
          <a:solidFill>
            <a:srgbClr val="F4F8F2"/>
          </a:solidFill>
          <a:ln/>
        </p:spPr>
      </p:sp>
      <p:sp>
        <p:nvSpPr>
          <p:cNvPr id="141" name="Text 83"/>
          <p:cNvSpPr/>
          <p:nvPr/>
        </p:nvSpPr>
        <p:spPr>
          <a:xfrm>
            <a:off x="2182091" y="2515694"/>
            <a:ext cx="667753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747E7B"/>
                </a:solidFill>
                <a:latin typeface="Pompiere" pitchFamily="34" charset="0"/>
                <a:ea typeface="Pompiere" pitchFamily="34" charset="-122"/>
                <a:cs typeface="Pompiere" pitchFamily="34" charset="-120"/>
              </a:rPr>
              <a:t>Input:  Raw intake pack</a:t>
            </a:r>
            <a:endParaRPr lang="en-US" sz="530" dirty="0"/>
          </a:p>
        </p:txBody>
      </p:sp>
      <p:sp>
        <p:nvSpPr>
          <p:cNvPr id="142" name="Shape 84"/>
          <p:cNvSpPr/>
          <p:nvPr/>
        </p:nvSpPr>
        <p:spPr>
          <a:xfrm>
            <a:off x="2105526" y="1897708"/>
            <a:ext cx="831273" cy="546890"/>
          </a:xfrm>
          <a:prstGeom prst="rect">
            <a:avLst/>
          </a:prstGeom>
          <a:solidFill>
            <a:srgbClr val="01431A"/>
          </a:solidFill>
          <a:ln/>
        </p:spPr>
      </p:sp>
      <p:pic>
        <p:nvPicPr>
          <p:cNvPr id="143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2149278" y="2149278"/>
            <a:ext cx="27344" cy="32813"/>
          </a:xfrm>
          <a:prstGeom prst="rect">
            <a:avLst/>
          </a:prstGeom>
        </p:spPr>
      </p:pic>
      <p:pic>
        <p:nvPicPr>
          <p:cNvPr id="144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149278" y="1957866"/>
            <a:ext cx="27344" cy="32813"/>
          </a:xfrm>
          <a:prstGeom prst="rect">
            <a:avLst/>
          </a:prstGeom>
        </p:spPr>
      </p:pic>
      <p:sp>
        <p:nvSpPr>
          <p:cNvPr id="145" name="Text 85"/>
          <p:cNvSpPr/>
          <p:nvPr/>
        </p:nvSpPr>
        <p:spPr>
          <a:xfrm>
            <a:off x="2209435" y="2214904"/>
            <a:ext cx="745958" cy="1914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b="1" dirty="0">
                <a:solidFill>
                  <a:srgbClr val="87A693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Al capability, data, users,</a:t>
            </a:r>
            <a:endParaRPr lang="en-US" sz="538" dirty="0"/>
          </a:p>
          <a:p>
            <a:pPr algn="l" indent="0" marL="0">
              <a:buNone/>
            </a:pPr>
            <a:r>
              <a:rPr lang="en-US" sz="538" b="1" dirty="0">
                <a:solidFill>
                  <a:srgbClr val="87A693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and controls</a:t>
            </a:r>
            <a:endParaRPr lang="en-US" sz="538" dirty="0"/>
          </a:p>
        </p:txBody>
      </p:sp>
      <p:sp>
        <p:nvSpPr>
          <p:cNvPr id="146" name="Text 86"/>
          <p:cNvSpPr/>
          <p:nvPr/>
        </p:nvSpPr>
        <p:spPr>
          <a:xfrm>
            <a:off x="2209435" y="2121933"/>
            <a:ext cx="751974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89A693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Capture business purpose,</a:t>
            </a:r>
            <a:endParaRPr lang="en-US" sz="530" dirty="0"/>
          </a:p>
        </p:txBody>
      </p:sp>
      <p:sp>
        <p:nvSpPr>
          <p:cNvPr id="147" name="Text 87"/>
          <p:cNvSpPr/>
          <p:nvPr/>
        </p:nvSpPr>
        <p:spPr>
          <a:xfrm>
            <a:off x="2209435" y="1914115"/>
            <a:ext cx="733926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9" dirty="0">
                <a:solidFill>
                  <a:srgbClr val="94B29D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Create standard use case</a:t>
            </a:r>
            <a:endParaRPr lang="en-US" sz="319" dirty="0"/>
          </a:p>
          <a:p>
            <a:pPr algn="l" indent="0" marL="0">
              <a:buNone/>
            </a:pPr>
            <a:r>
              <a:rPr lang="en-US" sz="319" dirty="0">
                <a:solidFill>
                  <a:srgbClr val="94B29D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create profile</a:t>
            </a:r>
            <a:endParaRPr lang="en-US" sz="319" dirty="0"/>
          </a:p>
        </p:txBody>
      </p:sp>
      <p:sp>
        <p:nvSpPr>
          <p:cNvPr id="148" name="Shape 88"/>
          <p:cNvSpPr/>
          <p:nvPr/>
        </p:nvSpPr>
        <p:spPr>
          <a:xfrm>
            <a:off x="1514885" y="1657077"/>
            <a:ext cx="2182091" cy="164067"/>
          </a:xfrm>
          <a:prstGeom prst="rect">
            <a:avLst/>
          </a:prstGeom>
          <a:solidFill>
            <a:srgbClr val="F1F8F0"/>
          </a:solidFill>
          <a:ln/>
        </p:spPr>
      </p:sp>
      <p:pic>
        <p:nvPicPr>
          <p:cNvPr id="149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580512" y="1678952"/>
            <a:ext cx="120316" cy="120316"/>
          </a:xfrm>
          <a:prstGeom prst="rect">
            <a:avLst/>
          </a:prstGeom>
        </p:spPr>
      </p:pic>
      <p:sp>
        <p:nvSpPr>
          <p:cNvPr id="150" name="Text 89"/>
          <p:cNvSpPr/>
          <p:nvPr/>
        </p:nvSpPr>
        <p:spPr>
          <a:xfrm>
            <a:off x="1750048" y="1689890"/>
            <a:ext cx="2033337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4" dirty="0">
                <a:solidFill>
                  <a:srgbClr val="5F6662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AlRO priority update: stronger intake &amp; ingestion support</a:t>
            </a:r>
            <a:endParaRPr lang="en-US" sz="624" dirty="0"/>
          </a:p>
        </p:txBody>
      </p:sp>
      <p:sp>
        <p:nvSpPr>
          <p:cNvPr id="151" name="Shape 90"/>
          <p:cNvSpPr/>
          <p:nvPr/>
        </p:nvSpPr>
        <p:spPr>
          <a:xfrm>
            <a:off x="2958675" y="1274254"/>
            <a:ext cx="929713" cy="333603"/>
          </a:xfrm>
          <a:prstGeom prst="rect">
            <a:avLst/>
          </a:prstGeom>
          <a:solidFill>
            <a:srgbClr val="F2F7F2"/>
          </a:solidFill>
          <a:ln/>
        </p:spPr>
      </p:sp>
      <p:pic>
        <p:nvPicPr>
          <p:cNvPr id="152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013364" y="1323474"/>
            <a:ext cx="185943" cy="196880"/>
          </a:xfrm>
          <a:prstGeom prst="rect">
            <a:avLst/>
          </a:prstGeom>
        </p:spPr>
      </p:pic>
      <p:sp>
        <p:nvSpPr>
          <p:cNvPr id="153" name="Text 91"/>
          <p:cNvSpPr/>
          <p:nvPr/>
        </p:nvSpPr>
        <p:spPr>
          <a:xfrm>
            <a:off x="3253995" y="1296129"/>
            <a:ext cx="649705" cy="2953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26865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Respond to follow-up</a:t>
            </a:r>
            <a:endParaRPr lang="en-US" sz="560" dirty="0"/>
          </a:p>
          <a:p>
            <a:pPr algn="l" indent="0" marL="0">
              <a:buNone/>
            </a:pPr>
            <a:r>
              <a:rPr lang="en-US" sz="560" b="1" dirty="0">
                <a:solidFill>
                  <a:srgbClr val="626865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questions/missing</a:t>
            </a:r>
            <a:endParaRPr lang="en-US" sz="560" dirty="0"/>
          </a:p>
          <a:p>
            <a:pPr algn="l" indent="0" marL="0">
              <a:buNone/>
            </a:pPr>
            <a:r>
              <a:rPr lang="en-US" sz="560" b="1" dirty="0">
                <a:solidFill>
                  <a:srgbClr val="626865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information requests</a:t>
            </a:r>
            <a:endParaRPr lang="en-US" sz="560" dirty="0"/>
          </a:p>
        </p:txBody>
      </p:sp>
      <p:sp>
        <p:nvSpPr>
          <p:cNvPr id="154" name="Shape 92"/>
          <p:cNvSpPr/>
          <p:nvPr/>
        </p:nvSpPr>
        <p:spPr>
          <a:xfrm>
            <a:off x="3407124" y="1044560"/>
            <a:ext cx="1793799" cy="158598"/>
          </a:xfrm>
          <a:prstGeom prst="rect">
            <a:avLst/>
          </a:prstGeom>
          <a:solidFill>
            <a:srgbClr val="ECF6ED"/>
          </a:solidFill>
          <a:ln/>
        </p:spPr>
      </p:sp>
      <p:pic>
        <p:nvPicPr>
          <p:cNvPr id="155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3450876" y="1066435"/>
            <a:ext cx="109378" cy="120316"/>
          </a:xfrm>
          <a:prstGeom prst="rect">
            <a:avLst/>
          </a:prstGeom>
        </p:spPr>
      </p:pic>
      <p:sp>
        <p:nvSpPr>
          <p:cNvPr id="156" name="Text 93"/>
          <p:cNvSpPr/>
          <p:nvPr/>
        </p:nvSpPr>
        <p:spPr>
          <a:xfrm>
            <a:off x="3604005" y="1077373"/>
            <a:ext cx="1546058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7" b="1" dirty="0">
                <a:solidFill>
                  <a:srgbClr val="64966F"/>
                </a:solidFill>
                <a:latin typeface="Averia Sans Libre" pitchFamily="34" charset="0"/>
                <a:ea typeface="Averia Sans Libre" pitchFamily="34" charset="-122"/>
                <a:cs typeface="Averia Sans Libre" pitchFamily="34" charset="-120"/>
              </a:rPr>
              <a:t>NEW: use case team swimlane across lifecycle</a:t>
            </a:r>
            <a:endParaRPr lang="en-US" sz="517" dirty="0"/>
          </a:p>
        </p:txBody>
      </p:sp>
      <p:sp>
        <p:nvSpPr>
          <p:cNvPr id="157" name="Shape 94"/>
          <p:cNvSpPr/>
          <p:nvPr/>
        </p:nvSpPr>
        <p:spPr>
          <a:xfrm>
            <a:off x="1235971" y="1170344"/>
            <a:ext cx="743770" cy="404699"/>
          </a:xfrm>
          <a:prstGeom prst="rect">
            <a:avLst/>
          </a:prstGeom>
          <a:solidFill>
            <a:srgbClr val="FDFAEE"/>
          </a:solidFill>
          <a:ln/>
        </p:spPr>
      </p:sp>
      <p:pic>
        <p:nvPicPr>
          <p:cNvPr id="158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334411" y="1410976"/>
            <a:ext cx="54689" cy="71096"/>
          </a:xfrm>
          <a:prstGeom prst="rect">
            <a:avLst/>
          </a:prstGeom>
        </p:spPr>
      </p:pic>
      <p:pic>
        <p:nvPicPr>
          <p:cNvPr id="159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274254" y="1268785"/>
            <a:ext cx="180474" cy="136722"/>
          </a:xfrm>
          <a:prstGeom prst="rect">
            <a:avLst/>
          </a:prstGeom>
        </p:spPr>
      </p:pic>
      <p:sp>
        <p:nvSpPr>
          <p:cNvPr id="160" name="Text 95"/>
          <p:cNvSpPr/>
          <p:nvPr/>
        </p:nvSpPr>
        <p:spPr>
          <a:xfrm>
            <a:off x="1493010" y="1405507"/>
            <a:ext cx="378995" cy="76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8" dirty="0">
                <a:solidFill>
                  <a:srgbClr val="6F706D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information</a:t>
            </a:r>
            <a:endParaRPr lang="en-US" sz="568" dirty="0"/>
          </a:p>
        </p:txBody>
      </p:sp>
      <p:sp>
        <p:nvSpPr>
          <p:cNvPr id="161" name="Text 96"/>
          <p:cNvSpPr/>
          <p:nvPr/>
        </p:nvSpPr>
        <p:spPr>
          <a:xfrm>
            <a:off x="1493010" y="1307067"/>
            <a:ext cx="433137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4" b="1" dirty="0">
                <a:solidFill>
                  <a:srgbClr val="747572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Submit intake</a:t>
            </a:r>
            <a:endParaRPr lang="en-US" sz="594" dirty="0"/>
          </a:p>
        </p:txBody>
      </p:sp>
      <p:sp>
        <p:nvSpPr>
          <p:cNvPr id="162" name="Shape 97"/>
          <p:cNvSpPr/>
          <p:nvPr/>
        </p:nvSpPr>
        <p:spPr>
          <a:xfrm>
            <a:off x="114847" y="1203158"/>
            <a:ext cx="1066435" cy="503139"/>
          </a:xfrm>
          <a:prstGeom prst="rect">
            <a:avLst/>
          </a:prstGeom>
          <a:solidFill>
            <a:srgbClr val="EAF2EA"/>
          </a:solidFill>
          <a:ln/>
        </p:spPr>
      </p:sp>
      <p:pic>
        <p:nvPicPr>
          <p:cNvPr id="163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69536" y="1279722"/>
            <a:ext cx="229694" cy="278914"/>
          </a:xfrm>
          <a:prstGeom prst="rect">
            <a:avLst/>
          </a:prstGeom>
        </p:spPr>
      </p:pic>
      <p:sp>
        <p:nvSpPr>
          <p:cNvPr id="164" name="Text 98"/>
          <p:cNvSpPr/>
          <p:nvPr/>
        </p:nvSpPr>
        <p:spPr>
          <a:xfrm>
            <a:off x="437512" y="1394569"/>
            <a:ext cx="499311" cy="2296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6" b="1" dirty="0">
                <a:solidFill>
                  <a:srgbClr val="57685B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Team/</a:t>
            </a:r>
            <a:endParaRPr lang="en-US" sz="706" dirty="0"/>
          </a:p>
          <a:p>
            <a:pPr algn="l" indent="0" marL="0">
              <a:buNone/>
            </a:pPr>
            <a:r>
              <a:rPr lang="en-US" sz="706" b="1" dirty="0">
                <a:solidFill>
                  <a:srgbClr val="57685B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Model Owner</a:t>
            </a:r>
            <a:endParaRPr lang="en-US" sz="706" dirty="0"/>
          </a:p>
        </p:txBody>
      </p:sp>
      <p:sp>
        <p:nvSpPr>
          <p:cNvPr id="165" name="Text 99"/>
          <p:cNvSpPr/>
          <p:nvPr/>
        </p:nvSpPr>
        <p:spPr>
          <a:xfrm>
            <a:off x="442981" y="1285191"/>
            <a:ext cx="415089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607465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1.Use Case</a:t>
            </a:r>
            <a:endParaRPr lang="en-US" sz="655" dirty="0"/>
          </a:p>
        </p:txBody>
      </p:sp>
      <p:sp>
        <p:nvSpPr>
          <p:cNvPr id="166" name="Text 100"/>
          <p:cNvSpPr/>
          <p:nvPr/>
        </p:nvSpPr>
        <p:spPr>
          <a:xfrm>
            <a:off x="7122148" y="792990"/>
            <a:ext cx="806116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9" b="1" dirty="0">
                <a:solidFill>
                  <a:srgbClr val="6A6A6B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Record, Communicate &amp;</a:t>
            </a:r>
            <a:endParaRPr lang="en-US" sz="599" dirty="0"/>
          </a:p>
          <a:p>
            <a:pPr algn="ctr" indent="0" marL="0">
              <a:buNone/>
            </a:pPr>
            <a:r>
              <a:rPr lang="en-US" sz="599" b="1" dirty="0">
                <a:solidFill>
                  <a:srgbClr val="6A6A6B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Trigger Next Actions</a:t>
            </a:r>
            <a:endParaRPr lang="en-US" sz="599" dirty="0"/>
          </a:p>
        </p:txBody>
      </p:sp>
      <p:sp>
        <p:nvSpPr>
          <p:cNvPr id="167" name="Text 101"/>
          <p:cNvSpPr/>
          <p:nvPr/>
        </p:nvSpPr>
        <p:spPr>
          <a:xfrm>
            <a:off x="6198177" y="792990"/>
            <a:ext cx="679784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8" b="1" dirty="0">
                <a:solidFill>
                  <a:srgbClr val="686869"/>
                </a:solidFill>
                <a:latin typeface="Gudea" pitchFamily="34" charset="0"/>
                <a:ea typeface="Gudea" pitchFamily="34" charset="-122"/>
                <a:cs typeface="Gudea" pitchFamily="34" charset="-120"/>
              </a:rPr>
              <a:t>Consolidate &amp;</a:t>
            </a:r>
            <a:endParaRPr lang="en-US" sz="568" dirty="0"/>
          </a:p>
          <a:p>
            <a:pPr algn="ctr" indent="0" marL="0">
              <a:buNone/>
            </a:pPr>
            <a:r>
              <a:rPr lang="en-US" sz="568" b="1" dirty="0">
                <a:solidFill>
                  <a:srgbClr val="686869"/>
                </a:solidFill>
                <a:latin typeface="Gudea" pitchFamily="34" charset="0"/>
                <a:ea typeface="Gudea" pitchFamily="34" charset="-122"/>
                <a:cs typeface="Gudea" pitchFamily="34" charset="-120"/>
              </a:rPr>
              <a:t>Determine Outcome</a:t>
            </a:r>
            <a:endParaRPr lang="en-US" sz="568" dirty="0"/>
          </a:p>
        </p:txBody>
      </p:sp>
      <p:sp>
        <p:nvSpPr>
          <p:cNvPr id="168" name="Text 102"/>
          <p:cNvSpPr/>
          <p:nvPr/>
        </p:nvSpPr>
        <p:spPr>
          <a:xfrm>
            <a:off x="5232370" y="792990"/>
            <a:ext cx="511342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16" b="1" dirty="0">
                <a:solidFill>
                  <a:srgbClr val="676869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2LoD Review &amp;</a:t>
            </a:r>
            <a:endParaRPr lang="en-US" sz="616" dirty="0"/>
          </a:p>
          <a:p>
            <a:pPr algn="ctr" indent="0" marL="0">
              <a:buNone/>
            </a:pPr>
            <a:r>
              <a:rPr lang="en-US" sz="616" b="1" dirty="0">
                <a:solidFill>
                  <a:srgbClr val="676869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Input</a:t>
            </a:r>
            <a:endParaRPr lang="en-US" sz="616" dirty="0"/>
          </a:p>
        </p:txBody>
      </p:sp>
      <p:sp>
        <p:nvSpPr>
          <p:cNvPr id="169" name="Text 103"/>
          <p:cNvSpPr/>
          <p:nvPr/>
        </p:nvSpPr>
        <p:spPr>
          <a:xfrm>
            <a:off x="4297735" y="792990"/>
            <a:ext cx="619626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4" dirty="0">
                <a:solidFill>
                  <a:srgbClr val="636364"/>
                </a:solidFill>
                <a:latin typeface="Kirang Haerang" pitchFamily="34" charset="0"/>
                <a:ea typeface="Kirang Haerang" pitchFamily="34" charset="-122"/>
                <a:cs typeface="Kirang Haerang" pitchFamily="34" charset="-120"/>
              </a:rPr>
              <a:t>Risk-area Mapping</a:t>
            </a:r>
            <a:endParaRPr lang="en-US" sz="624" dirty="0"/>
          </a:p>
          <a:p>
            <a:pPr algn="ctr" indent="0" marL="0">
              <a:buNone/>
            </a:pPr>
            <a:r>
              <a:rPr lang="en-US" sz="624" dirty="0">
                <a:solidFill>
                  <a:srgbClr val="636364"/>
                </a:solidFill>
                <a:latin typeface="Kirang Haerang" pitchFamily="34" charset="0"/>
                <a:ea typeface="Kirang Haerang" pitchFamily="34" charset="-122"/>
                <a:cs typeface="Kirang Haerang" pitchFamily="34" charset="-120"/>
              </a:rPr>
              <a:t>&amp; Routing</a:t>
            </a:r>
            <a:endParaRPr lang="en-US" sz="624" dirty="0"/>
          </a:p>
        </p:txBody>
      </p:sp>
      <p:sp>
        <p:nvSpPr>
          <p:cNvPr id="170" name="Text 104"/>
          <p:cNvSpPr/>
          <p:nvPr/>
        </p:nvSpPr>
        <p:spPr>
          <a:xfrm>
            <a:off x="3250987" y="792990"/>
            <a:ext cx="547437" cy="218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3" b="1" dirty="0">
                <a:solidFill>
                  <a:srgbClr val="646466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Completeness &amp;</a:t>
            </a:r>
            <a:endParaRPr lang="en-US" sz="603" dirty="0"/>
          </a:p>
          <a:p>
            <a:pPr algn="ctr" indent="0" marL="0">
              <a:buNone/>
            </a:pPr>
            <a:r>
              <a:rPr lang="en-US" sz="603" b="1" dirty="0">
                <a:solidFill>
                  <a:srgbClr val="646466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Quality Check</a:t>
            </a:r>
            <a:endParaRPr lang="en-US" sz="603" dirty="0"/>
          </a:p>
        </p:txBody>
      </p:sp>
      <p:sp>
        <p:nvSpPr>
          <p:cNvPr id="171" name="Text 105"/>
          <p:cNvSpPr/>
          <p:nvPr/>
        </p:nvSpPr>
        <p:spPr>
          <a:xfrm>
            <a:off x="2158301" y="792990"/>
            <a:ext cx="643689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76869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Structure Use Case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676869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Profile</a:t>
            </a:r>
            <a:endParaRPr lang="en-US" sz="620" dirty="0"/>
          </a:p>
        </p:txBody>
      </p:sp>
      <p:sp>
        <p:nvSpPr>
          <p:cNvPr id="172" name="Text 106"/>
          <p:cNvSpPr/>
          <p:nvPr/>
        </p:nvSpPr>
        <p:spPr>
          <a:xfrm>
            <a:off x="1296129" y="907837"/>
            <a:ext cx="703847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8" b="1" dirty="0">
                <a:solidFill>
                  <a:srgbClr val="72716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Information Collection</a:t>
            </a:r>
            <a:endParaRPr lang="en-US" sz="568" dirty="0"/>
          </a:p>
        </p:txBody>
      </p:sp>
      <p:sp>
        <p:nvSpPr>
          <p:cNvPr id="173" name="Text 107"/>
          <p:cNvSpPr/>
          <p:nvPr/>
        </p:nvSpPr>
        <p:spPr>
          <a:xfrm>
            <a:off x="1487541" y="803928"/>
            <a:ext cx="284383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dirty="0">
                <a:solidFill>
                  <a:srgbClr val="696865"/>
                </a:solidFill>
                <a:latin typeface="Sunflower" pitchFamily="34" charset="0"/>
                <a:ea typeface="Sunflower" pitchFamily="34" charset="-122"/>
                <a:cs typeface="Sunflower" pitchFamily="34" charset="-120"/>
              </a:rPr>
              <a:t>Intake &amp;</a:t>
            </a:r>
            <a:endParaRPr lang="en-US" sz="538" dirty="0"/>
          </a:p>
        </p:txBody>
      </p:sp>
      <p:pic>
        <p:nvPicPr>
          <p:cNvPr id="174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96900" y="809397"/>
            <a:ext cx="235163" cy="191411"/>
          </a:xfrm>
          <a:prstGeom prst="rect">
            <a:avLst/>
          </a:prstGeom>
        </p:spPr>
      </p:pic>
      <p:sp>
        <p:nvSpPr>
          <p:cNvPr id="175" name="Shape 108"/>
          <p:cNvSpPr/>
          <p:nvPr/>
        </p:nvSpPr>
        <p:spPr>
          <a:xfrm>
            <a:off x="7415828" y="585172"/>
            <a:ext cx="169536" cy="185943"/>
          </a:xfrm>
          <a:prstGeom prst="rect">
            <a:avLst/>
          </a:prstGeom>
          <a:solidFill>
            <a:srgbClr val="003612"/>
          </a:solidFill>
          <a:ln/>
        </p:spPr>
      </p:sp>
      <p:sp>
        <p:nvSpPr>
          <p:cNvPr id="176" name="Text 109"/>
          <p:cNvSpPr/>
          <p:nvPr/>
        </p:nvSpPr>
        <p:spPr>
          <a:xfrm>
            <a:off x="7454110" y="612517"/>
            <a:ext cx="103909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7" dirty="0">
                <a:solidFill>
                  <a:srgbClr val="B5C5B7"/>
                </a:solidFill>
                <a:latin typeface="Pragati Narrow" pitchFamily="34" charset="0"/>
                <a:ea typeface="Pragati Narrow" pitchFamily="34" charset="-122"/>
                <a:cs typeface="Pragati Narrow" pitchFamily="34" charset="-120"/>
              </a:rPr>
              <a:t>7</a:t>
            </a:r>
            <a:endParaRPr lang="en-US" sz="1197" dirty="0"/>
          </a:p>
        </p:txBody>
      </p:sp>
      <p:pic>
        <p:nvPicPr>
          <p:cNvPr id="177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6650182" y="672675"/>
            <a:ext cx="705488" cy="21876"/>
          </a:xfrm>
          <a:prstGeom prst="rect">
            <a:avLst/>
          </a:prstGeom>
        </p:spPr>
      </p:pic>
      <p:pic>
        <p:nvPicPr>
          <p:cNvPr id="178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6436895" y="585172"/>
            <a:ext cx="175005" cy="185943"/>
          </a:xfrm>
          <a:prstGeom prst="rect">
            <a:avLst/>
          </a:prstGeom>
        </p:spPr>
      </p:pic>
      <p:sp>
        <p:nvSpPr>
          <p:cNvPr id="179" name="Text 110"/>
          <p:cNvSpPr/>
          <p:nvPr/>
        </p:nvSpPr>
        <p:spPr>
          <a:xfrm>
            <a:off x="6475177" y="617986"/>
            <a:ext cx="103909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2" dirty="0">
                <a:solidFill>
                  <a:srgbClr val="BCCBB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6</a:t>
            </a:r>
            <a:endParaRPr lang="en-US" sz="922" dirty="0"/>
          </a:p>
        </p:txBody>
      </p:sp>
      <p:pic>
        <p:nvPicPr>
          <p:cNvPr id="180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5605622" y="678144"/>
            <a:ext cx="776584" cy="21876"/>
          </a:xfrm>
          <a:prstGeom prst="rect">
            <a:avLst/>
          </a:prstGeom>
        </p:spPr>
      </p:pic>
      <p:sp>
        <p:nvSpPr>
          <p:cNvPr id="181" name="Shape 111"/>
          <p:cNvSpPr/>
          <p:nvPr/>
        </p:nvSpPr>
        <p:spPr>
          <a:xfrm>
            <a:off x="5397804" y="585172"/>
            <a:ext cx="169536" cy="185943"/>
          </a:xfrm>
          <a:prstGeom prst="rect">
            <a:avLst/>
          </a:prstGeom>
          <a:solidFill>
            <a:srgbClr val="003611"/>
          </a:solidFill>
          <a:ln/>
        </p:spPr>
      </p:sp>
      <p:sp>
        <p:nvSpPr>
          <p:cNvPr id="182" name="Text 112"/>
          <p:cNvSpPr/>
          <p:nvPr/>
        </p:nvSpPr>
        <p:spPr>
          <a:xfrm>
            <a:off x="5430617" y="612517"/>
            <a:ext cx="103909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2" dirty="0">
                <a:solidFill>
                  <a:srgbClr val="BBCABE"/>
                </a:solidFill>
                <a:latin typeface="Reddit Mono" pitchFamily="34" charset="0"/>
                <a:ea typeface="Reddit Mono" pitchFamily="34" charset="-122"/>
                <a:cs typeface="Reddit Mono" pitchFamily="34" charset="-120"/>
              </a:rPr>
              <a:t>5</a:t>
            </a:r>
            <a:endParaRPr lang="en-US" sz="982" dirty="0"/>
          </a:p>
        </p:txBody>
      </p:sp>
      <p:pic>
        <p:nvPicPr>
          <p:cNvPr id="183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4714191" y="667206"/>
            <a:ext cx="628923" cy="32813"/>
          </a:xfrm>
          <a:prstGeom prst="rect">
            <a:avLst/>
          </a:prstGeom>
        </p:spPr>
      </p:pic>
      <p:pic>
        <p:nvPicPr>
          <p:cNvPr id="184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506373" y="585172"/>
            <a:ext cx="169536" cy="185943"/>
          </a:xfrm>
          <a:prstGeom prst="rect">
            <a:avLst/>
          </a:prstGeom>
        </p:spPr>
      </p:pic>
      <p:sp>
        <p:nvSpPr>
          <p:cNvPr id="185" name="Text 113"/>
          <p:cNvSpPr/>
          <p:nvPr/>
        </p:nvSpPr>
        <p:spPr>
          <a:xfrm>
            <a:off x="4539187" y="612517"/>
            <a:ext cx="109378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2" b="1" dirty="0">
                <a:solidFill>
                  <a:srgbClr val="BFCEC2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4</a:t>
            </a:r>
            <a:endParaRPr lang="en-US" sz="1102" dirty="0"/>
          </a:p>
        </p:txBody>
      </p:sp>
      <p:pic>
        <p:nvPicPr>
          <p:cNvPr id="186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3647756" y="678144"/>
            <a:ext cx="809397" cy="16407"/>
          </a:xfrm>
          <a:prstGeom prst="rect">
            <a:avLst/>
          </a:prstGeom>
        </p:spPr>
      </p:pic>
      <p:pic>
        <p:nvPicPr>
          <p:cNvPr id="187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3429000" y="585172"/>
            <a:ext cx="169536" cy="185943"/>
          </a:xfrm>
          <a:prstGeom prst="rect">
            <a:avLst/>
          </a:prstGeom>
        </p:spPr>
      </p:pic>
      <p:sp>
        <p:nvSpPr>
          <p:cNvPr id="188" name="Text 114"/>
          <p:cNvSpPr/>
          <p:nvPr/>
        </p:nvSpPr>
        <p:spPr>
          <a:xfrm>
            <a:off x="3467282" y="617986"/>
            <a:ext cx="98440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3" dirty="0">
                <a:solidFill>
                  <a:srgbClr val="BDCCC0"/>
                </a:solidFill>
                <a:latin typeface="Kulim Park" pitchFamily="34" charset="0"/>
                <a:ea typeface="Kulim Park" pitchFamily="34" charset="-122"/>
                <a:cs typeface="Kulim Park" pitchFamily="34" charset="-120"/>
              </a:rPr>
              <a:t>3</a:t>
            </a:r>
            <a:endParaRPr lang="en-US" sz="943" dirty="0"/>
          </a:p>
        </p:txBody>
      </p:sp>
      <p:pic>
        <p:nvPicPr>
          <p:cNvPr id="189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586789" y="678144"/>
            <a:ext cx="798459" cy="16407"/>
          </a:xfrm>
          <a:prstGeom prst="rect">
            <a:avLst/>
          </a:prstGeom>
        </p:spPr>
      </p:pic>
      <p:sp>
        <p:nvSpPr>
          <p:cNvPr id="190" name="Shape 115"/>
          <p:cNvSpPr/>
          <p:nvPr/>
        </p:nvSpPr>
        <p:spPr>
          <a:xfrm>
            <a:off x="2373502" y="585172"/>
            <a:ext cx="169536" cy="185943"/>
          </a:xfrm>
          <a:prstGeom prst="rect">
            <a:avLst/>
          </a:prstGeom>
          <a:solidFill>
            <a:srgbClr val="00310E"/>
          </a:solidFill>
          <a:ln/>
        </p:spPr>
      </p:sp>
      <p:sp>
        <p:nvSpPr>
          <p:cNvPr id="191" name="Text 116"/>
          <p:cNvSpPr/>
          <p:nvPr/>
        </p:nvSpPr>
        <p:spPr>
          <a:xfrm>
            <a:off x="2406316" y="612517"/>
            <a:ext cx="103909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97" dirty="0">
                <a:solidFill>
                  <a:srgbClr val="C1CEC3"/>
                </a:solidFill>
                <a:latin typeface="Pragati Narrow" pitchFamily="34" charset="0"/>
                <a:ea typeface="Pragati Narrow" pitchFamily="34" charset="-122"/>
                <a:cs typeface="Pragati Narrow" pitchFamily="34" charset="-120"/>
              </a:rPr>
              <a:t>2</a:t>
            </a:r>
            <a:endParaRPr lang="en-US" sz="1197" dirty="0"/>
          </a:p>
        </p:txBody>
      </p:sp>
      <p:pic>
        <p:nvPicPr>
          <p:cNvPr id="192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028962" y="667206"/>
            <a:ext cx="300789" cy="38282"/>
          </a:xfrm>
          <a:prstGeom prst="rect">
            <a:avLst/>
          </a:prstGeom>
        </p:spPr>
      </p:pic>
      <p:pic>
        <p:nvPicPr>
          <p:cNvPr id="193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1482072" y="585172"/>
            <a:ext cx="213287" cy="185943"/>
          </a:xfrm>
          <a:prstGeom prst="rect">
            <a:avLst/>
          </a:prstGeom>
        </p:spPr>
      </p:pic>
      <p:sp>
        <p:nvSpPr>
          <p:cNvPr id="194" name="Text 117"/>
          <p:cNvSpPr/>
          <p:nvPr/>
        </p:nvSpPr>
        <p:spPr>
          <a:xfrm>
            <a:off x="1547699" y="617986"/>
            <a:ext cx="92971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2" dirty="0">
                <a:solidFill>
                  <a:srgbClr val="BBC8BD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1</a:t>
            </a:r>
            <a:endParaRPr lang="en-US" sz="1102" dirty="0"/>
          </a:p>
        </p:txBody>
      </p:sp>
      <p:sp>
        <p:nvSpPr>
          <p:cNvPr id="195" name="Shape 118"/>
          <p:cNvSpPr/>
          <p:nvPr/>
        </p:nvSpPr>
        <p:spPr>
          <a:xfrm>
            <a:off x="87502" y="694550"/>
            <a:ext cx="809397" cy="421105"/>
          </a:xfrm>
          <a:prstGeom prst="rect">
            <a:avLst/>
          </a:prstGeom>
          <a:solidFill>
            <a:srgbClr val="FCF5E0"/>
          </a:solidFill>
          <a:ln/>
        </p:spPr>
      </p:sp>
      <p:sp>
        <p:nvSpPr>
          <p:cNvPr id="196" name="Text 119"/>
          <p:cNvSpPr/>
          <p:nvPr/>
        </p:nvSpPr>
        <p:spPr>
          <a:xfrm>
            <a:off x="284383" y="853148"/>
            <a:ext cx="619626" cy="2296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dirty="0">
                <a:solidFill>
                  <a:srgbClr val="78766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stronger intake</a:t>
            </a:r>
            <a:endParaRPr lang="en-US" sz="607" dirty="0"/>
          </a:p>
          <a:p>
            <a:pPr algn="l" indent="0" marL="0">
              <a:buNone/>
            </a:pPr>
            <a:r>
              <a:rPr lang="en-US" sz="607" dirty="0">
                <a:solidFill>
                  <a:srgbClr val="78766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&amp; ingestion focus</a:t>
            </a:r>
            <a:endParaRPr lang="en-US" sz="607" dirty="0"/>
          </a:p>
        </p:txBody>
      </p:sp>
      <p:sp>
        <p:nvSpPr>
          <p:cNvPr id="197" name="Text 120"/>
          <p:cNvSpPr/>
          <p:nvPr/>
        </p:nvSpPr>
        <p:spPr>
          <a:xfrm>
            <a:off x="284383" y="743770"/>
            <a:ext cx="409074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5" b="1" dirty="0">
                <a:solidFill>
                  <a:srgbClr val="E67A4E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UPDATED:</a:t>
            </a:r>
            <a:endParaRPr lang="en-US" sz="715" dirty="0"/>
          </a:p>
        </p:txBody>
      </p:sp>
      <p:pic>
        <p:nvPicPr>
          <p:cNvPr id="198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125785" y="738301"/>
            <a:ext cx="120316" cy="131254"/>
          </a:xfrm>
          <a:prstGeom prst="rect">
            <a:avLst/>
          </a:prstGeom>
        </p:spPr>
      </p:pic>
      <p:sp>
        <p:nvSpPr>
          <p:cNvPr id="199" name="Text 121"/>
          <p:cNvSpPr/>
          <p:nvPr/>
        </p:nvSpPr>
        <p:spPr>
          <a:xfrm>
            <a:off x="153129" y="388292"/>
            <a:ext cx="5209674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81848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High-level workflow and tooling capabilities for Al Risk Oversight coordination with other 2LoD teams</a:t>
            </a:r>
            <a:endParaRPr lang="en-US" sz="810" dirty="0"/>
          </a:p>
        </p:txBody>
      </p:sp>
      <p:sp>
        <p:nvSpPr>
          <p:cNvPr id="200" name="Shape 122"/>
          <p:cNvSpPr/>
          <p:nvPr/>
        </p:nvSpPr>
        <p:spPr>
          <a:xfrm>
            <a:off x="6825187" y="4123550"/>
            <a:ext cx="2182091" cy="902368"/>
          </a:xfrm>
          <a:prstGeom prst="rect">
            <a:avLst/>
          </a:prstGeom>
          <a:solidFill>
            <a:srgbClr val="FDF8EE"/>
          </a:solidFill>
          <a:ln/>
        </p:spPr>
      </p:sp>
      <p:pic>
        <p:nvPicPr>
          <p:cNvPr id="201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6989254" y="4774349"/>
            <a:ext cx="136722" cy="142191"/>
          </a:xfrm>
          <a:prstGeom prst="rect">
            <a:avLst/>
          </a:prstGeom>
        </p:spPr>
      </p:pic>
      <p:pic>
        <p:nvPicPr>
          <p:cNvPr id="202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6994722" y="4577469"/>
            <a:ext cx="131254" cy="142191"/>
          </a:xfrm>
          <a:prstGeom prst="rect">
            <a:avLst/>
          </a:prstGeom>
        </p:spPr>
      </p:pic>
      <p:pic>
        <p:nvPicPr>
          <p:cNvPr id="203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6994722" y="4380589"/>
            <a:ext cx="131254" cy="142191"/>
          </a:xfrm>
          <a:prstGeom prst="rect">
            <a:avLst/>
          </a:prstGeom>
        </p:spPr>
      </p:pic>
      <p:pic>
        <p:nvPicPr>
          <p:cNvPr id="204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6967378" y="4156364"/>
            <a:ext cx="180474" cy="191411"/>
          </a:xfrm>
          <a:prstGeom prst="rect">
            <a:avLst/>
          </a:prstGeom>
        </p:spPr>
      </p:pic>
      <p:sp>
        <p:nvSpPr>
          <p:cNvPr id="205" name="Text 123"/>
          <p:cNvSpPr/>
          <p:nvPr/>
        </p:nvSpPr>
        <p:spPr>
          <a:xfrm>
            <a:off x="7208010" y="4757943"/>
            <a:ext cx="968542" cy="2296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3" dirty="0">
                <a:solidFill>
                  <a:srgbClr val="6C6B6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Re-engagement/change</a:t>
            </a:r>
            <a:endParaRPr lang="en-US" sz="663" dirty="0"/>
          </a:p>
          <a:p>
            <a:pPr algn="l" indent="0" marL="0">
              <a:buNone/>
            </a:pPr>
            <a:r>
              <a:rPr lang="en-US" sz="663" dirty="0">
                <a:solidFill>
                  <a:srgbClr val="6C6B6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notification shown</a:t>
            </a:r>
            <a:endParaRPr lang="en-US" sz="663" dirty="0"/>
          </a:p>
        </p:txBody>
      </p:sp>
      <p:sp>
        <p:nvSpPr>
          <p:cNvPr id="206" name="Text 124"/>
          <p:cNvSpPr/>
          <p:nvPr/>
        </p:nvSpPr>
        <p:spPr>
          <a:xfrm>
            <a:off x="7208010" y="4621220"/>
            <a:ext cx="1419726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3" dirty="0">
                <a:solidFill>
                  <a:srgbClr val="6F6E6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Intake &amp; ingestion detail strengthened</a:t>
            </a:r>
            <a:endParaRPr lang="en-US" sz="633" dirty="0"/>
          </a:p>
        </p:txBody>
      </p:sp>
      <p:sp>
        <p:nvSpPr>
          <p:cNvPr id="207" name="Text 125"/>
          <p:cNvSpPr/>
          <p:nvPr/>
        </p:nvSpPr>
        <p:spPr>
          <a:xfrm>
            <a:off x="7208010" y="4364182"/>
            <a:ext cx="1203158" cy="235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6" dirty="0">
                <a:solidFill>
                  <a:srgbClr val="747373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Use case team swimlane added</a:t>
            </a:r>
            <a:endParaRPr lang="en-US" sz="616" dirty="0"/>
          </a:p>
          <a:p>
            <a:pPr algn="l" indent="0" marL="0">
              <a:buNone/>
            </a:pPr>
            <a:r>
              <a:rPr lang="en-US" sz="616" dirty="0">
                <a:solidFill>
                  <a:srgbClr val="747373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across lifecycle</a:t>
            </a:r>
            <a:endParaRPr lang="en-US" sz="616" dirty="0"/>
          </a:p>
        </p:txBody>
      </p:sp>
      <p:sp>
        <p:nvSpPr>
          <p:cNvPr id="208" name="Text 126"/>
          <p:cNvSpPr/>
          <p:nvPr/>
        </p:nvSpPr>
        <p:spPr>
          <a:xfrm>
            <a:off x="7202541" y="4189177"/>
            <a:ext cx="1383632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565653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Visible updates in this version</a:t>
            </a:r>
            <a:endParaRPr lang="en-US" sz="792" dirty="0"/>
          </a:p>
        </p:txBody>
      </p:sp>
      <p:sp>
        <p:nvSpPr>
          <p:cNvPr id="209" name="Shape 127"/>
          <p:cNvSpPr/>
          <p:nvPr/>
        </p:nvSpPr>
        <p:spPr>
          <a:xfrm>
            <a:off x="3582129" y="4249335"/>
            <a:ext cx="3150086" cy="787522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210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5239206" y="4779818"/>
            <a:ext cx="109378" cy="114847"/>
          </a:xfrm>
          <a:prstGeom prst="rect">
            <a:avLst/>
          </a:prstGeom>
        </p:spPr>
      </p:pic>
      <p:pic>
        <p:nvPicPr>
          <p:cNvPr id="211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3702445" y="4779818"/>
            <a:ext cx="114847" cy="114847"/>
          </a:xfrm>
          <a:prstGeom prst="rect">
            <a:avLst/>
          </a:prstGeom>
        </p:spPr>
      </p:pic>
      <p:pic>
        <p:nvPicPr>
          <p:cNvPr id="212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5239206" y="4511842"/>
            <a:ext cx="109378" cy="120316"/>
          </a:xfrm>
          <a:prstGeom prst="rect">
            <a:avLst/>
          </a:prstGeom>
        </p:spPr>
      </p:pic>
      <p:pic>
        <p:nvPicPr>
          <p:cNvPr id="213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3702445" y="4511842"/>
            <a:ext cx="114847" cy="120316"/>
          </a:xfrm>
          <a:prstGeom prst="rect">
            <a:avLst/>
          </a:prstGeom>
        </p:spPr>
      </p:pic>
      <p:pic>
        <p:nvPicPr>
          <p:cNvPr id="214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5239206" y="4320431"/>
            <a:ext cx="109378" cy="114847"/>
          </a:xfrm>
          <a:prstGeom prst="rect">
            <a:avLst/>
          </a:prstGeom>
        </p:spPr>
      </p:pic>
      <p:pic>
        <p:nvPicPr>
          <p:cNvPr id="215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3702445" y="4320431"/>
            <a:ext cx="114847" cy="114847"/>
          </a:xfrm>
          <a:prstGeom prst="rect">
            <a:avLst/>
          </a:prstGeom>
        </p:spPr>
      </p:pic>
      <p:sp>
        <p:nvSpPr>
          <p:cNvPr id="216" name="Text 128"/>
          <p:cNvSpPr/>
          <p:nvPr/>
        </p:nvSpPr>
        <p:spPr>
          <a:xfrm>
            <a:off x="5419679" y="4807163"/>
            <a:ext cx="1167063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4" dirty="0">
                <a:solidFill>
                  <a:srgbClr val="7C7D7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Outcome recording and action tracking</a:t>
            </a:r>
            <a:endParaRPr lang="en-US" sz="504" dirty="0"/>
          </a:p>
        </p:txBody>
      </p:sp>
      <p:sp>
        <p:nvSpPr>
          <p:cNvPr id="217" name="Text 129"/>
          <p:cNvSpPr/>
          <p:nvPr/>
        </p:nvSpPr>
        <p:spPr>
          <a:xfrm>
            <a:off x="3888388" y="4807163"/>
            <a:ext cx="1094874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7" dirty="0">
                <a:solidFill>
                  <a:srgbClr val="78797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Risk-area mapping and routing logic</a:t>
            </a:r>
            <a:endParaRPr lang="en-US" sz="517" dirty="0"/>
          </a:p>
        </p:txBody>
      </p:sp>
      <p:sp>
        <p:nvSpPr>
          <p:cNvPr id="218" name="Text 130"/>
          <p:cNvSpPr/>
          <p:nvPr/>
        </p:nvSpPr>
        <p:spPr>
          <a:xfrm>
            <a:off x="5414211" y="4511842"/>
            <a:ext cx="1004637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1" dirty="0">
                <a:solidFill>
                  <a:srgbClr val="7C7D7F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Consolidation, evidence capture,</a:t>
            </a:r>
            <a:endParaRPr lang="en-US" sz="551" dirty="0"/>
          </a:p>
          <a:p>
            <a:pPr algn="l" indent="0" marL="0">
              <a:buNone/>
            </a:pPr>
            <a:r>
              <a:rPr lang="en-US" sz="551" dirty="0">
                <a:solidFill>
                  <a:srgbClr val="7C7D7F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and audit trail</a:t>
            </a:r>
            <a:endParaRPr lang="en-US" sz="551" dirty="0"/>
          </a:p>
        </p:txBody>
      </p:sp>
      <p:sp>
        <p:nvSpPr>
          <p:cNvPr id="219" name="Text 131"/>
          <p:cNvSpPr/>
          <p:nvPr/>
        </p:nvSpPr>
        <p:spPr>
          <a:xfrm>
            <a:off x="3888388" y="4511842"/>
            <a:ext cx="812132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dirty="0">
                <a:solidFill>
                  <a:srgbClr val="7F808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case structuring and</a:t>
            </a:r>
            <a:endParaRPr lang="en-US" sz="525" dirty="0"/>
          </a:p>
          <a:p>
            <a:pPr algn="l" indent="0" marL="0">
              <a:buNone/>
            </a:pPr>
            <a:r>
              <a:rPr lang="en-US" sz="525" dirty="0">
                <a:solidFill>
                  <a:srgbClr val="7F808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information quality checks</a:t>
            </a:r>
            <a:endParaRPr lang="en-US" sz="525" dirty="0"/>
          </a:p>
        </p:txBody>
      </p:sp>
      <p:sp>
        <p:nvSpPr>
          <p:cNvPr id="220" name="Text 132"/>
          <p:cNvSpPr/>
          <p:nvPr/>
        </p:nvSpPr>
        <p:spPr>
          <a:xfrm>
            <a:off x="5419679" y="4336837"/>
            <a:ext cx="1173079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8" dirty="0">
                <a:solidFill>
                  <a:srgbClr val="7A7B7D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Shared review workflow for 2LoD teams</a:t>
            </a:r>
            <a:endParaRPr lang="en-US" sz="568" dirty="0"/>
          </a:p>
        </p:txBody>
      </p:sp>
      <p:sp>
        <p:nvSpPr>
          <p:cNvPr id="221" name="Text 133"/>
          <p:cNvSpPr/>
          <p:nvPr/>
        </p:nvSpPr>
        <p:spPr>
          <a:xfrm>
            <a:off x="3888388" y="4336837"/>
            <a:ext cx="1076826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7C7D7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 ingestion from existing sources</a:t>
            </a:r>
            <a:endParaRPr lang="en-US" sz="500" dirty="0"/>
          </a:p>
        </p:txBody>
      </p:sp>
      <p:sp>
        <p:nvSpPr>
          <p:cNvPr id="222" name="Shape 134"/>
          <p:cNvSpPr/>
          <p:nvPr/>
        </p:nvSpPr>
        <p:spPr>
          <a:xfrm>
            <a:off x="3593067" y="4123550"/>
            <a:ext cx="3133679" cy="125785"/>
          </a:xfrm>
          <a:prstGeom prst="rect">
            <a:avLst/>
          </a:prstGeom>
          <a:solidFill>
            <a:srgbClr val="02421A"/>
          </a:solidFill>
          <a:ln/>
        </p:spPr>
      </p:sp>
      <p:sp>
        <p:nvSpPr>
          <p:cNvPr id="223" name="Text 135"/>
          <p:cNvSpPr/>
          <p:nvPr/>
        </p:nvSpPr>
        <p:spPr>
          <a:xfrm>
            <a:off x="4413402" y="4139957"/>
            <a:ext cx="1269332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99B5A2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What the tool needs to support</a:t>
            </a:r>
            <a:endParaRPr lang="en-US" sz="680" dirty="0"/>
          </a:p>
        </p:txBody>
      </p:sp>
      <p:sp>
        <p:nvSpPr>
          <p:cNvPr id="224" name="Shape 136"/>
          <p:cNvSpPr/>
          <p:nvPr/>
        </p:nvSpPr>
        <p:spPr>
          <a:xfrm>
            <a:off x="114847" y="4243866"/>
            <a:ext cx="3429000" cy="792990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225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3073522" y="4320431"/>
            <a:ext cx="175005" cy="213287"/>
          </a:xfrm>
          <a:prstGeom prst="rect">
            <a:avLst/>
          </a:prstGeom>
        </p:spPr>
      </p:pic>
      <p:pic>
        <p:nvPicPr>
          <p:cNvPr id="226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2767263" y="4451684"/>
            <a:ext cx="175005" cy="54689"/>
          </a:xfrm>
          <a:prstGeom prst="rect">
            <a:avLst/>
          </a:prstGeom>
        </p:spPr>
      </p:pic>
      <p:pic>
        <p:nvPicPr>
          <p:cNvPr id="227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2050837" y="4358713"/>
            <a:ext cx="224225" cy="202349"/>
          </a:xfrm>
          <a:prstGeom prst="rect">
            <a:avLst/>
          </a:prstGeom>
        </p:spPr>
      </p:pic>
      <p:pic>
        <p:nvPicPr>
          <p:cNvPr id="228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1782861" y="4451684"/>
            <a:ext cx="169536" cy="54689"/>
          </a:xfrm>
          <a:prstGeom prst="rect">
            <a:avLst/>
          </a:prstGeom>
        </p:spPr>
      </p:pic>
      <p:pic>
        <p:nvPicPr>
          <p:cNvPr id="229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1350818" y="4325900"/>
            <a:ext cx="289852" cy="251569"/>
          </a:xfrm>
          <a:prstGeom prst="rect">
            <a:avLst/>
          </a:prstGeom>
        </p:spPr>
      </p:pic>
      <p:pic>
        <p:nvPicPr>
          <p:cNvPr id="230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1099249" y="4451684"/>
            <a:ext cx="164067" cy="60158"/>
          </a:xfrm>
          <a:prstGeom prst="rect">
            <a:avLst/>
          </a:prstGeom>
        </p:spPr>
      </p:pic>
      <p:pic>
        <p:nvPicPr>
          <p:cNvPr id="231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185943" y="4353244"/>
            <a:ext cx="175005" cy="262507"/>
          </a:xfrm>
          <a:prstGeom prst="rect">
            <a:avLst/>
          </a:prstGeom>
        </p:spPr>
      </p:pic>
      <p:sp>
        <p:nvSpPr>
          <p:cNvPr id="232" name="Text 137"/>
          <p:cNvSpPr/>
          <p:nvPr/>
        </p:nvSpPr>
        <p:spPr>
          <a:xfrm>
            <a:off x="2975902" y="4768880"/>
            <a:ext cx="463216" cy="169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2" dirty="0">
                <a:solidFill>
                  <a:srgbClr val="87888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Final record and</a:t>
            </a:r>
            <a:endParaRPr lang="en-US" sz="482" dirty="0"/>
          </a:p>
          <a:p>
            <a:pPr algn="ctr" indent="0" marL="0">
              <a:buNone/>
            </a:pPr>
            <a:r>
              <a:rPr lang="en-US" sz="482" dirty="0">
                <a:solidFill>
                  <a:srgbClr val="87888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audit trail</a:t>
            </a:r>
            <a:endParaRPr lang="en-US" sz="482" dirty="0"/>
          </a:p>
        </p:txBody>
      </p:sp>
      <p:sp>
        <p:nvSpPr>
          <p:cNvPr id="233" name="Text 138"/>
          <p:cNvSpPr/>
          <p:nvPr/>
        </p:nvSpPr>
        <p:spPr>
          <a:xfrm>
            <a:off x="2931330" y="4555593"/>
            <a:ext cx="607595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7" b="1" dirty="0">
                <a:solidFill>
                  <a:srgbClr val="727274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Assessment record/</a:t>
            </a:r>
            <a:endParaRPr lang="en-US" sz="577" dirty="0"/>
          </a:p>
          <a:p>
            <a:pPr algn="l" indent="0" marL="0">
              <a:buNone/>
            </a:pPr>
            <a:r>
              <a:rPr lang="en-US" sz="577" b="1" dirty="0">
                <a:solidFill>
                  <a:srgbClr val="727274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evidence repository</a:t>
            </a:r>
            <a:endParaRPr lang="en-US" sz="577" dirty="0"/>
          </a:p>
        </p:txBody>
      </p:sp>
      <p:sp>
        <p:nvSpPr>
          <p:cNvPr id="234" name="Text 139"/>
          <p:cNvSpPr/>
          <p:nvPr/>
        </p:nvSpPr>
        <p:spPr>
          <a:xfrm>
            <a:off x="2062049" y="4593876"/>
            <a:ext cx="715879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8" dirty="0">
                <a:solidFill>
                  <a:srgbClr val="808284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Structured review pack/</a:t>
            </a:r>
            <a:endParaRPr lang="en-US" sz="508" dirty="0"/>
          </a:p>
          <a:p>
            <a:pPr algn="ctr" indent="0" marL="0">
              <a:buNone/>
            </a:pPr>
            <a:r>
              <a:rPr lang="en-US" sz="508" dirty="0">
                <a:solidFill>
                  <a:srgbClr val="808284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collaboration space</a:t>
            </a:r>
            <a:endParaRPr lang="en-US" sz="508" dirty="0"/>
          </a:p>
        </p:txBody>
      </p:sp>
      <p:sp>
        <p:nvSpPr>
          <p:cNvPr id="235" name="Text 140"/>
          <p:cNvSpPr/>
          <p:nvPr/>
        </p:nvSpPr>
        <p:spPr>
          <a:xfrm>
            <a:off x="1267691" y="4736067"/>
            <a:ext cx="505326" cy="169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04" dirty="0">
                <a:solidFill>
                  <a:srgbClr val="838485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Al Risk Oversight,</a:t>
            </a:r>
            <a:endParaRPr lang="en-US" sz="504" dirty="0"/>
          </a:p>
          <a:p>
            <a:pPr algn="ctr" indent="0" marL="0">
              <a:buNone/>
            </a:pPr>
            <a:r>
              <a:rPr lang="en-US" sz="504" dirty="0">
                <a:solidFill>
                  <a:srgbClr val="838485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orchestration</a:t>
            </a:r>
            <a:endParaRPr lang="en-US" sz="504" dirty="0"/>
          </a:p>
        </p:txBody>
      </p:sp>
      <p:sp>
        <p:nvSpPr>
          <p:cNvPr id="236" name="Text 141"/>
          <p:cNvSpPr/>
          <p:nvPr/>
        </p:nvSpPr>
        <p:spPr>
          <a:xfrm>
            <a:off x="1279722" y="4621220"/>
            <a:ext cx="517358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dirty="0">
                <a:solidFill>
                  <a:srgbClr val="6F7071"/>
                </a:solidFill>
                <a:latin typeface="Passero One" pitchFamily="34" charset="0"/>
                <a:ea typeface="Passero One" pitchFamily="34" charset="-122"/>
                <a:cs typeface="Passero One" pitchFamily="34" charset="-120"/>
              </a:rPr>
              <a:t>Risk Triaging Tool</a:t>
            </a:r>
            <a:endParaRPr lang="en-US" sz="525" dirty="0"/>
          </a:p>
        </p:txBody>
      </p:sp>
      <p:sp>
        <p:nvSpPr>
          <p:cNvPr id="237" name="Text 142"/>
          <p:cNvSpPr/>
          <p:nvPr/>
        </p:nvSpPr>
        <p:spPr>
          <a:xfrm>
            <a:off x="2324282" y="4353244"/>
            <a:ext cx="451184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3" b="1" dirty="0">
                <a:solidFill>
                  <a:srgbClr val="676869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Shared review</a:t>
            </a:r>
            <a:endParaRPr lang="en-US" sz="573" dirty="0"/>
          </a:p>
          <a:p>
            <a:pPr algn="l" indent="0" marL="0">
              <a:buNone/>
            </a:pPr>
            <a:r>
              <a:rPr lang="en-US" sz="573" b="1" dirty="0">
                <a:solidFill>
                  <a:srgbClr val="676869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workspace</a:t>
            </a:r>
            <a:endParaRPr lang="en-US" sz="573" dirty="0"/>
          </a:p>
        </p:txBody>
      </p:sp>
      <p:sp>
        <p:nvSpPr>
          <p:cNvPr id="238" name="Text 143"/>
          <p:cNvSpPr/>
          <p:nvPr/>
        </p:nvSpPr>
        <p:spPr>
          <a:xfrm>
            <a:off x="421105" y="4418871"/>
            <a:ext cx="697832" cy="3664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" dirty="0">
                <a:solidFill>
                  <a:srgbClr val="909193"/>
                </a:solidFill>
                <a:latin typeface="Crete Round" pitchFamily="34" charset="0"/>
                <a:ea typeface="Crete Round" pitchFamily="34" charset="-122"/>
                <a:cs typeface="Crete Round" pitchFamily="34" charset="-120"/>
              </a:rPr>
              <a:t>Intake forms, governance tracker, SharePoint agent, use case documentation, supporting evidence</a:t>
            </a:r>
            <a:endParaRPr lang="en-US" sz="108" dirty="0"/>
          </a:p>
        </p:txBody>
      </p:sp>
      <p:sp>
        <p:nvSpPr>
          <p:cNvPr id="239" name="Text 144"/>
          <p:cNvSpPr/>
          <p:nvPr/>
        </p:nvSpPr>
        <p:spPr>
          <a:xfrm>
            <a:off x="421105" y="4325900"/>
            <a:ext cx="451184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6" b="1" dirty="0">
                <a:solidFill>
                  <a:srgbClr val="5A605E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Input sources</a:t>
            </a:r>
            <a:endParaRPr lang="en-US" sz="646" dirty="0"/>
          </a:p>
        </p:txBody>
      </p:sp>
      <p:sp>
        <p:nvSpPr>
          <p:cNvPr id="240" name="Shape 145"/>
          <p:cNvSpPr/>
          <p:nvPr/>
        </p:nvSpPr>
        <p:spPr>
          <a:xfrm>
            <a:off x="120316" y="4123550"/>
            <a:ext cx="3429000" cy="125785"/>
          </a:xfrm>
          <a:prstGeom prst="rect">
            <a:avLst/>
          </a:prstGeom>
          <a:solidFill>
            <a:srgbClr val="014219"/>
          </a:solidFill>
          <a:ln/>
        </p:spPr>
      </p:sp>
      <p:sp>
        <p:nvSpPr>
          <p:cNvPr id="241" name="Text 146"/>
          <p:cNvSpPr/>
          <p:nvPr/>
        </p:nvSpPr>
        <p:spPr>
          <a:xfrm>
            <a:off x="929713" y="4139957"/>
            <a:ext cx="1654342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9" b="1" dirty="0">
                <a:solidFill>
                  <a:srgbClr val="98B4A0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Where data comes from and where it goes</a:t>
            </a:r>
            <a:endParaRPr lang="en-US" sz="599" dirty="0"/>
          </a:p>
        </p:txBody>
      </p:sp>
      <p:sp>
        <p:nvSpPr>
          <p:cNvPr id="242" name="Shape 147"/>
          <p:cNvSpPr/>
          <p:nvPr/>
        </p:nvSpPr>
        <p:spPr>
          <a:xfrm>
            <a:off x="1241440" y="3779010"/>
            <a:ext cx="5944694" cy="229694"/>
          </a:xfrm>
          <a:prstGeom prst="rect">
            <a:avLst/>
          </a:prstGeom>
          <a:solidFill>
            <a:srgbClr val="EAF3FD"/>
          </a:solidFill>
          <a:ln/>
        </p:spPr>
      </p:sp>
      <p:sp>
        <p:nvSpPr>
          <p:cNvPr id="243" name="Text 148"/>
          <p:cNvSpPr/>
          <p:nvPr/>
        </p:nvSpPr>
        <p:spPr>
          <a:xfrm>
            <a:off x="3035239" y="3899325"/>
            <a:ext cx="2971800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2" dirty="0">
                <a:solidFill>
                  <a:srgbClr val="767C84"/>
                </a:solidFill>
                <a:latin typeface="Varta" pitchFamily="34" charset="0"/>
                <a:ea typeface="Varta" pitchFamily="34" charset="-122"/>
                <a:cs typeface="Varta" pitchFamily="34" charset="-120"/>
              </a:rPr>
              <a:t>Changes to model, data, purpose, controls, environment, or usage that may impact risk assessment.</a:t>
            </a:r>
            <a:endParaRPr lang="en-US" sz="482" dirty="0"/>
          </a:p>
        </p:txBody>
      </p:sp>
      <p:sp>
        <p:nvSpPr>
          <p:cNvPr id="244" name="Text 149"/>
          <p:cNvSpPr/>
          <p:nvPr/>
        </p:nvSpPr>
        <p:spPr>
          <a:xfrm>
            <a:off x="3729789" y="3806354"/>
            <a:ext cx="1431758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9" b="1" dirty="0">
                <a:solidFill>
                  <a:srgbClr val="656B72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Notify material changes for re-engagement</a:t>
            </a:r>
            <a:endParaRPr lang="en-US" sz="599" dirty="0"/>
          </a:p>
        </p:txBody>
      </p:sp>
      <p:pic>
        <p:nvPicPr>
          <p:cNvPr id="245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7481455" y="3675100"/>
            <a:ext cx="49220" cy="49220"/>
          </a:xfrm>
          <a:prstGeom prst="rect">
            <a:avLst/>
          </a:prstGeom>
        </p:spPr>
      </p:pic>
      <p:pic>
        <p:nvPicPr>
          <p:cNvPr id="246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512651" y="3669632"/>
            <a:ext cx="49220" cy="109378"/>
          </a:xfrm>
          <a:prstGeom prst="rect">
            <a:avLst/>
          </a:prstGeom>
        </p:spPr>
      </p:pic>
      <p:sp>
        <p:nvSpPr>
          <p:cNvPr id="247" name="Text 150"/>
          <p:cNvSpPr/>
          <p:nvPr/>
        </p:nvSpPr>
        <p:spPr>
          <a:xfrm>
            <a:off x="432043" y="3746196"/>
            <a:ext cx="559468" cy="267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6B726F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5. Future /</a:t>
            </a:r>
            <a:endParaRPr lang="en-US" sz="590" dirty="0"/>
          </a:p>
          <a:p>
            <a:pPr algn="l" indent="0" marL="0">
              <a:buNone/>
            </a:pPr>
            <a:r>
              <a:rPr lang="en-US" sz="590" b="1" dirty="0">
                <a:solidFill>
                  <a:srgbClr val="6B726F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Ongoing Change</a:t>
            </a:r>
            <a:endParaRPr lang="en-US" sz="590" dirty="0"/>
          </a:p>
          <a:p>
            <a:pPr algn="l" indent="0" marL="0">
              <a:buNone/>
            </a:pPr>
            <a:r>
              <a:rPr lang="en-US" sz="590" b="1" dirty="0">
                <a:solidFill>
                  <a:srgbClr val="6B726F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Notification</a:t>
            </a:r>
            <a:endParaRPr lang="en-US" sz="590" dirty="0"/>
          </a:p>
        </p:txBody>
      </p:sp>
      <p:pic>
        <p:nvPicPr>
          <p:cNvPr id="248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158598" y="3713383"/>
            <a:ext cx="224225" cy="273445"/>
          </a:xfrm>
          <a:prstGeom prst="rect">
            <a:avLst/>
          </a:prstGeom>
        </p:spPr>
      </p:pic>
      <p:sp>
        <p:nvSpPr>
          <p:cNvPr id="249" name="Text 151"/>
          <p:cNvSpPr/>
          <p:nvPr/>
        </p:nvSpPr>
        <p:spPr>
          <a:xfrm>
            <a:off x="7355670" y="98440"/>
            <a:ext cx="1828800" cy="218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7" dirty="0">
                <a:solidFill>
                  <a:srgbClr val="707071"/>
                </a:solidFill>
                <a:latin typeface="Averia Sans Libre" pitchFamily="34" charset="0"/>
                <a:ea typeface="Averia Sans Libre" pitchFamily="34" charset="-122"/>
                <a:cs typeface="Averia Sans Libre" pitchFamily="34" charset="-120"/>
              </a:rPr>
              <a:t>Technology-agnostic workflow - implementation can</a:t>
            </a:r>
            <a:endParaRPr lang="en-US" sz="547" dirty="0"/>
          </a:p>
          <a:p>
            <a:pPr algn="l" indent="0" marL="0">
              <a:buNone/>
            </a:pPr>
            <a:r>
              <a:rPr lang="en-US" sz="547" dirty="0">
                <a:solidFill>
                  <a:srgbClr val="707071"/>
                </a:solidFill>
                <a:latin typeface="Averia Sans Libre" pitchFamily="34" charset="0"/>
                <a:ea typeface="Averia Sans Libre" pitchFamily="34" charset="-122"/>
                <a:cs typeface="Averia Sans Libre" pitchFamily="34" charset="-120"/>
              </a:rPr>
              <a:t>use existing workflow tools or a dedicated platform.</a:t>
            </a:r>
            <a:endParaRPr lang="en-US" sz="547" dirty="0"/>
          </a:p>
        </p:txBody>
      </p:sp>
      <p:pic>
        <p:nvPicPr>
          <p:cNvPr id="250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7164258" y="114847"/>
            <a:ext cx="131254" cy="136722"/>
          </a:xfrm>
          <a:prstGeom prst="rect">
            <a:avLst/>
          </a:prstGeom>
        </p:spPr>
      </p:pic>
      <p:sp>
        <p:nvSpPr>
          <p:cNvPr id="251" name="Shape 152"/>
          <p:cNvSpPr/>
          <p:nvPr/>
        </p:nvSpPr>
        <p:spPr>
          <a:xfrm>
            <a:off x="5025919" y="87502"/>
            <a:ext cx="1760986" cy="235163"/>
          </a:xfrm>
          <a:prstGeom prst="rect">
            <a:avLst/>
          </a:prstGeom>
          <a:solidFill>
            <a:srgbClr val="FCEFCE"/>
          </a:solidFill>
          <a:ln/>
        </p:spPr>
      </p:sp>
      <p:pic>
        <p:nvPicPr>
          <p:cNvPr id="252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5086077" y="114847"/>
            <a:ext cx="169536" cy="175005"/>
          </a:xfrm>
          <a:prstGeom prst="rect">
            <a:avLst/>
          </a:prstGeom>
        </p:spPr>
      </p:pic>
      <p:sp>
        <p:nvSpPr>
          <p:cNvPr id="253" name="Text 153"/>
          <p:cNvSpPr/>
          <p:nvPr/>
        </p:nvSpPr>
        <p:spPr>
          <a:xfrm>
            <a:off x="5304833" y="142191"/>
            <a:ext cx="1546058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8" dirty="0">
                <a:solidFill>
                  <a:srgbClr val="615F51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UPDATED BASED ON AIRO FEEDBACK</a:t>
            </a:r>
            <a:endParaRPr lang="en-US" sz="728" dirty="0"/>
          </a:p>
        </p:txBody>
      </p:sp>
      <p:sp>
        <p:nvSpPr>
          <p:cNvPr id="254" name="Text 154"/>
          <p:cNvSpPr/>
          <p:nvPr/>
        </p:nvSpPr>
        <p:spPr>
          <a:xfrm>
            <a:off x="153129" y="65627"/>
            <a:ext cx="4884821" cy="2789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9" b="1" dirty="0">
                <a:solidFill>
                  <a:srgbClr val="234229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Al Risk Triaging Tool - Capability Workflow</a:t>
            </a:r>
            <a:endParaRPr lang="en-US" sz="1959" dirty="0"/>
          </a:p>
        </p:txBody>
      </p:sp>
      <p:pic>
        <p:nvPicPr>
          <p:cNvPr id="255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0" y="0"/>
            <a:ext cx="21876" cy="5146234"/>
          </a:xfrm>
          <a:prstGeom prst="rect">
            <a:avLst/>
          </a:prstGeom>
        </p:spPr>
      </p:pic>
      <p:pic>
        <p:nvPicPr>
          <p:cNvPr id="256" name="Image 99" descr="preencoded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0" y="5140766"/>
            <a:ext cx="9144000" cy="5469"/>
          </a:xfrm>
          <a:prstGeom prst="rect">
            <a:avLst/>
          </a:prstGeom>
        </p:spPr>
      </p:pic>
      <p:pic>
        <p:nvPicPr>
          <p:cNvPr id="257" name="Image 100" descr="preencoded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0" y="0"/>
            <a:ext cx="9144000" cy="10938"/>
          </a:xfrm>
          <a:prstGeom prst="rect">
            <a:avLst/>
          </a:prstGeom>
        </p:spPr>
      </p:pic>
      <p:pic>
        <p:nvPicPr>
          <p:cNvPr id="258" name="Image 101" descr="preencoded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9138531" y="0"/>
            <a:ext cx="5469" cy="5146234"/>
          </a:xfrm>
          <a:prstGeom prst="rect">
            <a:avLst/>
          </a:prstGeom>
        </p:spPr>
      </p:pic>
      <p:pic>
        <p:nvPicPr>
          <p:cNvPr id="259" name="Image 102" descr="preencoded.png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0" y="0"/>
            <a:ext cx="10938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6234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36067"/>
            <a:ext cx="9144000" cy="40469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7" y="4785287"/>
            <a:ext cx="300789" cy="31172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8766" y="4938416"/>
            <a:ext cx="5847347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B1C2B7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risk-based triage, proportionate engagement, structured escalation, and clear re-assessment of changes.</a:t>
            </a:r>
            <a:endParaRPr lang="en-US" sz="810" dirty="0"/>
          </a:p>
        </p:txBody>
      </p:sp>
      <p:sp>
        <p:nvSpPr>
          <p:cNvPr id="6" name="Text 2"/>
          <p:cNvSpPr/>
          <p:nvPr/>
        </p:nvSpPr>
        <p:spPr>
          <a:xfrm>
            <a:off x="563297" y="4790756"/>
            <a:ext cx="5029200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1" b="1" dirty="0">
                <a:solidFill>
                  <a:srgbClr val="B1C3B8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The operating model turns the single 2LoD front door into a practical governance journey:</a:t>
            </a:r>
            <a:endParaRPr lang="en-US" sz="891" dirty="0"/>
          </a:p>
        </p:txBody>
      </p:sp>
      <p:sp>
        <p:nvSpPr>
          <p:cNvPr id="7" name="Shape 3"/>
          <p:cNvSpPr/>
          <p:nvPr/>
        </p:nvSpPr>
        <p:spPr>
          <a:xfrm>
            <a:off x="175005" y="4336837"/>
            <a:ext cx="5457962" cy="350010"/>
          </a:xfrm>
          <a:prstGeom prst="rect">
            <a:avLst/>
          </a:prstGeom>
          <a:solidFill>
            <a:srgbClr val="FCFEFD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78" y="4380589"/>
            <a:ext cx="267976" cy="267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7522" y="4511842"/>
            <a:ext cx="4102768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2" dirty="0">
                <a:solidFill>
                  <a:srgbClr val="696969"/>
                </a:solidFill>
                <a:latin typeface="Tilt Neon" pitchFamily="34" charset="0"/>
                <a:ea typeface="Tilt Neon" pitchFamily="34" charset="-122"/>
                <a:cs typeface="Tilt Neon" pitchFamily="34" charset="-120"/>
              </a:rPr>
              <a:t>covering intake, specialist input, final assessment, evidence, and re-assessment.</a:t>
            </a:r>
            <a:endParaRPr lang="en-US" sz="822" dirty="0"/>
          </a:p>
        </p:txBody>
      </p:sp>
      <p:sp>
        <p:nvSpPr>
          <p:cNvPr id="10" name="Text 5"/>
          <p:cNvSpPr/>
          <p:nvPr/>
        </p:nvSpPr>
        <p:spPr>
          <a:xfrm>
            <a:off x="1493010" y="4380589"/>
            <a:ext cx="4217068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4" dirty="0">
                <a:solidFill>
                  <a:srgbClr val="6868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PwC focuses on front-door triage; Al Risk Oversight needs an end-to-end workflow</a:t>
            </a:r>
            <a:endParaRPr lang="en-US" sz="814" dirty="0"/>
          </a:p>
        </p:txBody>
      </p:sp>
      <p:sp>
        <p:nvSpPr>
          <p:cNvPr id="11" name="Text 6"/>
          <p:cNvSpPr/>
          <p:nvPr/>
        </p:nvSpPr>
        <p:spPr>
          <a:xfrm>
            <a:off x="787522" y="4391526"/>
            <a:ext cx="727911" cy="1148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4" b="1" dirty="0">
                <a:solidFill>
                  <a:srgbClr val="496B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message:</a:t>
            </a:r>
            <a:endParaRPr lang="en-US" sz="814" dirty="0"/>
          </a:p>
        </p:txBody>
      </p:sp>
      <p:sp>
        <p:nvSpPr>
          <p:cNvPr id="12" name="Shape 7"/>
          <p:cNvSpPr/>
          <p:nvPr/>
        </p:nvSpPr>
        <p:spPr>
          <a:xfrm>
            <a:off x="7875215" y="3784478"/>
            <a:ext cx="1143000" cy="448450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498" y="3855574"/>
            <a:ext cx="175005" cy="196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21316" y="3954014"/>
            <a:ext cx="950495" cy="218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dirty="0">
                <a:solidFill>
                  <a:srgbClr val="616161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access management can</a:t>
            </a:r>
            <a:endParaRPr lang="en-US" sz="607" dirty="0"/>
          </a:p>
          <a:p>
            <a:pPr algn="l" indent="0" marL="0">
              <a:buNone/>
            </a:pPr>
            <a:r>
              <a:rPr lang="en-US" sz="607" dirty="0">
                <a:solidFill>
                  <a:srgbClr val="616161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be considered later.</a:t>
            </a:r>
            <a:endParaRPr lang="en-US" sz="607" dirty="0"/>
          </a:p>
        </p:txBody>
      </p:sp>
      <p:sp>
        <p:nvSpPr>
          <p:cNvPr id="15" name="Text 9"/>
          <p:cNvSpPr/>
          <p:nvPr/>
        </p:nvSpPr>
        <p:spPr>
          <a:xfrm>
            <a:off x="8602579" y="3855574"/>
            <a:ext cx="322665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7" dirty="0">
                <a:solidFill>
                  <a:srgbClr val="616161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broader</a:t>
            </a:r>
            <a:endParaRPr lang="en-US" sz="667" dirty="0"/>
          </a:p>
        </p:txBody>
      </p:sp>
      <p:sp>
        <p:nvSpPr>
          <p:cNvPr id="16" name="Text 10"/>
          <p:cNvSpPr/>
          <p:nvPr/>
        </p:nvSpPr>
        <p:spPr>
          <a:xfrm>
            <a:off x="8126785" y="3861043"/>
            <a:ext cx="505326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7" b="1" dirty="0">
                <a:solidFill>
                  <a:srgbClr val="546F5B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Future state:</a:t>
            </a:r>
            <a:endParaRPr lang="en-US" sz="577" dirty="0"/>
          </a:p>
        </p:txBody>
      </p:sp>
      <p:sp>
        <p:nvSpPr>
          <p:cNvPr id="17" name="Shape 11"/>
          <p:cNvSpPr/>
          <p:nvPr/>
        </p:nvSpPr>
        <p:spPr>
          <a:xfrm>
            <a:off x="2045368" y="3795416"/>
            <a:ext cx="5758751" cy="470325"/>
          </a:xfrm>
          <a:prstGeom prst="rect">
            <a:avLst/>
          </a:prstGeom>
          <a:solidFill>
            <a:srgbClr val="ECF5EA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536" y="3866512"/>
            <a:ext cx="147660" cy="14219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54880" y="3882919"/>
            <a:ext cx="98440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7" b="1" dirty="0">
                <a:solidFill>
                  <a:srgbClr val="BFCFC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797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560" y="3893856"/>
            <a:ext cx="207818" cy="257038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9866" y="3992297"/>
            <a:ext cx="136722" cy="87502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9067" y="3866512"/>
            <a:ext cx="147660" cy="142191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1871" y="3871981"/>
            <a:ext cx="246100" cy="262507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3115" y="3992297"/>
            <a:ext cx="131254" cy="82033"/>
          </a:xfrm>
          <a:prstGeom prst="rect">
            <a:avLst/>
          </a:prstGeom>
        </p:spPr>
      </p:pic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7785" y="3866512"/>
            <a:ext cx="147660" cy="142191"/>
          </a:xfrm>
          <a:prstGeom prst="rect">
            <a:avLst/>
          </a:prstGeom>
        </p:spPr>
      </p:pic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8713" y="3910263"/>
            <a:ext cx="257038" cy="213287"/>
          </a:xfrm>
          <a:prstGeom prst="rect">
            <a:avLst/>
          </a:prstGeom>
        </p:spPr>
      </p:pic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50895" y="3992297"/>
            <a:ext cx="131254" cy="82033"/>
          </a:xfrm>
          <a:prstGeom prst="rect">
            <a:avLst/>
          </a:prstGeom>
        </p:spPr>
      </p:pic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43847" y="3866512"/>
            <a:ext cx="147660" cy="142191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3571191" y="3882919"/>
            <a:ext cx="98440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C7D6CB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2</a:t>
            </a:r>
            <a:endParaRPr lang="en-US" sz="844" dirty="0"/>
          </a:p>
        </p:txBody>
      </p:sp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81340" y="3915732"/>
            <a:ext cx="218756" cy="229694"/>
          </a:xfrm>
          <a:prstGeom prst="rect">
            <a:avLst/>
          </a:prstGeom>
        </p:spPr>
      </p:pic>
      <p:pic>
        <p:nvPicPr>
          <p:cNvPr id="3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51646" y="3992297"/>
            <a:ext cx="136722" cy="87502"/>
          </a:xfrm>
          <a:prstGeom prst="rect">
            <a:avLst/>
          </a:prstGeom>
        </p:spPr>
      </p:pic>
      <p:pic>
        <p:nvPicPr>
          <p:cNvPr id="3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78971" y="3866512"/>
            <a:ext cx="147660" cy="142191"/>
          </a:xfrm>
          <a:prstGeom prst="rect">
            <a:avLst/>
          </a:prstGeom>
        </p:spPr>
      </p:pic>
      <p:sp>
        <p:nvSpPr>
          <p:cNvPr id="33" name="Text 14"/>
          <p:cNvSpPr/>
          <p:nvPr/>
        </p:nvSpPr>
        <p:spPr>
          <a:xfrm>
            <a:off x="2411785" y="3882919"/>
            <a:ext cx="87502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1" b="1" dirty="0">
                <a:solidFill>
                  <a:srgbClr val="BBCDBE"/>
                </a:solidFill>
                <a:latin typeface="Spline Sans" pitchFamily="34" charset="0"/>
                <a:ea typeface="Spline Sans" pitchFamily="34" charset="-122"/>
                <a:cs typeface="Spline Sans" pitchFamily="34" charset="-120"/>
              </a:rPr>
              <a:t>1</a:t>
            </a:r>
            <a:endParaRPr lang="en-US" sz="831" dirty="0"/>
          </a:p>
        </p:txBody>
      </p:sp>
      <p:pic>
        <p:nvPicPr>
          <p:cNvPr id="3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60215" y="3915732"/>
            <a:ext cx="169536" cy="229694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7218947" y="3888388"/>
            <a:ext cx="511342" cy="306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7" b="1" dirty="0">
                <a:solidFill>
                  <a:srgbClr val="5E615D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Notify material</a:t>
            </a:r>
            <a:endParaRPr lang="en-US" sz="517" dirty="0"/>
          </a:p>
          <a:p>
            <a:pPr algn="l" indent="0" marL="0">
              <a:buNone/>
            </a:pPr>
            <a:r>
              <a:rPr lang="en-US" sz="517" b="1" dirty="0">
                <a:solidFill>
                  <a:srgbClr val="5E615D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changes/</a:t>
            </a:r>
            <a:endParaRPr lang="en-US" sz="517" dirty="0"/>
          </a:p>
          <a:p>
            <a:pPr algn="l" indent="0" marL="0">
              <a:buNone/>
            </a:pPr>
            <a:r>
              <a:rPr lang="en-US" sz="517" b="1" dirty="0">
                <a:solidFill>
                  <a:srgbClr val="5E615D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re-engagement</a:t>
            </a:r>
            <a:endParaRPr lang="en-US" sz="517" dirty="0"/>
          </a:p>
        </p:txBody>
      </p:sp>
      <p:sp>
        <p:nvSpPr>
          <p:cNvPr id="36" name="Text 16"/>
          <p:cNvSpPr/>
          <p:nvPr/>
        </p:nvSpPr>
        <p:spPr>
          <a:xfrm>
            <a:off x="6070478" y="3888388"/>
            <a:ext cx="445168" cy="2953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2" b="1" dirty="0">
                <a:solidFill>
                  <a:srgbClr val="5A5D5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Receive</a:t>
            </a:r>
            <a:endParaRPr lang="en-US" sz="482" dirty="0"/>
          </a:p>
          <a:p>
            <a:pPr algn="l" indent="0" marL="0">
              <a:buNone/>
            </a:pPr>
            <a:r>
              <a:rPr lang="en-US" sz="482" b="1" dirty="0">
                <a:solidFill>
                  <a:srgbClr val="5A5D5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outcome and</a:t>
            </a:r>
            <a:endParaRPr lang="en-US" sz="482" dirty="0"/>
          </a:p>
          <a:p>
            <a:pPr algn="l" indent="0" marL="0">
              <a:buNone/>
            </a:pPr>
            <a:r>
              <a:rPr lang="en-US" sz="482" b="1" dirty="0">
                <a:solidFill>
                  <a:srgbClr val="5A5D5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actions</a:t>
            </a:r>
            <a:endParaRPr lang="en-US" sz="482" dirty="0"/>
          </a:p>
        </p:txBody>
      </p:sp>
      <p:sp>
        <p:nvSpPr>
          <p:cNvPr id="37" name="Text 17"/>
          <p:cNvSpPr/>
          <p:nvPr/>
        </p:nvSpPr>
        <p:spPr>
          <a:xfrm>
            <a:off x="5900943" y="3893856"/>
            <a:ext cx="98440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8" dirty="0">
                <a:solidFill>
                  <a:srgbClr val="BBCAB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</a:t>
            </a:r>
            <a:endParaRPr lang="en-US" sz="878" dirty="0"/>
          </a:p>
        </p:txBody>
      </p:sp>
      <p:sp>
        <p:nvSpPr>
          <p:cNvPr id="38" name="Text 18"/>
          <p:cNvSpPr/>
          <p:nvPr/>
        </p:nvSpPr>
        <p:spPr>
          <a:xfrm>
            <a:off x="4889196" y="3888388"/>
            <a:ext cx="475247" cy="2953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b="1" dirty="0">
                <a:solidFill>
                  <a:srgbClr val="565A56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Provide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565A56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clarifications/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565A56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evidence</a:t>
            </a:r>
            <a:endParaRPr lang="en-US" sz="581" dirty="0"/>
          </a:p>
        </p:txBody>
      </p:sp>
      <p:sp>
        <p:nvSpPr>
          <p:cNvPr id="39" name="Text 19"/>
          <p:cNvSpPr/>
          <p:nvPr/>
        </p:nvSpPr>
        <p:spPr>
          <a:xfrm>
            <a:off x="4725129" y="3888388"/>
            <a:ext cx="98440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4" dirty="0">
                <a:solidFill>
                  <a:srgbClr val="C4D4C8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3</a:t>
            </a:r>
            <a:endParaRPr lang="en-US" sz="844" dirty="0"/>
          </a:p>
        </p:txBody>
      </p:sp>
      <p:sp>
        <p:nvSpPr>
          <p:cNvPr id="40" name="Text 20"/>
          <p:cNvSpPr/>
          <p:nvPr/>
        </p:nvSpPr>
        <p:spPr>
          <a:xfrm>
            <a:off x="3735258" y="3893856"/>
            <a:ext cx="385011" cy="2953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7" b="1" dirty="0">
                <a:solidFill>
                  <a:srgbClr val="5C5F5C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Respond to</a:t>
            </a:r>
            <a:endParaRPr lang="en-US" sz="547" dirty="0"/>
          </a:p>
          <a:p>
            <a:pPr algn="l" indent="0" marL="0">
              <a:buNone/>
            </a:pPr>
            <a:r>
              <a:rPr lang="en-US" sz="547" b="1" dirty="0">
                <a:solidFill>
                  <a:srgbClr val="5C5F5C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follow-up</a:t>
            </a:r>
            <a:endParaRPr lang="en-US" sz="547" dirty="0"/>
          </a:p>
          <a:p>
            <a:pPr algn="l" indent="0" marL="0">
              <a:buNone/>
            </a:pPr>
            <a:r>
              <a:rPr lang="en-US" sz="547" b="1" dirty="0">
                <a:solidFill>
                  <a:srgbClr val="5C5F5C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questions</a:t>
            </a:r>
            <a:endParaRPr lang="en-US" sz="547" dirty="0"/>
          </a:p>
        </p:txBody>
      </p:sp>
      <p:sp>
        <p:nvSpPr>
          <p:cNvPr id="41" name="Text 21"/>
          <p:cNvSpPr/>
          <p:nvPr/>
        </p:nvSpPr>
        <p:spPr>
          <a:xfrm>
            <a:off x="2570383" y="3915732"/>
            <a:ext cx="463216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3" b="1" dirty="0">
                <a:solidFill>
                  <a:srgbClr val="626662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Submit intake</a:t>
            </a:r>
            <a:endParaRPr lang="en-US" sz="663" dirty="0"/>
          </a:p>
          <a:p>
            <a:pPr algn="l" indent="0" marL="0">
              <a:buNone/>
            </a:pPr>
            <a:r>
              <a:rPr lang="en-US" sz="663" b="1" dirty="0">
                <a:solidFill>
                  <a:srgbClr val="626662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information</a:t>
            </a:r>
            <a:endParaRPr lang="en-US" sz="663" dirty="0"/>
          </a:p>
        </p:txBody>
      </p:sp>
      <p:sp>
        <p:nvSpPr>
          <p:cNvPr id="42" name="Shape 22"/>
          <p:cNvSpPr/>
          <p:nvPr/>
        </p:nvSpPr>
        <p:spPr>
          <a:xfrm>
            <a:off x="2039900" y="3636818"/>
            <a:ext cx="5775158" cy="142191"/>
          </a:xfrm>
          <a:prstGeom prst="rect">
            <a:avLst/>
          </a:prstGeom>
          <a:solidFill>
            <a:srgbClr val="014718"/>
          </a:solidFill>
          <a:ln/>
        </p:spPr>
      </p:sp>
      <p:sp>
        <p:nvSpPr>
          <p:cNvPr id="43" name="Text 23"/>
          <p:cNvSpPr/>
          <p:nvPr/>
        </p:nvSpPr>
        <p:spPr>
          <a:xfrm>
            <a:off x="3664163" y="3653225"/>
            <a:ext cx="2779295" cy="1148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1" b="1" dirty="0">
                <a:solidFill>
                  <a:srgbClr val="A6BEA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case team / model owner journey across lifecycle</a:t>
            </a:r>
            <a:endParaRPr lang="en-US" sz="801" dirty="0"/>
          </a:p>
        </p:txBody>
      </p:sp>
      <p:sp>
        <p:nvSpPr>
          <p:cNvPr id="44" name="Text 24"/>
          <p:cNvSpPr/>
          <p:nvPr/>
        </p:nvSpPr>
        <p:spPr>
          <a:xfrm>
            <a:off x="3330560" y="3647756"/>
            <a:ext cx="333603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C09E1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NEW:</a:t>
            </a:r>
            <a:endParaRPr lang="en-US" sz="896" dirty="0"/>
          </a:p>
        </p:txBody>
      </p:sp>
      <p:sp>
        <p:nvSpPr>
          <p:cNvPr id="45" name="Shape 25"/>
          <p:cNvSpPr/>
          <p:nvPr/>
        </p:nvSpPr>
        <p:spPr>
          <a:xfrm>
            <a:off x="7918967" y="1990679"/>
            <a:ext cx="1099249" cy="1471134"/>
          </a:xfrm>
          <a:prstGeom prst="rect">
            <a:avLst/>
          </a:prstGeom>
          <a:solidFill>
            <a:srgbClr val="F8FBF8"/>
          </a:solidFill>
          <a:ln/>
        </p:spPr>
      </p:sp>
      <p:pic>
        <p:nvPicPr>
          <p:cNvPr id="4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1000" y="3117273"/>
            <a:ext cx="109378" cy="109378"/>
          </a:xfrm>
          <a:prstGeom prst="rect">
            <a:avLst/>
          </a:prstGeom>
        </p:spPr>
      </p:pic>
      <p:pic>
        <p:nvPicPr>
          <p:cNvPr id="4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1000" y="2811014"/>
            <a:ext cx="109378" cy="109378"/>
          </a:xfrm>
          <a:prstGeom prst="rect">
            <a:avLst/>
          </a:prstGeom>
        </p:spPr>
      </p:pic>
      <p:pic>
        <p:nvPicPr>
          <p:cNvPr id="4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0" y="2504756"/>
            <a:ext cx="109378" cy="109378"/>
          </a:xfrm>
          <a:prstGeom prst="rect">
            <a:avLst/>
          </a:prstGeom>
        </p:spPr>
      </p:pic>
      <p:pic>
        <p:nvPicPr>
          <p:cNvPr id="4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6469" y="2395378"/>
            <a:ext cx="929713" cy="10938"/>
          </a:xfrm>
          <a:prstGeom prst="rect">
            <a:avLst/>
          </a:prstGeom>
        </p:spPr>
      </p:pic>
      <p:pic>
        <p:nvPicPr>
          <p:cNvPr id="5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06469" y="2094589"/>
            <a:ext cx="229694" cy="229694"/>
          </a:xfrm>
          <a:prstGeom prst="rect">
            <a:avLst/>
          </a:prstGeom>
        </p:spPr>
      </p:pic>
      <p:sp>
        <p:nvSpPr>
          <p:cNvPr id="51" name="Text 26"/>
          <p:cNvSpPr/>
          <p:nvPr/>
        </p:nvSpPr>
        <p:spPr>
          <a:xfrm>
            <a:off x="8176005" y="3100866"/>
            <a:ext cx="727911" cy="2296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7" dirty="0">
                <a:solidFill>
                  <a:srgbClr val="616262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End-to-end AIRO</a:t>
            </a:r>
            <a:endParaRPr lang="en-US" sz="637" dirty="0"/>
          </a:p>
          <a:p>
            <a:pPr algn="l" indent="0" marL="0">
              <a:buNone/>
            </a:pPr>
            <a:r>
              <a:rPr lang="en-US" sz="637" dirty="0">
                <a:solidFill>
                  <a:srgbClr val="616262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workflow retained</a:t>
            </a:r>
            <a:endParaRPr lang="en-US" sz="637" dirty="0"/>
          </a:p>
        </p:txBody>
      </p:sp>
      <p:sp>
        <p:nvSpPr>
          <p:cNvPr id="52" name="Text 27"/>
          <p:cNvSpPr/>
          <p:nvPr/>
        </p:nvSpPr>
        <p:spPr>
          <a:xfrm>
            <a:off x="8176005" y="2800077"/>
            <a:ext cx="836195" cy="2296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3" b="1" dirty="0">
                <a:solidFill>
                  <a:srgbClr val="E67B56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Use case team shown</a:t>
            </a:r>
            <a:endParaRPr lang="en-US" sz="663" dirty="0"/>
          </a:p>
          <a:p>
            <a:pPr algn="l" indent="0" marL="0">
              <a:buNone/>
            </a:pPr>
            <a:r>
              <a:rPr lang="en-US" sz="663" b="1" dirty="0">
                <a:solidFill>
                  <a:srgbClr val="E67B56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across the lifecycle</a:t>
            </a:r>
            <a:endParaRPr lang="en-US" sz="663" dirty="0"/>
          </a:p>
        </p:txBody>
      </p:sp>
      <p:sp>
        <p:nvSpPr>
          <p:cNvPr id="53" name="Text 28"/>
          <p:cNvSpPr/>
          <p:nvPr/>
        </p:nvSpPr>
        <p:spPr>
          <a:xfrm>
            <a:off x="8176005" y="2488349"/>
            <a:ext cx="727911" cy="235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E57A5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Stronger focus on</a:t>
            </a:r>
            <a:endParaRPr lang="en-US" sz="624" dirty="0"/>
          </a:p>
          <a:p>
            <a:pPr algn="l" indent="0" marL="0">
              <a:buNone/>
            </a:pPr>
            <a:r>
              <a:rPr lang="en-US" sz="624" b="1" dirty="0">
                <a:solidFill>
                  <a:srgbClr val="E57A5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intake &amp; ingestion</a:t>
            </a:r>
            <a:endParaRPr lang="en-US" sz="624" dirty="0"/>
          </a:p>
        </p:txBody>
      </p:sp>
      <p:sp>
        <p:nvSpPr>
          <p:cNvPr id="54" name="Text 29"/>
          <p:cNvSpPr/>
          <p:nvPr/>
        </p:nvSpPr>
        <p:spPr>
          <a:xfrm>
            <a:off x="8290852" y="2094589"/>
            <a:ext cx="679784" cy="2461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5" b="1" dirty="0">
                <a:solidFill>
                  <a:srgbClr val="58775C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What changed</a:t>
            </a:r>
            <a:endParaRPr lang="en-US" sz="745" dirty="0"/>
          </a:p>
          <a:p>
            <a:pPr algn="l" indent="0" marL="0">
              <a:buNone/>
            </a:pPr>
            <a:r>
              <a:rPr lang="en-US" sz="745" b="1" dirty="0">
                <a:solidFill>
                  <a:srgbClr val="58775C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in this version</a:t>
            </a:r>
            <a:endParaRPr lang="en-US" sz="745" dirty="0"/>
          </a:p>
        </p:txBody>
      </p:sp>
      <p:pic>
        <p:nvPicPr>
          <p:cNvPr id="5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4067" y="1022684"/>
            <a:ext cx="1760986" cy="2045368"/>
          </a:xfrm>
          <a:prstGeom prst="rect">
            <a:avLst/>
          </a:prstGeom>
        </p:spPr>
      </p:pic>
      <p:pic>
        <p:nvPicPr>
          <p:cNvPr id="5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2526" y="2149278"/>
            <a:ext cx="224225" cy="76565"/>
          </a:xfrm>
          <a:prstGeom prst="rect">
            <a:avLst/>
          </a:prstGeom>
        </p:spPr>
      </p:pic>
      <p:pic>
        <p:nvPicPr>
          <p:cNvPr id="5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41440" y="1755517"/>
            <a:ext cx="552359" cy="645330"/>
          </a:xfrm>
          <a:prstGeom prst="rect">
            <a:avLst/>
          </a:prstGeom>
        </p:spPr>
      </p:pic>
      <p:sp>
        <p:nvSpPr>
          <p:cNvPr id="58" name="Shape 30"/>
          <p:cNvSpPr/>
          <p:nvPr/>
        </p:nvSpPr>
        <p:spPr>
          <a:xfrm>
            <a:off x="251569" y="1536761"/>
            <a:ext cx="650799" cy="1465665"/>
          </a:xfrm>
          <a:prstGeom prst="rect">
            <a:avLst/>
          </a:prstGeom>
          <a:solidFill>
            <a:srgbClr val="FBF9F3"/>
          </a:solidFill>
          <a:ln/>
        </p:spPr>
      </p:sp>
      <p:pic>
        <p:nvPicPr>
          <p:cNvPr id="5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50010" y="1564105"/>
            <a:ext cx="442981" cy="448450"/>
          </a:xfrm>
          <a:prstGeom prst="rect">
            <a:avLst/>
          </a:prstGeom>
        </p:spPr>
      </p:pic>
      <p:sp>
        <p:nvSpPr>
          <p:cNvPr id="60" name="Text 31"/>
          <p:cNvSpPr/>
          <p:nvPr/>
        </p:nvSpPr>
        <p:spPr>
          <a:xfrm>
            <a:off x="291492" y="2324282"/>
            <a:ext cx="565484" cy="6672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4" b="1" dirty="0">
                <a:solidFill>
                  <a:srgbClr val="5D5D5C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Model owner</a:t>
            </a:r>
            <a:endParaRPr lang="en-US" sz="564" dirty="0"/>
          </a:p>
          <a:p>
            <a:pPr algn="ctr" indent="0" marL="0">
              <a:buNone/>
            </a:pPr>
            <a:r>
              <a:rPr lang="en-US" sz="564" b="1" dirty="0">
                <a:solidFill>
                  <a:srgbClr val="5D5D5C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completes triage</a:t>
            </a:r>
            <a:endParaRPr lang="en-US" sz="564" dirty="0"/>
          </a:p>
          <a:p>
            <a:pPr algn="ctr" indent="0" marL="0">
              <a:buNone/>
            </a:pPr>
            <a:r>
              <a:rPr lang="en-US" sz="564" b="1" dirty="0">
                <a:solidFill>
                  <a:srgbClr val="5D5D5C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after the</a:t>
            </a:r>
            <a:endParaRPr lang="en-US" sz="564" dirty="0"/>
          </a:p>
          <a:p>
            <a:pPr algn="ctr" indent="0" marL="0">
              <a:buNone/>
            </a:pPr>
            <a:r>
              <a:rPr lang="en-US" sz="564" b="1" dirty="0">
                <a:solidFill>
                  <a:srgbClr val="5D5D5C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consequence</a:t>
            </a:r>
            <a:endParaRPr lang="en-US" sz="564" dirty="0"/>
          </a:p>
          <a:p>
            <a:pPr algn="ctr" indent="0" marL="0">
              <a:buNone/>
            </a:pPr>
            <a:r>
              <a:rPr lang="en-US" sz="564" b="1" dirty="0">
                <a:solidFill>
                  <a:srgbClr val="5D5D5C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scanning</a:t>
            </a:r>
            <a:endParaRPr lang="en-US" sz="564" dirty="0"/>
          </a:p>
          <a:p>
            <a:pPr algn="ctr" indent="0" marL="0">
              <a:buNone/>
            </a:pPr>
            <a:r>
              <a:rPr lang="en-US" sz="564" b="1" dirty="0">
                <a:solidFill>
                  <a:srgbClr val="5D5D5C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workshop in the</a:t>
            </a:r>
            <a:endParaRPr lang="en-US" sz="564" dirty="0"/>
          </a:p>
          <a:p>
            <a:pPr algn="ctr" indent="0" marL="0">
              <a:buNone/>
            </a:pPr>
            <a:r>
              <a:rPr lang="en-US" sz="564" b="1" dirty="0">
                <a:solidFill>
                  <a:srgbClr val="5D5D5C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RAl journey.</a:t>
            </a:r>
            <a:endParaRPr lang="en-US" sz="564" dirty="0"/>
          </a:p>
        </p:txBody>
      </p:sp>
      <p:sp>
        <p:nvSpPr>
          <p:cNvPr id="61" name="Text 32"/>
          <p:cNvSpPr/>
          <p:nvPr/>
        </p:nvSpPr>
        <p:spPr>
          <a:xfrm>
            <a:off x="339072" y="2028962"/>
            <a:ext cx="517358" cy="2406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1" b="1" dirty="0">
                <a:solidFill>
                  <a:srgbClr val="535353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Responsible</a:t>
            </a:r>
            <a:endParaRPr lang="en-US" sz="801" dirty="0"/>
          </a:p>
          <a:p>
            <a:pPr algn="l" indent="0" marL="0">
              <a:buNone/>
            </a:pPr>
            <a:r>
              <a:rPr lang="en-US" sz="801" b="1" dirty="0">
                <a:solidFill>
                  <a:srgbClr val="535353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Al Journey</a:t>
            </a:r>
            <a:endParaRPr lang="en-US" sz="801" dirty="0"/>
          </a:p>
        </p:txBody>
      </p:sp>
      <p:sp>
        <p:nvSpPr>
          <p:cNvPr id="62" name="Text 33"/>
          <p:cNvSpPr/>
          <p:nvPr/>
        </p:nvSpPr>
        <p:spPr>
          <a:xfrm>
            <a:off x="1345349" y="2444598"/>
            <a:ext cx="378995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5" b="1" dirty="0">
                <a:solidFill>
                  <a:srgbClr val="5C5B57"/>
                </a:solidFill>
                <a:latin typeface="Anaheim" pitchFamily="34" charset="0"/>
                <a:ea typeface="Anaheim" pitchFamily="34" charset="-122"/>
                <a:cs typeface="Anaheim" pitchFamily="34" charset="-120"/>
              </a:rPr>
              <a:t>Triaging</a:t>
            </a:r>
            <a:endParaRPr lang="en-US" sz="715" dirty="0"/>
          </a:p>
        </p:txBody>
      </p:sp>
      <p:sp>
        <p:nvSpPr>
          <p:cNvPr id="63" name="Text 34"/>
          <p:cNvSpPr/>
          <p:nvPr/>
        </p:nvSpPr>
        <p:spPr>
          <a:xfrm>
            <a:off x="325673" y="1077373"/>
            <a:ext cx="1497932" cy="2898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1" b="1" dirty="0">
                <a:solidFill>
                  <a:srgbClr val="F7D2BC"/>
                </a:solidFill>
                <a:latin typeface="Livvic" pitchFamily="34" charset="0"/>
                <a:ea typeface="Livvic" pitchFamily="34" charset="-122"/>
                <a:cs typeface="Livvic" pitchFamily="34" charset="-120"/>
              </a:rPr>
              <a:t>Current PwC tool focus</a:t>
            </a:r>
            <a:endParaRPr lang="en-US" sz="891" dirty="0"/>
          </a:p>
          <a:p>
            <a:pPr algn="ctr" indent="0" marL="0">
              <a:buNone/>
            </a:pPr>
            <a:r>
              <a:rPr lang="en-US" sz="891" b="1" dirty="0">
                <a:solidFill>
                  <a:srgbClr val="F7D2BC"/>
                </a:solidFill>
                <a:latin typeface="Livvic" pitchFamily="34" charset="0"/>
                <a:ea typeface="Livvic" pitchFamily="34" charset="-122"/>
                <a:cs typeface="Livvic" pitchFamily="34" charset="-120"/>
              </a:rPr>
              <a:t>Initial front-door triage</a:t>
            </a:r>
            <a:endParaRPr lang="en-US" sz="891" dirty="0"/>
          </a:p>
        </p:txBody>
      </p:sp>
      <p:pic>
        <p:nvPicPr>
          <p:cNvPr id="6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67244" y="1126593"/>
            <a:ext cx="5775158" cy="2466474"/>
          </a:xfrm>
          <a:prstGeom prst="rect">
            <a:avLst/>
          </a:prstGeom>
        </p:spPr>
      </p:pic>
      <p:pic>
        <p:nvPicPr>
          <p:cNvPr id="6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99383" y="3253995"/>
            <a:ext cx="295321" cy="295321"/>
          </a:xfrm>
          <a:prstGeom prst="rect">
            <a:avLst/>
          </a:prstGeom>
        </p:spPr>
      </p:pic>
      <p:pic>
        <p:nvPicPr>
          <p:cNvPr id="6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01713" y="3385249"/>
            <a:ext cx="453919" cy="60158"/>
          </a:xfrm>
          <a:prstGeom prst="rect">
            <a:avLst/>
          </a:prstGeom>
        </p:spPr>
      </p:pic>
      <p:sp>
        <p:nvSpPr>
          <p:cNvPr id="67" name="Shape 35"/>
          <p:cNvSpPr/>
          <p:nvPr/>
        </p:nvSpPr>
        <p:spPr>
          <a:xfrm>
            <a:off x="4829038" y="3281340"/>
            <a:ext cx="617986" cy="246100"/>
          </a:xfrm>
          <a:prstGeom prst="rect">
            <a:avLst/>
          </a:prstGeom>
          <a:solidFill>
            <a:srgbClr val="F2F6F1"/>
          </a:solidFill>
          <a:ln/>
        </p:spPr>
      </p:sp>
      <p:pic>
        <p:nvPicPr>
          <p:cNvPr id="6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894665" y="3336029"/>
            <a:ext cx="103909" cy="131254"/>
          </a:xfrm>
          <a:prstGeom prst="rect">
            <a:avLst/>
          </a:prstGeom>
        </p:spPr>
      </p:pic>
      <p:sp>
        <p:nvSpPr>
          <p:cNvPr id="69" name="Text 36"/>
          <p:cNvSpPr/>
          <p:nvPr/>
        </p:nvSpPr>
        <p:spPr>
          <a:xfrm>
            <a:off x="5058732" y="3319622"/>
            <a:ext cx="344541" cy="169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4" b="1" dirty="0">
                <a:solidFill>
                  <a:srgbClr val="696B6A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Business</a:t>
            </a:r>
            <a:endParaRPr lang="en-US" sz="594" dirty="0"/>
          </a:p>
          <a:p>
            <a:pPr algn="l" indent="0" marL="0">
              <a:buNone/>
            </a:pPr>
            <a:r>
              <a:rPr lang="en-US" sz="594" b="1" dirty="0">
                <a:solidFill>
                  <a:srgbClr val="696B6A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Continuity</a:t>
            </a:r>
            <a:endParaRPr lang="en-US" sz="594" dirty="0"/>
          </a:p>
        </p:txBody>
      </p:sp>
      <p:sp>
        <p:nvSpPr>
          <p:cNvPr id="70" name="Shape 37"/>
          <p:cNvSpPr/>
          <p:nvPr/>
        </p:nvSpPr>
        <p:spPr>
          <a:xfrm>
            <a:off x="4227459" y="3286809"/>
            <a:ext cx="596110" cy="235163"/>
          </a:xfrm>
          <a:prstGeom prst="rect">
            <a:avLst/>
          </a:prstGeom>
          <a:solidFill>
            <a:srgbClr val="F2F6F1"/>
          </a:solidFill>
          <a:ln/>
        </p:spPr>
      </p:sp>
      <p:pic>
        <p:nvPicPr>
          <p:cNvPr id="71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304024" y="3336029"/>
            <a:ext cx="92971" cy="125785"/>
          </a:xfrm>
          <a:prstGeom prst="rect">
            <a:avLst/>
          </a:prstGeom>
        </p:spPr>
      </p:pic>
      <p:sp>
        <p:nvSpPr>
          <p:cNvPr id="72" name="Text 38"/>
          <p:cNvSpPr/>
          <p:nvPr/>
        </p:nvSpPr>
        <p:spPr>
          <a:xfrm>
            <a:off x="4435278" y="3319622"/>
            <a:ext cx="385011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b="1" dirty="0">
                <a:solidFill>
                  <a:srgbClr val="626362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Customer &amp;</a:t>
            </a:r>
            <a:endParaRPr lang="en-US" sz="607" dirty="0"/>
          </a:p>
          <a:p>
            <a:pPr algn="l" indent="0" marL="0">
              <a:buNone/>
            </a:pPr>
            <a:r>
              <a:rPr lang="en-US" sz="607" b="1" dirty="0">
                <a:solidFill>
                  <a:srgbClr val="626362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Product</a:t>
            </a:r>
            <a:endParaRPr lang="en-US" sz="607" dirty="0"/>
          </a:p>
        </p:txBody>
      </p:sp>
      <p:sp>
        <p:nvSpPr>
          <p:cNvPr id="73" name="Shape 39"/>
          <p:cNvSpPr/>
          <p:nvPr/>
        </p:nvSpPr>
        <p:spPr>
          <a:xfrm>
            <a:off x="3604005" y="3286809"/>
            <a:ext cx="612517" cy="235163"/>
          </a:xfrm>
          <a:prstGeom prst="rect">
            <a:avLst/>
          </a:prstGeom>
          <a:solidFill>
            <a:srgbClr val="F2F7F1"/>
          </a:solidFill>
          <a:ln/>
        </p:spPr>
      </p:sp>
      <p:pic>
        <p:nvPicPr>
          <p:cNvPr id="7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691507" y="3341498"/>
            <a:ext cx="164067" cy="120316"/>
          </a:xfrm>
          <a:prstGeom prst="rect">
            <a:avLst/>
          </a:prstGeom>
        </p:spPr>
      </p:pic>
      <p:sp>
        <p:nvSpPr>
          <p:cNvPr id="75" name="Text 40"/>
          <p:cNvSpPr/>
          <p:nvPr/>
        </p:nvSpPr>
        <p:spPr>
          <a:xfrm>
            <a:off x="3904794" y="3357904"/>
            <a:ext cx="229694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1" b="1" dirty="0">
                <a:solidFill>
                  <a:srgbClr val="646564"/>
                </a:solidFill>
                <a:latin typeface="Zain" pitchFamily="34" charset="0"/>
                <a:ea typeface="Zain" pitchFamily="34" charset="-122"/>
                <a:cs typeface="Zain" pitchFamily="34" charset="-120"/>
              </a:rPr>
              <a:t>DAIEC</a:t>
            </a:r>
            <a:endParaRPr lang="en-US" sz="551" dirty="0"/>
          </a:p>
        </p:txBody>
      </p:sp>
      <p:pic>
        <p:nvPicPr>
          <p:cNvPr id="7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114230" y="3062584"/>
            <a:ext cx="60158" cy="164067"/>
          </a:xfrm>
          <a:prstGeom prst="rect">
            <a:avLst/>
          </a:prstGeom>
        </p:spPr>
      </p:pic>
      <p:sp>
        <p:nvSpPr>
          <p:cNvPr id="77" name="Shape 41"/>
          <p:cNvSpPr/>
          <p:nvPr/>
        </p:nvSpPr>
        <p:spPr>
          <a:xfrm>
            <a:off x="4829038" y="3040708"/>
            <a:ext cx="634392" cy="229694"/>
          </a:xfrm>
          <a:prstGeom prst="rect">
            <a:avLst/>
          </a:prstGeom>
          <a:solidFill>
            <a:srgbClr val="F2F6F0"/>
          </a:solidFill>
          <a:ln/>
        </p:spPr>
      </p:sp>
      <p:pic>
        <p:nvPicPr>
          <p:cNvPr id="78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905603" y="3100866"/>
            <a:ext cx="120316" cy="120316"/>
          </a:xfrm>
          <a:prstGeom prst="rect">
            <a:avLst/>
          </a:prstGeom>
        </p:spPr>
      </p:pic>
      <p:sp>
        <p:nvSpPr>
          <p:cNvPr id="79" name="Text 42"/>
          <p:cNvSpPr/>
          <p:nvPr/>
        </p:nvSpPr>
        <p:spPr>
          <a:xfrm>
            <a:off x="5069670" y="3111804"/>
            <a:ext cx="257038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b="1" dirty="0">
                <a:solidFill>
                  <a:srgbClr val="585958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Change</a:t>
            </a:r>
            <a:endParaRPr lang="en-US" sz="564" dirty="0"/>
          </a:p>
        </p:txBody>
      </p:sp>
      <p:sp>
        <p:nvSpPr>
          <p:cNvPr id="80" name="Shape 43"/>
          <p:cNvSpPr/>
          <p:nvPr/>
        </p:nvSpPr>
        <p:spPr>
          <a:xfrm>
            <a:off x="4216522" y="3040708"/>
            <a:ext cx="607048" cy="229694"/>
          </a:xfrm>
          <a:prstGeom prst="rect">
            <a:avLst/>
          </a:prstGeom>
          <a:solidFill>
            <a:srgbClr val="F2F7F1"/>
          </a:solidFill>
          <a:ln/>
        </p:spPr>
      </p:sp>
      <p:pic>
        <p:nvPicPr>
          <p:cNvPr id="8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293086" y="3089928"/>
            <a:ext cx="147660" cy="131254"/>
          </a:xfrm>
          <a:prstGeom prst="rect">
            <a:avLst/>
          </a:prstGeom>
        </p:spPr>
      </p:pic>
      <p:sp>
        <p:nvSpPr>
          <p:cNvPr id="82" name="Text 44"/>
          <p:cNvSpPr/>
          <p:nvPr/>
        </p:nvSpPr>
        <p:spPr>
          <a:xfrm>
            <a:off x="4479029" y="3111804"/>
            <a:ext cx="289852" cy="76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b="1" dirty="0">
                <a:solidFill>
                  <a:srgbClr val="565756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Conduct</a:t>
            </a:r>
            <a:endParaRPr lang="en-US" sz="538" dirty="0"/>
          </a:p>
        </p:txBody>
      </p:sp>
      <p:sp>
        <p:nvSpPr>
          <p:cNvPr id="83" name="Shape 45"/>
          <p:cNvSpPr/>
          <p:nvPr/>
        </p:nvSpPr>
        <p:spPr>
          <a:xfrm>
            <a:off x="3582129" y="3040708"/>
            <a:ext cx="634392" cy="235163"/>
          </a:xfrm>
          <a:prstGeom prst="rect">
            <a:avLst/>
          </a:prstGeom>
          <a:solidFill>
            <a:srgbClr val="F3F7F1"/>
          </a:solidFill>
          <a:ln/>
        </p:spPr>
      </p:sp>
      <p:pic>
        <p:nvPicPr>
          <p:cNvPr id="84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702445" y="3100866"/>
            <a:ext cx="158598" cy="114847"/>
          </a:xfrm>
          <a:prstGeom prst="rect">
            <a:avLst/>
          </a:prstGeom>
        </p:spPr>
      </p:pic>
      <p:sp>
        <p:nvSpPr>
          <p:cNvPr id="85" name="Text 46"/>
          <p:cNvSpPr/>
          <p:nvPr/>
        </p:nvSpPr>
        <p:spPr>
          <a:xfrm>
            <a:off x="3899325" y="3117273"/>
            <a:ext cx="278914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5F605F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Supplier</a:t>
            </a:r>
            <a:endParaRPr lang="en-US" sz="624" dirty="0"/>
          </a:p>
        </p:txBody>
      </p:sp>
      <p:pic>
        <p:nvPicPr>
          <p:cNvPr id="86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297746" y="3133679"/>
            <a:ext cx="229694" cy="65627"/>
          </a:xfrm>
          <a:prstGeom prst="rect">
            <a:avLst/>
          </a:prstGeom>
        </p:spPr>
      </p:pic>
      <p:sp>
        <p:nvSpPr>
          <p:cNvPr id="87" name="Shape 47"/>
          <p:cNvSpPr/>
          <p:nvPr/>
        </p:nvSpPr>
        <p:spPr>
          <a:xfrm>
            <a:off x="4829038" y="2794608"/>
            <a:ext cx="634392" cy="235163"/>
          </a:xfrm>
          <a:prstGeom prst="rect">
            <a:avLst/>
          </a:prstGeom>
          <a:solidFill>
            <a:srgbClr val="F2F6F1"/>
          </a:solidFill>
          <a:ln/>
        </p:spPr>
      </p:sp>
      <p:pic>
        <p:nvPicPr>
          <p:cNvPr id="88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905603" y="2871172"/>
            <a:ext cx="120316" cy="92971"/>
          </a:xfrm>
          <a:prstGeom prst="rect">
            <a:avLst/>
          </a:prstGeom>
        </p:spPr>
      </p:pic>
      <p:sp>
        <p:nvSpPr>
          <p:cNvPr id="89" name="Text 48"/>
          <p:cNvSpPr/>
          <p:nvPr/>
        </p:nvSpPr>
        <p:spPr>
          <a:xfrm>
            <a:off x="5064201" y="2871172"/>
            <a:ext cx="322665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b="1" dirty="0">
                <a:solidFill>
                  <a:srgbClr val="696A69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Payments</a:t>
            </a:r>
            <a:endParaRPr lang="en-US" sz="607" dirty="0"/>
          </a:p>
        </p:txBody>
      </p:sp>
      <p:pic>
        <p:nvPicPr>
          <p:cNvPr id="90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489967" y="2843828"/>
            <a:ext cx="284383" cy="164067"/>
          </a:xfrm>
          <a:prstGeom prst="rect">
            <a:avLst/>
          </a:prstGeom>
        </p:spPr>
      </p:pic>
      <p:pic>
        <p:nvPicPr>
          <p:cNvPr id="91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293086" y="2854766"/>
            <a:ext cx="147660" cy="120316"/>
          </a:xfrm>
          <a:prstGeom prst="rect">
            <a:avLst/>
          </a:prstGeom>
        </p:spPr>
      </p:pic>
      <p:sp>
        <p:nvSpPr>
          <p:cNvPr id="92" name="Text 49"/>
          <p:cNvSpPr/>
          <p:nvPr/>
        </p:nvSpPr>
        <p:spPr>
          <a:xfrm>
            <a:off x="4479029" y="2838359"/>
            <a:ext cx="289852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4" b="1" dirty="0">
                <a:solidFill>
                  <a:srgbClr val="5F6160"/>
                </a:solidFill>
                <a:latin typeface="Anaheim" pitchFamily="34" charset="0"/>
                <a:ea typeface="Anaheim" pitchFamily="34" charset="-122"/>
                <a:cs typeface="Anaheim" pitchFamily="34" charset="-120"/>
              </a:rPr>
              <a:t>Market</a:t>
            </a:r>
            <a:endParaRPr lang="en-US" sz="594" dirty="0"/>
          </a:p>
          <a:p>
            <a:pPr algn="l" indent="0" marL="0">
              <a:buNone/>
            </a:pPr>
            <a:r>
              <a:rPr lang="en-US" sz="594" b="1" dirty="0">
                <a:solidFill>
                  <a:srgbClr val="5F6160"/>
                </a:solidFill>
                <a:latin typeface="Anaheim" pitchFamily="34" charset="0"/>
                <a:ea typeface="Anaheim" pitchFamily="34" charset="-122"/>
                <a:cs typeface="Anaheim" pitchFamily="34" charset="-120"/>
              </a:rPr>
              <a:t>Conduct</a:t>
            </a:r>
            <a:endParaRPr lang="en-US" sz="594" dirty="0"/>
          </a:p>
        </p:txBody>
      </p:sp>
      <p:sp>
        <p:nvSpPr>
          <p:cNvPr id="93" name="Shape 50"/>
          <p:cNvSpPr/>
          <p:nvPr/>
        </p:nvSpPr>
        <p:spPr>
          <a:xfrm>
            <a:off x="3582129" y="2789139"/>
            <a:ext cx="634392" cy="240632"/>
          </a:xfrm>
          <a:prstGeom prst="rect">
            <a:avLst/>
          </a:prstGeom>
          <a:solidFill>
            <a:srgbClr val="F2F7F1"/>
          </a:solidFill>
          <a:ln/>
        </p:spPr>
      </p:sp>
      <p:pic>
        <p:nvPicPr>
          <p:cNvPr id="94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707914" y="2838359"/>
            <a:ext cx="125785" cy="147660"/>
          </a:xfrm>
          <a:prstGeom prst="rect">
            <a:avLst/>
          </a:prstGeom>
        </p:spPr>
      </p:pic>
      <p:sp>
        <p:nvSpPr>
          <p:cNvPr id="95" name="Text 51"/>
          <p:cNvSpPr/>
          <p:nvPr/>
        </p:nvSpPr>
        <p:spPr>
          <a:xfrm>
            <a:off x="3904794" y="2865703"/>
            <a:ext cx="158598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b="1" dirty="0">
                <a:solidFill>
                  <a:srgbClr val="5F605F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ECP</a:t>
            </a:r>
            <a:endParaRPr lang="en-US" sz="607" dirty="0"/>
          </a:p>
        </p:txBody>
      </p:sp>
      <p:pic>
        <p:nvPicPr>
          <p:cNvPr id="96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351627" y="2996957"/>
            <a:ext cx="328134" cy="339072"/>
          </a:xfrm>
          <a:prstGeom prst="rect">
            <a:avLst/>
          </a:prstGeom>
        </p:spPr>
      </p:pic>
      <p:sp>
        <p:nvSpPr>
          <p:cNvPr id="97" name="Shape 52"/>
          <p:cNvSpPr/>
          <p:nvPr/>
        </p:nvSpPr>
        <p:spPr>
          <a:xfrm>
            <a:off x="7208010" y="2269593"/>
            <a:ext cx="563297" cy="355478"/>
          </a:xfrm>
          <a:prstGeom prst="rect">
            <a:avLst/>
          </a:prstGeom>
          <a:solidFill>
            <a:srgbClr val="F2F7F1"/>
          </a:solidFill>
          <a:ln/>
        </p:spPr>
      </p:sp>
      <p:pic>
        <p:nvPicPr>
          <p:cNvPr id="98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262699" y="2357096"/>
            <a:ext cx="164067" cy="169536"/>
          </a:xfrm>
          <a:prstGeom prst="rect">
            <a:avLst/>
          </a:prstGeom>
        </p:spPr>
      </p:pic>
      <p:sp>
        <p:nvSpPr>
          <p:cNvPr id="99" name="Text 53"/>
          <p:cNvSpPr/>
          <p:nvPr/>
        </p:nvSpPr>
        <p:spPr>
          <a:xfrm>
            <a:off x="7470517" y="2340689"/>
            <a:ext cx="295321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6" b="1" dirty="0">
                <a:solidFill>
                  <a:srgbClr val="5D5E5D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Change</a:t>
            </a:r>
            <a:endParaRPr lang="en-US" sz="706" dirty="0"/>
          </a:p>
          <a:p>
            <a:pPr algn="l" indent="0" marL="0">
              <a:buNone/>
            </a:pPr>
            <a:r>
              <a:rPr lang="en-US" sz="706" b="1" dirty="0">
                <a:solidFill>
                  <a:srgbClr val="5D5E5D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triaging</a:t>
            </a:r>
            <a:endParaRPr lang="en-US" sz="706" dirty="0"/>
          </a:p>
        </p:txBody>
      </p:sp>
      <p:sp>
        <p:nvSpPr>
          <p:cNvPr id="100" name="Shape 54"/>
          <p:cNvSpPr/>
          <p:nvPr/>
        </p:nvSpPr>
        <p:spPr>
          <a:xfrm>
            <a:off x="4829038" y="2548507"/>
            <a:ext cx="634392" cy="235163"/>
          </a:xfrm>
          <a:prstGeom prst="rect">
            <a:avLst/>
          </a:prstGeom>
          <a:solidFill>
            <a:srgbClr val="F2F7F1"/>
          </a:solidFill>
          <a:ln/>
        </p:spPr>
      </p:sp>
      <p:pic>
        <p:nvPicPr>
          <p:cNvPr id="101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927478" y="2608665"/>
            <a:ext cx="87502" cy="120316"/>
          </a:xfrm>
          <a:prstGeom prst="rect">
            <a:avLst/>
          </a:prstGeom>
        </p:spPr>
      </p:pic>
      <p:sp>
        <p:nvSpPr>
          <p:cNvPr id="102" name="Text 55"/>
          <p:cNvSpPr/>
          <p:nvPr/>
        </p:nvSpPr>
        <p:spPr>
          <a:xfrm>
            <a:off x="5075139" y="2625072"/>
            <a:ext cx="175005" cy="76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" dirty="0">
                <a:solidFill>
                  <a:srgbClr val="5F605E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Data</a:t>
            </a:r>
            <a:endParaRPr lang="en-US" sz="500" dirty="0"/>
          </a:p>
        </p:txBody>
      </p:sp>
      <p:sp>
        <p:nvSpPr>
          <p:cNvPr id="103" name="Shape 56"/>
          <p:cNvSpPr/>
          <p:nvPr/>
        </p:nvSpPr>
        <p:spPr>
          <a:xfrm>
            <a:off x="4216522" y="2548507"/>
            <a:ext cx="607048" cy="240632"/>
          </a:xfrm>
          <a:prstGeom prst="rect">
            <a:avLst/>
          </a:prstGeom>
          <a:solidFill>
            <a:srgbClr val="F2F6F0"/>
          </a:solidFill>
          <a:ln/>
        </p:spPr>
      </p:sp>
      <p:pic>
        <p:nvPicPr>
          <p:cNvPr id="104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309493" y="2614134"/>
            <a:ext cx="131254" cy="120316"/>
          </a:xfrm>
          <a:prstGeom prst="rect">
            <a:avLst/>
          </a:prstGeom>
        </p:spPr>
      </p:pic>
      <p:sp>
        <p:nvSpPr>
          <p:cNvPr id="105" name="Text 57"/>
          <p:cNvSpPr/>
          <p:nvPr/>
        </p:nvSpPr>
        <p:spPr>
          <a:xfrm>
            <a:off x="4500904" y="2619603"/>
            <a:ext cx="218756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b="1" dirty="0">
                <a:solidFill>
                  <a:srgbClr val="696A69"/>
                </a:solidFill>
                <a:latin typeface="Zain" pitchFamily="34" charset="0"/>
                <a:ea typeface="Zain" pitchFamily="34" charset="-122"/>
                <a:cs typeface="Zain" pitchFamily="34" charset="-120"/>
              </a:rPr>
              <a:t>IT/ICP</a:t>
            </a:r>
            <a:endParaRPr lang="en-US" sz="538" dirty="0"/>
          </a:p>
        </p:txBody>
      </p:sp>
      <p:sp>
        <p:nvSpPr>
          <p:cNvPr id="106" name="Shape 58"/>
          <p:cNvSpPr/>
          <p:nvPr/>
        </p:nvSpPr>
        <p:spPr>
          <a:xfrm>
            <a:off x="3604005" y="2553976"/>
            <a:ext cx="612517" cy="235163"/>
          </a:xfrm>
          <a:prstGeom prst="rect">
            <a:avLst/>
          </a:prstGeom>
          <a:solidFill>
            <a:srgbClr val="F2F7F1"/>
          </a:solidFill>
          <a:ln/>
        </p:spPr>
      </p:sp>
      <p:pic>
        <p:nvPicPr>
          <p:cNvPr id="107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713383" y="2603196"/>
            <a:ext cx="120316" cy="131254"/>
          </a:xfrm>
          <a:prstGeom prst="rect">
            <a:avLst/>
          </a:prstGeom>
        </p:spPr>
      </p:pic>
      <p:sp>
        <p:nvSpPr>
          <p:cNvPr id="108" name="Text 59"/>
          <p:cNvSpPr/>
          <p:nvPr/>
        </p:nvSpPr>
        <p:spPr>
          <a:xfrm>
            <a:off x="3904794" y="2625072"/>
            <a:ext cx="224225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626362"/>
                </a:solidFill>
                <a:latin typeface="Balsamiq Sans" pitchFamily="34" charset="0"/>
                <a:ea typeface="Balsamiq Sans" pitchFamily="34" charset="-122"/>
                <a:cs typeface="Balsamiq Sans" pitchFamily="34" charset="-120"/>
              </a:rPr>
              <a:t>Model</a:t>
            </a:r>
            <a:endParaRPr lang="en-US" sz="525" dirty="0"/>
          </a:p>
        </p:txBody>
      </p:sp>
      <p:pic>
        <p:nvPicPr>
          <p:cNvPr id="10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546273" y="2428191"/>
            <a:ext cx="639861" cy="54689"/>
          </a:xfrm>
          <a:prstGeom prst="rect">
            <a:avLst/>
          </a:prstGeom>
        </p:spPr>
      </p:pic>
      <p:pic>
        <p:nvPicPr>
          <p:cNvPr id="110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75986" y="1782861"/>
            <a:ext cx="54689" cy="459388"/>
          </a:xfrm>
          <a:prstGeom prst="rect">
            <a:avLst/>
          </a:prstGeom>
        </p:spPr>
      </p:pic>
      <p:sp>
        <p:nvSpPr>
          <p:cNvPr id="111" name="Shape 60"/>
          <p:cNvSpPr/>
          <p:nvPr/>
        </p:nvSpPr>
        <p:spPr>
          <a:xfrm>
            <a:off x="5786096" y="1990679"/>
            <a:ext cx="738301" cy="1050029"/>
          </a:xfrm>
          <a:prstGeom prst="rect">
            <a:avLst/>
          </a:prstGeom>
          <a:solidFill>
            <a:srgbClr val="F2F7F1"/>
          </a:solidFill>
          <a:ln/>
        </p:spPr>
      </p:sp>
      <p:pic>
        <p:nvPicPr>
          <p:cNvPr id="112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944694" y="2028962"/>
            <a:ext cx="421105" cy="421105"/>
          </a:xfrm>
          <a:prstGeom prst="rect">
            <a:avLst/>
          </a:prstGeom>
        </p:spPr>
      </p:pic>
      <p:sp>
        <p:nvSpPr>
          <p:cNvPr id="113" name="Text 61"/>
          <p:cNvSpPr/>
          <p:nvPr/>
        </p:nvSpPr>
        <p:spPr>
          <a:xfrm>
            <a:off x="5826839" y="2641478"/>
            <a:ext cx="667753" cy="3007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3" b="1" dirty="0">
                <a:solidFill>
                  <a:srgbClr val="616261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Approvals for Tier 3</a:t>
            </a:r>
            <a:endParaRPr lang="en-US" sz="603" dirty="0"/>
          </a:p>
          <a:p>
            <a:pPr algn="ctr" indent="0" marL="0">
              <a:buNone/>
            </a:pPr>
            <a:r>
              <a:rPr lang="en-US" sz="603" b="1" dirty="0">
                <a:solidFill>
                  <a:srgbClr val="616261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and below granted</a:t>
            </a:r>
            <a:endParaRPr lang="en-US" sz="603" dirty="0"/>
          </a:p>
          <a:p>
            <a:pPr algn="ctr" indent="0" marL="0">
              <a:buNone/>
            </a:pPr>
            <a:r>
              <a:rPr lang="en-US" sz="603" b="1" dirty="0">
                <a:solidFill>
                  <a:srgbClr val="616261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by MRO</a:t>
            </a:r>
            <a:endParaRPr lang="en-US" sz="603" dirty="0"/>
          </a:p>
        </p:txBody>
      </p:sp>
      <p:sp>
        <p:nvSpPr>
          <p:cNvPr id="114" name="Text 62"/>
          <p:cNvSpPr/>
          <p:nvPr/>
        </p:nvSpPr>
        <p:spPr>
          <a:xfrm>
            <a:off x="6059541" y="2477411"/>
            <a:ext cx="224225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8" b="1" dirty="0">
                <a:solidFill>
                  <a:srgbClr val="595A5A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Live</a:t>
            </a:r>
            <a:endParaRPr lang="en-US" sz="878" dirty="0"/>
          </a:p>
        </p:txBody>
      </p:sp>
      <p:pic>
        <p:nvPicPr>
          <p:cNvPr id="115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511842" y="2269593"/>
            <a:ext cx="563297" cy="273445"/>
          </a:xfrm>
          <a:prstGeom prst="rect">
            <a:avLst/>
          </a:prstGeom>
        </p:spPr>
      </p:pic>
      <p:pic>
        <p:nvPicPr>
          <p:cNvPr id="116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463431" y="2083651"/>
            <a:ext cx="278914" cy="142191"/>
          </a:xfrm>
          <a:prstGeom prst="rect">
            <a:avLst/>
          </a:prstGeom>
        </p:spPr>
      </p:pic>
      <p:sp>
        <p:nvSpPr>
          <p:cNvPr id="117" name="Shape 63"/>
          <p:cNvSpPr/>
          <p:nvPr/>
        </p:nvSpPr>
        <p:spPr>
          <a:xfrm>
            <a:off x="4670440" y="1870364"/>
            <a:ext cx="782053" cy="388292"/>
          </a:xfrm>
          <a:prstGeom prst="rect">
            <a:avLst/>
          </a:prstGeom>
          <a:solidFill>
            <a:srgbClr val="F2F6F0"/>
          </a:solidFill>
          <a:ln/>
        </p:spPr>
      </p:sp>
      <p:pic>
        <p:nvPicPr>
          <p:cNvPr id="118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708722" y="1925053"/>
            <a:ext cx="273445" cy="289852"/>
          </a:xfrm>
          <a:prstGeom prst="rect">
            <a:avLst/>
          </a:prstGeom>
        </p:spPr>
      </p:pic>
      <p:sp>
        <p:nvSpPr>
          <p:cNvPr id="119" name="Text 64"/>
          <p:cNvSpPr/>
          <p:nvPr/>
        </p:nvSpPr>
        <p:spPr>
          <a:xfrm>
            <a:off x="4998574" y="1968804"/>
            <a:ext cx="457200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646564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Async</a:t>
            </a:r>
            <a:endParaRPr lang="en-US" sz="560" dirty="0"/>
          </a:p>
          <a:p>
            <a:pPr algn="l" indent="0" marL="0">
              <a:buNone/>
            </a:pPr>
            <a:r>
              <a:rPr lang="en-US" sz="560" b="1" dirty="0">
                <a:solidFill>
                  <a:srgbClr val="646564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engagement</a:t>
            </a:r>
            <a:endParaRPr lang="en-US" sz="560" dirty="0"/>
          </a:p>
        </p:txBody>
      </p:sp>
      <p:pic>
        <p:nvPicPr>
          <p:cNvPr id="120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468091" y="2061775"/>
            <a:ext cx="196880" cy="60158"/>
          </a:xfrm>
          <a:prstGeom prst="rect">
            <a:avLst/>
          </a:prstGeom>
        </p:spPr>
      </p:pic>
      <p:pic>
        <p:nvPicPr>
          <p:cNvPr id="121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303215" y="2067244"/>
            <a:ext cx="240632" cy="65627"/>
          </a:xfrm>
          <a:prstGeom prst="rect">
            <a:avLst/>
          </a:prstGeom>
        </p:spPr>
      </p:pic>
      <p:pic>
        <p:nvPicPr>
          <p:cNvPr id="122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351627" y="2045368"/>
            <a:ext cx="328134" cy="339072"/>
          </a:xfrm>
          <a:prstGeom prst="rect">
            <a:avLst/>
          </a:prstGeom>
        </p:spPr>
      </p:pic>
      <p:pic>
        <p:nvPicPr>
          <p:cNvPr id="123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147043" y="1777392"/>
            <a:ext cx="54689" cy="213287"/>
          </a:xfrm>
          <a:prstGeom prst="rect">
            <a:avLst/>
          </a:prstGeom>
        </p:spPr>
      </p:pic>
      <p:sp>
        <p:nvSpPr>
          <p:cNvPr id="124" name="Shape 65"/>
          <p:cNvSpPr/>
          <p:nvPr/>
        </p:nvSpPr>
        <p:spPr>
          <a:xfrm>
            <a:off x="3604005" y="1875833"/>
            <a:ext cx="847679" cy="377354"/>
          </a:xfrm>
          <a:prstGeom prst="rect">
            <a:avLst/>
          </a:prstGeom>
          <a:solidFill>
            <a:srgbClr val="F2F6F1"/>
          </a:solidFill>
          <a:ln/>
        </p:spPr>
      </p:sp>
      <p:pic>
        <p:nvPicPr>
          <p:cNvPr id="125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631349" y="1925053"/>
            <a:ext cx="273445" cy="278914"/>
          </a:xfrm>
          <a:prstGeom prst="rect">
            <a:avLst/>
          </a:prstGeom>
        </p:spPr>
      </p:pic>
      <p:sp>
        <p:nvSpPr>
          <p:cNvPr id="126" name="Text 66"/>
          <p:cNvSpPr/>
          <p:nvPr/>
        </p:nvSpPr>
        <p:spPr>
          <a:xfrm>
            <a:off x="3943077" y="1919584"/>
            <a:ext cx="433137" cy="2843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8" b="1" dirty="0">
                <a:solidFill>
                  <a:srgbClr val="585959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Use case</a:t>
            </a:r>
            <a:endParaRPr lang="en-US" sz="568" dirty="0"/>
          </a:p>
          <a:p>
            <a:pPr algn="l" indent="0" marL="0">
              <a:buNone/>
            </a:pPr>
            <a:r>
              <a:rPr lang="en-US" sz="568" b="1" dirty="0">
                <a:solidFill>
                  <a:srgbClr val="585959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materiality</a:t>
            </a:r>
            <a:endParaRPr lang="en-US" sz="568" dirty="0"/>
          </a:p>
          <a:p>
            <a:pPr algn="l" indent="0" marL="0">
              <a:buNone/>
            </a:pPr>
            <a:r>
              <a:rPr lang="en-US" sz="568" b="1" dirty="0">
                <a:solidFill>
                  <a:srgbClr val="585959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assessment</a:t>
            </a:r>
            <a:endParaRPr lang="en-US" sz="568" dirty="0"/>
          </a:p>
        </p:txBody>
      </p:sp>
      <p:sp>
        <p:nvSpPr>
          <p:cNvPr id="127" name="Shape 67"/>
          <p:cNvSpPr/>
          <p:nvPr/>
        </p:nvSpPr>
        <p:spPr>
          <a:xfrm>
            <a:off x="7208010" y="1400038"/>
            <a:ext cx="563297" cy="344541"/>
          </a:xfrm>
          <a:prstGeom prst="rect">
            <a:avLst/>
          </a:prstGeom>
          <a:solidFill>
            <a:srgbClr val="F2F7F1"/>
          </a:solidFill>
          <a:ln/>
        </p:spPr>
      </p:sp>
      <p:pic>
        <p:nvPicPr>
          <p:cNvPr id="128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262699" y="1493010"/>
            <a:ext cx="169536" cy="169536"/>
          </a:xfrm>
          <a:prstGeom prst="rect">
            <a:avLst/>
          </a:prstGeom>
        </p:spPr>
      </p:pic>
      <p:sp>
        <p:nvSpPr>
          <p:cNvPr id="129" name="Text 68"/>
          <p:cNvSpPr/>
          <p:nvPr/>
        </p:nvSpPr>
        <p:spPr>
          <a:xfrm>
            <a:off x="7475986" y="1487541"/>
            <a:ext cx="278914" cy="169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7" b="1" dirty="0">
                <a:solidFill>
                  <a:srgbClr val="585958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Resolve</a:t>
            </a:r>
            <a:endParaRPr lang="en-US" sz="667" dirty="0"/>
          </a:p>
          <a:p>
            <a:pPr algn="l" indent="0" marL="0">
              <a:buNone/>
            </a:pPr>
            <a:r>
              <a:rPr lang="en-US" sz="667" b="1" dirty="0">
                <a:solidFill>
                  <a:srgbClr val="585958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issue</a:t>
            </a:r>
            <a:endParaRPr lang="en-US" sz="667" dirty="0"/>
          </a:p>
        </p:txBody>
      </p:sp>
      <p:sp>
        <p:nvSpPr>
          <p:cNvPr id="130" name="Shape 69"/>
          <p:cNvSpPr/>
          <p:nvPr/>
        </p:nvSpPr>
        <p:spPr>
          <a:xfrm>
            <a:off x="5818909" y="1400038"/>
            <a:ext cx="705488" cy="339072"/>
          </a:xfrm>
          <a:prstGeom prst="rect">
            <a:avLst/>
          </a:prstGeom>
          <a:solidFill>
            <a:srgbClr val="F2F7F1"/>
          </a:solidFill>
          <a:ln/>
        </p:spPr>
      </p:sp>
      <p:pic>
        <p:nvPicPr>
          <p:cNvPr id="131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873598" y="1487541"/>
            <a:ext cx="158598" cy="147660"/>
          </a:xfrm>
          <a:prstGeom prst="rect">
            <a:avLst/>
          </a:prstGeom>
        </p:spPr>
      </p:pic>
      <p:sp>
        <p:nvSpPr>
          <p:cNvPr id="132" name="Text 70"/>
          <p:cNvSpPr/>
          <p:nvPr/>
        </p:nvSpPr>
        <p:spPr>
          <a:xfrm>
            <a:off x="6070478" y="1460196"/>
            <a:ext cx="469232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dirty="0">
                <a:solidFill>
                  <a:srgbClr val="646564"/>
                </a:solidFill>
                <a:latin typeface="Sunflower" pitchFamily="34" charset="0"/>
                <a:ea typeface="Sunflower" pitchFamily="34" charset="-122"/>
                <a:cs typeface="Sunflower" pitchFamily="34" charset="-120"/>
              </a:rPr>
              <a:t>Incident</a:t>
            </a:r>
            <a:endParaRPr lang="en-US" sz="581" dirty="0"/>
          </a:p>
          <a:p>
            <a:pPr algn="l" indent="0" marL="0">
              <a:buNone/>
            </a:pPr>
            <a:r>
              <a:rPr lang="en-US" sz="581" dirty="0">
                <a:solidFill>
                  <a:srgbClr val="646564"/>
                </a:solidFill>
                <a:latin typeface="Sunflower" pitchFamily="34" charset="0"/>
                <a:ea typeface="Sunflower" pitchFamily="34" charset="-122"/>
                <a:cs typeface="Sunflower" pitchFamily="34" charset="-120"/>
              </a:rPr>
              <a:t>identification</a:t>
            </a:r>
            <a:endParaRPr lang="en-US" sz="581" dirty="0"/>
          </a:p>
        </p:txBody>
      </p:sp>
      <p:pic>
        <p:nvPicPr>
          <p:cNvPr id="133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020450" y="1711766"/>
            <a:ext cx="54689" cy="142191"/>
          </a:xfrm>
          <a:prstGeom prst="rect">
            <a:avLst/>
          </a:prstGeom>
        </p:spPr>
      </p:pic>
      <p:pic>
        <p:nvPicPr>
          <p:cNvPr id="134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003234" y="1711766"/>
            <a:ext cx="60158" cy="147660"/>
          </a:xfrm>
          <a:prstGeom prst="rect">
            <a:avLst/>
          </a:prstGeom>
        </p:spPr>
      </p:pic>
      <p:pic>
        <p:nvPicPr>
          <p:cNvPr id="135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142383" y="1542230"/>
            <a:ext cx="54689" cy="60158"/>
          </a:xfrm>
          <a:prstGeom prst="rect">
            <a:avLst/>
          </a:prstGeom>
        </p:spPr>
      </p:pic>
      <p:sp>
        <p:nvSpPr>
          <p:cNvPr id="136" name="Shape 71"/>
          <p:cNvSpPr/>
          <p:nvPr/>
        </p:nvSpPr>
        <p:spPr>
          <a:xfrm>
            <a:off x="3604005" y="1449258"/>
            <a:ext cx="1886770" cy="257038"/>
          </a:xfrm>
          <a:prstGeom prst="rect">
            <a:avLst/>
          </a:prstGeom>
          <a:solidFill>
            <a:srgbClr val="003119"/>
          </a:solidFill>
          <a:ln/>
        </p:spPr>
      </p:sp>
      <p:pic>
        <p:nvPicPr>
          <p:cNvPr id="137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3636818" y="1443789"/>
            <a:ext cx="262507" cy="262507"/>
          </a:xfrm>
          <a:prstGeom prst="rect">
            <a:avLst/>
          </a:prstGeom>
        </p:spPr>
      </p:pic>
      <p:sp>
        <p:nvSpPr>
          <p:cNvPr id="138" name="Text 72"/>
          <p:cNvSpPr/>
          <p:nvPr/>
        </p:nvSpPr>
        <p:spPr>
          <a:xfrm>
            <a:off x="4139957" y="1520354"/>
            <a:ext cx="1004637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1" b="1" dirty="0">
                <a:solidFill>
                  <a:srgbClr val="ADBDB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Al Oversight Forum</a:t>
            </a:r>
            <a:endParaRPr lang="en-US" sz="801" dirty="0"/>
          </a:p>
        </p:txBody>
      </p:sp>
      <p:pic>
        <p:nvPicPr>
          <p:cNvPr id="139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3303215" y="1525823"/>
            <a:ext cx="246100" cy="65627"/>
          </a:xfrm>
          <a:prstGeom prst="rect">
            <a:avLst/>
          </a:prstGeom>
        </p:spPr>
      </p:pic>
      <p:pic>
        <p:nvPicPr>
          <p:cNvPr id="140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143809" y="1465665"/>
            <a:ext cx="196880" cy="1771923"/>
          </a:xfrm>
          <a:prstGeom prst="rect">
            <a:avLst/>
          </a:prstGeom>
        </p:spPr>
      </p:pic>
      <p:pic>
        <p:nvPicPr>
          <p:cNvPr id="14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4697785" y="1339880"/>
            <a:ext cx="54689" cy="98440"/>
          </a:xfrm>
          <a:prstGeom prst="rect">
            <a:avLst/>
          </a:prstGeom>
        </p:spPr>
      </p:pic>
      <p:pic>
        <p:nvPicPr>
          <p:cNvPr id="142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357096" y="1356287"/>
            <a:ext cx="322665" cy="328134"/>
          </a:xfrm>
          <a:prstGeom prst="rect">
            <a:avLst/>
          </a:prstGeom>
        </p:spPr>
      </p:pic>
      <p:sp>
        <p:nvSpPr>
          <p:cNvPr id="143" name="Text 73"/>
          <p:cNvSpPr/>
          <p:nvPr/>
        </p:nvSpPr>
        <p:spPr>
          <a:xfrm>
            <a:off x="6376737" y="3226651"/>
            <a:ext cx="1287379" cy="306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6A6A6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Minor or material changes will be</a:t>
            </a:r>
            <a:endParaRPr lang="en-US" sz="504" dirty="0"/>
          </a:p>
          <a:p>
            <a:pPr algn="l" indent="0" marL="0">
              <a:buNone/>
            </a:pPr>
            <a:r>
              <a:rPr lang="en-US" sz="504" b="1" dirty="0">
                <a:solidFill>
                  <a:srgbClr val="6A6A6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reviewed by relevant 2LoD teams</a:t>
            </a:r>
            <a:endParaRPr lang="en-US" sz="504" dirty="0"/>
          </a:p>
          <a:p>
            <a:pPr algn="l" indent="0" marL="0">
              <a:buNone/>
            </a:pPr>
            <a:r>
              <a:rPr lang="en-US" sz="504" b="1" dirty="0">
                <a:solidFill>
                  <a:srgbClr val="6A6A6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 determine the level of re-engagement</a:t>
            </a:r>
            <a:endParaRPr lang="en-US" sz="504" dirty="0"/>
          </a:p>
        </p:txBody>
      </p:sp>
      <p:sp>
        <p:nvSpPr>
          <p:cNvPr id="144" name="Text 74"/>
          <p:cNvSpPr/>
          <p:nvPr/>
        </p:nvSpPr>
        <p:spPr>
          <a:xfrm>
            <a:off x="6926635" y="2761794"/>
            <a:ext cx="535405" cy="2843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3" b="1" dirty="0">
                <a:solidFill>
                  <a:srgbClr val="696A6A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Log non-material</a:t>
            </a:r>
            <a:endParaRPr lang="en-US" sz="543" dirty="0"/>
          </a:p>
          <a:p>
            <a:pPr algn="ctr" indent="0" marL="0">
              <a:buNone/>
            </a:pPr>
            <a:r>
              <a:rPr lang="en-US" sz="543" b="1" dirty="0">
                <a:solidFill>
                  <a:srgbClr val="696A6A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changes and</a:t>
            </a:r>
            <a:endParaRPr lang="en-US" sz="543" dirty="0"/>
          </a:p>
          <a:p>
            <a:pPr algn="ctr" indent="0" marL="0">
              <a:buNone/>
            </a:pPr>
            <a:r>
              <a:rPr lang="en-US" sz="543" b="1" dirty="0">
                <a:solidFill>
                  <a:srgbClr val="696A6A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notify 2LoD</a:t>
            </a:r>
            <a:endParaRPr lang="en-US" sz="543" dirty="0"/>
          </a:p>
        </p:txBody>
      </p:sp>
      <p:sp>
        <p:nvSpPr>
          <p:cNvPr id="145" name="Text 75"/>
          <p:cNvSpPr/>
          <p:nvPr/>
        </p:nvSpPr>
        <p:spPr>
          <a:xfrm>
            <a:off x="2723512" y="3040708"/>
            <a:ext cx="505326" cy="4757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6" b="1" dirty="0">
                <a:solidFill>
                  <a:srgbClr val="70707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Very low risk</a:t>
            </a:r>
            <a:endParaRPr lang="en-US" sz="456" dirty="0"/>
          </a:p>
          <a:p>
            <a:pPr algn="l" indent="0" marL="0">
              <a:buNone/>
            </a:pPr>
            <a:r>
              <a:rPr lang="en-US" sz="456" b="1" dirty="0">
                <a:solidFill>
                  <a:srgbClr val="70707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 use cases may</a:t>
            </a:r>
            <a:endParaRPr lang="en-US" sz="456" dirty="0"/>
          </a:p>
          <a:p>
            <a:pPr algn="l" indent="0" marL="0">
              <a:buNone/>
            </a:pPr>
            <a:r>
              <a:rPr lang="en-US" sz="456" b="1" dirty="0">
                <a:solidFill>
                  <a:srgbClr val="70707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proceed at MO</a:t>
            </a:r>
            <a:endParaRPr lang="en-US" sz="456" dirty="0"/>
          </a:p>
          <a:p>
            <a:pPr algn="l" indent="0" marL="0">
              <a:buNone/>
            </a:pPr>
            <a:r>
              <a:rPr lang="en-US" sz="456" b="1" dirty="0">
                <a:solidFill>
                  <a:srgbClr val="70707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approval /</a:t>
            </a:r>
            <a:endParaRPr lang="en-US" sz="456" dirty="0"/>
          </a:p>
          <a:p>
            <a:pPr algn="l" indent="0" marL="0">
              <a:buNone/>
            </a:pPr>
            <a:r>
              <a:rPr lang="en-US" sz="456" b="1" dirty="0">
                <a:solidFill>
                  <a:srgbClr val="70707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attestation.</a:t>
            </a:r>
            <a:endParaRPr lang="en-US" sz="456" dirty="0"/>
          </a:p>
        </p:txBody>
      </p:sp>
      <p:sp>
        <p:nvSpPr>
          <p:cNvPr id="146" name="Text 76"/>
          <p:cNvSpPr/>
          <p:nvPr/>
        </p:nvSpPr>
        <p:spPr>
          <a:xfrm>
            <a:off x="2728981" y="2925861"/>
            <a:ext cx="224225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6" dirty="0">
                <a:solidFill>
                  <a:srgbClr val="6666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</a:t>
            </a:r>
            <a:endParaRPr lang="en-US" sz="646" dirty="0"/>
          </a:p>
        </p:txBody>
      </p:sp>
      <p:sp>
        <p:nvSpPr>
          <p:cNvPr id="147" name="Text 77"/>
          <p:cNvSpPr/>
          <p:nvPr/>
        </p:nvSpPr>
        <p:spPr>
          <a:xfrm>
            <a:off x="6611900" y="2138340"/>
            <a:ext cx="433137" cy="267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7" dirty="0">
                <a:solidFill>
                  <a:srgbClr val="6E6E6F"/>
                </a:solidFill>
                <a:latin typeface="Cabin Sketch" pitchFamily="34" charset="0"/>
                <a:ea typeface="Cabin Sketch" pitchFamily="34" charset="-122"/>
                <a:cs typeface="Cabin Sketch" pitchFamily="34" charset="-120"/>
              </a:rPr>
              <a:t>Change is</a:t>
            </a:r>
            <a:endParaRPr lang="en-US" sz="517" dirty="0"/>
          </a:p>
          <a:p>
            <a:pPr algn="l" indent="0" marL="0">
              <a:buNone/>
            </a:pPr>
            <a:r>
              <a:rPr lang="en-US" sz="517" dirty="0">
                <a:solidFill>
                  <a:srgbClr val="6E6E6F"/>
                </a:solidFill>
                <a:latin typeface="Cabin Sketch" pitchFamily="34" charset="0"/>
                <a:ea typeface="Cabin Sketch" pitchFamily="34" charset="-122"/>
                <a:cs typeface="Cabin Sketch" pitchFamily="34" charset="-120"/>
              </a:rPr>
              <a:t>identified and</a:t>
            </a:r>
            <a:endParaRPr lang="en-US" sz="517" dirty="0"/>
          </a:p>
          <a:p>
            <a:pPr algn="l" indent="0" marL="0">
              <a:buNone/>
            </a:pPr>
            <a:r>
              <a:rPr lang="en-US" sz="517" dirty="0">
                <a:solidFill>
                  <a:srgbClr val="6E6E6F"/>
                </a:solidFill>
                <a:latin typeface="Cabin Sketch" pitchFamily="34" charset="0"/>
                <a:ea typeface="Cabin Sketch" pitchFamily="34" charset="-122"/>
                <a:cs typeface="Cabin Sketch" pitchFamily="34" charset="-120"/>
              </a:rPr>
              <a:t>logged</a:t>
            </a:r>
            <a:endParaRPr lang="en-US" sz="517" dirty="0"/>
          </a:p>
        </p:txBody>
      </p:sp>
      <p:sp>
        <p:nvSpPr>
          <p:cNvPr id="148" name="Text 78"/>
          <p:cNvSpPr/>
          <p:nvPr/>
        </p:nvSpPr>
        <p:spPr>
          <a:xfrm>
            <a:off x="2723512" y="1974273"/>
            <a:ext cx="607595" cy="7328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3" b="1" dirty="0">
                <a:solidFill>
                  <a:srgbClr val="71717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Typical risk use</a:t>
            </a:r>
            <a:endParaRPr lang="en-US" sz="543" dirty="0"/>
          </a:p>
          <a:p>
            <a:pPr algn="l" indent="0" marL="0">
              <a:buNone/>
            </a:pPr>
            <a:r>
              <a:rPr lang="en-US" sz="543" b="1" dirty="0">
                <a:solidFill>
                  <a:srgbClr val="71717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cases proceed</a:t>
            </a:r>
            <a:endParaRPr lang="en-US" sz="543" dirty="0"/>
          </a:p>
          <a:p>
            <a:pPr algn="l" indent="0" marL="0">
              <a:buNone/>
            </a:pPr>
            <a:r>
              <a:rPr lang="en-US" sz="543" b="1" dirty="0">
                <a:solidFill>
                  <a:srgbClr val="71717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through the</a:t>
            </a:r>
            <a:endParaRPr lang="en-US" sz="543" dirty="0"/>
          </a:p>
          <a:p>
            <a:pPr algn="l" indent="0" marL="0">
              <a:buNone/>
            </a:pPr>
            <a:r>
              <a:rPr lang="en-US" sz="543" b="1" dirty="0">
                <a:solidFill>
                  <a:srgbClr val="71717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standard</a:t>
            </a:r>
            <a:endParaRPr lang="en-US" sz="543" dirty="0"/>
          </a:p>
          <a:p>
            <a:pPr algn="l" indent="0" marL="0">
              <a:buNone/>
            </a:pPr>
            <a:r>
              <a:rPr lang="en-US" sz="543" b="1" dirty="0">
                <a:solidFill>
                  <a:srgbClr val="71717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governance route</a:t>
            </a:r>
            <a:endParaRPr lang="en-US" sz="543" dirty="0"/>
          </a:p>
          <a:p>
            <a:pPr algn="l" indent="0" marL="0">
              <a:buNone/>
            </a:pPr>
            <a:r>
              <a:rPr lang="en-US" sz="543" b="1" dirty="0">
                <a:solidFill>
                  <a:srgbClr val="71717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and identify which</a:t>
            </a:r>
            <a:endParaRPr lang="en-US" sz="543" dirty="0"/>
          </a:p>
          <a:p>
            <a:pPr algn="l" indent="0" marL="0">
              <a:buNone/>
            </a:pPr>
            <a:r>
              <a:rPr lang="en-US" sz="543" b="1" dirty="0">
                <a:solidFill>
                  <a:srgbClr val="71717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2LoD teams need</a:t>
            </a:r>
            <a:endParaRPr lang="en-US" sz="543" dirty="0"/>
          </a:p>
          <a:p>
            <a:pPr algn="l" indent="0" marL="0">
              <a:buNone/>
            </a:pPr>
            <a:r>
              <a:rPr lang="en-US" sz="543" b="1" dirty="0">
                <a:solidFill>
                  <a:srgbClr val="71717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 be engaged.</a:t>
            </a:r>
            <a:endParaRPr lang="en-US" sz="543" dirty="0"/>
          </a:p>
        </p:txBody>
      </p:sp>
      <p:sp>
        <p:nvSpPr>
          <p:cNvPr id="149" name="Text 79"/>
          <p:cNvSpPr/>
          <p:nvPr/>
        </p:nvSpPr>
        <p:spPr>
          <a:xfrm>
            <a:off x="2723512" y="1859426"/>
            <a:ext cx="372979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7" b="1" dirty="0">
                <a:solidFill>
                  <a:srgbClr val="5A5A5A"/>
                </a:solidFill>
                <a:latin typeface="Zain" pitchFamily="34" charset="0"/>
                <a:ea typeface="Zain" pitchFamily="34" charset="-122"/>
                <a:cs typeface="Zain" pitchFamily="34" charset="-120"/>
              </a:rPr>
              <a:t>Standard</a:t>
            </a:r>
            <a:endParaRPr lang="en-US" sz="637" dirty="0"/>
          </a:p>
        </p:txBody>
      </p:sp>
      <p:sp>
        <p:nvSpPr>
          <p:cNvPr id="150" name="Text 80"/>
          <p:cNvSpPr/>
          <p:nvPr/>
        </p:nvSpPr>
        <p:spPr>
          <a:xfrm>
            <a:off x="6617368" y="1389100"/>
            <a:ext cx="577516" cy="2789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9" dirty="0">
                <a:solidFill>
                  <a:srgbClr val="6E6E6E"/>
                </a:solidFill>
                <a:latin typeface="Cabin Sketch" pitchFamily="34" charset="0"/>
                <a:ea typeface="Cabin Sketch" pitchFamily="34" charset="-122"/>
                <a:cs typeface="Cabin Sketch" pitchFamily="34" charset="-120"/>
              </a:rPr>
              <a:t>Root cause analysis</a:t>
            </a:r>
            <a:endParaRPr lang="en-US" sz="469" dirty="0"/>
          </a:p>
          <a:p>
            <a:pPr algn="l" indent="0" marL="0">
              <a:buNone/>
            </a:pPr>
            <a:r>
              <a:rPr lang="en-US" sz="469" dirty="0">
                <a:solidFill>
                  <a:srgbClr val="6E6E6E"/>
                </a:solidFill>
                <a:latin typeface="Cabin Sketch" pitchFamily="34" charset="0"/>
                <a:ea typeface="Cabin Sketch" pitchFamily="34" charset="-122"/>
                <a:cs typeface="Cabin Sketch" pitchFamily="34" charset="-120"/>
              </a:rPr>
              <a:t>and solution</a:t>
            </a:r>
            <a:endParaRPr lang="en-US" sz="469" dirty="0"/>
          </a:p>
          <a:p>
            <a:pPr algn="l" indent="0" marL="0">
              <a:buNone/>
            </a:pPr>
            <a:r>
              <a:rPr lang="en-US" sz="469" dirty="0">
                <a:solidFill>
                  <a:srgbClr val="6E6E6E"/>
                </a:solidFill>
                <a:latin typeface="Cabin Sketch" pitchFamily="34" charset="0"/>
                <a:ea typeface="Cabin Sketch" pitchFamily="34" charset="-122"/>
                <a:cs typeface="Cabin Sketch" pitchFamily="34" charset="-120"/>
              </a:rPr>
              <a:t>identification</a:t>
            </a:r>
            <a:endParaRPr lang="en-US" sz="469" dirty="0"/>
          </a:p>
        </p:txBody>
      </p:sp>
      <p:sp>
        <p:nvSpPr>
          <p:cNvPr id="151" name="Text 81"/>
          <p:cNvSpPr/>
          <p:nvPr/>
        </p:nvSpPr>
        <p:spPr>
          <a:xfrm>
            <a:off x="2723512" y="1443789"/>
            <a:ext cx="553453" cy="2843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1" dirty="0">
                <a:solidFill>
                  <a:srgbClr val="747474"/>
                </a:solidFill>
                <a:latin typeface="Alumni Sans" pitchFamily="34" charset="0"/>
                <a:ea typeface="Alumni Sans" pitchFamily="34" charset="-122"/>
                <a:cs typeface="Alumni Sans" pitchFamily="34" charset="-120"/>
              </a:rPr>
              <a:t>High-risk</a:t>
            </a:r>
            <a:endParaRPr lang="en-US" sz="711" dirty="0"/>
          </a:p>
          <a:p>
            <a:pPr algn="l" indent="0" marL="0">
              <a:buNone/>
            </a:pPr>
            <a:r>
              <a:rPr lang="en-US" sz="711" dirty="0">
                <a:solidFill>
                  <a:srgbClr val="747474"/>
                </a:solidFill>
                <a:latin typeface="Alumni Sans" pitchFamily="34" charset="0"/>
                <a:ea typeface="Alumni Sans" pitchFamily="34" charset="-122"/>
                <a:cs typeface="Alumni Sans" pitchFamily="34" charset="-120"/>
              </a:rPr>
              <a:t>indicators trigger</a:t>
            </a:r>
            <a:endParaRPr lang="en-US" sz="711" dirty="0"/>
          </a:p>
          <a:p>
            <a:pPr algn="l" indent="0" marL="0">
              <a:buNone/>
            </a:pPr>
            <a:r>
              <a:rPr lang="en-US" sz="711" dirty="0">
                <a:solidFill>
                  <a:srgbClr val="747474"/>
                </a:solidFill>
                <a:latin typeface="Alumni Sans" pitchFamily="34" charset="0"/>
                <a:ea typeface="Alumni Sans" pitchFamily="34" charset="-122"/>
                <a:cs typeface="Alumni Sans" pitchFamily="34" charset="-120"/>
              </a:rPr>
              <a:t>initial review.</a:t>
            </a:r>
            <a:endParaRPr lang="en-US" sz="711" dirty="0"/>
          </a:p>
        </p:txBody>
      </p:sp>
      <p:sp>
        <p:nvSpPr>
          <p:cNvPr id="152" name="Text 82"/>
          <p:cNvSpPr/>
          <p:nvPr/>
        </p:nvSpPr>
        <p:spPr>
          <a:xfrm>
            <a:off x="4030579" y="1235971"/>
            <a:ext cx="1431758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5D5D5E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Block/No Go/Direction of change</a:t>
            </a:r>
            <a:endParaRPr lang="en-US" sz="624" dirty="0"/>
          </a:p>
        </p:txBody>
      </p:sp>
      <p:sp>
        <p:nvSpPr>
          <p:cNvPr id="153" name="Text 83"/>
          <p:cNvSpPr/>
          <p:nvPr/>
        </p:nvSpPr>
        <p:spPr>
          <a:xfrm>
            <a:off x="2728981" y="1323474"/>
            <a:ext cx="409074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5C5C5D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Enhanced</a:t>
            </a:r>
            <a:endParaRPr lang="en-US" sz="810" dirty="0"/>
          </a:p>
        </p:txBody>
      </p:sp>
      <p:pic>
        <p:nvPicPr>
          <p:cNvPr id="154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826612" y="2149278"/>
            <a:ext cx="317196" cy="333603"/>
          </a:xfrm>
          <a:prstGeom prst="rect">
            <a:avLst/>
          </a:prstGeom>
        </p:spPr>
      </p:pic>
      <p:pic>
        <p:nvPicPr>
          <p:cNvPr id="155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0" y="426574"/>
            <a:ext cx="9144000" cy="459388"/>
          </a:xfrm>
          <a:prstGeom prst="rect">
            <a:avLst/>
          </a:prstGeom>
        </p:spPr>
      </p:pic>
      <p:sp>
        <p:nvSpPr>
          <p:cNvPr id="156" name="Shape 84"/>
          <p:cNvSpPr/>
          <p:nvPr/>
        </p:nvSpPr>
        <p:spPr>
          <a:xfrm>
            <a:off x="3095397" y="880493"/>
            <a:ext cx="3729789" cy="333603"/>
          </a:xfrm>
          <a:prstGeom prst="rect">
            <a:avLst/>
          </a:prstGeom>
          <a:solidFill>
            <a:srgbClr val="002C65"/>
          </a:solidFill>
          <a:ln/>
        </p:spPr>
      </p:sp>
      <p:sp>
        <p:nvSpPr>
          <p:cNvPr id="157" name="Text 85"/>
          <p:cNvSpPr/>
          <p:nvPr/>
        </p:nvSpPr>
        <p:spPr>
          <a:xfrm>
            <a:off x="4030579" y="907837"/>
            <a:ext cx="2195763" cy="1531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7" b="1" dirty="0">
                <a:solidFill>
                  <a:srgbClr val="C2CBDA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Al Risk Oversight target workflow</a:t>
            </a:r>
            <a:endParaRPr lang="en-US" sz="1167" dirty="0"/>
          </a:p>
        </p:txBody>
      </p:sp>
      <p:sp>
        <p:nvSpPr>
          <p:cNvPr id="158" name="Text 86"/>
          <p:cNvSpPr/>
          <p:nvPr/>
        </p:nvSpPr>
        <p:spPr>
          <a:xfrm>
            <a:off x="3423531" y="1060967"/>
            <a:ext cx="3429000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1" dirty="0">
                <a:solidFill>
                  <a:srgbClr val="ADB9CC"/>
                </a:solidFill>
                <a:latin typeface="Livvic" pitchFamily="34" charset="0"/>
                <a:ea typeface="Livvic" pitchFamily="34" charset="-122"/>
                <a:cs typeface="Livvic" pitchFamily="34" charset="-120"/>
              </a:rPr>
              <a:t>End-to-end triage, specialist input, final assessment and evidence</a:t>
            </a:r>
            <a:endParaRPr lang="en-US" sz="831" dirty="0"/>
          </a:p>
        </p:txBody>
      </p:sp>
      <p:sp>
        <p:nvSpPr>
          <p:cNvPr id="159" name="Text 87"/>
          <p:cNvSpPr/>
          <p:nvPr/>
        </p:nvSpPr>
        <p:spPr>
          <a:xfrm>
            <a:off x="902368" y="492201"/>
            <a:ext cx="6100011" cy="3117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9" dirty="0">
                <a:solidFill>
                  <a:srgbClr val="484949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This process view shows how the single 2LoD front door works in practice -</a:t>
            </a:r>
            <a:endParaRPr lang="en-US" sz="969" dirty="0"/>
          </a:p>
          <a:p>
            <a:pPr algn="l" indent="0" marL="0">
              <a:buNone/>
            </a:pPr>
            <a:r>
              <a:rPr lang="en-US" sz="969" dirty="0">
                <a:solidFill>
                  <a:srgbClr val="484949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from triage and early engagement through live operation, incident handling and change re-assessment.</a:t>
            </a:r>
            <a:endParaRPr lang="en-US" sz="969" dirty="0"/>
          </a:p>
        </p:txBody>
      </p:sp>
      <p:pic>
        <p:nvPicPr>
          <p:cNvPr id="160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57038" y="426574"/>
            <a:ext cx="475794" cy="475794"/>
          </a:xfrm>
          <a:prstGeom prst="rect">
            <a:avLst/>
          </a:prstGeom>
        </p:spPr>
      </p:pic>
      <p:sp>
        <p:nvSpPr>
          <p:cNvPr id="161" name="Shape 88"/>
          <p:cNvSpPr/>
          <p:nvPr/>
        </p:nvSpPr>
        <p:spPr>
          <a:xfrm>
            <a:off x="164067" y="3789947"/>
            <a:ext cx="1771923" cy="481263"/>
          </a:xfrm>
          <a:prstGeom prst="rect">
            <a:avLst/>
          </a:prstGeom>
          <a:solidFill>
            <a:srgbClr val="ECF2E9"/>
          </a:solidFill>
          <a:ln/>
        </p:spPr>
      </p:sp>
      <p:sp>
        <p:nvSpPr>
          <p:cNvPr id="162" name="Text 89"/>
          <p:cNvSpPr/>
          <p:nvPr/>
        </p:nvSpPr>
        <p:spPr>
          <a:xfrm>
            <a:off x="530483" y="3986828"/>
            <a:ext cx="1251284" cy="2461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E605D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streamline upfront triage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5E605D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and intake / ingestion</a:t>
            </a:r>
            <a:endParaRPr lang="en-US" sz="810" dirty="0"/>
          </a:p>
        </p:txBody>
      </p:sp>
      <p:sp>
        <p:nvSpPr>
          <p:cNvPr id="163" name="Text 90"/>
          <p:cNvSpPr/>
          <p:nvPr/>
        </p:nvSpPr>
        <p:spPr>
          <a:xfrm>
            <a:off x="530483" y="3855574"/>
            <a:ext cx="860258" cy="1148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1" b="1" dirty="0">
                <a:solidFill>
                  <a:srgbClr val="4A6B4E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Current priority:</a:t>
            </a:r>
            <a:endParaRPr lang="en-US" sz="801" dirty="0"/>
          </a:p>
        </p:txBody>
      </p:sp>
      <p:pic>
        <p:nvPicPr>
          <p:cNvPr id="164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4225" y="3844636"/>
            <a:ext cx="246100" cy="246100"/>
          </a:xfrm>
          <a:prstGeom prst="rect">
            <a:avLst/>
          </a:prstGeom>
        </p:spPr>
      </p:pic>
      <p:sp>
        <p:nvSpPr>
          <p:cNvPr id="165" name="Shape 91"/>
          <p:cNvSpPr/>
          <p:nvPr/>
        </p:nvSpPr>
        <p:spPr>
          <a:xfrm>
            <a:off x="164067" y="3122742"/>
            <a:ext cx="1771923" cy="596110"/>
          </a:xfrm>
          <a:prstGeom prst="rect">
            <a:avLst/>
          </a:prstGeom>
          <a:solidFill>
            <a:srgbClr val="FCEAC1"/>
          </a:solidFill>
          <a:ln/>
        </p:spPr>
      </p:sp>
      <p:pic>
        <p:nvPicPr>
          <p:cNvPr id="166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24225" y="3182900"/>
            <a:ext cx="218756" cy="218756"/>
          </a:xfrm>
          <a:prstGeom prst="rect">
            <a:avLst/>
          </a:prstGeom>
        </p:spPr>
      </p:pic>
      <p:sp>
        <p:nvSpPr>
          <p:cNvPr id="167" name="Text 92"/>
          <p:cNvSpPr/>
          <p:nvPr/>
        </p:nvSpPr>
        <p:spPr>
          <a:xfrm>
            <a:off x="508608" y="3450876"/>
            <a:ext cx="1341521" cy="2461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7" dirty="0">
                <a:solidFill>
                  <a:srgbClr val="625C4B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Upfront intake and ingestion</a:t>
            </a:r>
            <a:endParaRPr lang="en-US" sz="767" dirty="0"/>
          </a:p>
          <a:p>
            <a:pPr algn="l" indent="0" marL="0">
              <a:buNone/>
            </a:pPr>
            <a:r>
              <a:rPr lang="en-US" sz="767" dirty="0">
                <a:solidFill>
                  <a:srgbClr val="625C4B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are now a top priority.</a:t>
            </a:r>
            <a:endParaRPr lang="en-US" sz="767" dirty="0"/>
          </a:p>
        </p:txBody>
      </p:sp>
      <p:sp>
        <p:nvSpPr>
          <p:cNvPr id="168" name="Text 93"/>
          <p:cNvSpPr/>
          <p:nvPr/>
        </p:nvSpPr>
        <p:spPr>
          <a:xfrm>
            <a:off x="508608" y="3314153"/>
            <a:ext cx="1311442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514C3E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intake &amp; ingestion focus</a:t>
            </a:r>
            <a:endParaRPr lang="en-US" sz="848" dirty="0"/>
          </a:p>
        </p:txBody>
      </p:sp>
      <p:sp>
        <p:nvSpPr>
          <p:cNvPr id="169" name="Text 94"/>
          <p:cNvSpPr/>
          <p:nvPr/>
        </p:nvSpPr>
        <p:spPr>
          <a:xfrm>
            <a:off x="1055498" y="3182900"/>
            <a:ext cx="469232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3" b="1" dirty="0">
                <a:solidFill>
                  <a:srgbClr val="443F3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stronger</a:t>
            </a:r>
            <a:endParaRPr lang="en-US" sz="853" dirty="0"/>
          </a:p>
        </p:txBody>
      </p:sp>
      <p:sp>
        <p:nvSpPr>
          <p:cNvPr id="170" name="Text 95"/>
          <p:cNvSpPr/>
          <p:nvPr/>
        </p:nvSpPr>
        <p:spPr>
          <a:xfrm>
            <a:off x="514077" y="3177431"/>
            <a:ext cx="577516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4" b="1" dirty="0">
                <a:solidFill>
                  <a:srgbClr val="C55A3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UPDATED:</a:t>
            </a:r>
            <a:endParaRPr lang="en-US" sz="844" dirty="0"/>
          </a:p>
        </p:txBody>
      </p:sp>
      <p:sp>
        <p:nvSpPr>
          <p:cNvPr id="171" name="Shape 96"/>
          <p:cNvSpPr/>
          <p:nvPr/>
        </p:nvSpPr>
        <p:spPr>
          <a:xfrm>
            <a:off x="6825187" y="87502"/>
            <a:ext cx="2165684" cy="278914"/>
          </a:xfrm>
          <a:prstGeom prst="rect">
            <a:avLst/>
          </a:prstGeom>
          <a:solidFill>
            <a:srgbClr val="F4F8F4"/>
          </a:solidFill>
          <a:ln/>
        </p:spPr>
      </p:sp>
      <p:pic>
        <p:nvPicPr>
          <p:cNvPr id="172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6896282" y="158598"/>
            <a:ext cx="153129" cy="147660"/>
          </a:xfrm>
          <a:prstGeom prst="rect">
            <a:avLst/>
          </a:prstGeom>
        </p:spPr>
      </p:pic>
      <p:sp>
        <p:nvSpPr>
          <p:cNvPr id="173" name="Text 97"/>
          <p:cNvSpPr/>
          <p:nvPr/>
        </p:nvSpPr>
        <p:spPr>
          <a:xfrm>
            <a:off x="7131445" y="164067"/>
            <a:ext cx="1943100" cy="136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2" b="1" dirty="0">
                <a:solidFill>
                  <a:srgbClr val="53765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UPDATED BASED ON AIRO FEEDBACK</a:t>
            </a:r>
            <a:endParaRPr lang="en-US" sz="762" dirty="0"/>
          </a:p>
        </p:txBody>
      </p:sp>
      <p:sp>
        <p:nvSpPr>
          <p:cNvPr id="174" name="Text 98"/>
          <p:cNvSpPr/>
          <p:nvPr/>
        </p:nvSpPr>
        <p:spPr>
          <a:xfrm>
            <a:off x="175005" y="60158"/>
            <a:ext cx="6996363" cy="35001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18" b="1" dirty="0">
                <a:solidFill>
                  <a:srgbClr val="24302B"/>
                </a:solidFill>
                <a:latin typeface="DM Serif Text" pitchFamily="34" charset="0"/>
                <a:ea typeface="DM Serif Text" pitchFamily="34" charset="-122"/>
                <a:cs typeface="DM Serif Text" pitchFamily="34" charset="-120"/>
              </a:rPr>
              <a:t>How the Operating Model Works in Practice</a:t>
            </a:r>
            <a:endParaRPr lang="en-US" sz="2618" dirty="0"/>
          </a:p>
        </p:txBody>
      </p:sp>
      <p:pic>
        <p:nvPicPr>
          <p:cNvPr id="175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0" y="5140766"/>
            <a:ext cx="9144000" cy="54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623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90024" y="4107144"/>
            <a:ext cx="2461005" cy="946120"/>
          </a:xfrm>
          <a:prstGeom prst="rect">
            <a:avLst/>
          </a:prstGeom>
          <a:solidFill>
            <a:srgbClr val="FDFDFC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933" y="4834507"/>
            <a:ext cx="114847" cy="11484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644713" y="4473560"/>
            <a:ext cx="2346158" cy="289852"/>
          </a:xfrm>
          <a:prstGeom prst="rect">
            <a:avLst/>
          </a:prstGeom>
          <a:solidFill>
            <a:srgbClr val="FCF5E5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402" y="4495435"/>
            <a:ext cx="164067" cy="16406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934565" y="4500904"/>
            <a:ext cx="1949116" cy="2461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1" b="1" dirty="0">
                <a:solidFill>
                  <a:srgbClr val="5A5B57"/>
                </a:solidFill>
                <a:latin typeface="Asap" pitchFamily="34" charset="0"/>
                <a:ea typeface="Asap" pitchFamily="34" charset="-122"/>
                <a:cs typeface="Asap" pitchFamily="34" charset="-120"/>
              </a:rPr>
              <a:t>UPDATED: Intake &amp; ingestion strengthened –</a:t>
            </a:r>
            <a:endParaRPr lang="en-US" sz="711" dirty="0"/>
          </a:p>
          <a:p>
            <a:pPr algn="l" indent="0" marL="0">
              <a:buNone/>
            </a:pPr>
            <a:r>
              <a:rPr lang="en-US" sz="711" b="1" dirty="0">
                <a:solidFill>
                  <a:srgbClr val="5A5B57"/>
                </a:solidFill>
                <a:latin typeface="Asap" pitchFamily="34" charset="0"/>
                <a:ea typeface="Asap" pitchFamily="34" charset="-122"/>
                <a:cs typeface="Asap" pitchFamily="34" charset="-120"/>
              </a:rPr>
              <a:t>stronger upfront focus and support</a:t>
            </a:r>
            <a:endParaRPr lang="en-US" sz="711" dirty="0"/>
          </a:p>
        </p:txBody>
      </p:sp>
      <p:sp>
        <p:nvSpPr>
          <p:cNvPr id="8" name="Shape 3"/>
          <p:cNvSpPr/>
          <p:nvPr/>
        </p:nvSpPr>
        <p:spPr>
          <a:xfrm>
            <a:off x="6644713" y="4167301"/>
            <a:ext cx="2346158" cy="289852"/>
          </a:xfrm>
          <a:prstGeom prst="rect">
            <a:avLst/>
          </a:prstGeom>
          <a:solidFill>
            <a:srgbClr val="FCF4E4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402" y="4189177"/>
            <a:ext cx="164067" cy="16406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34565" y="4325900"/>
            <a:ext cx="806116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5" b="1" dirty="0">
                <a:solidFill>
                  <a:srgbClr val="5958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the lifecycle</a:t>
            </a:r>
            <a:endParaRPr lang="en-US" sz="655" dirty="0"/>
          </a:p>
        </p:txBody>
      </p:sp>
      <p:sp>
        <p:nvSpPr>
          <p:cNvPr id="11" name="Text 5"/>
          <p:cNvSpPr/>
          <p:nvPr/>
        </p:nvSpPr>
        <p:spPr>
          <a:xfrm>
            <a:off x="7202541" y="4211053"/>
            <a:ext cx="1473868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7" b="1" dirty="0">
                <a:solidFill>
                  <a:srgbClr val="595854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Use case team interactions added</a:t>
            </a:r>
            <a:endParaRPr lang="en-US" sz="667" dirty="0"/>
          </a:p>
        </p:txBody>
      </p:sp>
      <p:sp>
        <p:nvSpPr>
          <p:cNvPr id="12" name="Text 6"/>
          <p:cNvSpPr/>
          <p:nvPr/>
        </p:nvSpPr>
        <p:spPr>
          <a:xfrm>
            <a:off x="6940033" y="4205584"/>
            <a:ext cx="278914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9" b="1" dirty="0">
                <a:solidFill>
                  <a:srgbClr val="EE724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NEW:</a:t>
            </a:r>
            <a:endParaRPr lang="en-US" sz="779" dirty="0"/>
          </a:p>
        </p:txBody>
      </p:sp>
      <p:sp>
        <p:nvSpPr>
          <p:cNvPr id="13" name="Shape 7"/>
          <p:cNvSpPr/>
          <p:nvPr/>
        </p:nvSpPr>
        <p:spPr>
          <a:xfrm>
            <a:off x="6590024" y="3970421"/>
            <a:ext cx="2455536" cy="147660"/>
          </a:xfrm>
          <a:prstGeom prst="rect">
            <a:avLst/>
          </a:prstGeom>
          <a:solidFill>
            <a:srgbClr val="DC4901"/>
          </a:solidFill>
          <a:ln/>
        </p:spPr>
      </p:sp>
      <p:sp>
        <p:nvSpPr>
          <p:cNvPr id="14" name="Text 8"/>
          <p:cNvSpPr/>
          <p:nvPr/>
        </p:nvSpPr>
        <p:spPr>
          <a:xfrm>
            <a:off x="7115038" y="3986828"/>
            <a:ext cx="1479884" cy="1148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F3BEA4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Visible updates in this version</a:t>
            </a:r>
            <a:endParaRPr lang="en-US" sz="792" dirty="0"/>
          </a:p>
        </p:txBody>
      </p:sp>
      <p:sp>
        <p:nvSpPr>
          <p:cNvPr id="15" name="Text 9"/>
          <p:cNvSpPr/>
          <p:nvPr/>
        </p:nvSpPr>
        <p:spPr>
          <a:xfrm>
            <a:off x="6929096" y="4845445"/>
            <a:ext cx="1894974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646565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Access management positioned as future state</a:t>
            </a:r>
            <a:endParaRPr lang="en-US" sz="655" dirty="0"/>
          </a:p>
        </p:txBody>
      </p:sp>
      <p:sp>
        <p:nvSpPr>
          <p:cNvPr id="16" name="Shape 10"/>
          <p:cNvSpPr/>
          <p:nvPr/>
        </p:nvSpPr>
        <p:spPr>
          <a:xfrm>
            <a:off x="3707914" y="4123550"/>
            <a:ext cx="2800077" cy="924244"/>
          </a:xfrm>
          <a:prstGeom prst="rect">
            <a:avLst/>
          </a:prstGeom>
          <a:solidFill>
            <a:srgbClr val="FDFDFE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574" y="4839976"/>
            <a:ext cx="103909" cy="109378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761" y="4785287"/>
            <a:ext cx="2543038" cy="32813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5574" y="4670440"/>
            <a:ext cx="103909" cy="109378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6354" y="4621220"/>
            <a:ext cx="2564914" cy="32813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5574" y="4506373"/>
            <a:ext cx="103909" cy="109378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7292" y="4457153"/>
            <a:ext cx="2548507" cy="32813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5574" y="4342306"/>
            <a:ext cx="103909" cy="109378"/>
          </a:xfrm>
          <a:prstGeom prst="rect">
            <a:avLst/>
          </a:prstGeom>
        </p:spPr>
      </p:pic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1823" y="4293086"/>
            <a:ext cx="2553976" cy="32813"/>
          </a:xfrm>
          <a:prstGeom prst="rect">
            <a:avLst/>
          </a:prstGeom>
        </p:spPr>
      </p:pic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50105" y="4178239"/>
            <a:ext cx="109378" cy="109378"/>
          </a:xfrm>
          <a:prstGeom prst="rect">
            <a:avLst/>
          </a:prstGeom>
        </p:spPr>
      </p:pic>
      <p:sp>
        <p:nvSpPr>
          <p:cNvPr id="26" name="Shape 11"/>
          <p:cNvSpPr/>
          <p:nvPr/>
        </p:nvSpPr>
        <p:spPr>
          <a:xfrm>
            <a:off x="3713383" y="3975890"/>
            <a:ext cx="2783670" cy="153129"/>
          </a:xfrm>
          <a:prstGeom prst="rect">
            <a:avLst/>
          </a:prstGeom>
          <a:solidFill>
            <a:srgbClr val="013112"/>
          </a:solidFill>
          <a:ln/>
        </p:spPr>
      </p:sp>
      <p:sp>
        <p:nvSpPr>
          <p:cNvPr id="27" name="Text 12"/>
          <p:cNvSpPr/>
          <p:nvPr/>
        </p:nvSpPr>
        <p:spPr>
          <a:xfrm>
            <a:off x="4391526" y="3992297"/>
            <a:ext cx="1552074" cy="1148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6" b="1" dirty="0">
                <a:solidFill>
                  <a:srgbClr val="ADBEB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What is NOT required for MVP</a:t>
            </a:r>
            <a:endParaRPr lang="en-US" sz="736" dirty="0"/>
          </a:p>
        </p:txBody>
      </p:sp>
      <p:sp>
        <p:nvSpPr>
          <p:cNvPr id="28" name="Text 13"/>
          <p:cNvSpPr/>
          <p:nvPr/>
        </p:nvSpPr>
        <p:spPr>
          <a:xfrm>
            <a:off x="4063392" y="4850914"/>
            <a:ext cx="2466474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9" dirty="0">
                <a:solidFill>
                  <a:srgbClr val="6C7479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Broader access management can be considered later (future state)</a:t>
            </a:r>
            <a:endParaRPr lang="en-US" sz="599" dirty="0"/>
          </a:p>
        </p:txBody>
      </p:sp>
      <p:sp>
        <p:nvSpPr>
          <p:cNvPr id="29" name="Text 14"/>
          <p:cNvSpPr/>
          <p:nvPr/>
        </p:nvSpPr>
        <p:spPr>
          <a:xfrm>
            <a:off x="4063392" y="4681378"/>
            <a:ext cx="1684421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dirty="0">
                <a:solidFill>
                  <a:srgbClr val="617077"/>
                </a:solidFill>
                <a:latin typeface="Overlock" pitchFamily="34" charset="0"/>
                <a:ea typeface="Overlock" pitchFamily="34" charset="-122"/>
                <a:cs typeface="Overlock" pitchFamily="34" charset="-120"/>
              </a:rPr>
              <a:t>Can start with existing collaboration channels</a:t>
            </a:r>
            <a:endParaRPr lang="en-US" sz="564" dirty="0"/>
          </a:p>
        </p:txBody>
      </p:sp>
      <p:sp>
        <p:nvSpPr>
          <p:cNvPr id="30" name="Text 15"/>
          <p:cNvSpPr/>
          <p:nvPr/>
        </p:nvSpPr>
        <p:spPr>
          <a:xfrm>
            <a:off x="4063392" y="4517311"/>
            <a:ext cx="1509963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dirty="0">
                <a:solidFill>
                  <a:srgbClr val="6875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need for deep integration on day one</a:t>
            </a:r>
            <a:endParaRPr lang="en-US" sz="564" dirty="0"/>
          </a:p>
        </p:txBody>
      </p:sp>
      <p:sp>
        <p:nvSpPr>
          <p:cNvPr id="31" name="Text 16"/>
          <p:cNvSpPr/>
          <p:nvPr/>
        </p:nvSpPr>
        <p:spPr>
          <a:xfrm>
            <a:off x="4068861" y="4353244"/>
            <a:ext cx="1846847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4" dirty="0">
                <a:solidFill>
                  <a:srgbClr val="657379"/>
                </a:solidFill>
                <a:latin typeface="RocknRoll One" pitchFamily="34" charset="0"/>
                <a:ea typeface="RocknRoll One" pitchFamily="34" charset="-122"/>
                <a:cs typeface="RocknRoll One" pitchFamily="34" charset="-120"/>
              </a:rPr>
              <a:t>No need for every team to log into a new platform</a:t>
            </a:r>
            <a:endParaRPr lang="en-US" sz="504" dirty="0"/>
          </a:p>
        </p:txBody>
      </p:sp>
      <p:sp>
        <p:nvSpPr>
          <p:cNvPr id="32" name="Text 17"/>
          <p:cNvSpPr/>
          <p:nvPr/>
        </p:nvSpPr>
        <p:spPr>
          <a:xfrm>
            <a:off x="4063392" y="4183708"/>
            <a:ext cx="1804737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667176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No need to deploy the full tool to all 2LoD teams</a:t>
            </a:r>
            <a:endParaRPr lang="en-US" sz="590" dirty="0"/>
          </a:p>
        </p:txBody>
      </p:sp>
      <p:sp>
        <p:nvSpPr>
          <p:cNvPr id="33" name="Shape 18"/>
          <p:cNvSpPr/>
          <p:nvPr/>
        </p:nvSpPr>
        <p:spPr>
          <a:xfrm>
            <a:off x="82033" y="4118081"/>
            <a:ext cx="3538378" cy="929713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06335" y="4205584"/>
            <a:ext cx="207818" cy="246100"/>
          </a:xfrm>
          <a:prstGeom prst="rect">
            <a:avLst/>
          </a:prstGeom>
        </p:spPr>
      </p:pic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30541" y="4347775"/>
            <a:ext cx="218756" cy="60158"/>
          </a:xfrm>
          <a:prstGeom prst="rect">
            <a:avLst/>
          </a:prstGeom>
        </p:spPr>
      </p:pic>
      <p:pic>
        <p:nvPicPr>
          <p:cNvPr id="3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76622" y="4243866"/>
            <a:ext cx="306258" cy="213287"/>
          </a:xfrm>
          <a:prstGeom prst="rect">
            <a:avLst/>
          </a:prstGeom>
        </p:spPr>
      </p:pic>
      <p:pic>
        <p:nvPicPr>
          <p:cNvPr id="3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28172" y="4347775"/>
            <a:ext cx="218756" cy="60158"/>
          </a:xfrm>
          <a:prstGeom prst="rect">
            <a:avLst/>
          </a:prstGeom>
        </p:spPr>
      </p:pic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25033" y="4221990"/>
            <a:ext cx="289852" cy="262507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165708" y="4511842"/>
            <a:ext cx="565484" cy="4429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7" dirty="0">
                <a:solidFill>
                  <a:srgbClr val="656667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Input sources</a:t>
            </a:r>
            <a:endParaRPr lang="en-US" sz="577" dirty="0"/>
          </a:p>
          <a:p>
            <a:pPr algn="ctr" indent="0" marL="0">
              <a:buNone/>
            </a:pPr>
            <a:r>
              <a:rPr lang="en-US" sz="577" dirty="0">
                <a:solidFill>
                  <a:srgbClr val="656667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Forms, trackers,</a:t>
            </a:r>
            <a:endParaRPr lang="en-US" sz="577" dirty="0"/>
          </a:p>
          <a:p>
            <a:pPr algn="ctr" indent="0" marL="0">
              <a:buNone/>
            </a:pPr>
            <a:r>
              <a:rPr lang="en-US" sz="577" dirty="0">
                <a:solidFill>
                  <a:srgbClr val="656667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documentation,</a:t>
            </a:r>
            <a:endParaRPr lang="en-US" sz="577" dirty="0"/>
          </a:p>
          <a:p>
            <a:pPr algn="ctr" indent="0" marL="0">
              <a:buNone/>
            </a:pPr>
            <a:r>
              <a:rPr lang="en-US" sz="577" dirty="0">
                <a:solidFill>
                  <a:srgbClr val="656667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evidence</a:t>
            </a:r>
            <a:endParaRPr lang="en-US" sz="577" dirty="0"/>
          </a:p>
        </p:txBody>
      </p:sp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3770" y="4347775"/>
            <a:ext cx="224225" cy="60158"/>
          </a:xfrm>
          <a:prstGeom prst="rect">
            <a:avLst/>
          </a:prstGeom>
        </p:spPr>
      </p:pic>
      <p:pic>
        <p:nvPicPr>
          <p:cNvPr id="4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7976" y="4216522"/>
            <a:ext cx="300789" cy="267976"/>
          </a:xfrm>
          <a:prstGeom prst="rect">
            <a:avLst/>
          </a:prstGeom>
        </p:spPr>
      </p:pic>
      <p:sp>
        <p:nvSpPr>
          <p:cNvPr id="42" name="Shape 20"/>
          <p:cNvSpPr/>
          <p:nvPr/>
        </p:nvSpPr>
        <p:spPr>
          <a:xfrm>
            <a:off x="92971" y="3975890"/>
            <a:ext cx="3516502" cy="153129"/>
          </a:xfrm>
          <a:prstGeom prst="rect">
            <a:avLst/>
          </a:prstGeom>
          <a:solidFill>
            <a:srgbClr val="013111"/>
          </a:solidFill>
          <a:ln/>
        </p:spPr>
      </p:sp>
      <p:sp>
        <p:nvSpPr>
          <p:cNvPr id="43" name="Text 21"/>
          <p:cNvSpPr/>
          <p:nvPr/>
        </p:nvSpPr>
        <p:spPr>
          <a:xfrm>
            <a:off x="1296129" y="3992297"/>
            <a:ext cx="1305426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1" b="1" dirty="0">
                <a:solidFill>
                  <a:srgbClr val="A5B7AB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Practical design approach</a:t>
            </a:r>
            <a:endParaRPr lang="en-US" sz="801" dirty="0"/>
          </a:p>
        </p:txBody>
      </p:sp>
      <p:sp>
        <p:nvSpPr>
          <p:cNvPr id="44" name="Text 22"/>
          <p:cNvSpPr/>
          <p:nvPr/>
        </p:nvSpPr>
        <p:spPr>
          <a:xfrm>
            <a:off x="2953753" y="4681378"/>
            <a:ext cx="589547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7" dirty="0">
                <a:solidFill>
                  <a:srgbClr val="63676B"/>
                </a:solidFill>
                <a:latin typeface="Zain" pitchFamily="34" charset="0"/>
                <a:ea typeface="Zain" pitchFamily="34" charset="-122"/>
                <a:cs typeface="Zain" pitchFamily="34" charset="-120"/>
              </a:rPr>
              <a:t>Final record and</a:t>
            </a:r>
            <a:endParaRPr lang="en-US" sz="577" dirty="0"/>
          </a:p>
          <a:p>
            <a:pPr algn="ctr" indent="0" marL="0">
              <a:buNone/>
            </a:pPr>
            <a:r>
              <a:rPr lang="en-US" sz="577" dirty="0">
                <a:solidFill>
                  <a:srgbClr val="63676B"/>
                </a:solidFill>
                <a:latin typeface="Zain" pitchFamily="34" charset="0"/>
                <a:ea typeface="Zain" pitchFamily="34" charset="-122"/>
                <a:cs typeface="Zain" pitchFamily="34" charset="-120"/>
              </a:rPr>
              <a:t>audit trail</a:t>
            </a:r>
            <a:endParaRPr lang="en-US" sz="577" dirty="0"/>
          </a:p>
        </p:txBody>
      </p:sp>
      <p:sp>
        <p:nvSpPr>
          <p:cNvPr id="45" name="Text 23"/>
          <p:cNvSpPr/>
          <p:nvPr/>
        </p:nvSpPr>
        <p:spPr>
          <a:xfrm>
            <a:off x="2920392" y="4572000"/>
            <a:ext cx="685800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9" b="1" dirty="0">
                <a:solidFill>
                  <a:srgbClr val="5E5E60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evidence repository</a:t>
            </a:r>
            <a:endParaRPr lang="en-US" sz="599" dirty="0"/>
          </a:p>
        </p:txBody>
      </p:sp>
      <p:sp>
        <p:nvSpPr>
          <p:cNvPr id="46" name="Text 24"/>
          <p:cNvSpPr/>
          <p:nvPr/>
        </p:nvSpPr>
        <p:spPr>
          <a:xfrm>
            <a:off x="2024313" y="4643096"/>
            <a:ext cx="703847" cy="2296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77" dirty="0">
                <a:solidFill>
                  <a:srgbClr val="65696C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Where 2LoD teams</a:t>
            </a:r>
            <a:endParaRPr lang="en-US" sz="577" dirty="0"/>
          </a:p>
          <a:p>
            <a:pPr algn="ctr" indent="0" marL="0">
              <a:buNone/>
            </a:pPr>
            <a:r>
              <a:rPr lang="en-US" sz="577" dirty="0">
                <a:solidFill>
                  <a:srgbClr val="65696C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view and respond</a:t>
            </a:r>
            <a:endParaRPr lang="en-US" sz="577" dirty="0"/>
          </a:p>
        </p:txBody>
      </p:sp>
      <p:sp>
        <p:nvSpPr>
          <p:cNvPr id="47" name="Text 25"/>
          <p:cNvSpPr/>
          <p:nvPr/>
        </p:nvSpPr>
        <p:spPr>
          <a:xfrm>
            <a:off x="1089131" y="4637627"/>
            <a:ext cx="583532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7" b="1" dirty="0">
                <a:solidFill>
                  <a:srgbClr val="616A7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AIRO-led triage</a:t>
            </a:r>
            <a:endParaRPr lang="en-US" sz="607" dirty="0"/>
          </a:p>
          <a:p>
            <a:pPr algn="ctr" indent="0" marL="0">
              <a:buNone/>
            </a:pPr>
            <a:r>
              <a:rPr lang="en-US" sz="607" b="1" dirty="0">
                <a:solidFill>
                  <a:srgbClr val="616A7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workflow hub</a:t>
            </a:r>
            <a:endParaRPr lang="en-US" sz="607" dirty="0"/>
          </a:p>
        </p:txBody>
      </p:sp>
      <p:sp>
        <p:nvSpPr>
          <p:cNvPr id="48" name="Text 26"/>
          <p:cNvSpPr/>
          <p:nvPr/>
        </p:nvSpPr>
        <p:spPr>
          <a:xfrm>
            <a:off x="3013364" y="4468091"/>
            <a:ext cx="481263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4" b="1" dirty="0">
                <a:solidFill>
                  <a:srgbClr val="626365"/>
                </a:solidFill>
                <a:latin typeface="Zain" pitchFamily="34" charset="0"/>
                <a:ea typeface="Zain" pitchFamily="34" charset="-122"/>
                <a:cs typeface="Zain" pitchFamily="34" charset="-120"/>
              </a:rPr>
              <a:t>Assessment /</a:t>
            </a:r>
            <a:endParaRPr lang="en-US" sz="594" dirty="0"/>
          </a:p>
        </p:txBody>
      </p:sp>
      <p:sp>
        <p:nvSpPr>
          <p:cNvPr id="49" name="Text 27"/>
          <p:cNvSpPr/>
          <p:nvPr/>
        </p:nvSpPr>
        <p:spPr>
          <a:xfrm>
            <a:off x="1957866" y="4517311"/>
            <a:ext cx="902368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9" b="1" dirty="0">
                <a:solidFill>
                  <a:srgbClr val="606264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Shared review workspace</a:t>
            </a:r>
            <a:endParaRPr lang="en-US" sz="599" dirty="0"/>
          </a:p>
        </p:txBody>
      </p:sp>
      <p:sp>
        <p:nvSpPr>
          <p:cNvPr id="50" name="Text 28"/>
          <p:cNvSpPr/>
          <p:nvPr/>
        </p:nvSpPr>
        <p:spPr>
          <a:xfrm>
            <a:off x="1077373" y="4517311"/>
            <a:ext cx="649705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6" dirty="0">
                <a:solidFill>
                  <a:srgbClr val="5B5E60"/>
                </a:solidFill>
                <a:latin typeface="Belanosima" pitchFamily="34" charset="0"/>
                <a:ea typeface="Belanosima" pitchFamily="34" charset="-122"/>
                <a:cs typeface="Belanosima" pitchFamily="34" charset="-120"/>
              </a:rPr>
              <a:t>AIRO triaging tool</a:t>
            </a:r>
            <a:endParaRPr lang="en-US" sz="616" dirty="0"/>
          </a:p>
        </p:txBody>
      </p:sp>
      <p:sp>
        <p:nvSpPr>
          <p:cNvPr id="51" name="Shape 29"/>
          <p:cNvSpPr/>
          <p:nvPr/>
        </p:nvSpPr>
        <p:spPr>
          <a:xfrm>
            <a:off x="7765837" y="1148469"/>
            <a:ext cx="1296129" cy="2767263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52" name="Text 30"/>
          <p:cNvSpPr/>
          <p:nvPr/>
        </p:nvSpPr>
        <p:spPr>
          <a:xfrm>
            <a:off x="8203349" y="3543847"/>
            <a:ext cx="751974" cy="235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A6B6C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Evidence trail and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6A6B6C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final outcome record</a:t>
            </a:r>
            <a:endParaRPr lang="en-US" sz="65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9746" y="3521971"/>
            <a:ext cx="207818" cy="262507"/>
          </a:xfrm>
          <a:prstGeom prst="rect">
            <a:avLst/>
          </a:prstGeom>
        </p:spPr>
      </p:pic>
      <p:pic>
        <p:nvPicPr>
          <p:cNvPr id="5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36933" y="3434469"/>
            <a:ext cx="1132062" cy="21876"/>
          </a:xfrm>
          <a:prstGeom prst="rect">
            <a:avLst/>
          </a:prstGeom>
        </p:spPr>
      </p:pic>
      <p:sp>
        <p:nvSpPr>
          <p:cNvPr id="55" name="Text 31"/>
          <p:cNvSpPr/>
          <p:nvPr/>
        </p:nvSpPr>
        <p:spPr>
          <a:xfrm>
            <a:off x="8197880" y="3106335"/>
            <a:ext cx="745958" cy="2296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5" b="1" dirty="0">
                <a:solidFill>
                  <a:srgbClr val="5C5D5E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Assessment capture</a:t>
            </a:r>
            <a:endParaRPr lang="en-US" sz="655" dirty="0"/>
          </a:p>
          <a:p>
            <a:pPr algn="l" indent="0" marL="0">
              <a:buNone/>
            </a:pPr>
            <a:r>
              <a:rPr lang="en-US" sz="655" b="1" dirty="0">
                <a:solidFill>
                  <a:srgbClr val="5C5D5E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and consolidation</a:t>
            </a:r>
            <a:endParaRPr lang="en-US" sz="655" dirty="0"/>
          </a:p>
        </p:txBody>
      </p:sp>
      <p:pic>
        <p:nvPicPr>
          <p:cNvPr id="5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75215" y="3057115"/>
            <a:ext cx="202349" cy="306258"/>
          </a:xfrm>
          <a:prstGeom prst="rect">
            <a:avLst/>
          </a:prstGeom>
        </p:spPr>
      </p:pic>
      <p:pic>
        <p:nvPicPr>
          <p:cNvPr id="5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31464" y="2986019"/>
            <a:ext cx="1137531" cy="32813"/>
          </a:xfrm>
          <a:prstGeom prst="rect">
            <a:avLst/>
          </a:prstGeom>
        </p:spPr>
      </p:pic>
      <p:sp>
        <p:nvSpPr>
          <p:cNvPr id="58" name="Text 32"/>
          <p:cNvSpPr/>
          <p:nvPr/>
        </p:nvSpPr>
        <p:spPr>
          <a:xfrm>
            <a:off x="8203349" y="2581321"/>
            <a:ext cx="571500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7" b="1" dirty="0">
                <a:solidFill>
                  <a:srgbClr val="616262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Shared review</a:t>
            </a:r>
            <a:endParaRPr lang="en-US" sz="667" dirty="0"/>
          </a:p>
          <a:p>
            <a:pPr algn="l" indent="0" marL="0">
              <a:buNone/>
            </a:pPr>
            <a:r>
              <a:rPr lang="en-US" sz="667" b="1" dirty="0">
                <a:solidFill>
                  <a:srgbClr val="616262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mechanism for</a:t>
            </a:r>
            <a:endParaRPr lang="en-US" sz="667" dirty="0"/>
          </a:p>
          <a:p>
            <a:pPr algn="l" indent="0" marL="0">
              <a:buNone/>
            </a:pPr>
            <a:r>
              <a:rPr lang="en-US" sz="667" b="1" dirty="0">
                <a:solidFill>
                  <a:srgbClr val="616262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2LoD teams</a:t>
            </a:r>
            <a:endParaRPr lang="en-US" sz="667" dirty="0"/>
          </a:p>
        </p:txBody>
      </p:sp>
      <p:pic>
        <p:nvPicPr>
          <p:cNvPr id="5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47871" y="2603196"/>
            <a:ext cx="267976" cy="251569"/>
          </a:xfrm>
          <a:prstGeom prst="rect">
            <a:avLst/>
          </a:prstGeom>
        </p:spPr>
      </p:pic>
      <p:pic>
        <p:nvPicPr>
          <p:cNvPr id="60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31464" y="2488349"/>
            <a:ext cx="1137531" cy="27344"/>
          </a:xfrm>
          <a:prstGeom prst="rect">
            <a:avLst/>
          </a:prstGeom>
        </p:spPr>
      </p:pic>
      <p:sp>
        <p:nvSpPr>
          <p:cNvPr id="61" name="Text 33"/>
          <p:cNvSpPr/>
          <p:nvPr/>
        </p:nvSpPr>
        <p:spPr>
          <a:xfrm>
            <a:off x="8197880" y="2154746"/>
            <a:ext cx="745958" cy="2461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1" b="1" dirty="0">
                <a:solidFill>
                  <a:srgbClr val="696A6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Pack generation</a:t>
            </a:r>
            <a:endParaRPr lang="en-US" sz="611" dirty="0"/>
          </a:p>
          <a:p>
            <a:pPr algn="l" indent="0" marL="0">
              <a:buNone/>
            </a:pPr>
            <a:r>
              <a:rPr lang="en-US" sz="611" b="1" dirty="0">
                <a:solidFill>
                  <a:srgbClr val="696A6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and routing support</a:t>
            </a:r>
            <a:endParaRPr lang="en-US" sz="611" dirty="0"/>
          </a:p>
        </p:txBody>
      </p:sp>
      <p:pic>
        <p:nvPicPr>
          <p:cNvPr id="6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75215" y="2132871"/>
            <a:ext cx="229694" cy="267976"/>
          </a:xfrm>
          <a:prstGeom prst="rect">
            <a:avLst/>
          </a:prstGeom>
        </p:spPr>
      </p:pic>
      <p:pic>
        <p:nvPicPr>
          <p:cNvPr id="6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831464" y="2039900"/>
            <a:ext cx="1137531" cy="27344"/>
          </a:xfrm>
          <a:prstGeom prst="rect">
            <a:avLst/>
          </a:prstGeom>
        </p:spPr>
      </p:pic>
      <p:sp>
        <p:nvSpPr>
          <p:cNvPr id="64" name="Text 34"/>
          <p:cNvSpPr/>
          <p:nvPr/>
        </p:nvSpPr>
        <p:spPr>
          <a:xfrm>
            <a:off x="8203349" y="1717234"/>
            <a:ext cx="649705" cy="2461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6" b="1" dirty="0">
                <a:solidFill>
                  <a:srgbClr val="6A6A6B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Detailed intake &amp;</a:t>
            </a:r>
            <a:endParaRPr lang="en-US" sz="676" dirty="0"/>
          </a:p>
          <a:p>
            <a:pPr algn="l" indent="0" marL="0">
              <a:buNone/>
            </a:pPr>
            <a:r>
              <a:rPr lang="en-US" sz="676" b="1" dirty="0">
                <a:solidFill>
                  <a:srgbClr val="6A6A6B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ingestion support</a:t>
            </a:r>
            <a:endParaRPr lang="en-US" sz="676" dirty="0"/>
          </a:p>
        </p:txBody>
      </p:sp>
      <p:pic>
        <p:nvPicPr>
          <p:cNvPr id="6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86153" y="1706297"/>
            <a:ext cx="218756" cy="246100"/>
          </a:xfrm>
          <a:prstGeom prst="rect">
            <a:avLst/>
          </a:prstGeom>
        </p:spPr>
      </p:pic>
      <p:pic>
        <p:nvPicPr>
          <p:cNvPr id="6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1464" y="1624263"/>
            <a:ext cx="1137531" cy="32813"/>
          </a:xfrm>
          <a:prstGeom prst="rect">
            <a:avLst/>
          </a:prstGeom>
        </p:spPr>
      </p:pic>
      <p:sp>
        <p:nvSpPr>
          <p:cNvPr id="67" name="Text 35"/>
          <p:cNvSpPr/>
          <p:nvPr/>
        </p:nvSpPr>
        <p:spPr>
          <a:xfrm>
            <a:off x="8171083" y="1301598"/>
            <a:ext cx="589547" cy="2296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5" b="1" dirty="0">
                <a:solidFill>
                  <a:srgbClr val="68696A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AIRO-led triage</a:t>
            </a:r>
            <a:endParaRPr lang="en-US" sz="715" dirty="0"/>
          </a:p>
          <a:p>
            <a:pPr algn="ctr" indent="0" marL="0">
              <a:buNone/>
            </a:pPr>
            <a:r>
              <a:rPr lang="en-US" sz="715" b="1" dirty="0">
                <a:solidFill>
                  <a:srgbClr val="68696A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workflow hub</a:t>
            </a:r>
            <a:endParaRPr lang="en-US" sz="715" dirty="0"/>
          </a:p>
        </p:txBody>
      </p:sp>
      <p:pic>
        <p:nvPicPr>
          <p:cNvPr id="6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64278" y="1268785"/>
            <a:ext cx="224225" cy="289852"/>
          </a:xfrm>
          <a:prstGeom prst="rect">
            <a:avLst/>
          </a:prstGeom>
        </p:spPr>
      </p:pic>
      <p:pic>
        <p:nvPicPr>
          <p:cNvPr id="69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69" y="1192220"/>
            <a:ext cx="7705679" cy="2728981"/>
          </a:xfrm>
          <a:prstGeom prst="rect">
            <a:avLst/>
          </a:prstGeom>
        </p:spPr>
      </p:pic>
      <p:pic>
        <p:nvPicPr>
          <p:cNvPr id="70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61081" y="3636818"/>
            <a:ext cx="169536" cy="82033"/>
          </a:xfrm>
          <a:prstGeom prst="rect">
            <a:avLst/>
          </a:prstGeom>
        </p:spPr>
      </p:pic>
      <p:pic>
        <p:nvPicPr>
          <p:cNvPr id="71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023493" y="3642287"/>
            <a:ext cx="169536" cy="76565"/>
          </a:xfrm>
          <a:prstGeom prst="rect">
            <a:avLst/>
          </a:prstGeom>
        </p:spPr>
      </p:pic>
      <p:sp>
        <p:nvSpPr>
          <p:cNvPr id="72" name="Shape 36"/>
          <p:cNvSpPr/>
          <p:nvPr/>
        </p:nvSpPr>
        <p:spPr>
          <a:xfrm>
            <a:off x="1099249" y="3500096"/>
            <a:ext cx="924244" cy="360947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7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59407" y="3554785"/>
            <a:ext cx="164067" cy="235163"/>
          </a:xfrm>
          <a:prstGeom prst="rect">
            <a:avLst/>
          </a:prstGeom>
        </p:spPr>
      </p:pic>
      <p:sp>
        <p:nvSpPr>
          <p:cNvPr id="74" name="Text 37"/>
          <p:cNvSpPr/>
          <p:nvPr/>
        </p:nvSpPr>
        <p:spPr>
          <a:xfrm>
            <a:off x="1400038" y="3560254"/>
            <a:ext cx="511342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b="1" dirty="0">
                <a:solidFill>
                  <a:srgbClr val="5A5B5B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Output:</a:t>
            </a:r>
            <a:endParaRPr lang="en-US" sz="564" dirty="0"/>
          </a:p>
          <a:p>
            <a:pPr algn="l" indent="0" marL="0">
              <a:buNone/>
            </a:pPr>
            <a:r>
              <a:rPr lang="en-US" sz="564" b="1" dirty="0">
                <a:solidFill>
                  <a:srgbClr val="5A5B5B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Raw intake pack</a:t>
            </a:r>
            <a:endParaRPr lang="en-US" sz="564" dirty="0"/>
          </a:p>
        </p:txBody>
      </p:sp>
      <p:sp>
        <p:nvSpPr>
          <p:cNvPr id="75" name="Shape 38"/>
          <p:cNvSpPr/>
          <p:nvPr/>
        </p:nvSpPr>
        <p:spPr>
          <a:xfrm>
            <a:off x="6595493" y="2143809"/>
            <a:ext cx="1028153" cy="683612"/>
          </a:xfrm>
          <a:prstGeom prst="rect">
            <a:avLst/>
          </a:prstGeom>
          <a:solidFill>
            <a:srgbClr val="003616"/>
          </a:solidFill>
          <a:ln/>
        </p:spPr>
      </p:sp>
      <p:pic>
        <p:nvPicPr>
          <p:cNvPr id="7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88464" y="2614134"/>
            <a:ext cx="27344" cy="27344"/>
          </a:xfrm>
          <a:prstGeom prst="rect">
            <a:avLst/>
          </a:prstGeom>
        </p:spPr>
      </p:pic>
      <p:sp>
        <p:nvSpPr>
          <p:cNvPr id="77" name="Text 39"/>
          <p:cNvSpPr/>
          <p:nvPr/>
        </p:nvSpPr>
        <p:spPr>
          <a:xfrm>
            <a:off x="6743153" y="2570383"/>
            <a:ext cx="751974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6" b="1" dirty="0">
                <a:solidFill>
                  <a:srgbClr val="91A99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Communicate outcome</a:t>
            </a:r>
            <a:endParaRPr lang="en-US" sz="456" dirty="0"/>
          </a:p>
          <a:p>
            <a:pPr algn="l" indent="0" marL="0">
              <a:buNone/>
            </a:pPr>
            <a:r>
              <a:rPr lang="en-US" sz="456" b="1" dirty="0">
                <a:solidFill>
                  <a:srgbClr val="91A99A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and conditions</a:t>
            </a:r>
            <a:endParaRPr lang="en-US" sz="456" dirty="0"/>
          </a:p>
        </p:txBody>
      </p:sp>
      <p:pic>
        <p:nvPicPr>
          <p:cNvPr id="7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688464" y="2400847"/>
            <a:ext cx="27344" cy="32813"/>
          </a:xfrm>
          <a:prstGeom prst="rect">
            <a:avLst/>
          </a:prstGeom>
        </p:spPr>
      </p:pic>
      <p:sp>
        <p:nvSpPr>
          <p:cNvPr id="79" name="Text 40"/>
          <p:cNvSpPr/>
          <p:nvPr/>
        </p:nvSpPr>
        <p:spPr>
          <a:xfrm>
            <a:off x="6732215" y="2378971"/>
            <a:ext cx="679784" cy="1640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dirty="0">
                <a:solidFill>
                  <a:srgbClr val="9CB1A3"/>
                </a:solidFill>
                <a:latin typeface="Kirang Haerang" pitchFamily="34" charset="0"/>
                <a:ea typeface="Kirang Haerang" pitchFamily="34" charset="-122"/>
                <a:cs typeface="Kirang Haerang" pitchFamily="34" charset="-120"/>
              </a:rPr>
              <a:t>Save final assessment</a:t>
            </a:r>
            <a:endParaRPr lang="en-US" sz="538" dirty="0"/>
          </a:p>
          <a:p>
            <a:pPr algn="l" indent="0" marL="0">
              <a:buNone/>
            </a:pPr>
            <a:r>
              <a:rPr lang="en-US" sz="538" dirty="0">
                <a:solidFill>
                  <a:srgbClr val="9CB1A3"/>
                </a:solidFill>
                <a:latin typeface="Kirang Haerang" pitchFamily="34" charset="0"/>
                <a:ea typeface="Kirang Haerang" pitchFamily="34" charset="-122"/>
                <a:cs typeface="Kirang Haerang" pitchFamily="34" charset="-120"/>
              </a:rPr>
              <a:t>and rationale</a:t>
            </a:r>
            <a:endParaRPr lang="en-US" sz="538" dirty="0"/>
          </a:p>
        </p:txBody>
      </p:sp>
      <p:pic>
        <p:nvPicPr>
          <p:cNvPr id="80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650182" y="2182091"/>
            <a:ext cx="164067" cy="218756"/>
          </a:xfrm>
          <a:prstGeom prst="rect">
            <a:avLst/>
          </a:prstGeom>
        </p:spPr>
      </p:pic>
      <p:sp>
        <p:nvSpPr>
          <p:cNvPr id="81" name="Shape 41"/>
          <p:cNvSpPr/>
          <p:nvPr/>
        </p:nvSpPr>
        <p:spPr>
          <a:xfrm>
            <a:off x="6639244" y="1279722"/>
            <a:ext cx="978933" cy="700019"/>
          </a:xfrm>
          <a:prstGeom prst="rect">
            <a:avLst/>
          </a:prstGeom>
          <a:solidFill>
            <a:srgbClr val="ECF3E6"/>
          </a:solidFill>
          <a:ln/>
        </p:spPr>
      </p:sp>
      <p:pic>
        <p:nvPicPr>
          <p:cNvPr id="82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693933" y="1361756"/>
            <a:ext cx="191411" cy="147660"/>
          </a:xfrm>
          <a:prstGeom prst="rect">
            <a:avLst/>
          </a:prstGeom>
        </p:spPr>
      </p:pic>
      <p:sp>
        <p:nvSpPr>
          <p:cNvPr id="83" name="Text 42"/>
          <p:cNvSpPr/>
          <p:nvPr/>
        </p:nvSpPr>
        <p:spPr>
          <a:xfrm>
            <a:off x="6754091" y="1640670"/>
            <a:ext cx="745958" cy="2789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dirty="0">
                <a:solidFill>
                  <a:srgbClr val="71756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Notify material changes</a:t>
            </a:r>
            <a:endParaRPr lang="en-US" sz="525" dirty="0"/>
          </a:p>
          <a:p>
            <a:pPr algn="l" indent="0" marL="0">
              <a:buNone/>
            </a:pPr>
            <a:r>
              <a:rPr lang="en-US" sz="525" dirty="0">
                <a:solidFill>
                  <a:srgbClr val="71756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if re-engagement is</a:t>
            </a:r>
            <a:endParaRPr lang="en-US" sz="525" dirty="0"/>
          </a:p>
          <a:p>
            <a:pPr algn="l" indent="0" marL="0">
              <a:buNone/>
            </a:pPr>
            <a:r>
              <a:rPr lang="en-US" sz="525" dirty="0">
                <a:solidFill>
                  <a:srgbClr val="71756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needed</a:t>
            </a:r>
            <a:endParaRPr lang="en-US" sz="525" dirty="0"/>
          </a:p>
        </p:txBody>
      </p:sp>
      <p:sp>
        <p:nvSpPr>
          <p:cNvPr id="84" name="Text 43"/>
          <p:cNvSpPr/>
          <p:nvPr/>
        </p:nvSpPr>
        <p:spPr>
          <a:xfrm>
            <a:off x="6961909" y="1323474"/>
            <a:ext cx="589547" cy="3007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b="1" dirty="0">
                <a:solidFill>
                  <a:srgbClr val="626561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Receive final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626561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outcome, actions,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626561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and conditions</a:t>
            </a:r>
            <a:endParaRPr lang="en-US" sz="581" dirty="0"/>
          </a:p>
        </p:txBody>
      </p:sp>
      <p:pic>
        <p:nvPicPr>
          <p:cNvPr id="85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180665" y="1914115"/>
            <a:ext cx="71096" cy="224225"/>
          </a:xfrm>
          <a:prstGeom prst="rect">
            <a:avLst/>
          </a:prstGeom>
        </p:spPr>
      </p:pic>
      <p:pic>
        <p:nvPicPr>
          <p:cNvPr id="86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757943" y="1875833"/>
            <a:ext cx="71096" cy="957057"/>
          </a:xfrm>
          <a:prstGeom prst="rect">
            <a:avLst/>
          </a:prstGeom>
        </p:spPr>
      </p:pic>
      <p:sp>
        <p:nvSpPr>
          <p:cNvPr id="87" name="Shape 44"/>
          <p:cNvSpPr/>
          <p:nvPr/>
        </p:nvSpPr>
        <p:spPr>
          <a:xfrm>
            <a:off x="5436086" y="3500096"/>
            <a:ext cx="978933" cy="366416"/>
          </a:xfrm>
          <a:prstGeom prst="rect">
            <a:avLst/>
          </a:prstGeom>
          <a:solidFill>
            <a:srgbClr val="FBFCFC"/>
          </a:solidFill>
          <a:ln/>
        </p:spPr>
      </p:sp>
      <p:pic>
        <p:nvPicPr>
          <p:cNvPr id="88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518120" y="3527440"/>
            <a:ext cx="180474" cy="273445"/>
          </a:xfrm>
          <a:prstGeom prst="rect">
            <a:avLst/>
          </a:prstGeom>
        </p:spPr>
      </p:pic>
      <p:sp>
        <p:nvSpPr>
          <p:cNvPr id="89" name="Text 45"/>
          <p:cNvSpPr/>
          <p:nvPr/>
        </p:nvSpPr>
        <p:spPr>
          <a:xfrm>
            <a:off x="5791565" y="3538378"/>
            <a:ext cx="421105" cy="2953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5F5F6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Output:</a:t>
            </a:r>
            <a:endParaRPr lang="en-US" sz="525" dirty="0"/>
          </a:p>
          <a:p>
            <a:pPr algn="l" indent="0" marL="0">
              <a:buNone/>
            </a:pPr>
            <a:r>
              <a:rPr lang="en-US" sz="525" b="1" dirty="0">
                <a:solidFill>
                  <a:srgbClr val="5F5F6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Consolidated</a:t>
            </a:r>
            <a:endParaRPr lang="en-US" sz="525" dirty="0"/>
          </a:p>
          <a:p>
            <a:pPr algn="l" indent="0" marL="0">
              <a:buNone/>
            </a:pPr>
            <a:r>
              <a:rPr lang="en-US" sz="525" b="1" dirty="0">
                <a:solidFill>
                  <a:srgbClr val="5F5F6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assessment</a:t>
            </a:r>
            <a:endParaRPr lang="en-US" sz="525" dirty="0"/>
          </a:p>
        </p:txBody>
      </p:sp>
      <p:sp>
        <p:nvSpPr>
          <p:cNvPr id="90" name="Shape 46"/>
          <p:cNvSpPr/>
          <p:nvPr/>
        </p:nvSpPr>
        <p:spPr>
          <a:xfrm>
            <a:off x="4254804" y="2843828"/>
            <a:ext cx="1389100" cy="557828"/>
          </a:xfrm>
          <a:prstGeom prst="rect">
            <a:avLst/>
          </a:prstGeom>
          <a:solidFill>
            <a:srgbClr val="F0F5EE"/>
          </a:solidFill>
          <a:ln/>
        </p:spPr>
      </p:sp>
      <p:pic>
        <p:nvPicPr>
          <p:cNvPr id="91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561062" y="3221182"/>
            <a:ext cx="27344" cy="27344"/>
          </a:xfrm>
          <a:prstGeom prst="rect">
            <a:avLst/>
          </a:prstGeom>
        </p:spPr>
      </p:pic>
      <p:pic>
        <p:nvPicPr>
          <p:cNvPr id="92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561062" y="3122742"/>
            <a:ext cx="27344" cy="27344"/>
          </a:xfrm>
          <a:prstGeom prst="rect">
            <a:avLst/>
          </a:prstGeom>
        </p:spPr>
      </p:pic>
      <p:pic>
        <p:nvPicPr>
          <p:cNvPr id="93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561062" y="3024301"/>
            <a:ext cx="27344" cy="27344"/>
          </a:xfrm>
          <a:prstGeom prst="rect">
            <a:avLst/>
          </a:prstGeom>
        </p:spPr>
      </p:pic>
      <p:pic>
        <p:nvPicPr>
          <p:cNvPr id="94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561062" y="2931330"/>
            <a:ext cx="27344" cy="27344"/>
          </a:xfrm>
          <a:prstGeom prst="rect">
            <a:avLst/>
          </a:prstGeom>
        </p:spPr>
      </p:pic>
      <p:pic>
        <p:nvPicPr>
          <p:cNvPr id="95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314962" y="2909455"/>
            <a:ext cx="175005" cy="136722"/>
          </a:xfrm>
          <a:prstGeom prst="rect">
            <a:avLst/>
          </a:prstGeom>
        </p:spPr>
      </p:pic>
      <p:sp>
        <p:nvSpPr>
          <p:cNvPr id="96" name="Text 47"/>
          <p:cNvSpPr/>
          <p:nvPr/>
        </p:nvSpPr>
        <p:spPr>
          <a:xfrm>
            <a:off x="4621220" y="3177431"/>
            <a:ext cx="824163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6" dirty="0">
                <a:solidFill>
                  <a:srgbClr val="707370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Add comments, conditions,</a:t>
            </a:r>
            <a:endParaRPr lang="en-US" sz="556" dirty="0"/>
          </a:p>
          <a:p>
            <a:pPr algn="l" indent="0" marL="0">
              <a:buNone/>
            </a:pPr>
            <a:r>
              <a:rPr lang="en-US" sz="556" dirty="0">
                <a:solidFill>
                  <a:srgbClr val="707370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or concerns</a:t>
            </a:r>
            <a:endParaRPr lang="en-US" sz="556" dirty="0"/>
          </a:p>
        </p:txBody>
      </p:sp>
      <p:sp>
        <p:nvSpPr>
          <p:cNvPr id="97" name="Text 48"/>
          <p:cNvSpPr/>
          <p:nvPr/>
        </p:nvSpPr>
        <p:spPr>
          <a:xfrm>
            <a:off x="4626689" y="3095397"/>
            <a:ext cx="836195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2" b="1" dirty="0">
                <a:solidFill>
                  <a:srgbClr val="6F716F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Provide risk-area assessment</a:t>
            </a:r>
            <a:endParaRPr lang="en-US" sz="512" dirty="0"/>
          </a:p>
        </p:txBody>
      </p:sp>
      <p:sp>
        <p:nvSpPr>
          <p:cNvPr id="98" name="Text 49"/>
          <p:cNvSpPr/>
          <p:nvPr/>
        </p:nvSpPr>
        <p:spPr>
          <a:xfrm>
            <a:off x="4626689" y="2996957"/>
            <a:ext cx="1010653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767976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Request more information if needed</a:t>
            </a:r>
            <a:endParaRPr lang="en-US" sz="504" dirty="0"/>
          </a:p>
        </p:txBody>
      </p:sp>
      <p:sp>
        <p:nvSpPr>
          <p:cNvPr id="99" name="Text 50"/>
          <p:cNvSpPr/>
          <p:nvPr/>
        </p:nvSpPr>
        <p:spPr>
          <a:xfrm>
            <a:off x="4626689" y="2898517"/>
            <a:ext cx="764005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767976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Review relevant information</a:t>
            </a:r>
            <a:endParaRPr lang="en-US" sz="500" dirty="0"/>
          </a:p>
        </p:txBody>
      </p:sp>
      <p:pic>
        <p:nvPicPr>
          <p:cNvPr id="100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638435" y="2871172"/>
            <a:ext cx="300789" cy="311727"/>
          </a:xfrm>
          <a:prstGeom prst="rect">
            <a:avLst/>
          </a:prstGeom>
        </p:spPr>
      </p:pic>
      <p:pic>
        <p:nvPicPr>
          <p:cNvPr id="101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546273" y="1197689"/>
            <a:ext cx="32813" cy="2701636"/>
          </a:xfrm>
          <a:prstGeom prst="rect">
            <a:avLst/>
          </a:prstGeom>
        </p:spPr>
      </p:pic>
      <p:pic>
        <p:nvPicPr>
          <p:cNvPr id="102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540804" y="1192220"/>
            <a:ext cx="27344" cy="2712574"/>
          </a:xfrm>
          <a:prstGeom prst="rect">
            <a:avLst/>
          </a:prstGeom>
        </p:spPr>
      </p:pic>
      <p:pic>
        <p:nvPicPr>
          <p:cNvPr id="103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409550" y="3653225"/>
            <a:ext cx="191411" cy="60158"/>
          </a:xfrm>
          <a:prstGeom prst="rect">
            <a:avLst/>
          </a:prstGeom>
        </p:spPr>
      </p:pic>
      <p:pic>
        <p:nvPicPr>
          <p:cNvPr id="104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643904" y="3002426"/>
            <a:ext cx="2045368" cy="32813"/>
          </a:xfrm>
          <a:prstGeom prst="rect">
            <a:avLst/>
          </a:prstGeom>
        </p:spPr>
      </p:pic>
      <p:pic>
        <p:nvPicPr>
          <p:cNvPr id="105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895474" y="2712574"/>
            <a:ext cx="87502" cy="464856"/>
          </a:xfrm>
          <a:prstGeom prst="rect">
            <a:avLst/>
          </a:prstGeom>
        </p:spPr>
      </p:pic>
      <p:pic>
        <p:nvPicPr>
          <p:cNvPr id="106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636010" y="1875833"/>
            <a:ext cx="71096" cy="1602388"/>
          </a:xfrm>
          <a:prstGeom prst="rect">
            <a:avLst/>
          </a:prstGeom>
        </p:spPr>
      </p:pic>
      <p:sp>
        <p:nvSpPr>
          <p:cNvPr id="107" name="Text 51"/>
          <p:cNvSpPr/>
          <p:nvPr/>
        </p:nvSpPr>
        <p:spPr>
          <a:xfrm>
            <a:off x="432043" y="3062584"/>
            <a:ext cx="397042" cy="3336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597260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3.Other</a:t>
            </a:r>
            <a:endParaRPr lang="en-US" sz="732" dirty="0"/>
          </a:p>
          <a:p>
            <a:pPr algn="l" indent="0" marL="0">
              <a:buNone/>
            </a:pPr>
            <a:r>
              <a:rPr lang="en-US" sz="732" dirty="0">
                <a:solidFill>
                  <a:srgbClr val="597260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2LoD Risk</a:t>
            </a:r>
            <a:endParaRPr lang="en-US" sz="732" dirty="0"/>
          </a:p>
          <a:p>
            <a:pPr algn="l" indent="0" marL="0">
              <a:buNone/>
            </a:pPr>
            <a:r>
              <a:rPr lang="en-US" sz="732" dirty="0">
                <a:solidFill>
                  <a:srgbClr val="597260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Teams</a:t>
            </a:r>
            <a:endParaRPr lang="en-US" sz="732" dirty="0"/>
          </a:p>
        </p:txBody>
      </p:sp>
      <p:pic>
        <p:nvPicPr>
          <p:cNvPr id="108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20316" y="3062584"/>
            <a:ext cx="251569" cy="262507"/>
          </a:xfrm>
          <a:prstGeom prst="rect">
            <a:avLst/>
          </a:prstGeom>
        </p:spPr>
      </p:pic>
      <p:sp>
        <p:nvSpPr>
          <p:cNvPr id="109" name="Shape 52"/>
          <p:cNvSpPr/>
          <p:nvPr/>
        </p:nvSpPr>
        <p:spPr>
          <a:xfrm>
            <a:off x="5452493" y="2143809"/>
            <a:ext cx="1060967" cy="563297"/>
          </a:xfrm>
          <a:prstGeom prst="rect">
            <a:avLst/>
          </a:prstGeom>
          <a:solidFill>
            <a:srgbClr val="003715"/>
          </a:solidFill>
          <a:ln/>
        </p:spPr>
      </p:sp>
      <p:pic>
        <p:nvPicPr>
          <p:cNvPr id="110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698593" y="2477411"/>
            <a:ext cx="27344" cy="32813"/>
          </a:xfrm>
          <a:prstGeom prst="rect">
            <a:avLst/>
          </a:prstGeom>
        </p:spPr>
      </p:pic>
      <p:pic>
        <p:nvPicPr>
          <p:cNvPr id="111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704062" y="2362565"/>
            <a:ext cx="21876" cy="27344"/>
          </a:xfrm>
          <a:prstGeom prst="rect">
            <a:avLst/>
          </a:prstGeom>
        </p:spPr>
      </p:pic>
      <p:pic>
        <p:nvPicPr>
          <p:cNvPr id="112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704062" y="2242249"/>
            <a:ext cx="21876" cy="27344"/>
          </a:xfrm>
          <a:prstGeom prst="rect">
            <a:avLst/>
          </a:prstGeom>
        </p:spPr>
      </p:pic>
      <p:pic>
        <p:nvPicPr>
          <p:cNvPr id="113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485306" y="2209435"/>
            <a:ext cx="191411" cy="169536"/>
          </a:xfrm>
          <a:prstGeom prst="rect">
            <a:avLst/>
          </a:prstGeom>
        </p:spPr>
      </p:pic>
      <p:sp>
        <p:nvSpPr>
          <p:cNvPr id="114" name="Text 53"/>
          <p:cNvSpPr/>
          <p:nvPr/>
        </p:nvSpPr>
        <p:spPr>
          <a:xfrm>
            <a:off x="5747813" y="2439129"/>
            <a:ext cx="727911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5" b="1" dirty="0">
                <a:solidFill>
                  <a:srgbClr val="8BA293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Record rationale, actions,</a:t>
            </a:r>
            <a:endParaRPr lang="en-US" sz="495" dirty="0"/>
          </a:p>
          <a:p>
            <a:pPr algn="l" indent="0" marL="0">
              <a:buNone/>
            </a:pPr>
            <a:r>
              <a:rPr lang="en-US" sz="495" b="1" dirty="0">
                <a:solidFill>
                  <a:srgbClr val="8BA293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and next steps</a:t>
            </a:r>
            <a:endParaRPr lang="en-US" sz="495" dirty="0"/>
          </a:p>
        </p:txBody>
      </p:sp>
      <p:sp>
        <p:nvSpPr>
          <p:cNvPr id="115" name="Text 54"/>
          <p:cNvSpPr/>
          <p:nvPr/>
        </p:nvSpPr>
        <p:spPr>
          <a:xfrm>
            <a:off x="5747813" y="2329751"/>
            <a:ext cx="830179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2" b="1" dirty="0">
                <a:solidFill>
                  <a:srgbClr val="93A999"/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Determine overall risk outcome</a:t>
            </a:r>
            <a:endParaRPr lang="en-US" sz="482" dirty="0"/>
          </a:p>
        </p:txBody>
      </p:sp>
      <p:sp>
        <p:nvSpPr>
          <p:cNvPr id="116" name="Text 55"/>
          <p:cNvSpPr/>
          <p:nvPr/>
        </p:nvSpPr>
        <p:spPr>
          <a:xfrm>
            <a:off x="5747813" y="2209435"/>
            <a:ext cx="757989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7" dirty="0">
                <a:solidFill>
                  <a:srgbClr val="90A696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Consolidate all 2LoD inputs</a:t>
            </a:r>
            <a:endParaRPr lang="en-US" sz="487" dirty="0"/>
          </a:p>
        </p:txBody>
      </p:sp>
      <p:sp>
        <p:nvSpPr>
          <p:cNvPr id="117" name="Shape 56"/>
          <p:cNvSpPr/>
          <p:nvPr/>
        </p:nvSpPr>
        <p:spPr>
          <a:xfrm>
            <a:off x="3232120" y="2138340"/>
            <a:ext cx="935182" cy="940651"/>
          </a:xfrm>
          <a:prstGeom prst="rect">
            <a:avLst/>
          </a:prstGeom>
          <a:solidFill>
            <a:srgbClr val="013715"/>
          </a:solidFill>
          <a:ln/>
        </p:spPr>
      </p:sp>
      <p:pic>
        <p:nvPicPr>
          <p:cNvPr id="118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281340" y="2887579"/>
            <a:ext cx="32813" cy="32813"/>
          </a:xfrm>
          <a:prstGeom prst="rect">
            <a:avLst/>
          </a:prstGeom>
        </p:spPr>
      </p:pic>
      <p:pic>
        <p:nvPicPr>
          <p:cNvPr id="119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3281340" y="2701636"/>
            <a:ext cx="32813" cy="27344"/>
          </a:xfrm>
          <a:prstGeom prst="rect">
            <a:avLst/>
          </a:prstGeom>
        </p:spPr>
      </p:pic>
      <p:pic>
        <p:nvPicPr>
          <p:cNvPr id="120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286809" y="2422722"/>
            <a:ext cx="27344" cy="27344"/>
          </a:xfrm>
          <a:prstGeom prst="rect">
            <a:avLst/>
          </a:prstGeom>
        </p:spPr>
      </p:pic>
      <p:pic>
        <p:nvPicPr>
          <p:cNvPr id="121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281340" y="2193029"/>
            <a:ext cx="180474" cy="158598"/>
          </a:xfrm>
          <a:prstGeom prst="rect">
            <a:avLst/>
          </a:prstGeom>
        </p:spPr>
      </p:pic>
      <p:sp>
        <p:nvSpPr>
          <p:cNvPr id="122" name="Text 57"/>
          <p:cNvSpPr/>
          <p:nvPr/>
        </p:nvSpPr>
        <p:spPr>
          <a:xfrm>
            <a:off x="3336029" y="2860234"/>
            <a:ext cx="782053" cy="1859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1" b="1" dirty="0">
                <a:solidFill>
                  <a:srgbClr val="91A898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Add review questions for</a:t>
            </a:r>
            <a:endParaRPr lang="en-US" sz="551" dirty="0"/>
          </a:p>
          <a:p>
            <a:pPr algn="l" indent="0" marL="0">
              <a:buNone/>
            </a:pPr>
            <a:r>
              <a:rPr lang="en-US" sz="551" b="1" dirty="0">
                <a:solidFill>
                  <a:srgbClr val="91A898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each risk area</a:t>
            </a:r>
            <a:endParaRPr lang="en-US" sz="551" dirty="0"/>
          </a:p>
        </p:txBody>
      </p:sp>
      <p:sp>
        <p:nvSpPr>
          <p:cNvPr id="123" name="Text 58"/>
          <p:cNvSpPr/>
          <p:nvPr/>
        </p:nvSpPr>
        <p:spPr>
          <a:xfrm>
            <a:off x="3336029" y="2674292"/>
            <a:ext cx="697832" cy="1640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b="1" dirty="0">
                <a:solidFill>
                  <a:srgbClr val="92A998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Highlight risk-relevant</a:t>
            </a:r>
            <a:endParaRPr lang="en-US" sz="538" dirty="0"/>
          </a:p>
          <a:p>
            <a:pPr algn="l" indent="0" marL="0">
              <a:buNone/>
            </a:pPr>
            <a:r>
              <a:rPr lang="en-US" sz="538" b="1" dirty="0">
                <a:solidFill>
                  <a:srgbClr val="92A998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information</a:t>
            </a:r>
            <a:endParaRPr lang="en-US" sz="538" dirty="0"/>
          </a:p>
        </p:txBody>
      </p:sp>
      <p:sp>
        <p:nvSpPr>
          <p:cNvPr id="124" name="Text 59"/>
          <p:cNvSpPr/>
          <p:nvPr/>
        </p:nvSpPr>
        <p:spPr>
          <a:xfrm>
            <a:off x="3336029" y="2378971"/>
            <a:ext cx="884321" cy="267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90A799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Summarise business purpose</a:t>
            </a:r>
            <a:endParaRPr lang="en-US" sz="525" dirty="0"/>
          </a:p>
          <a:p>
            <a:pPr algn="l" indent="0" marL="0">
              <a:buNone/>
            </a:pPr>
            <a:r>
              <a:rPr lang="en-US" sz="525" b="1" dirty="0">
                <a:solidFill>
                  <a:srgbClr val="90A799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Al capability, data, users,</a:t>
            </a:r>
            <a:endParaRPr lang="en-US" sz="525" dirty="0"/>
          </a:p>
          <a:p>
            <a:pPr algn="l" indent="0" marL="0">
              <a:buNone/>
            </a:pPr>
            <a:r>
              <a:rPr lang="en-US" sz="525" b="1" dirty="0">
                <a:solidFill>
                  <a:srgbClr val="90A799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controls</a:t>
            </a:r>
            <a:endParaRPr lang="en-US" sz="525" dirty="0"/>
          </a:p>
        </p:txBody>
      </p:sp>
      <p:sp>
        <p:nvSpPr>
          <p:cNvPr id="125" name="Text 60"/>
          <p:cNvSpPr/>
          <p:nvPr/>
        </p:nvSpPr>
        <p:spPr>
          <a:xfrm>
            <a:off x="3511033" y="2171153"/>
            <a:ext cx="565484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6" b="1" dirty="0">
                <a:solidFill>
                  <a:srgbClr val="92A899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Generate targeted</a:t>
            </a:r>
            <a:endParaRPr lang="en-US" sz="556" dirty="0"/>
          </a:p>
          <a:p>
            <a:pPr algn="l" indent="0" marL="0">
              <a:buNone/>
            </a:pPr>
            <a:r>
              <a:rPr lang="en-US" sz="556" b="1" dirty="0">
                <a:solidFill>
                  <a:srgbClr val="92A899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review pack</a:t>
            </a:r>
            <a:endParaRPr lang="en-US" sz="556" dirty="0"/>
          </a:p>
        </p:txBody>
      </p:sp>
      <p:sp>
        <p:nvSpPr>
          <p:cNvPr id="126" name="Shape 61"/>
          <p:cNvSpPr/>
          <p:nvPr/>
        </p:nvSpPr>
        <p:spPr>
          <a:xfrm>
            <a:off x="1082842" y="2138340"/>
            <a:ext cx="995340" cy="732833"/>
          </a:xfrm>
          <a:prstGeom prst="rect">
            <a:avLst/>
          </a:prstGeom>
          <a:solidFill>
            <a:srgbClr val="013715"/>
          </a:solidFill>
          <a:ln/>
        </p:spPr>
      </p:sp>
      <p:pic>
        <p:nvPicPr>
          <p:cNvPr id="127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345349" y="2657885"/>
            <a:ext cx="27344" cy="27344"/>
          </a:xfrm>
          <a:prstGeom prst="rect">
            <a:avLst/>
          </a:prstGeom>
        </p:spPr>
      </p:pic>
      <p:pic>
        <p:nvPicPr>
          <p:cNvPr id="128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137531" y="2597727"/>
            <a:ext cx="158598" cy="180474"/>
          </a:xfrm>
          <a:prstGeom prst="rect">
            <a:avLst/>
          </a:prstGeom>
        </p:spPr>
      </p:pic>
      <p:pic>
        <p:nvPicPr>
          <p:cNvPr id="129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345349" y="2450067"/>
            <a:ext cx="27344" cy="27344"/>
          </a:xfrm>
          <a:prstGeom prst="rect">
            <a:avLst/>
          </a:prstGeom>
        </p:spPr>
      </p:pic>
      <p:pic>
        <p:nvPicPr>
          <p:cNvPr id="130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345349" y="2329751"/>
            <a:ext cx="32813" cy="32813"/>
          </a:xfrm>
          <a:prstGeom prst="rect">
            <a:avLst/>
          </a:prstGeom>
        </p:spPr>
      </p:pic>
      <p:pic>
        <p:nvPicPr>
          <p:cNvPr id="131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345349" y="2220373"/>
            <a:ext cx="27344" cy="27344"/>
          </a:xfrm>
          <a:prstGeom prst="rect">
            <a:avLst/>
          </a:prstGeom>
        </p:spPr>
      </p:pic>
      <p:pic>
        <p:nvPicPr>
          <p:cNvPr id="132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137531" y="2187560"/>
            <a:ext cx="153129" cy="240632"/>
          </a:xfrm>
          <a:prstGeom prst="rect">
            <a:avLst/>
          </a:prstGeom>
        </p:spPr>
      </p:pic>
      <p:sp>
        <p:nvSpPr>
          <p:cNvPr id="133" name="Text 62"/>
          <p:cNvSpPr/>
          <p:nvPr/>
        </p:nvSpPr>
        <p:spPr>
          <a:xfrm>
            <a:off x="1400038" y="2614134"/>
            <a:ext cx="697832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2" dirty="0">
                <a:solidFill>
                  <a:srgbClr val="90A798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Identify relevant 2LoD</a:t>
            </a:r>
            <a:endParaRPr lang="en-US" sz="482" dirty="0"/>
          </a:p>
          <a:p>
            <a:pPr algn="l" indent="0" marL="0">
              <a:buNone/>
            </a:pPr>
            <a:r>
              <a:rPr lang="en-US" sz="482" dirty="0">
                <a:solidFill>
                  <a:srgbClr val="90A798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risk areas</a:t>
            </a:r>
            <a:endParaRPr lang="en-US" sz="482" dirty="0"/>
          </a:p>
        </p:txBody>
      </p:sp>
      <p:sp>
        <p:nvSpPr>
          <p:cNvPr id="134" name="Text 63"/>
          <p:cNvSpPr/>
          <p:nvPr/>
        </p:nvSpPr>
        <p:spPr>
          <a:xfrm>
            <a:off x="1400038" y="2406316"/>
            <a:ext cx="577516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7" b="1" dirty="0">
                <a:solidFill>
                  <a:srgbClr val="93AA9B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Check information</a:t>
            </a:r>
            <a:endParaRPr lang="en-US" sz="547" dirty="0"/>
          </a:p>
          <a:p>
            <a:pPr algn="l" indent="0" marL="0">
              <a:buNone/>
            </a:pPr>
            <a:r>
              <a:rPr lang="en-US" sz="547" b="1" dirty="0">
                <a:solidFill>
                  <a:srgbClr val="93AA9B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completeness</a:t>
            </a:r>
            <a:endParaRPr lang="en-US" sz="547" dirty="0"/>
          </a:p>
        </p:txBody>
      </p:sp>
      <p:sp>
        <p:nvSpPr>
          <p:cNvPr id="135" name="Text 64"/>
          <p:cNvSpPr/>
          <p:nvPr/>
        </p:nvSpPr>
        <p:spPr>
          <a:xfrm>
            <a:off x="1400038" y="2302407"/>
            <a:ext cx="715879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7" b="1" dirty="0">
                <a:solidFill>
                  <a:srgbClr val="96AC9E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Structure the case profile</a:t>
            </a:r>
            <a:endParaRPr lang="en-US" sz="517" dirty="0"/>
          </a:p>
        </p:txBody>
      </p:sp>
      <p:sp>
        <p:nvSpPr>
          <p:cNvPr id="136" name="Text 65"/>
          <p:cNvSpPr/>
          <p:nvPr/>
        </p:nvSpPr>
        <p:spPr>
          <a:xfrm>
            <a:off x="1400038" y="2187560"/>
            <a:ext cx="499311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8" dirty="0">
                <a:solidFill>
                  <a:srgbClr val="8A9F8E"/>
                </a:solidFill>
                <a:latin typeface="ZCOOL QingKe HuangYou" pitchFamily="34" charset="0"/>
                <a:ea typeface="ZCOOL QingKe HuangYou" pitchFamily="34" charset="-122"/>
                <a:cs typeface="ZCOOL QingKe HuangYou" pitchFamily="34" charset="-120"/>
              </a:rPr>
              <a:t>Pre-screen intake</a:t>
            </a:r>
            <a:endParaRPr lang="en-US" sz="568" dirty="0"/>
          </a:p>
        </p:txBody>
      </p:sp>
      <p:sp>
        <p:nvSpPr>
          <p:cNvPr id="137" name="Text 66"/>
          <p:cNvSpPr/>
          <p:nvPr/>
        </p:nvSpPr>
        <p:spPr>
          <a:xfrm>
            <a:off x="432043" y="2220373"/>
            <a:ext cx="397042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7" b="1" dirty="0">
                <a:solidFill>
                  <a:srgbClr val="5E7464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2. AI Risk</a:t>
            </a:r>
            <a:endParaRPr lang="en-US" sz="667" dirty="0"/>
          </a:p>
          <a:p>
            <a:pPr algn="l" indent="0" marL="0">
              <a:buNone/>
            </a:pPr>
            <a:r>
              <a:rPr lang="en-US" sz="667" b="1" dirty="0">
                <a:solidFill>
                  <a:srgbClr val="5E7464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Oversight</a:t>
            </a:r>
            <a:endParaRPr lang="en-US" sz="667" dirty="0"/>
          </a:p>
          <a:p>
            <a:pPr algn="l" indent="0" marL="0">
              <a:buNone/>
            </a:pPr>
            <a:r>
              <a:rPr lang="en-US" sz="667" b="1" dirty="0">
                <a:solidFill>
                  <a:srgbClr val="5E7464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Team</a:t>
            </a:r>
            <a:endParaRPr lang="en-US" sz="667" dirty="0"/>
          </a:p>
        </p:txBody>
      </p:sp>
      <p:pic>
        <p:nvPicPr>
          <p:cNvPr id="138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20316" y="2214904"/>
            <a:ext cx="251569" cy="267976"/>
          </a:xfrm>
          <a:prstGeom prst="rect">
            <a:avLst/>
          </a:prstGeom>
        </p:spPr>
      </p:pic>
      <p:sp>
        <p:nvSpPr>
          <p:cNvPr id="139" name="Shape 67"/>
          <p:cNvSpPr/>
          <p:nvPr/>
        </p:nvSpPr>
        <p:spPr>
          <a:xfrm>
            <a:off x="4271211" y="1312536"/>
            <a:ext cx="1055498" cy="557828"/>
          </a:xfrm>
          <a:prstGeom prst="rect">
            <a:avLst/>
          </a:prstGeom>
          <a:solidFill>
            <a:srgbClr val="ECF3E6"/>
          </a:solidFill>
          <a:ln/>
        </p:spPr>
      </p:sp>
      <p:pic>
        <p:nvPicPr>
          <p:cNvPr id="140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4331368" y="1400038"/>
            <a:ext cx="191411" cy="202349"/>
          </a:xfrm>
          <a:prstGeom prst="rect">
            <a:avLst/>
          </a:prstGeom>
        </p:spPr>
      </p:pic>
      <p:sp>
        <p:nvSpPr>
          <p:cNvPr id="141" name="Text 68"/>
          <p:cNvSpPr/>
          <p:nvPr/>
        </p:nvSpPr>
        <p:spPr>
          <a:xfrm>
            <a:off x="4582938" y="1602388"/>
            <a:ext cx="673768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8" dirty="0">
                <a:solidFill>
                  <a:srgbClr val="6C716C"/>
                </a:solidFill>
                <a:latin typeface="Averia Sans Libre" pitchFamily="34" charset="0"/>
                <a:ea typeface="Averia Sans Libre" pitchFamily="34" charset="-122"/>
                <a:cs typeface="Averia Sans Libre" pitchFamily="34" charset="-120"/>
              </a:rPr>
              <a:t>when reviewers need</a:t>
            </a:r>
            <a:endParaRPr lang="en-US" sz="508" dirty="0"/>
          </a:p>
          <a:p>
            <a:pPr algn="l" indent="0" marL="0">
              <a:buNone/>
            </a:pPr>
            <a:r>
              <a:rPr lang="en-US" sz="508" dirty="0">
                <a:solidFill>
                  <a:srgbClr val="6C716C"/>
                </a:solidFill>
                <a:latin typeface="Averia Sans Libre" pitchFamily="34" charset="0"/>
                <a:ea typeface="Averia Sans Libre" pitchFamily="34" charset="-122"/>
                <a:cs typeface="Averia Sans Libre" pitchFamily="34" charset="-120"/>
              </a:rPr>
              <a:t>more information</a:t>
            </a:r>
            <a:endParaRPr lang="en-US" sz="508" dirty="0"/>
          </a:p>
        </p:txBody>
      </p:sp>
      <p:sp>
        <p:nvSpPr>
          <p:cNvPr id="142" name="Text 69"/>
          <p:cNvSpPr/>
          <p:nvPr/>
        </p:nvSpPr>
        <p:spPr>
          <a:xfrm>
            <a:off x="4582938" y="1372694"/>
            <a:ext cx="745958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8" b="1" dirty="0">
                <a:solidFill>
                  <a:srgbClr val="64676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Provide clarifications/</a:t>
            </a:r>
            <a:endParaRPr lang="en-US" sz="508" dirty="0"/>
          </a:p>
          <a:p>
            <a:pPr algn="l" indent="0" marL="0">
              <a:buNone/>
            </a:pPr>
            <a:r>
              <a:rPr lang="en-US" sz="508" b="1" dirty="0">
                <a:solidFill>
                  <a:srgbClr val="646762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additional evidence</a:t>
            </a:r>
            <a:endParaRPr lang="en-US" sz="508" dirty="0"/>
          </a:p>
        </p:txBody>
      </p:sp>
      <p:pic>
        <p:nvPicPr>
          <p:cNvPr id="143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3232120" y="1197689"/>
            <a:ext cx="27344" cy="902368"/>
          </a:xfrm>
          <a:prstGeom prst="rect">
            <a:avLst/>
          </a:prstGeom>
        </p:spPr>
      </p:pic>
      <p:sp>
        <p:nvSpPr>
          <p:cNvPr id="144" name="Shape 70"/>
          <p:cNvSpPr/>
          <p:nvPr/>
        </p:nvSpPr>
        <p:spPr>
          <a:xfrm>
            <a:off x="4282148" y="3500096"/>
            <a:ext cx="978933" cy="366416"/>
          </a:xfrm>
          <a:prstGeom prst="rect">
            <a:avLst/>
          </a:prstGeom>
          <a:solidFill>
            <a:srgbClr val="FDFEFD"/>
          </a:solidFill>
          <a:ln/>
        </p:spPr>
      </p:sp>
      <p:pic>
        <p:nvPicPr>
          <p:cNvPr id="145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4347775" y="3560254"/>
            <a:ext cx="235163" cy="196880"/>
          </a:xfrm>
          <a:prstGeom prst="rect">
            <a:avLst/>
          </a:prstGeom>
        </p:spPr>
      </p:pic>
      <p:sp>
        <p:nvSpPr>
          <p:cNvPr id="146" name="Text 71"/>
          <p:cNvSpPr/>
          <p:nvPr/>
        </p:nvSpPr>
        <p:spPr>
          <a:xfrm>
            <a:off x="4632158" y="3565722"/>
            <a:ext cx="517358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7" b="1" dirty="0">
                <a:solidFill>
                  <a:srgbClr val="626364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Output:</a:t>
            </a:r>
            <a:endParaRPr lang="en-US" sz="547" dirty="0"/>
          </a:p>
          <a:p>
            <a:pPr algn="l" indent="0" marL="0">
              <a:buNone/>
            </a:pPr>
            <a:r>
              <a:rPr lang="en-US" sz="547" b="1" dirty="0">
                <a:solidFill>
                  <a:srgbClr val="626364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Risk team inputs</a:t>
            </a:r>
            <a:endParaRPr lang="en-US" sz="547" dirty="0"/>
          </a:p>
        </p:txBody>
      </p:sp>
      <p:pic>
        <p:nvPicPr>
          <p:cNvPr id="147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4172770" y="1197689"/>
            <a:ext cx="27344" cy="2696167"/>
          </a:xfrm>
          <a:prstGeom prst="rect">
            <a:avLst/>
          </a:prstGeom>
        </p:spPr>
      </p:pic>
      <p:sp>
        <p:nvSpPr>
          <p:cNvPr id="148" name="Shape 72"/>
          <p:cNvSpPr/>
          <p:nvPr/>
        </p:nvSpPr>
        <p:spPr>
          <a:xfrm>
            <a:off x="2214904" y="3500096"/>
            <a:ext cx="896900" cy="366416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149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286000" y="3554785"/>
            <a:ext cx="158598" cy="235163"/>
          </a:xfrm>
          <a:prstGeom prst="rect">
            <a:avLst/>
          </a:prstGeom>
        </p:spPr>
      </p:pic>
      <p:sp>
        <p:nvSpPr>
          <p:cNvPr id="150" name="Text 73"/>
          <p:cNvSpPr/>
          <p:nvPr/>
        </p:nvSpPr>
        <p:spPr>
          <a:xfrm>
            <a:off x="2521163" y="3538378"/>
            <a:ext cx="535405" cy="306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656566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Output:</a:t>
            </a:r>
            <a:endParaRPr lang="en-US" sz="525" dirty="0"/>
          </a:p>
          <a:p>
            <a:pPr algn="l" indent="0" marL="0">
              <a:buNone/>
            </a:pPr>
            <a:r>
              <a:rPr lang="en-US" sz="525" b="1" dirty="0">
                <a:solidFill>
                  <a:srgbClr val="656566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Structured triage</a:t>
            </a:r>
            <a:endParaRPr lang="en-US" sz="525" dirty="0"/>
          </a:p>
          <a:p>
            <a:pPr algn="l" indent="0" marL="0">
              <a:buNone/>
            </a:pPr>
            <a:r>
              <a:rPr lang="en-US" sz="525" b="1" dirty="0">
                <a:solidFill>
                  <a:srgbClr val="656566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profile</a:t>
            </a:r>
            <a:endParaRPr lang="en-US" sz="525" dirty="0"/>
          </a:p>
        </p:txBody>
      </p:sp>
      <p:sp>
        <p:nvSpPr>
          <p:cNvPr id="151" name="Shape 74"/>
          <p:cNvSpPr/>
          <p:nvPr/>
        </p:nvSpPr>
        <p:spPr>
          <a:xfrm>
            <a:off x="3259464" y="3500096"/>
            <a:ext cx="896900" cy="366416"/>
          </a:xfrm>
          <a:prstGeom prst="rect">
            <a:avLst/>
          </a:prstGeom>
          <a:solidFill>
            <a:srgbClr val="FDFEFD"/>
          </a:solidFill>
          <a:ln/>
        </p:spPr>
      </p:sp>
      <p:pic>
        <p:nvPicPr>
          <p:cNvPr id="152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3314153" y="3582129"/>
            <a:ext cx="185943" cy="196880"/>
          </a:xfrm>
          <a:prstGeom prst="rect">
            <a:avLst/>
          </a:prstGeom>
        </p:spPr>
      </p:pic>
      <p:sp>
        <p:nvSpPr>
          <p:cNvPr id="153" name="Text 75"/>
          <p:cNvSpPr/>
          <p:nvPr/>
        </p:nvSpPr>
        <p:spPr>
          <a:xfrm>
            <a:off x="3543847" y="3565722"/>
            <a:ext cx="649705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3" b="1" dirty="0">
                <a:solidFill>
                  <a:srgbClr val="5F6060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Output:</a:t>
            </a:r>
            <a:endParaRPr lang="en-US" sz="543" dirty="0"/>
          </a:p>
          <a:p>
            <a:pPr algn="l" indent="0" marL="0">
              <a:buNone/>
            </a:pPr>
            <a:r>
              <a:rPr lang="en-US" sz="543" b="1" dirty="0">
                <a:solidFill>
                  <a:srgbClr val="5F6060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Targeted review pack</a:t>
            </a:r>
            <a:endParaRPr lang="en-US" sz="543" dirty="0"/>
          </a:p>
        </p:txBody>
      </p:sp>
      <p:pic>
        <p:nvPicPr>
          <p:cNvPr id="154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4150895" y="3642287"/>
            <a:ext cx="136722" cy="76565"/>
          </a:xfrm>
          <a:prstGeom prst="rect">
            <a:avLst/>
          </a:prstGeom>
        </p:spPr>
      </p:pic>
      <p:pic>
        <p:nvPicPr>
          <p:cNvPr id="155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3106335" y="3642287"/>
            <a:ext cx="158598" cy="76565"/>
          </a:xfrm>
          <a:prstGeom prst="rect">
            <a:avLst/>
          </a:prstGeom>
        </p:spPr>
      </p:pic>
      <p:sp>
        <p:nvSpPr>
          <p:cNvPr id="156" name="Shape 76"/>
          <p:cNvSpPr/>
          <p:nvPr/>
        </p:nvSpPr>
        <p:spPr>
          <a:xfrm>
            <a:off x="1104718" y="1252378"/>
            <a:ext cx="946120" cy="831273"/>
          </a:xfrm>
          <a:prstGeom prst="rect">
            <a:avLst/>
          </a:prstGeom>
          <a:solidFill>
            <a:srgbClr val="ECF3E6"/>
          </a:solidFill>
          <a:ln/>
        </p:spPr>
      </p:sp>
      <p:pic>
        <p:nvPicPr>
          <p:cNvPr id="157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1192220" y="1996148"/>
            <a:ext cx="27344" cy="27344"/>
          </a:xfrm>
          <a:prstGeom prst="rect">
            <a:avLst/>
          </a:prstGeom>
        </p:spPr>
      </p:pic>
      <p:pic>
        <p:nvPicPr>
          <p:cNvPr id="158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1192220" y="1908646"/>
            <a:ext cx="27344" cy="27344"/>
          </a:xfrm>
          <a:prstGeom prst="rect">
            <a:avLst/>
          </a:prstGeom>
        </p:spPr>
      </p:pic>
      <p:pic>
        <p:nvPicPr>
          <p:cNvPr id="159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1192220" y="1821144"/>
            <a:ext cx="27344" cy="27344"/>
          </a:xfrm>
          <a:prstGeom prst="rect">
            <a:avLst/>
          </a:prstGeom>
        </p:spPr>
      </p:pic>
      <p:pic>
        <p:nvPicPr>
          <p:cNvPr id="160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1192220" y="1728172"/>
            <a:ext cx="27344" cy="32813"/>
          </a:xfrm>
          <a:prstGeom prst="rect">
            <a:avLst/>
          </a:prstGeom>
        </p:spPr>
      </p:pic>
      <p:pic>
        <p:nvPicPr>
          <p:cNvPr id="161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1192220" y="1646139"/>
            <a:ext cx="27344" cy="21876"/>
          </a:xfrm>
          <a:prstGeom prst="rect">
            <a:avLst/>
          </a:prstGeom>
        </p:spPr>
      </p:pic>
      <p:pic>
        <p:nvPicPr>
          <p:cNvPr id="162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1170344" y="1285191"/>
            <a:ext cx="169536" cy="202349"/>
          </a:xfrm>
          <a:prstGeom prst="rect">
            <a:avLst/>
          </a:prstGeom>
        </p:spPr>
      </p:pic>
      <p:sp>
        <p:nvSpPr>
          <p:cNvPr id="163" name="Text 77"/>
          <p:cNvSpPr/>
          <p:nvPr/>
        </p:nvSpPr>
        <p:spPr>
          <a:xfrm>
            <a:off x="1257847" y="1968804"/>
            <a:ext cx="625642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4" b="1" dirty="0">
                <a:solidFill>
                  <a:srgbClr val="6B706A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Supporting evidence</a:t>
            </a:r>
            <a:endParaRPr lang="en-US" sz="534" dirty="0"/>
          </a:p>
        </p:txBody>
      </p:sp>
      <p:sp>
        <p:nvSpPr>
          <p:cNvPr id="164" name="Text 78"/>
          <p:cNvSpPr/>
          <p:nvPr/>
        </p:nvSpPr>
        <p:spPr>
          <a:xfrm>
            <a:off x="1257847" y="1881301"/>
            <a:ext cx="703847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3" b="1" dirty="0">
                <a:solidFill>
                  <a:srgbClr val="707671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Existing documentation</a:t>
            </a:r>
            <a:endParaRPr lang="en-US" sz="543" dirty="0"/>
          </a:p>
        </p:txBody>
      </p:sp>
      <p:sp>
        <p:nvSpPr>
          <p:cNvPr id="165" name="Text 79"/>
          <p:cNvSpPr/>
          <p:nvPr/>
        </p:nvSpPr>
        <p:spPr>
          <a:xfrm>
            <a:off x="1257847" y="1793799"/>
            <a:ext cx="511342" cy="76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7" dirty="0">
                <a:solidFill>
                  <a:srgbClr val="6E746F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SharePoint agent</a:t>
            </a:r>
            <a:endParaRPr lang="en-US" sz="517" dirty="0"/>
          </a:p>
        </p:txBody>
      </p:sp>
      <p:sp>
        <p:nvSpPr>
          <p:cNvPr id="166" name="Text 80"/>
          <p:cNvSpPr/>
          <p:nvPr/>
        </p:nvSpPr>
        <p:spPr>
          <a:xfrm>
            <a:off x="1257847" y="1706297"/>
            <a:ext cx="589547" cy="76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737772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Governance tracker</a:t>
            </a:r>
            <a:endParaRPr lang="en-US" sz="525" dirty="0"/>
          </a:p>
        </p:txBody>
      </p:sp>
      <p:sp>
        <p:nvSpPr>
          <p:cNvPr id="167" name="Text 81"/>
          <p:cNvSpPr/>
          <p:nvPr/>
        </p:nvSpPr>
        <p:spPr>
          <a:xfrm>
            <a:off x="1257847" y="1613325"/>
            <a:ext cx="733926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2" dirty="0">
                <a:solidFill>
                  <a:srgbClr val="6D716B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Intake form/ submission</a:t>
            </a:r>
            <a:endParaRPr lang="en-US" sz="482" dirty="0"/>
          </a:p>
        </p:txBody>
      </p:sp>
      <p:sp>
        <p:nvSpPr>
          <p:cNvPr id="168" name="Text 82"/>
          <p:cNvSpPr/>
          <p:nvPr/>
        </p:nvSpPr>
        <p:spPr>
          <a:xfrm>
            <a:off x="1175813" y="1525823"/>
            <a:ext cx="317196" cy="76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7" dirty="0">
                <a:solidFill>
                  <a:srgbClr val="676B66"/>
                </a:solidFill>
                <a:latin typeface="Kirang Haerang" pitchFamily="34" charset="0"/>
                <a:ea typeface="Kirang Haerang" pitchFamily="34" charset="-122"/>
                <a:cs typeface="Kirang Haerang" pitchFamily="34" charset="-120"/>
              </a:rPr>
              <a:t>Examples:</a:t>
            </a:r>
            <a:endParaRPr lang="en-US" sz="577" dirty="0"/>
          </a:p>
        </p:txBody>
      </p:sp>
      <p:sp>
        <p:nvSpPr>
          <p:cNvPr id="169" name="Text 83"/>
          <p:cNvSpPr/>
          <p:nvPr/>
        </p:nvSpPr>
        <p:spPr>
          <a:xfrm>
            <a:off x="1400038" y="1290660"/>
            <a:ext cx="559468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8" b="1" dirty="0">
                <a:solidFill>
                  <a:srgbClr val="656864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Submit use case</a:t>
            </a:r>
            <a:endParaRPr lang="en-US" sz="508" dirty="0"/>
          </a:p>
          <a:p>
            <a:pPr algn="l" indent="0" marL="0">
              <a:buNone/>
            </a:pPr>
            <a:r>
              <a:rPr lang="en-US" sz="508" b="1" dirty="0">
                <a:solidFill>
                  <a:srgbClr val="656864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information</a:t>
            </a:r>
            <a:endParaRPr lang="en-US" sz="508" dirty="0"/>
          </a:p>
        </p:txBody>
      </p:sp>
      <p:pic>
        <p:nvPicPr>
          <p:cNvPr id="170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60158" y="2067244"/>
            <a:ext cx="989871" cy="38282"/>
          </a:xfrm>
          <a:prstGeom prst="rect">
            <a:avLst/>
          </a:prstGeom>
        </p:spPr>
      </p:pic>
      <p:sp>
        <p:nvSpPr>
          <p:cNvPr id="171" name="Shape 84"/>
          <p:cNvSpPr/>
          <p:nvPr/>
        </p:nvSpPr>
        <p:spPr>
          <a:xfrm>
            <a:off x="2214904" y="1312536"/>
            <a:ext cx="951589" cy="563297"/>
          </a:xfrm>
          <a:prstGeom prst="rect">
            <a:avLst/>
          </a:prstGeom>
          <a:solidFill>
            <a:srgbClr val="ECF3E6"/>
          </a:solidFill>
          <a:ln/>
        </p:spPr>
      </p:sp>
      <p:pic>
        <p:nvPicPr>
          <p:cNvPr id="172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2296938" y="1378163"/>
            <a:ext cx="191411" cy="218756"/>
          </a:xfrm>
          <a:prstGeom prst="rect">
            <a:avLst/>
          </a:prstGeom>
        </p:spPr>
      </p:pic>
      <p:sp>
        <p:nvSpPr>
          <p:cNvPr id="173" name="Text 85"/>
          <p:cNvSpPr/>
          <p:nvPr/>
        </p:nvSpPr>
        <p:spPr>
          <a:xfrm>
            <a:off x="2543038" y="1602388"/>
            <a:ext cx="463216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3" dirty="0">
                <a:solidFill>
                  <a:srgbClr val="757974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if the intake is</a:t>
            </a:r>
            <a:endParaRPr lang="en-US" sz="543" dirty="0"/>
          </a:p>
          <a:p>
            <a:pPr algn="l" indent="0" marL="0">
              <a:buNone/>
            </a:pPr>
            <a:r>
              <a:rPr lang="en-US" sz="543" dirty="0">
                <a:solidFill>
                  <a:srgbClr val="757974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incomplete</a:t>
            </a:r>
            <a:endParaRPr lang="en-US" sz="543" dirty="0"/>
          </a:p>
        </p:txBody>
      </p:sp>
      <p:sp>
        <p:nvSpPr>
          <p:cNvPr id="174" name="Text 86"/>
          <p:cNvSpPr/>
          <p:nvPr/>
        </p:nvSpPr>
        <p:spPr>
          <a:xfrm>
            <a:off x="2543038" y="1372694"/>
            <a:ext cx="655721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5D605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Respond to</a:t>
            </a:r>
            <a:endParaRPr lang="en-US" sz="504" dirty="0"/>
          </a:p>
          <a:p>
            <a:pPr algn="l" indent="0" marL="0">
              <a:buNone/>
            </a:pPr>
            <a:r>
              <a:rPr lang="en-US" sz="504" b="1" dirty="0">
                <a:solidFill>
                  <a:srgbClr val="5D605C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follow-up questions</a:t>
            </a:r>
            <a:endParaRPr lang="en-US" sz="504" dirty="0"/>
          </a:p>
        </p:txBody>
      </p:sp>
      <p:sp>
        <p:nvSpPr>
          <p:cNvPr id="175" name="Shape 87"/>
          <p:cNvSpPr/>
          <p:nvPr/>
        </p:nvSpPr>
        <p:spPr>
          <a:xfrm>
            <a:off x="120316" y="1700828"/>
            <a:ext cx="869555" cy="273445"/>
          </a:xfrm>
          <a:prstGeom prst="rect">
            <a:avLst/>
          </a:prstGeom>
          <a:solidFill>
            <a:srgbClr val="FCF5E6"/>
          </a:solidFill>
          <a:ln/>
        </p:spPr>
      </p:sp>
      <p:sp>
        <p:nvSpPr>
          <p:cNvPr id="176" name="Text 88"/>
          <p:cNvSpPr/>
          <p:nvPr/>
        </p:nvSpPr>
        <p:spPr>
          <a:xfrm>
            <a:off x="175005" y="1848488"/>
            <a:ext cx="842211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3" b="1" dirty="0">
                <a:solidFill>
                  <a:srgbClr val="77736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interactions across lifecycle</a:t>
            </a:r>
            <a:endParaRPr lang="en-US" sz="543" dirty="0"/>
          </a:p>
        </p:txBody>
      </p:sp>
      <p:sp>
        <p:nvSpPr>
          <p:cNvPr id="177" name="Text 89"/>
          <p:cNvSpPr/>
          <p:nvPr/>
        </p:nvSpPr>
        <p:spPr>
          <a:xfrm>
            <a:off x="382823" y="1755517"/>
            <a:ext cx="445168" cy="76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dirty="0">
                <a:solidFill>
                  <a:srgbClr val="7B7874"/>
                </a:solidFill>
                <a:latin typeface="Jersey 20" pitchFamily="34" charset="0"/>
                <a:ea typeface="Jersey 20" pitchFamily="34" charset="-122"/>
                <a:cs typeface="Jersey 20" pitchFamily="34" charset="-120"/>
              </a:rPr>
              <a:t>use case team</a:t>
            </a:r>
            <a:endParaRPr lang="en-US" sz="564" dirty="0"/>
          </a:p>
        </p:txBody>
      </p:sp>
      <p:sp>
        <p:nvSpPr>
          <p:cNvPr id="178" name="Text 90"/>
          <p:cNvSpPr/>
          <p:nvPr/>
        </p:nvSpPr>
        <p:spPr>
          <a:xfrm>
            <a:off x="175005" y="1739110"/>
            <a:ext cx="224225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F17445"/>
                </a:solidFill>
                <a:latin typeface="Inria Sans" pitchFamily="34" charset="0"/>
                <a:ea typeface="Inria Sans" pitchFamily="34" charset="-122"/>
                <a:cs typeface="Inria Sans" pitchFamily="34" charset="-120"/>
              </a:rPr>
              <a:t>NEW:</a:t>
            </a:r>
            <a:endParaRPr lang="en-US" sz="655" dirty="0"/>
          </a:p>
        </p:txBody>
      </p:sp>
      <p:pic>
        <p:nvPicPr>
          <p:cNvPr id="179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120316" y="1328943"/>
            <a:ext cx="251569" cy="267976"/>
          </a:xfrm>
          <a:prstGeom prst="rect">
            <a:avLst/>
          </a:prstGeom>
        </p:spPr>
      </p:pic>
      <p:sp>
        <p:nvSpPr>
          <p:cNvPr id="180" name="Text 91"/>
          <p:cNvSpPr/>
          <p:nvPr/>
        </p:nvSpPr>
        <p:spPr>
          <a:xfrm>
            <a:off x="432043" y="1345349"/>
            <a:ext cx="649705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5" b="1" dirty="0">
                <a:solidFill>
                  <a:srgbClr val="617866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1.Use Case Team/</a:t>
            </a:r>
            <a:endParaRPr lang="en-US" sz="655" dirty="0"/>
          </a:p>
          <a:p>
            <a:pPr algn="l" indent="0" marL="0">
              <a:buNone/>
            </a:pPr>
            <a:r>
              <a:rPr lang="en-US" sz="655" b="1" dirty="0">
                <a:solidFill>
                  <a:srgbClr val="617866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Model Owner</a:t>
            </a:r>
            <a:endParaRPr lang="en-US" sz="655" dirty="0"/>
          </a:p>
        </p:txBody>
      </p:sp>
      <p:sp>
        <p:nvSpPr>
          <p:cNvPr id="181" name="Shape 92"/>
          <p:cNvSpPr/>
          <p:nvPr/>
        </p:nvSpPr>
        <p:spPr>
          <a:xfrm>
            <a:off x="6639244" y="3500096"/>
            <a:ext cx="935182" cy="366416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182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6688464" y="3560254"/>
            <a:ext cx="235163" cy="213287"/>
          </a:xfrm>
          <a:prstGeom prst="rect">
            <a:avLst/>
          </a:prstGeom>
        </p:spPr>
      </p:pic>
      <p:sp>
        <p:nvSpPr>
          <p:cNvPr id="183" name="Text 93"/>
          <p:cNvSpPr/>
          <p:nvPr/>
        </p:nvSpPr>
        <p:spPr>
          <a:xfrm>
            <a:off x="7000191" y="3538378"/>
            <a:ext cx="355478" cy="2953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5C5D5D"/>
                </a:solidFill>
                <a:latin typeface="Black And White Picture" pitchFamily="34" charset="0"/>
                <a:ea typeface="Black And White Picture" pitchFamily="34" charset="-122"/>
                <a:cs typeface="Black And White Picture" pitchFamily="34" charset="-120"/>
              </a:rPr>
              <a:t>Output:</a:t>
            </a:r>
            <a:endParaRPr lang="en-US" sz="590" dirty="0"/>
          </a:p>
          <a:p>
            <a:pPr algn="l" indent="0" marL="0">
              <a:buNone/>
            </a:pPr>
            <a:r>
              <a:rPr lang="en-US" sz="590" b="1" dirty="0">
                <a:solidFill>
                  <a:srgbClr val="5C5D5D"/>
                </a:solidFill>
                <a:latin typeface="Black And White Picture" pitchFamily="34" charset="0"/>
                <a:ea typeface="Black And White Picture" pitchFamily="34" charset="-122"/>
                <a:cs typeface="Black And White Picture" pitchFamily="34" charset="-120"/>
              </a:rPr>
              <a:t>Final triage</a:t>
            </a:r>
            <a:endParaRPr lang="en-US" sz="590" dirty="0"/>
          </a:p>
          <a:p>
            <a:pPr algn="l" indent="0" marL="0">
              <a:buNone/>
            </a:pPr>
            <a:r>
              <a:rPr lang="en-US" sz="590" b="1" dirty="0">
                <a:solidFill>
                  <a:srgbClr val="5C5D5D"/>
                </a:solidFill>
                <a:latin typeface="Black And White Picture" pitchFamily="34" charset="0"/>
                <a:ea typeface="Black And White Picture" pitchFamily="34" charset="-122"/>
                <a:cs typeface="Black And White Picture" pitchFamily="34" charset="-120"/>
              </a:rPr>
              <a:t>outcome</a:t>
            </a:r>
            <a:endParaRPr lang="en-US" sz="590" dirty="0"/>
          </a:p>
        </p:txBody>
      </p:sp>
      <p:sp>
        <p:nvSpPr>
          <p:cNvPr id="184" name="Text 94"/>
          <p:cNvSpPr/>
          <p:nvPr/>
        </p:nvSpPr>
        <p:spPr>
          <a:xfrm>
            <a:off x="432043" y="3549316"/>
            <a:ext cx="631658" cy="235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597161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4. Shared Review /</a:t>
            </a:r>
            <a:endParaRPr lang="en-US" sz="590" dirty="0"/>
          </a:p>
          <a:p>
            <a:pPr algn="l" indent="0" marL="0">
              <a:buNone/>
            </a:pPr>
            <a:r>
              <a:rPr lang="en-US" sz="590" b="1" dirty="0">
                <a:solidFill>
                  <a:srgbClr val="597161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Evidence Space</a:t>
            </a:r>
            <a:endParaRPr lang="en-US" sz="590" dirty="0"/>
          </a:p>
        </p:txBody>
      </p:sp>
      <p:pic>
        <p:nvPicPr>
          <p:cNvPr id="185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109378" y="3511033"/>
            <a:ext cx="262507" cy="278914"/>
          </a:xfrm>
          <a:prstGeom prst="rect">
            <a:avLst/>
          </a:prstGeom>
        </p:spPr>
      </p:pic>
      <p:sp>
        <p:nvSpPr>
          <p:cNvPr id="186" name="Shape 95"/>
          <p:cNvSpPr/>
          <p:nvPr/>
        </p:nvSpPr>
        <p:spPr>
          <a:xfrm>
            <a:off x="7760368" y="278914"/>
            <a:ext cx="1301598" cy="514077"/>
          </a:xfrm>
          <a:prstGeom prst="rect">
            <a:avLst/>
          </a:prstGeom>
          <a:solidFill>
            <a:srgbClr val="FDF8F1"/>
          </a:solidFill>
          <a:ln/>
        </p:spPr>
      </p:sp>
      <p:pic>
        <p:nvPicPr>
          <p:cNvPr id="187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831464" y="355478"/>
            <a:ext cx="169536" cy="175005"/>
          </a:xfrm>
          <a:prstGeom prst="rect">
            <a:avLst/>
          </a:prstGeom>
        </p:spPr>
      </p:pic>
      <p:sp>
        <p:nvSpPr>
          <p:cNvPr id="188" name="Text 96"/>
          <p:cNvSpPr/>
          <p:nvPr/>
        </p:nvSpPr>
        <p:spPr>
          <a:xfrm>
            <a:off x="8061158" y="497670"/>
            <a:ext cx="1034716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9" dirty="0">
                <a:solidFill>
                  <a:srgbClr val="65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streamline upfront triage</a:t>
            </a:r>
            <a:endParaRPr lang="en-US" sz="659" dirty="0"/>
          </a:p>
          <a:p>
            <a:pPr algn="l" indent="0" marL="0">
              <a:buNone/>
            </a:pPr>
            <a:r>
              <a:rPr lang="en-US" sz="659" dirty="0">
                <a:solidFill>
                  <a:srgbClr val="6564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and intake / ingestion</a:t>
            </a:r>
            <a:endParaRPr lang="en-US" sz="659" dirty="0"/>
          </a:p>
        </p:txBody>
      </p:sp>
      <p:sp>
        <p:nvSpPr>
          <p:cNvPr id="189" name="Text 97"/>
          <p:cNvSpPr/>
          <p:nvPr/>
        </p:nvSpPr>
        <p:spPr>
          <a:xfrm>
            <a:off x="8061158" y="355478"/>
            <a:ext cx="1022684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F0784E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Current pressure point:</a:t>
            </a:r>
            <a:endParaRPr lang="en-US" sz="672" dirty="0"/>
          </a:p>
        </p:txBody>
      </p:sp>
      <p:sp>
        <p:nvSpPr>
          <p:cNvPr id="190" name="Text 98"/>
          <p:cNvSpPr/>
          <p:nvPr/>
        </p:nvSpPr>
        <p:spPr>
          <a:xfrm>
            <a:off x="142191" y="437512"/>
            <a:ext cx="7062537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8" dirty="0">
                <a:solidFill>
                  <a:srgbClr val="7F848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 AlRO-led MVP with stronger intake &amp; ingestion support, use case team interaction points, and shared review for specialist input.</a:t>
            </a:r>
            <a:endParaRPr lang="en-US" sz="848" dirty="0"/>
          </a:p>
        </p:txBody>
      </p:sp>
      <p:sp>
        <p:nvSpPr>
          <p:cNvPr id="191" name="Shape 99"/>
          <p:cNvSpPr/>
          <p:nvPr/>
        </p:nvSpPr>
        <p:spPr>
          <a:xfrm>
            <a:off x="5266550" y="92971"/>
            <a:ext cx="2269593" cy="273445"/>
          </a:xfrm>
          <a:prstGeom prst="rect">
            <a:avLst/>
          </a:prstGeom>
          <a:solidFill>
            <a:srgbClr val="003211"/>
          </a:solidFill>
          <a:ln/>
        </p:spPr>
      </p:sp>
      <p:pic>
        <p:nvPicPr>
          <p:cNvPr id="192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5332177" y="142191"/>
            <a:ext cx="164067" cy="175005"/>
          </a:xfrm>
          <a:prstGeom prst="rect">
            <a:avLst/>
          </a:prstGeom>
        </p:spPr>
      </p:pic>
      <p:sp>
        <p:nvSpPr>
          <p:cNvPr id="193" name="Text 100"/>
          <p:cNvSpPr/>
          <p:nvPr/>
        </p:nvSpPr>
        <p:spPr>
          <a:xfrm>
            <a:off x="5545464" y="164067"/>
            <a:ext cx="2111542" cy="136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3" b="1" dirty="0">
                <a:solidFill>
                  <a:srgbClr val="A6B8AB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UPDATED: stronger intake &amp; ingestion focus</a:t>
            </a:r>
            <a:endParaRPr lang="en-US" sz="853" dirty="0"/>
          </a:p>
        </p:txBody>
      </p:sp>
      <p:sp>
        <p:nvSpPr>
          <p:cNvPr id="194" name="Text 101"/>
          <p:cNvSpPr/>
          <p:nvPr/>
        </p:nvSpPr>
        <p:spPr>
          <a:xfrm>
            <a:off x="142191" y="87502"/>
            <a:ext cx="5522495" cy="3117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14029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AI Risk Triaging Tool – Practical MVP Design</a:t>
            </a:r>
            <a:endParaRPr lang="en-US" sz="2175" dirty="0"/>
          </a:p>
        </p:txBody>
      </p:sp>
      <p:pic>
        <p:nvPicPr>
          <p:cNvPr id="195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7251761" y="552359"/>
            <a:ext cx="503139" cy="284383"/>
          </a:xfrm>
          <a:prstGeom prst="rect">
            <a:avLst/>
          </a:prstGeom>
        </p:spPr>
      </p:pic>
      <p:sp>
        <p:nvSpPr>
          <p:cNvPr id="196" name="Shape 102"/>
          <p:cNvSpPr/>
          <p:nvPr/>
        </p:nvSpPr>
        <p:spPr>
          <a:xfrm>
            <a:off x="7776775" y="924244"/>
            <a:ext cx="1279722" cy="224225"/>
          </a:xfrm>
          <a:prstGeom prst="rect">
            <a:avLst/>
          </a:prstGeom>
          <a:solidFill>
            <a:srgbClr val="013211"/>
          </a:solidFill>
          <a:ln/>
        </p:spPr>
      </p:sp>
      <p:sp>
        <p:nvSpPr>
          <p:cNvPr id="197" name="Text 103"/>
          <p:cNvSpPr/>
          <p:nvPr/>
        </p:nvSpPr>
        <p:spPr>
          <a:xfrm>
            <a:off x="7902560" y="973464"/>
            <a:ext cx="1143000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7" b="1" dirty="0">
                <a:solidFill>
                  <a:srgbClr val="A9BBAE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What the MVP includes</a:t>
            </a:r>
            <a:endParaRPr lang="en-US" sz="797" dirty="0"/>
          </a:p>
        </p:txBody>
      </p:sp>
      <p:sp>
        <p:nvSpPr>
          <p:cNvPr id="198" name="Text 104"/>
          <p:cNvSpPr/>
          <p:nvPr/>
        </p:nvSpPr>
        <p:spPr>
          <a:xfrm>
            <a:off x="6700769" y="929713"/>
            <a:ext cx="812132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5E5E5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Consolidate outcome</a:t>
            </a:r>
            <a:endParaRPr lang="en-US" sz="624" dirty="0"/>
          </a:p>
          <a:p>
            <a:pPr algn="ctr" indent="0" marL="0">
              <a:buNone/>
            </a:pPr>
            <a:r>
              <a:rPr lang="en-US" sz="624" b="1" dirty="0">
                <a:solidFill>
                  <a:srgbClr val="5E5E5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&amp; save evidence</a:t>
            </a:r>
            <a:endParaRPr lang="en-US" sz="624" dirty="0"/>
          </a:p>
        </p:txBody>
      </p:sp>
      <p:sp>
        <p:nvSpPr>
          <p:cNvPr id="199" name="Text 105"/>
          <p:cNvSpPr/>
          <p:nvPr/>
        </p:nvSpPr>
        <p:spPr>
          <a:xfrm>
            <a:off x="5765587" y="929713"/>
            <a:ext cx="691816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1" b="1" dirty="0">
                <a:solidFill>
                  <a:srgbClr val="62626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risk team</a:t>
            </a:r>
            <a:endParaRPr lang="en-US" sz="521" dirty="0"/>
          </a:p>
          <a:p>
            <a:pPr algn="ctr" indent="0" marL="0">
              <a:buNone/>
            </a:pPr>
            <a:r>
              <a:rPr lang="en-US" sz="521" b="1" dirty="0">
                <a:solidFill>
                  <a:srgbClr val="62626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assessments</a:t>
            </a:r>
            <a:endParaRPr lang="en-US" sz="521" dirty="0"/>
          </a:p>
        </p:txBody>
      </p:sp>
      <p:sp>
        <p:nvSpPr>
          <p:cNvPr id="200" name="Text 106"/>
          <p:cNvSpPr/>
          <p:nvPr/>
        </p:nvSpPr>
        <p:spPr>
          <a:xfrm>
            <a:off x="4704621" y="940651"/>
            <a:ext cx="571500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7" b="1" dirty="0">
                <a:solidFill>
                  <a:srgbClr val="5F5F6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Share pack for</a:t>
            </a:r>
            <a:endParaRPr lang="en-US" sz="607" dirty="0"/>
          </a:p>
          <a:p>
            <a:pPr algn="ctr" indent="0" marL="0">
              <a:buNone/>
            </a:pPr>
            <a:r>
              <a:rPr lang="en-US" sz="607" b="1" dirty="0">
                <a:solidFill>
                  <a:srgbClr val="5F5F60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2LoD review</a:t>
            </a:r>
            <a:endParaRPr lang="en-US" sz="607" dirty="0"/>
          </a:p>
        </p:txBody>
      </p:sp>
      <p:sp>
        <p:nvSpPr>
          <p:cNvPr id="201" name="Text 107"/>
          <p:cNvSpPr/>
          <p:nvPr/>
        </p:nvSpPr>
        <p:spPr>
          <a:xfrm>
            <a:off x="3544394" y="929713"/>
            <a:ext cx="469232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8" b="1" dirty="0">
                <a:solidFill>
                  <a:srgbClr val="616161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Generate</a:t>
            </a:r>
            <a:endParaRPr lang="en-US" sz="698" dirty="0"/>
          </a:p>
          <a:p>
            <a:pPr algn="ctr" indent="0" marL="0">
              <a:buNone/>
            </a:pPr>
            <a:r>
              <a:rPr lang="en-US" sz="698" b="1" dirty="0">
                <a:solidFill>
                  <a:srgbClr val="616161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review pack</a:t>
            </a:r>
            <a:endParaRPr lang="en-US" sz="698" dirty="0"/>
          </a:p>
        </p:txBody>
      </p:sp>
      <p:sp>
        <p:nvSpPr>
          <p:cNvPr id="202" name="Text 108"/>
          <p:cNvSpPr/>
          <p:nvPr/>
        </p:nvSpPr>
        <p:spPr>
          <a:xfrm>
            <a:off x="2429012" y="940651"/>
            <a:ext cx="463216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606061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Structure &amp;</a:t>
            </a:r>
            <a:endParaRPr lang="en-US" sz="624" dirty="0"/>
          </a:p>
          <a:p>
            <a:pPr algn="ctr" indent="0" marL="0">
              <a:buNone/>
            </a:pPr>
            <a:r>
              <a:rPr lang="en-US" sz="624" b="1" dirty="0">
                <a:solidFill>
                  <a:srgbClr val="606061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triage</a:t>
            </a:r>
            <a:endParaRPr lang="en-US" sz="624" dirty="0"/>
          </a:p>
        </p:txBody>
      </p:sp>
      <p:pic>
        <p:nvPicPr>
          <p:cNvPr id="203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6967378" y="705488"/>
            <a:ext cx="202349" cy="207818"/>
          </a:xfrm>
          <a:prstGeom prst="rect">
            <a:avLst/>
          </a:prstGeom>
        </p:spPr>
      </p:pic>
      <p:pic>
        <p:nvPicPr>
          <p:cNvPr id="204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6278297" y="798459"/>
            <a:ext cx="607048" cy="49220"/>
          </a:xfrm>
          <a:prstGeom prst="rect">
            <a:avLst/>
          </a:prstGeom>
        </p:spPr>
      </p:pic>
      <p:pic>
        <p:nvPicPr>
          <p:cNvPr id="205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993914" y="705488"/>
            <a:ext cx="202349" cy="207818"/>
          </a:xfrm>
          <a:prstGeom prst="rect">
            <a:avLst/>
          </a:prstGeom>
        </p:spPr>
      </p:pic>
      <p:pic>
        <p:nvPicPr>
          <p:cNvPr id="206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5151703" y="798459"/>
            <a:ext cx="754708" cy="49220"/>
          </a:xfrm>
          <a:prstGeom prst="rect">
            <a:avLst/>
          </a:prstGeom>
        </p:spPr>
      </p:pic>
      <p:pic>
        <p:nvPicPr>
          <p:cNvPr id="207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4867321" y="710957"/>
            <a:ext cx="196880" cy="196880"/>
          </a:xfrm>
          <a:prstGeom prst="rect">
            <a:avLst/>
          </a:prstGeom>
        </p:spPr>
      </p:pic>
      <p:pic>
        <p:nvPicPr>
          <p:cNvPr id="208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3954014" y="798459"/>
            <a:ext cx="831273" cy="49220"/>
          </a:xfrm>
          <a:prstGeom prst="rect">
            <a:avLst/>
          </a:prstGeom>
        </p:spPr>
      </p:pic>
      <p:pic>
        <p:nvPicPr>
          <p:cNvPr id="209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3664163" y="705488"/>
            <a:ext cx="202349" cy="207818"/>
          </a:xfrm>
          <a:prstGeom prst="rect">
            <a:avLst/>
          </a:prstGeom>
        </p:spPr>
      </p:pic>
      <p:pic>
        <p:nvPicPr>
          <p:cNvPr id="210" name="Image 99" descr="preencoded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832890" y="798459"/>
            <a:ext cx="754708" cy="49220"/>
          </a:xfrm>
          <a:prstGeom prst="rect">
            <a:avLst/>
          </a:prstGeom>
        </p:spPr>
      </p:pic>
      <p:pic>
        <p:nvPicPr>
          <p:cNvPr id="211" name="Image 100" descr="preencoded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548507" y="710957"/>
            <a:ext cx="196880" cy="196880"/>
          </a:xfrm>
          <a:prstGeom prst="rect">
            <a:avLst/>
          </a:prstGeom>
        </p:spPr>
      </p:pic>
      <p:pic>
        <p:nvPicPr>
          <p:cNvPr id="212" name="Image 101" descr="preencoded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2110995" y="798459"/>
            <a:ext cx="355478" cy="43751"/>
          </a:xfrm>
          <a:prstGeom prst="rect">
            <a:avLst/>
          </a:prstGeom>
        </p:spPr>
      </p:pic>
      <p:sp>
        <p:nvSpPr>
          <p:cNvPr id="213" name="Text 109"/>
          <p:cNvSpPr/>
          <p:nvPr/>
        </p:nvSpPr>
        <p:spPr>
          <a:xfrm>
            <a:off x="1241440" y="940651"/>
            <a:ext cx="625642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6" b="1" dirty="0">
                <a:solidFill>
                  <a:srgbClr val="5B5853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Intake &amp; ingest</a:t>
            </a:r>
            <a:endParaRPr lang="en-US" sz="616" dirty="0"/>
          </a:p>
          <a:p>
            <a:pPr algn="l" indent="0" marL="0">
              <a:buNone/>
            </a:pPr>
            <a:r>
              <a:rPr lang="en-US" sz="616" b="1" dirty="0">
                <a:solidFill>
                  <a:srgbClr val="5B5853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use case inputs</a:t>
            </a:r>
            <a:endParaRPr lang="en-US" sz="616" dirty="0"/>
          </a:p>
        </p:txBody>
      </p:sp>
      <p:sp>
        <p:nvSpPr>
          <p:cNvPr id="214" name="Shape 110"/>
          <p:cNvSpPr/>
          <p:nvPr/>
        </p:nvSpPr>
        <p:spPr>
          <a:xfrm>
            <a:off x="1405507" y="710957"/>
            <a:ext cx="202349" cy="196880"/>
          </a:xfrm>
          <a:prstGeom prst="rect">
            <a:avLst/>
          </a:prstGeom>
          <a:solidFill>
            <a:srgbClr val="003114"/>
          </a:solidFill>
          <a:ln/>
        </p:spPr>
      </p:sp>
      <p:sp>
        <p:nvSpPr>
          <p:cNvPr id="215" name="Text 111"/>
          <p:cNvSpPr/>
          <p:nvPr/>
        </p:nvSpPr>
        <p:spPr>
          <a:xfrm>
            <a:off x="1460196" y="738301"/>
            <a:ext cx="98440" cy="136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B1C0B5"/>
                </a:solidFill>
                <a:latin typeface="Kumbh Sans" pitchFamily="34" charset="0"/>
                <a:ea typeface="Kumbh Sans" pitchFamily="34" charset="-122"/>
                <a:cs typeface="Kumbh Sans" pitchFamily="34" charset="-120"/>
              </a:rPr>
              <a:t>1</a:t>
            </a:r>
            <a:endParaRPr lang="en-US" sz="1120" dirty="0"/>
          </a:p>
        </p:txBody>
      </p:sp>
      <p:sp>
        <p:nvSpPr>
          <p:cNvPr id="216" name="Text 112"/>
          <p:cNvSpPr/>
          <p:nvPr/>
        </p:nvSpPr>
        <p:spPr>
          <a:xfrm>
            <a:off x="7016598" y="738301"/>
            <a:ext cx="114847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CDD8D1"/>
                </a:solidFill>
                <a:latin typeface="Playpen Sans" pitchFamily="34" charset="0"/>
                <a:ea typeface="Playpen Sans" pitchFamily="34" charset="-122"/>
                <a:cs typeface="Playpen Sans" pitchFamily="34" charset="-120"/>
              </a:rPr>
              <a:t>6</a:t>
            </a:r>
            <a:endParaRPr lang="en-US" sz="900" dirty="0"/>
          </a:p>
        </p:txBody>
      </p:sp>
      <p:sp>
        <p:nvSpPr>
          <p:cNvPr id="217" name="Text 113"/>
          <p:cNvSpPr/>
          <p:nvPr/>
        </p:nvSpPr>
        <p:spPr>
          <a:xfrm>
            <a:off x="6037665" y="738301"/>
            <a:ext cx="114847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1" b="1" dirty="0">
                <a:solidFill>
                  <a:srgbClr val="C2D0C7"/>
                </a:solidFill>
                <a:latin typeface="Allerta Stencil" pitchFamily="34" charset="0"/>
                <a:ea typeface="Allerta Stencil" pitchFamily="34" charset="-122"/>
                <a:cs typeface="Allerta Stencil" pitchFamily="34" charset="-120"/>
              </a:rPr>
              <a:t>5</a:t>
            </a:r>
            <a:endParaRPr lang="en-US" sz="1081" dirty="0"/>
          </a:p>
        </p:txBody>
      </p:sp>
      <p:sp>
        <p:nvSpPr>
          <p:cNvPr id="218" name="Text 114"/>
          <p:cNvSpPr/>
          <p:nvPr/>
        </p:nvSpPr>
        <p:spPr>
          <a:xfrm>
            <a:off x="4911072" y="743770"/>
            <a:ext cx="120316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8" dirty="0">
                <a:solidFill>
                  <a:srgbClr val="C9D5CD"/>
                </a:solidFill>
                <a:latin typeface="Kulim Park" pitchFamily="34" charset="0"/>
                <a:ea typeface="Kulim Park" pitchFamily="34" charset="-122"/>
                <a:cs typeface="Kulim Park" pitchFamily="34" charset="-120"/>
              </a:rPr>
              <a:t>4</a:t>
            </a:r>
            <a:endParaRPr lang="en-US" sz="1158" dirty="0"/>
          </a:p>
        </p:txBody>
      </p:sp>
      <p:sp>
        <p:nvSpPr>
          <p:cNvPr id="219" name="Text 115"/>
          <p:cNvSpPr/>
          <p:nvPr/>
        </p:nvSpPr>
        <p:spPr>
          <a:xfrm>
            <a:off x="3713383" y="743770"/>
            <a:ext cx="109378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9" b="1" dirty="0">
                <a:solidFill>
                  <a:srgbClr val="C8D5CC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3</a:t>
            </a:r>
            <a:endParaRPr lang="en-US" sz="1059" dirty="0"/>
          </a:p>
        </p:txBody>
      </p:sp>
      <p:sp>
        <p:nvSpPr>
          <p:cNvPr id="220" name="Text 116"/>
          <p:cNvSpPr/>
          <p:nvPr/>
        </p:nvSpPr>
        <p:spPr>
          <a:xfrm>
            <a:off x="2592258" y="738301"/>
            <a:ext cx="114847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9" b="1" dirty="0">
                <a:solidFill>
                  <a:srgbClr val="C3D0C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219" dirty="0"/>
          </a:p>
        </p:txBody>
      </p:sp>
      <p:pic>
        <p:nvPicPr>
          <p:cNvPr id="221" name="Image 102" descr="preencoded.png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0" y="5135297"/>
            <a:ext cx="9144000" cy="10938"/>
          </a:xfrm>
          <a:prstGeom prst="rect">
            <a:avLst/>
          </a:prstGeom>
        </p:spPr>
      </p:pic>
      <p:pic>
        <p:nvPicPr>
          <p:cNvPr id="222" name="Image 103" descr="preencoded.png">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0" y="0"/>
            <a:ext cx="9144000" cy="10938"/>
          </a:xfrm>
          <a:prstGeom prst="rect">
            <a:avLst/>
          </a:prstGeom>
        </p:spPr>
      </p:pic>
      <p:pic>
        <p:nvPicPr>
          <p:cNvPr id="223" name="Image 104" descr="preencoded.png">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9133062" y="0"/>
            <a:ext cx="10938" cy="5146234"/>
          </a:xfrm>
          <a:prstGeom prst="rect">
            <a:avLst/>
          </a:prstGeom>
        </p:spPr>
      </p:pic>
      <p:pic>
        <p:nvPicPr>
          <p:cNvPr id="224" name="Image 105" descr="preencoded.png">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0" y="0"/>
            <a:ext cx="10938" cy="51462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2026-06-30T08:53:05Z</dcterms:created>
  <dcterms:modified xsi:type="dcterms:W3CDTF">2026-06-30T08:53:05Z</dcterms:modified>
</cp:coreProperties>
</file>