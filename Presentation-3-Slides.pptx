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jpe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png"/><Relationship Id="rId23" Type="http://schemas.openxmlformats.org/officeDocument/2006/relationships/image" Target="../media/image-1-23.png"/><Relationship Id="rId24" Type="http://schemas.openxmlformats.org/officeDocument/2006/relationships/image" Target="../media/image-1-24.png"/><Relationship Id="rId25" Type="http://schemas.openxmlformats.org/officeDocument/2006/relationships/image" Target="../media/image-1-25.png"/><Relationship Id="rId26" Type="http://schemas.openxmlformats.org/officeDocument/2006/relationships/image" Target="../media/image-1-26.png"/><Relationship Id="rId27" Type="http://schemas.openxmlformats.org/officeDocument/2006/relationships/image" Target="../media/image-1-27.png"/><Relationship Id="rId28" Type="http://schemas.openxmlformats.org/officeDocument/2006/relationships/image" Target="../media/image-1-28.png"/><Relationship Id="rId29" Type="http://schemas.openxmlformats.org/officeDocument/2006/relationships/image" Target="../media/image-1-29.png"/><Relationship Id="rId30" Type="http://schemas.openxmlformats.org/officeDocument/2006/relationships/slideLayout" Target="../slideLayouts/slideLayout1.xml"/><Relationship Id="rId3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image" Target="../media/image-2-21.png"/><Relationship Id="rId22" Type="http://schemas.openxmlformats.org/officeDocument/2006/relationships/image" Target="../media/image-2-22.png"/><Relationship Id="rId23" Type="http://schemas.openxmlformats.org/officeDocument/2006/relationships/image" Target="../media/image-2-23.png"/><Relationship Id="rId24" Type="http://schemas.openxmlformats.org/officeDocument/2006/relationships/image" Target="../media/image-2-24.png"/><Relationship Id="rId25" Type="http://schemas.openxmlformats.org/officeDocument/2006/relationships/image" Target="../media/image-2-25.png"/><Relationship Id="rId26" Type="http://schemas.openxmlformats.org/officeDocument/2006/relationships/image" Target="../media/image-2-26.png"/><Relationship Id="rId27" Type="http://schemas.openxmlformats.org/officeDocument/2006/relationships/image" Target="../media/image-2-27.png"/><Relationship Id="rId28" Type="http://schemas.openxmlformats.org/officeDocument/2006/relationships/image" Target="../media/image-2-28.png"/><Relationship Id="rId29" Type="http://schemas.openxmlformats.org/officeDocument/2006/relationships/image" Target="../media/image-2-29.png"/><Relationship Id="rId30" Type="http://schemas.openxmlformats.org/officeDocument/2006/relationships/image" Target="../media/image-2-30.png"/><Relationship Id="rId31" Type="http://schemas.openxmlformats.org/officeDocument/2006/relationships/image" Target="../media/image-2-31.png"/><Relationship Id="rId32" Type="http://schemas.openxmlformats.org/officeDocument/2006/relationships/image" Target="../media/image-2-32.png"/><Relationship Id="rId33" Type="http://schemas.openxmlformats.org/officeDocument/2006/relationships/image" Target="../media/image-2-33.png"/><Relationship Id="rId34" Type="http://schemas.openxmlformats.org/officeDocument/2006/relationships/image" Target="../media/image-2-34.png"/><Relationship Id="rId35" Type="http://schemas.openxmlformats.org/officeDocument/2006/relationships/image" Target="../media/image-2-35.png"/><Relationship Id="rId36" Type="http://schemas.openxmlformats.org/officeDocument/2006/relationships/image" Target="../media/image-2-36.png"/><Relationship Id="rId37" Type="http://schemas.openxmlformats.org/officeDocument/2006/relationships/image" Target="../media/image-2-37.png"/><Relationship Id="rId38" Type="http://schemas.openxmlformats.org/officeDocument/2006/relationships/image" Target="../media/image-2-38.png"/><Relationship Id="rId39" Type="http://schemas.openxmlformats.org/officeDocument/2006/relationships/image" Target="../media/image-2-39.png"/><Relationship Id="rId40" Type="http://schemas.openxmlformats.org/officeDocument/2006/relationships/image" Target="../media/image-2-40.png"/><Relationship Id="rId41" Type="http://schemas.openxmlformats.org/officeDocument/2006/relationships/image" Target="../media/image-2-41.png"/><Relationship Id="rId42" Type="http://schemas.openxmlformats.org/officeDocument/2006/relationships/image" Target="../media/image-2-42.png"/><Relationship Id="rId43" Type="http://schemas.openxmlformats.org/officeDocument/2006/relationships/image" Target="../media/image-2-43.png"/><Relationship Id="rId44" Type="http://schemas.openxmlformats.org/officeDocument/2006/relationships/image" Target="../media/image-2-44.png"/><Relationship Id="rId45" Type="http://schemas.openxmlformats.org/officeDocument/2006/relationships/image" Target="../media/image-2-45.png"/><Relationship Id="rId46" Type="http://schemas.openxmlformats.org/officeDocument/2006/relationships/image" Target="../media/image-2-46.png"/><Relationship Id="rId47" Type="http://schemas.openxmlformats.org/officeDocument/2006/relationships/image" Target="../media/image-2-47.jpeg"/><Relationship Id="rId48" Type="http://schemas.openxmlformats.org/officeDocument/2006/relationships/image" Target="../media/image-2-48.png"/><Relationship Id="rId49" Type="http://schemas.openxmlformats.org/officeDocument/2006/relationships/image" Target="../media/image-2-49.png"/><Relationship Id="rId50" Type="http://schemas.openxmlformats.org/officeDocument/2006/relationships/slideLayout" Target="../slideLayouts/slideLayout1.xml"/><Relationship Id="rId5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jpe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image" Target="../media/image-3-15.png"/><Relationship Id="rId16" Type="http://schemas.openxmlformats.org/officeDocument/2006/relationships/image" Target="../media/image-3-16.png"/><Relationship Id="rId17" Type="http://schemas.openxmlformats.org/officeDocument/2006/relationships/image" Target="../media/image-3-17.png"/><Relationship Id="rId18" Type="http://schemas.openxmlformats.org/officeDocument/2006/relationships/image" Target="../media/image-3-18.png"/><Relationship Id="rId19" Type="http://schemas.openxmlformats.org/officeDocument/2006/relationships/image" Target="../media/image-3-19.png"/><Relationship Id="rId20" Type="http://schemas.openxmlformats.org/officeDocument/2006/relationships/image" Target="../media/image-3-20.png"/><Relationship Id="rId21" Type="http://schemas.openxmlformats.org/officeDocument/2006/relationships/image" Target="../media/image-3-21.png"/><Relationship Id="rId22" Type="http://schemas.openxmlformats.org/officeDocument/2006/relationships/image" Target="../media/image-3-22.jpeg"/><Relationship Id="rId23" Type="http://schemas.openxmlformats.org/officeDocument/2006/relationships/image" Target="../media/image-3-23.png"/><Relationship Id="rId24" Type="http://schemas.openxmlformats.org/officeDocument/2006/relationships/image" Target="../media/image-3-24.jpeg"/><Relationship Id="rId25" Type="http://schemas.openxmlformats.org/officeDocument/2006/relationships/slideLayout" Target="../slideLayouts/slideLayout1.xml"/><Relationship Id="rId26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6234"/>
          </a:xfrm>
          <a:prstGeom prst="rect">
            <a:avLst/>
          </a:prstGeom>
          <a:solidFill>
            <a:srgbClr val="FEFEFE"/>
          </a:solidFill>
          <a:ln/>
        </p:spPr>
      </p:sp>
      <p:sp>
        <p:nvSpPr>
          <p:cNvPr id="3" name="Shape 1"/>
          <p:cNvSpPr/>
          <p:nvPr/>
        </p:nvSpPr>
        <p:spPr>
          <a:xfrm>
            <a:off x="229694" y="4555593"/>
            <a:ext cx="8651799" cy="415636"/>
          </a:xfrm>
          <a:prstGeom prst="rect">
            <a:avLst/>
          </a:prstGeom>
          <a:solidFill>
            <a:srgbClr val="004329"/>
          </a:solidFill>
          <a:ln/>
        </p:spPr>
      </p:sp>
      <p:sp>
        <p:nvSpPr>
          <p:cNvPr id="4" name="Text 2"/>
          <p:cNvSpPr/>
          <p:nvPr/>
        </p:nvSpPr>
        <p:spPr>
          <a:xfrm>
            <a:off x="1071904" y="4686847"/>
            <a:ext cx="5390147" cy="158598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17" b="1" dirty="0">
                <a:solidFill>
                  <a:srgbClr val="B8CCC2"/>
                </a:solidFill>
                <a:latin typeface="Rethink Sans" pitchFamily="34" charset="0"/>
                <a:ea typeface="Rethink Sans" pitchFamily="34" charset="-122"/>
                <a:cs typeface="Rethink Sans" pitchFamily="34" charset="-120"/>
              </a:rPr>
              <a:t>Existing Group governance is being enhanced, clarified and increasingly automated for Al risk.</a:t>
            </a:r>
            <a:endParaRPr lang="en-US" sz="917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3139" y="4604813"/>
            <a:ext cx="300789" cy="311727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3550" y="1651608"/>
            <a:ext cx="4774349" cy="281648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886153" y="4107144"/>
            <a:ext cx="968542" cy="29532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3" b="1" dirty="0">
                <a:solidFill>
                  <a:srgbClr val="3D835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Stronger ongoing</a:t>
            </a:r>
            <a:endParaRPr lang="en-US" sz="883" dirty="0"/>
          </a:p>
          <a:p>
            <a:pPr algn="l" indent="0" marL="0">
              <a:buNone/>
            </a:pPr>
            <a:r>
              <a:rPr lang="en-US" sz="883" b="1" dirty="0">
                <a:solidFill>
                  <a:srgbClr val="3D835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oversight</a:t>
            </a:r>
            <a:endParaRPr lang="en-US" sz="883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6301" y="4112612"/>
            <a:ext cx="191411" cy="19688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5940319" y="4036048"/>
            <a:ext cx="1419726" cy="41563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4" dirty="0">
                <a:solidFill>
                  <a:srgbClr val="5F6260"/>
                </a:solidFill>
                <a:latin typeface="Gabarito" pitchFamily="34" charset="0"/>
                <a:ea typeface="Gabarito" pitchFamily="34" charset="-122"/>
                <a:cs typeface="Gabarito" pitchFamily="34" charset="-120"/>
              </a:rPr>
              <a:t>Change triage, monitoring</a:t>
            </a:r>
            <a:endParaRPr lang="en-US" sz="784" dirty="0"/>
          </a:p>
          <a:p>
            <a:pPr algn="ctr" indent="0" marL="0">
              <a:buNone/>
            </a:pPr>
            <a:r>
              <a:rPr lang="en-US" sz="784" dirty="0">
                <a:solidFill>
                  <a:srgbClr val="5F6260"/>
                </a:solidFill>
                <a:latin typeface="Gabarito" pitchFamily="34" charset="0"/>
                <a:ea typeface="Gabarito" pitchFamily="34" charset="-122"/>
                <a:cs typeface="Gabarito" pitchFamily="34" charset="-120"/>
              </a:rPr>
              <a:t>expectations and revalidation</a:t>
            </a:r>
            <a:endParaRPr lang="en-US" sz="784" dirty="0"/>
          </a:p>
          <a:p>
            <a:pPr algn="ctr" indent="0" marL="0">
              <a:buNone/>
            </a:pPr>
            <a:r>
              <a:rPr lang="en-US" sz="784" dirty="0">
                <a:solidFill>
                  <a:srgbClr val="5F6260"/>
                </a:solidFill>
                <a:latin typeface="Gabarito" pitchFamily="34" charset="0"/>
                <a:ea typeface="Gabarito" pitchFamily="34" charset="-122"/>
                <a:cs typeface="Gabarito" pitchFamily="34" charset="-120"/>
              </a:rPr>
              <a:t>triggers</a:t>
            </a:r>
            <a:endParaRPr lang="en-US" sz="784" dirty="0"/>
          </a:p>
        </p:txBody>
      </p:sp>
      <p:sp>
        <p:nvSpPr>
          <p:cNvPr id="10" name="Text 5"/>
          <p:cNvSpPr/>
          <p:nvPr/>
        </p:nvSpPr>
        <p:spPr>
          <a:xfrm>
            <a:off x="4670440" y="4096206"/>
            <a:ext cx="1136984" cy="28985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1" dirty="0">
                <a:solidFill>
                  <a:srgbClr val="4F5150"/>
                </a:solidFill>
                <a:latin typeface="Gabarito" pitchFamily="34" charset="0"/>
                <a:ea typeface="Gabarito" pitchFamily="34" charset="-122"/>
                <a:cs typeface="Gabarito" pitchFamily="34" charset="-120"/>
              </a:rPr>
              <a:t>Agile Al change and</a:t>
            </a:r>
            <a:endParaRPr lang="en-US" sz="801" dirty="0"/>
          </a:p>
          <a:p>
            <a:pPr algn="l" indent="0" marL="0">
              <a:buNone/>
            </a:pPr>
            <a:r>
              <a:rPr lang="en-US" sz="801" dirty="0">
                <a:solidFill>
                  <a:srgbClr val="4F5150"/>
                </a:solidFill>
                <a:latin typeface="Gabarito" pitchFamily="34" charset="0"/>
                <a:ea typeface="Gabarito" pitchFamily="34" charset="-122"/>
                <a:cs typeface="Gabarito" pitchFamily="34" charset="-120"/>
              </a:rPr>
              <a:t>inconsistent monitoring</a:t>
            </a:r>
            <a:endParaRPr lang="en-US" sz="801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0273" y="4101675"/>
            <a:ext cx="235163" cy="257038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886153" y="3675100"/>
            <a:ext cx="818147" cy="27344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78" b="1" dirty="0">
                <a:solidFill>
                  <a:srgbClr val="3B815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Lower delivery</a:t>
            </a:r>
            <a:endParaRPr lang="en-US" sz="878" dirty="0"/>
          </a:p>
          <a:p>
            <a:pPr algn="l" indent="0" marL="0">
              <a:buNone/>
            </a:pPr>
            <a:r>
              <a:rPr lang="en-US" sz="878" b="1" dirty="0">
                <a:solidFill>
                  <a:srgbClr val="3B815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friction</a:t>
            </a:r>
            <a:endParaRPr lang="en-US" sz="878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6301" y="3702445"/>
            <a:ext cx="191411" cy="191411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6035751" y="3664163"/>
            <a:ext cx="1245268" cy="27891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14" dirty="0">
                <a:solidFill>
                  <a:srgbClr val="61646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Earlier 2LoD engagement</a:t>
            </a:r>
            <a:endParaRPr lang="en-US" sz="814" dirty="0"/>
          </a:p>
          <a:p>
            <a:pPr algn="ctr" indent="0" marL="0">
              <a:buNone/>
            </a:pPr>
            <a:r>
              <a:rPr lang="en-US" sz="814" dirty="0">
                <a:solidFill>
                  <a:srgbClr val="61646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and guidance</a:t>
            </a:r>
            <a:endParaRPr lang="en-US" sz="814" dirty="0"/>
          </a:p>
        </p:txBody>
      </p:sp>
      <p:sp>
        <p:nvSpPr>
          <p:cNvPr id="15" name="Text 8"/>
          <p:cNvSpPr/>
          <p:nvPr/>
        </p:nvSpPr>
        <p:spPr>
          <a:xfrm>
            <a:off x="4675909" y="3735258"/>
            <a:ext cx="980574" cy="12578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15" dirty="0">
                <a:solidFill>
                  <a:srgbClr val="5F6260"/>
                </a:solidFill>
                <a:latin typeface="Rethink Sans" pitchFamily="34" charset="0"/>
                <a:ea typeface="Rethink Sans" pitchFamily="34" charset="-122"/>
                <a:cs typeface="Rethink Sans" pitchFamily="34" charset="-120"/>
              </a:rPr>
              <a:t>Late-stage challenge</a:t>
            </a:r>
            <a:endParaRPr lang="en-US" sz="715" dirty="0"/>
          </a:p>
        </p:txBody>
      </p:sp>
      <p:pic>
        <p:nvPicPr>
          <p:cNvPr id="1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9335" y="3669632"/>
            <a:ext cx="257038" cy="262507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7891622" y="3286809"/>
            <a:ext cx="890337" cy="27344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3" b="1" dirty="0">
                <a:solidFill>
                  <a:srgbClr val="519264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More consistent</a:t>
            </a:r>
            <a:endParaRPr lang="en-US" sz="883" dirty="0"/>
          </a:p>
          <a:p>
            <a:pPr algn="l" indent="0" marL="0">
              <a:buNone/>
            </a:pPr>
            <a:r>
              <a:rPr lang="en-US" sz="883" b="1" dirty="0">
                <a:solidFill>
                  <a:srgbClr val="519264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review</a:t>
            </a:r>
            <a:endParaRPr lang="en-US" sz="883" dirty="0"/>
          </a:p>
        </p:txBody>
      </p:sp>
      <p:pic>
        <p:nvPicPr>
          <p:cNvPr id="1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96301" y="3308684"/>
            <a:ext cx="191411" cy="191411"/>
          </a:xfrm>
          <a:prstGeom prst="rect">
            <a:avLst/>
          </a:prstGeom>
        </p:spPr>
      </p:pic>
      <p:sp>
        <p:nvSpPr>
          <p:cNvPr id="19" name="Text 10"/>
          <p:cNvSpPr/>
          <p:nvPr/>
        </p:nvSpPr>
        <p:spPr>
          <a:xfrm>
            <a:off x="6054072" y="3270402"/>
            <a:ext cx="1203158" cy="26250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5" dirty="0">
                <a:solidFill>
                  <a:srgbClr val="5F6260"/>
                </a:solidFill>
                <a:latin typeface="Gabarito" pitchFamily="34" charset="0"/>
                <a:ea typeface="Gabarito" pitchFamily="34" charset="-122"/>
                <a:cs typeface="Gabarito" pitchFamily="34" charset="-120"/>
              </a:rPr>
              <a:t>Common evidence spine</a:t>
            </a:r>
            <a:endParaRPr lang="en-US" sz="775" dirty="0"/>
          </a:p>
          <a:p>
            <a:pPr algn="ctr" indent="0" marL="0">
              <a:buNone/>
            </a:pPr>
            <a:r>
              <a:rPr lang="en-US" sz="775" dirty="0">
                <a:solidFill>
                  <a:srgbClr val="5F6260"/>
                </a:solidFill>
                <a:latin typeface="Gabarito" pitchFamily="34" charset="0"/>
                <a:ea typeface="Gabarito" pitchFamily="34" charset="-122"/>
                <a:cs typeface="Gabarito" pitchFamily="34" charset="-120"/>
              </a:rPr>
              <a:t>and standards</a:t>
            </a:r>
            <a:endParaRPr lang="en-US" sz="775" dirty="0"/>
          </a:p>
        </p:txBody>
      </p:sp>
      <p:sp>
        <p:nvSpPr>
          <p:cNvPr id="20" name="Text 11"/>
          <p:cNvSpPr/>
          <p:nvPr/>
        </p:nvSpPr>
        <p:spPr>
          <a:xfrm>
            <a:off x="4675909" y="3346967"/>
            <a:ext cx="1022684" cy="11484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62" dirty="0">
                <a:solidFill>
                  <a:srgbClr val="616461"/>
                </a:solidFill>
                <a:latin typeface="Gabarito" pitchFamily="34" charset="0"/>
                <a:ea typeface="Gabarito" pitchFamily="34" charset="-122"/>
                <a:cs typeface="Gabarito" pitchFamily="34" charset="-120"/>
              </a:rPr>
              <a:t>Inconsistent evidence</a:t>
            </a:r>
            <a:endParaRPr lang="en-US" sz="762" dirty="0"/>
          </a:p>
        </p:txBody>
      </p:sp>
      <p:pic>
        <p:nvPicPr>
          <p:cNvPr id="2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76679" y="3281340"/>
            <a:ext cx="191411" cy="251569"/>
          </a:xfrm>
          <a:prstGeom prst="rect">
            <a:avLst/>
          </a:prstGeom>
        </p:spPr>
      </p:pic>
      <p:sp>
        <p:nvSpPr>
          <p:cNvPr id="22" name="Text 12"/>
          <p:cNvSpPr/>
          <p:nvPr/>
        </p:nvSpPr>
        <p:spPr>
          <a:xfrm>
            <a:off x="7886153" y="2854766"/>
            <a:ext cx="782053" cy="29532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3C8251"/>
                </a:solidFill>
                <a:latin typeface="Rethink Sans" pitchFamily="34" charset="0"/>
                <a:ea typeface="Rethink Sans" pitchFamily="34" charset="-122"/>
                <a:cs typeface="Rethink Sans" pitchFamily="34" charset="-120"/>
              </a:rPr>
              <a:t>Sharper</a:t>
            </a:r>
            <a:endParaRPr lang="en-US" sz="870" dirty="0"/>
          </a:p>
          <a:p>
            <a:pPr algn="l" indent="0" marL="0">
              <a:buNone/>
            </a:pPr>
            <a:r>
              <a:rPr lang="en-US" sz="870" b="1" dirty="0">
                <a:solidFill>
                  <a:srgbClr val="3C8251"/>
                </a:solidFill>
                <a:latin typeface="Rethink Sans" pitchFamily="34" charset="0"/>
                <a:ea typeface="Rethink Sans" pitchFamily="34" charset="-122"/>
                <a:cs typeface="Rethink Sans" pitchFamily="34" charset="-120"/>
              </a:rPr>
              <a:t>accountability</a:t>
            </a:r>
            <a:endParaRPr lang="en-US" sz="870" dirty="0"/>
          </a:p>
        </p:txBody>
      </p:sp>
      <p:pic>
        <p:nvPicPr>
          <p:cNvPr id="2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96301" y="2887579"/>
            <a:ext cx="191411" cy="191411"/>
          </a:xfrm>
          <a:prstGeom prst="rect">
            <a:avLst/>
          </a:prstGeom>
        </p:spPr>
      </p:pic>
      <p:sp>
        <p:nvSpPr>
          <p:cNvPr id="24" name="Text 13"/>
          <p:cNvSpPr/>
          <p:nvPr/>
        </p:nvSpPr>
        <p:spPr>
          <a:xfrm>
            <a:off x="6120245" y="2843828"/>
            <a:ext cx="1070811" cy="28438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32" dirty="0">
                <a:solidFill>
                  <a:srgbClr val="5C5F5D"/>
                </a:solidFill>
                <a:latin typeface="Rethink Sans" pitchFamily="34" charset="0"/>
                <a:ea typeface="Rethink Sans" pitchFamily="34" charset="-122"/>
                <a:cs typeface="Rethink Sans" pitchFamily="34" charset="-120"/>
              </a:rPr>
              <a:t>Updated RAPID and</a:t>
            </a:r>
            <a:endParaRPr lang="en-US" sz="732" dirty="0"/>
          </a:p>
          <a:p>
            <a:pPr algn="ctr" indent="0" marL="0">
              <a:buNone/>
            </a:pPr>
            <a:r>
              <a:rPr lang="en-US" sz="732" dirty="0">
                <a:solidFill>
                  <a:srgbClr val="5C5F5D"/>
                </a:solidFill>
                <a:latin typeface="Rethink Sans" pitchFamily="34" charset="0"/>
                <a:ea typeface="Rethink Sans" pitchFamily="34" charset="-122"/>
                <a:cs typeface="Rethink Sans" pitchFamily="34" charset="-120"/>
              </a:rPr>
              <a:t>clearer decision rights</a:t>
            </a:r>
            <a:endParaRPr lang="en-US" sz="732" dirty="0"/>
          </a:p>
        </p:txBody>
      </p:sp>
      <p:sp>
        <p:nvSpPr>
          <p:cNvPr id="25" name="Text 14"/>
          <p:cNvSpPr/>
          <p:nvPr/>
        </p:nvSpPr>
        <p:spPr>
          <a:xfrm>
            <a:off x="4675909" y="2925861"/>
            <a:ext cx="890337" cy="12578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84" dirty="0">
                <a:solidFill>
                  <a:srgbClr val="646765"/>
                </a:solidFill>
                <a:latin typeface="Gabarito" pitchFamily="34" charset="0"/>
                <a:ea typeface="Gabarito" pitchFamily="34" charset="-122"/>
                <a:cs typeface="Gabarito" pitchFamily="34" charset="-120"/>
              </a:rPr>
              <a:t>Unclear ownership</a:t>
            </a:r>
            <a:endParaRPr lang="en-US" sz="784" dirty="0"/>
          </a:p>
        </p:txBody>
      </p:sp>
      <p:pic>
        <p:nvPicPr>
          <p:cNvPr id="26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82148" y="2865703"/>
            <a:ext cx="180474" cy="240632"/>
          </a:xfrm>
          <a:prstGeom prst="rect">
            <a:avLst/>
          </a:prstGeom>
        </p:spPr>
      </p:pic>
      <p:sp>
        <p:nvSpPr>
          <p:cNvPr id="27" name="Text 15"/>
          <p:cNvSpPr/>
          <p:nvPr/>
        </p:nvSpPr>
        <p:spPr>
          <a:xfrm>
            <a:off x="7891622" y="2504756"/>
            <a:ext cx="890337" cy="12031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44" b="1" dirty="0">
                <a:solidFill>
                  <a:srgbClr val="4E8F6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Reduced rework</a:t>
            </a:r>
            <a:endParaRPr lang="en-US" sz="844" dirty="0"/>
          </a:p>
        </p:txBody>
      </p:sp>
      <p:pic>
        <p:nvPicPr>
          <p:cNvPr id="2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96301" y="2455536"/>
            <a:ext cx="191411" cy="191411"/>
          </a:xfrm>
          <a:prstGeom prst="rect">
            <a:avLst/>
          </a:prstGeom>
        </p:spPr>
      </p:pic>
      <p:sp>
        <p:nvSpPr>
          <p:cNvPr id="29" name="Text 16"/>
          <p:cNvSpPr/>
          <p:nvPr/>
        </p:nvSpPr>
        <p:spPr>
          <a:xfrm>
            <a:off x="6077315" y="2411785"/>
            <a:ext cx="1173079" cy="27891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1" dirty="0">
                <a:solidFill>
                  <a:srgbClr val="5C605D"/>
                </a:solidFill>
                <a:latin typeface="Rethink Sans" pitchFamily="34" charset="0"/>
                <a:ea typeface="Rethink Sans" pitchFamily="34" charset="-122"/>
                <a:cs typeface="Rethink Sans" pitchFamily="34" charset="-120"/>
              </a:rPr>
              <a:t>De-duplicated oversight</a:t>
            </a:r>
            <a:endParaRPr lang="en-US" sz="741" dirty="0"/>
          </a:p>
          <a:p>
            <a:pPr algn="ctr" indent="0" marL="0">
              <a:buNone/>
            </a:pPr>
            <a:r>
              <a:rPr lang="en-US" sz="741" dirty="0">
                <a:solidFill>
                  <a:srgbClr val="5C605D"/>
                </a:solidFill>
                <a:latin typeface="Rethink Sans" pitchFamily="34" charset="0"/>
                <a:ea typeface="Rethink Sans" pitchFamily="34" charset="-122"/>
                <a:cs typeface="Rethink Sans" pitchFamily="34" charset="-120"/>
              </a:rPr>
              <a:t>paths</a:t>
            </a:r>
            <a:endParaRPr lang="en-US" sz="741" dirty="0"/>
          </a:p>
        </p:txBody>
      </p:sp>
      <p:sp>
        <p:nvSpPr>
          <p:cNvPr id="30" name="Text 17"/>
          <p:cNvSpPr/>
          <p:nvPr/>
        </p:nvSpPr>
        <p:spPr>
          <a:xfrm>
            <a:off x="4675909" y="2504756"/>
            <a:ext cx="1143000" cy="12578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62" dirty="0">
                <a:solidFill>
                  <a:srgbClr val="5F6360"/>
                </a:solidFill>
                <a:latin typeface="Gabarito" pitchFamily="34" charset="0"/>
                <a:ea typeface="Gabarito" pitchFamily="34" charset="-122"/>
                <a:cs typeface="Gabarito" pitchFamily="34" charset="-120"/>
              </a:rPr>
              <a:t>Duplicated engagement</a:t>
            </a:r>
            <a:endParaRPr lang="en-US" sz="762" dirty="0"/>
          </a:p>
        </p:txBody>
      </p:sp>
      <p:pic>
        <p:nvPicPr>
          <p:cNvPr id="31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65742" y="2422722"/>
            <a:ext cx="246100" cy="278914"/>
          </a:xfrm>
          <a:prstGeom prst="rect">
            <a:avLst/>
          </a:prstGeom>
        </p:spPr>
      </p:pic>
      <p:sp>
        <p:nvSpPr>
          <p:cNvPr id="32" name="Text 18"/>
          <p:cNvSpPr/>
          <p:nvPr/>
        </p:nvSpPr>
        <p:spPr>
          <a:xfrm>
            <a:off x="7880684" y="1979742"/>
            <a:ext cx="986589" cy="28985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7" b="1" dirty="0">
                <a:solidFill>
                  <a:srgbClr val="4F8E6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Clearer route</a:t>
            </a:r>
            <a:endParaRPr lang="en-US" sz="857" dirty="0"/>
          </a:p>
          <a:p>
            <a:pPr algn="l" indent="0" marL="0">
              <a:buNone/>
            </a:pPr>
            <a:r>
              <a:rPr lang="en-US" sz="857" b="1" dirty="0">
                <a:solidFill>
                  <a:srgbClr val="4F8E6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through oversight</a:t>
            </a:r>
            <a:endParaRPr lang="en-US" sz="857" dirty="0"/>
          </a:p>
        </p:txBody>
      </p:sp>
      <p:pic>
        <p:nvPicPr>
          <p:cNvPr id="33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96301" y="2007086"/>
            <a:ext cx="191411" cy="196880"/>
          </a:xfrm>
          <a:prstGeom prst="rect">
            <a:avLst/>
          </a:prstGeom>
        </p:spPr>
      </p:pic>
      <p:sp>
        <p:nvSpPr>
          <p:cNvPr id="34" name="Text 19"/>
          <p:cNvSpPr/>
          <p:nvPr/>
        </p:nvSpPr>
        <p:spPr>
          <a:xfrm>
            <a:off x="6095635" y="1979742"/>
            <a:ext cx="1130968" cy="27891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2" b="1" dirty="0">
                <a:solidFill>
                  <a:srgbClr val="535554"/>
                </a:solidFill>
                <a:latin typeface="Rethink Sans" pitchFamily="34" charset="0"/>
                <a:ea typeface="Rethink Sans" pitchFamily="34" charset="-122"/>
                <a:cs typeface="Rethink Sans" pitchFamily="34" charset="-120"/>
              </a:rPr>
              <a:t>Single 2LoD front door</a:t>
            </a:r>
            <a:endParaRPr lang="en-US" sz="762" dirty="0"/>
          </a:p>
          <a:p>
            <a:pPr algn="ctr" indent="0" marL="0">
              <a:buNone/>
            </a:pPr>
            <a:r>
              <a:rPr lang="en-US" sz="762" b="1" dirty="0">
                <a:solidFill>
                  <a:srgbClr val="535554"/>
                </a:solidFill>
                <a:latin typeface="Rethink Sans" pitchFamily="34" charset="0"/>
                <a:ea typeface="Rethink Sans" pitchFamily="34" charset="-122"/>
                <a:cs typeface="Rethink Sans" pitchFamily="34" charset="-120"/>
              </a:rPr>
              <a:t>(triage and routing)</a:t>
            </a:r>
            <a:endParaRPr lang="en-US" sz="762" dirty="0"/>
          </a:p>
        </p:txBody>
      </p:sp>
      <p:pic>
        <p:nvPicPr>
          <p:cNvPr id="3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49335" y="1974273"/>
            <a:ext cx="257038" cy="262507"/>
          </a:xfrm>
          <a:prstGeom prst="rect">
            <a:avLst/>
          </a:prstGeom>
        </p:spPr>
      </p:pic>
      <p:sp>
        <p:nvSpPr>
          <p:cNvPr id="36" name="Text 20"/>
          <p:cNvSpPr/>
          <p:nvPr/>
        </p:nvSpPr>
        <p:spPr>
          <a:xfrm>
            <a:off x="7973656" y="1711766"/>
            <a:ext cx="493295" cy="11484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4" b="1" dirty="0">
                <a:solidFill>
                  <a:srgbClr val="A9C0B5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Outcome</a:t>
            </a:r>
            <a:endParaRPr lang="en-US" sz="814" dirty="0"/>
          </a:p>
        </p:txBody>
      </p:sp>
      <p:sp>
        <p:nvSpPr>
          <p:cNvPr id="37" name="Text 21"/>
          <p:cNvSpPr/>
          <p:nvPr/>
        </p:nvSpPr>
        <p:spPr>
          <a:xfrm>
            <a:off x="6261890" y="1706297"/>
            <a:ext cx="890337" cy="12031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7" b="1" dirty="0">
                <a:solidFill>
                  <a:srgbClr val="A7BEB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MRO mechanism</a:t>
            </a:r>
            <a:endParaRPr lang="en-US" sz="827" dirty="0"/>
          </a:p>
        </p:txBody>
      </p:sp>
      <p:sp>
        <p:nvSpPr>
          <p:cNvPr id="38" name="Text 22"/>
          <p:cNvSpPr/>
          <p:nvPr/>
        </p:nvSpPr>
        <p:spPr>
          <a:xfrm>
            <a:off x="4604813" y="1706297"/>
            <a:ext cx="932447" cy="13125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2" b="1" dirty="0">
                <a:solidFill>
                  <a:srgbClr val="A4BBB0"/>
                </a:solidFill>
                <a:latin typeface="Rethink Sans" pitchFamily="34" charset="0"/>
                <a:ea typeface="Rethink Sans" pitchFamily="34" charset="-122"/>
                <a:cs typeface="Rethink Sans" pitchFamily="34" charset="-120"/>
              </a:rPr>
              <a:t>Current challenge</a:t>
            </a:r>
            <a:endParaRPr lang="en-US" sz="822" dirty="0"/>
          </a:p>
        </p:txBody>
      </p:sp>
      <p:pic>
        <p:nvPicPr>
          <p:cNvPr id="39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871981" y="1799268"/>
            <a:ext cx="202349" cy="2236780"/>
          </a:xfrm>
          <a:prstGeom prst="rect">
            <a:avLst/>
          </a:prstGeom>
        </p:spPr>
      </p:pic>
      <p:sp>
        <p:nvSpPr>
          <p:cNvPr id="40" name="Shape 23"/>
          <p:cNvSpPr/>
          <p:nvPr/>
        </p:nvSpPr>
        <p:spPr>
          <a:xfrm>
            <a:off x="229694" y="3713383"/>
            <a:ext cx="3587598" cy="738301"/>
          </a:xfrm>
          <a:prstGeom prst="rect">
            <a:avLst/>
          </a:prstGeom>
          <a:solidFill>
            <a:srgbClr val="EEF8EC"/>
          </a:solidFill>
          <a:ln/>
        </p:spPr>
      </p:sp>
      <p:pic>
        <p:nvPicPr>
          <p:cNvPr id="4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58617" y="4205584"/>
            <a:ext cx="32813" cy="32813"/>
          </a:xfrm>
          <a:prstGeom prst="rect">
            <a:avLst/>
          </a:prstGeom>
        </p:spPr>
      </p:pic>
      <p:pic>
        <p:nvPicPr>
          <p:cNvPr id="42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58617" y="4046986"/>
            <a:ext cx="32813" cy="32813"/>
          </a:xfrm>
          <a:prstGeom prst="rect">
            <a:avLst/>
          </a:prstGeom>
        </p:spPr>
      </p:pic>
      <p:pic>
        <p:nvPicPr>
          <p:cNvPr id="4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84383" y="3784478"/>
            <a:ext cx="470325" cy="492201"/>
          </a:xfrm>
          <a:prstGeom prst="rect">
            <a:avLst/>
          </a:prstGeom>
        </p:spPr>
      </p:pic>
      <p:sp>
        <p:nvSpPr>
          <p:cNvPr id="44" name="Text 24"/>
          <p:cNvSpPr/>
          <p:nvPr/>
        </p:nvSpPr>
        <p:spPr>
          <a:xfrm>
            <a:off x="978933" y="4161833"/>
            <a:ext cx="3007895" cy="13125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23" dirty="0">
                <a:solidFill>
                  <a:srgbClr val="636663"/>
                </a:solidFill>
                <a:latin typeface="Rethink Sans" pitchFamily="34" charset="0"/>
                <a:ea typeface="Rethink Sans" pitchFamily="34" charset="-122"/>
                <a:cs typeface="Rethink Sans" pitchFamily="34" charset="-120"/>
              </a:rPr>
              <a:t>Supports monitoring, incident capture and revalidation triggers.</a:t>
            </a:r>
            <a:endParaRPr lang="en-US" sz="723" dirty="0"/>
          </a:p>
        </p:txBody>
      </p:sp>
      <p:sp>
        <p:nvSpPr>
          <p:cNvPr id="45" name="Text 25"/>
          <p:cNvSpPr/>
          <p:nvPr/>
        </p:nvSpPr>
        <p:spPr>
          <a:xfrm>
            <a:off x="973464" y="4003234"/>
            <a:ext cx="2947737" cy="13125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2" dirty="0">
                <a:solidFill>
                  <a:srgbClr val="656865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Captures issues, agreed actions, ownership and residual risk.</a:t>
            </a:r>
            <a:endParaRPr lang="en-US" sz="702" dirty="0"/>
          </a:p>
        </p:txBody>
      </p:sp>
      <p:sp>
        <p:nvSpPr>
          <p:cNvPr id="46" name="Text 26"/>
          <p:cNvSpPr/>
          <p:nvPr/>
        </p:nvSpPr>
        <p:spPr>
          <a:xfrm>
            <a:off x="831273" y="3817292"/>
            <a:ext cx="1305426" cy="14766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78" b="1" dirty="0">
                <a:solidFill>
                  <a:srgbClr val="39825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4.Ongoing oversight</a:t>
            </a:r>
            <a:endParaRPr lang="en-US" sz="978" dirty="0"/>
          </a:p>
        </p:txBody>
      </p:sp>
      <p:sp>
        <p:nvSpPr>
          <p:cNvPr id="47" name="Shape 27"/>
          <p:cNvSpPr/>
          <p:nvPr/>
        </p:nvSpPr>
        <p:spPr>
          <a:xfrm>
            <a:off x="229694" y="3018833"/>
            <a:ext cx="3587598" cy="656268"/>
          </a:xfrm>
          <a:prstGeom prst="rect">
            <a:avLst/>
          </a:prstGeom>
          <a:solidFill>
            <a:srgbClr val="EFF8ED"/>
          </a:solidFill>
          <a:ln/>
        </p:spPr>
      </p:sp>
      <p:pic>
        <p:nvPicPr>
          <p:cNvPr id="48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58617" y="3521971"/>
            <a:ext cx="32813" cy="32813"/>
          </a:xfrm>
          <a:prstGeom prst="rect">
            <a:avLst/>
          </a:prstGeom>
        </p:spPr>
      </p:pic>
      <p:pic>
        <p:nvPicPr>
          <p:cNvPr id="4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58617" y="3346967"/>
            <a:ext cx="32813" cy="32813"/>
          </a:xfrm>
          <a:prstGeom prst="rect">
            <a:avLst/>
          </a:prstGeom>
        </p:spPr>
      </p:pic>
      <p:pic>
        <p:nvPicPr>
          <p:cNvPr id="50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84383" y="3089928"/>
            <a:ext cx="470325" cy="492201"/>
          </a:xfrm>
          <a:prstGeom prst="rect">
            <a:avLst/>
          </a:prstGeom>
        </p:spPr>
      </p:pic>
      <p:sp>
        <p:nvSpPr>
          <p:cNvPr id="51" name="Text 28"/>
          <p:cNvSpPr/>
          <p:nvPr/>
        </p:nvSpPr>
        <p:spPr>
          <a:xfrm>
            <a:off x="978933" y="3472751"/>
            <a:ext cx="2695074" cy="13125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84" dirty="0">
                <a:solidFill>
                  <a:srgbClr val="616361"/>
                </a:solidFill>
                <a:latin typeface="Gabarito" pitchFamily="34" charset="0"/>
                <a:ea typeface="Gabarito" pitchFamily="34" charset="-122"/>
                <a:cs typeface="Gabarito" pitchFamily="34" charset="-120"/>
              </a:rPr>
              <a:t>Links validation depth to risk, autonomy and materiality.</a:t>
            </a:r>
            <a:endParaRPr lang="en-US" sz="784" dirty="0"/>
          </a:p>
        </p:txBody>
      </p:sp>
      <p:sp>
        <p:nvSpPr>
          <p:cNvPr id="52" name="Text 29"/>
          <p:cNvSpPr/>
          <p:nvPr/>
        </p:nvSpPr>
        <p:spPr>
          <a:xfrm>
            <a:off x="978933" y="3297746"/>
            <a:ext cx="3098132" cy="13672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41" dirty="0">
                <a:solidFill>
                  <a:srgbClr val="616461"/>
                </a:solidFill>
                <a:latin typeface="Rethink Sans" pitchFamily="34" charset="0"/>
                <a:ea typeface="Rethink Sans" pitchFamily="34" charset="-122"/>
                <a:cs typeface="Rethink Sans" pitchFamily="34" charset="-120"/>
              </a:rPr>
              <a:t>Enables upfront Al risk assessment, tiering and approval routing,</a:t>
            </a:r>
            <a:endParaRPr lang="en-US" sz="741" dirty="0"/>
          </a:p>
        </p:txBody>
      </p:sp>
      <p:sp>
        <p:nvSpPr>
          <p:cNvPr id="53" name="Text 30"/>
          <p:cNvSpPr/>
          <p:nvPr/>
        </p:nvSpPr>
        <p:spPr>
          <a:xfrm>
            <a:off x="836742" y="3117273"/>
            <a:ext cx="1744579" cy="14219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34" b="1" dirty="0">
                <a:solidFill>
                  <a:srgbClr val="347F4C"/>
                </a:solidFill>
                <a:latin typeface="Rethink Sans" pitchFamily="34" charset="0"/>
                <a:ea typeface="Rethink Sans" pitchFamily="34" charset="-122"/>
                <a:cs typeface="Rethink Sans" pitchFamily="34" charset="-120"/>
              </a:rPr>
              <a:t>3. Proportionate governance</a:t>
            </a:r>
            <a:endParaRPr lang="en-US" sz="934" dirty="0"/>
          </a:p>
        </p:txBody>
      </p:sp>
      <p:sp>
        <p:nvSpPr>
          <p:cNvPr id="54" name="Shape 31"/>
          <p:cNvSpPr/>
          <p:nvPr/>
        </p:nvSpPr>
        <p:spPr>
          <a:xfrm>
            <a:off x="229694" y="2351627"/>
            <a:ext cx="3587598" cy="628923"/>
          </a:xfrm>
          <a:prstGeom prst="rect">
            <a:avLst/>
          </a:prstGeom>
          <a:solidFill>
            <a:srgbClr val="EFF7ED"/>
          </a:solidFill>
          <a:ln/>
        </p:spPr>
      </p:sp>
      <p:pic>
        <p:nvPicPr>
          <p:cNvPr id="55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58617" y="2827421"/>
            <a:ext cx="32813" cy="32813"/>
          </a:xfrm>
          <a:prstGeom prst="rect">
            <a:avLst/>
          </a:prstGeom>
        </p:spPr>
      </p:pic>
      <p:pic>
        <p:nvPicPr>
          <p:cNvPr id="56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58617" y="2668823"/>
            <a:ext cx="32813" cy="32813"/>
          </a:xfrm>
          <a:prstGeom prst="rect">
            <a:avLst/>
          </a:prstGeom>
        </p:spPr>
      </p:pic>
      <p:pic>
        <p:nvPicPr>
          <p:cNvPr id="57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284383" y="2411785"/>
            <a:ext cx="470325" cy="481263"/>
          </a:xfrm>
          <a:prstGeom prst="rect">
            <a:avLst/>
          </a:prstGeom>
        </p:spPr>
      </p:pic>
      <p:sp>
        <p:nvSpPr>
          <p:cNvPr id="58" name="Text 32"/>
          <p:cNvSpPr/>
          <p:nvPr/>
        </p:nvSpPr>
        <p:spPr>
          <a:xfrm>
            <a:off x="978933" y="2772732"/>
            <a:ext cx="2863516" cy="13672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1" dirty="0">
                <a:solidFill>
                  <a:srgbClr val="606360"/>
                </a:solidFill>
                <a:latin typeface="Gabarito" pitchFamily="34" charset="0"/>
                <a:ea typeface="Gabarito" pitchFamily="34" charset="-122"/>
                <a:cs typeface="Gabarito" pitchFamily="34" charset="-120"/>
              </a:rPr>
              <a:t>Clarifies ownership, approvals and evidence expectations.</a:t>
            </a:r>
            <a:endParaRPr lang="en-US" sz="801" dirty="0"/>
          </a:p>
        </p:txBody>
      </p:sp>
      <p:sp>
        <p:nvSpPr>
          <p:cNvPr id="59" name="Text 33"/>
          <p:cNvSpPr/>
          <p:nvPr/>
        </p:nvSpPr>
        <p:spPr>
          <a:xfrm>
            <a:off x="978933" y="2619603"/>
            <a:ext cx="2929689" cy="13672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1" dirty="0">
                <a:solidFill>
                  <a:srgbClr val="626462"/>
                </a:solidFill>
                <a:latin typeface="Gabarito" pitchFamily="34" charset="0"/>
                <a:ea typeface="Gabarito" pitchFamily="34" charset="-122"/>
                <a:cs typeface="Gabarito" pitchFamily="34" charset="-120"/>
              </a:rPr>
              <a:t>Provides a clear view of Al requirements and good practice.</a:t>
            </a:r>
            <a:endParaRPr lang="en-US" sz="801" dirty="0"/>
          </a:p>
        </p:txBody>
      </p:sp>
      <p:sp>
        <p:nvSpPr>
          <p:cNvPr id="60" name="Text 34"/>
          <p:cNvSpPr/>
          <p:nvPr/>
        </p:nvSpPr>
        <p:spPr>
          <a:xfrm>
            <a:off x="836742" y="2439129"/>
            <a:ext cx="1756611" cy="14766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39" b="1" dirty="0">
                <a:solidFill>
                  <a:srgbClr val="387E5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2. One-view of requirements</a:t>
            </a:r>
            <a:endParaRPr lang="en-US" sz="939" dirty="0"/>
          </a:p>
        </p:txBody>
      </p:sp>
      <p:sp>
        <p:nvSpPr>
          <p:cNvPr id="61" name="Shape 35"/>
          <p:cNvSpPr/>
          <p:nvPr/>
        </p:nvSpPr>
        <p:spPr>
          <a:xfrm>
            <a:off x="224225" y="1684421"/>
            <a:ext cx="3598536" cy="628923"/>
          </a:xfrm>
          <a:prstGeom prst="rect">
            <a:avLst/>
          </a:prstGeom>
          <a:solidFill>
            <a:srgbClr val="EEF7EC"/>
          </a:solidFill>
          <a:ln/>
        </p:spPr>
      </p:sp>
      <p:pic>
        <p:nvPicPr>
          <p:cNvPr id="62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64086" y="2165684"/>
            <a:ext cx="32813" cy="32813"/>
          </a:xfrm>
          <a:prstGeom prst="rect">
            <a:avLst/>
          </a:prstGeom>
        </p:spPr>
      </p:pic>
      <p:pic>
        <p:nvPicPr>
          <p:cNvPr id="63" name="Image 25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64086" y="2001617"/>
            <a:ext cx="32813" cy="32813"/>
          </a:xfrm>
          <a:prstGeom prst="rect">
            <a:avLst/>
          </a:prstGeom>
        </p:spPr>
      </p:pic>
      <p:pic>
        <p:nvPicPr>
          <p:cNvPr id="64" name="Image 26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284383" y="1750048"/>
            <a:ext cx="470325" cy="475794"/>
          </a:xfrm>
          <a:prstGeom prst="rect">
            <a:avLst/>
          </a:prstGeom>
        </p:spPr>
      </p:pic>
      <p:sp>
        <p:nvSpPr>
          <p:cNvPr id="65" name="Text 36"/>
          <p:cNvSpPr/>
          <p:nvPr/>
        </p:nvSpPr>
        <p:spPr>
          <a:xfrm>
            <a:off x="989871" y="2116464"/>
            <a:ext cx="2887579" cy="13125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2" dirty="0">
                <a:solidFill>
                  <a:srgbClr val="626563"/>
                </a:solidFill>
                <a:latin typeface="Gabarito" pitchFamily="34" charset="0"/>
                <a:ea typeface="Gabarito" pitchFamily="34" charset="-122"/>
                <a:cs typeface="Gabarito" pitchFamily="34" charset="-120"/>
              </a:rPr>
              <a:t>Enhances governance where required for Al-specific risks.</a:t>
            </a:r>
            <a:endParaRPr lang="en-US" sz="822" dirty="0"/>
          </a:p>
        </p:txBody>
      </p:sp>
      <p:sp>
        <p:nvSpPr>
          <p:cNvPr id="66" name="Text 37"/>
          <p:cNvSpPr/>
          <p:nvPr/>
        </p:nvSpPr>
        <p:spPr>
          <a:xfrm>
            <a:off x="984402" y="1957866"/>
            <a:ext cx="2544679" cy="12578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92" dirty="0">
                <a:solidFill>
                  <a:srgbClr val="5D605D"/>
                </a:solidFill>
                <a:latin typeface="Gabarito" pitchFamily="34" charset="0"/>
                <a:ea typeface="Gabarito" pitchFamily="34" charset="-122"/>
                <a:cs typeface="Gabarito" pitchFamily="34" charset="-120"/>
              </a:rPr>
              <a:t>Uses existing Group governance wherever possible.</a:t>
            </a:r>
            <a:endParaRPr lang="en-US" sz="792" dirty="0"/>
          </a:p>
        </p:txBody>
      </p:sp>
      <p:sp>
        <p:nvSpPr>
          <p:cNvPr id="67" name="Text 38"/>
          <p:cNvSpPr/>
          <p:nvPr/>
        </p:nvSpPr>
        <p:spPr>
          <a:xfrm>
            <a:off x="847679" y="1771923"/>
            <a:ext cx="1612232" cy="13672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5" b="1" dirty="0">
                <a:solidFill>
                  <a:srgbClr val="4C8F6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1.Efficient and embedded</a:t>
            </a:r>
            <a:endParaRPr lang="en-US" sz="965" dirty="0"/>
          </a:p>
        </p:txBody>
      </p:sp>
      <p:sp>
        <p:nvSpPr>
          <p:cNvPr id="68" name="Shape 39"/>
          <p:cNvSpPr/>
          <p:nvPr/>
        </p:nvSpPr>
        <p:spPr>
          <a:xfrm>
            <a:off x="4123550" y="1372694"/>
            <a:ext cx="4763411" cy="262507"/>
          </a:xfrm>
          <a:prstGeom prst="rect">
            <a:avLst/>
          </a:prstGeom>
          <a:solidFill>
            <a:srgbClr val="01452A"/>
          </a:solidFill>
          <a:ln/>
        </p:spPr>
      </p:sp>
      <p:sp>
        <p:nvSpPr>
          <p:cNvPr id="69" name="Text 40"/>
          <p:cNvSpPr/>
          <p:nvPr/>
        </p:nvSpPr>
        <p:spPr>
          <a:xfrm>
            <a:off x="5195455" y="1427383"/>
            <a:ext cx="2779295" cy="153129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2" b="1" dirty="0">
                <a:solidFill>
                  <a:srgbClr val="C4D5CD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From current challenges to better outcomes</a:t>
            </a:r>
            <a:endParaRPr lang="en-US" sz="982" dirty="0"/>
          </a:p>
        </p:txBody>
      </p:sp>
      <p:sp>
        <p:nvSpPr>
          <p:cNvPr id="70" name="Shape 41"/>
          <p:cNvSpPr/>
          <p:nvPr/>
        </p:nvSpPr>
        <p:spPr>
          <a:xfrm>
            <a:off x="224225" y="1367225"/>
            <a:ext cx="3598536" cy="262507"/>
          </a:xfrm>
          <a:prstGeom prst="rect">
            <a:avLst/>
          </a:prstGeom>
          <a:solidFill>
            <a:srgbClr val="014429"/>
          </a:solidFill>
          <a:ln/>
        </p:spPr>
      </p:sp>
      <p:sp>
        <p:nvSpPr>
          <p:cNvPr id="71" name="Text 42"/>
          <p:cNvSpPr/>
          <p:nvPr/>
        </p:nvSpPr>
        <p:spPr>
          <a:xfrm>
            <a:off x="1033622" y="1427383"/>
            <a:ext cx="2177716" cy="14766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2" b="1" dirty="0">
                <a:solidFill>
                  <a:srgbClr val="C0D2C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Target state: What we are building</a:t>
            </a:r>
            <a:endParaRPr lang="en-US" sz="982" dirty="0"/>
          </a:p>
        </p:txBody>
      </p:sp>
      <p:sp>
        <p:nvSpPr>
          <p:cNvPr id="72" name="Shape 43"/>
          <p:cNvSpPr/>
          <p:nvPr/>
        </p:nvSpPr>
        <p:spPr>
          <a:xfrm>
            <a:off x="229694" y="842211"/>
            <a:ext cx="8657268" cy="442981"/>
          </a:xfrm>
          <a:prstGeom prst="rect">
            <a:avLst/>
          </a:prstGeom>
          <a:solidFill>
            <a:srgbClr val="CDE9CA"/>
          </a:solidFill>
          <a:ln/>
        </p:spPr>
      </p:sp>
      <p:pic>
        <p:nvPicPr>
          <p:cNvPr id="73" name="Image 27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32043" y="880493"/>
            <a:ext cx="382823" cy="360947"/>
          </a:xfrm>
          <a:prstGeom prst="rect">
            <a:avLst/>
          </a:prstGeom>
        </p:spPr>
      </p:pic>
      <p:sp>
        <p:nvSpPr>
          <p:cNvPr id="74" name="Text 44"/>
          <p:cNvSpPr/>
          <p:nvPr/>
        </p:nvSpPr>
        <p:spPr>
          <a:xfrm>
            <a:off x="5020450" y="989871"/>
            <a:ext cx="2039353" cy="16406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64" b="1" dirty="0">
                <a:solidFill>
                  <a:srgbClr val="343E34"/>
                </a:solidFill>
                <a:latin typeface="Rethink Sans" pitchFamily="34" charset="0"/>
                <a:ea typeface="Rethink Sans" pitchFamily="34" charset="-122"/>
                <a:cs typeface="Rethink Sans" pitchFamily="34" charset="-120"/>
              </a:rPr>
              <a:t>the route through governance.</a:t>
            </a:r>
            <a:endParaRPr lang="en-US" sz="1064" dirty="0"/>
          </a:p>
        </p:txBody>
      </p:sp>
      <p:sp>
        <p:nvSpPr>
          <p:cNvPr id="75" name="Text 45"/>
          <p:cNvSpPr/>
          <p:nvPr/>
        </p:nvSpPr>
        <p:spPr>
          <a:xfrm>
            <a:off x="4506373" y="984402"/>
            <a:ext cx="541421" cy="16953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42" b="1" dirty="0">
                <a:solidFill>
                  <a:srgbClr val="2D7C46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simplify</a:t>
            </a:r>
            <a:endParaRPr lang="en-US" sz="1042" dirty="0"/>
          </a:p>
        </p:txBody>
      </p:sp>
      <p:sp>
        <p:nvSpPr>
          <p:cNvPr id="76" name="Text 46"/>
          <p:cNvSpPr/>
          <p:nvPr/>
        </p:nvSpPr>
        <p:spPr>
          <a:xfrm>
            <a:off x="1044560" y="973464"/>
            <a:ext cx="3777916" cy="196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64" b="1" dirty="0">
                <a:solidFill>
                  <a:srgbClr val="394239"/>
                </a:solidFill>
                <a:latin typeface="Rethink Sans" pitchFamily="34" charset="0"/>
                <a:ea typeface="Rethink Sans" pitchFamily="34" charset="-122"/>
                <a:cs typeface="Rethink Sans" pitchFamily="34" charset="-120"/>
              </a:rPr>
              <a:t>Our target state is not to create more governance, but to</a:t>
            </a:r>
            <a:endParaRPr lang="en-US" sz="1064" dirty="0"/>
          </a:p>
        </p:txBody>
      </p:sp>
      <p:sp>
        <p:nvSpPr>
          <p:cNvPr id="77" name="Text 47"/>
          <p:cNvSpPr/>
          <p:nvPr/>
        </p:nvSpPr>
        <p:spPr>
          <a:xfrm>
            <a:off x="8427574" y="557828"/>
            <a:ext cx="529389" cy="710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1" b="1" dirty="0">
                <a:solidFill>
                  <a:srgbClr val="646465"/>
                </a:solidFill>
                <a:latin typeface="Puritan" pitchFamily="34" charset="0"/>
                <a:ea typeface="Puritan" pitchFamily="34" charset="-122"/>
                <a:cs typeface="Puritan" pitchFamily="34" charset="-120"/>
              </a:rPr>
              <a:t>BANKING GROUP</a:t>
            </a:r>
            <a:endParaRPr lang="en-US" sz="551" dirty="0"/>
          </a:p>
        </p:txBody>
      </p:sp>
      <p:sp>
        <p:nvSpPr>
          <p:cNvPr id="78" name="Text 48"/>
          <p:cNvSpPr/>
          <p:nvPr/>
        </p:nvSpPr>
        <p:spPr>
          <a:xfrm>
            <a:off x="8433043" y="432043"/>
            <a:ext cx="523374" cy="12578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1" b="1" dirty="0">
                <a:solidFill>
                  <a:srgbClr val="4A4A4A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LLOYDS</a:t>
            </a:r>
            <a:endParaRPr lang="en-US" sz="1021" dirty="0"/>
          </a:p>
        </p:txBody>
      </p:sp>
      <p:pic>
        <p:nvPicPr>
          <p:cNvPr id="79" name="Image 28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8547890" y="147660"/>
            <a:ext cx="240632" cy="240632"/>
          </a:xfrm>
          <a:prstGeom prst="rect">
            <a:avLst/>
          </a:prstGeom>
        </p:spPr>
      </p:pic>
      <p:sp>
        <p:nvSpPr>
          <p:cNvPr id="80" name="Text 49"/>
          <p:cNvSpPr/>
          <p:nvPr/>
        </p:nvSpPr>
        <p:spPr>
          <a:xfrm>
            <a:off x="240632" y="153129"/>
            <a:ext cx="6725653" cy="59611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27" b="1" dirty="0">
                <a:solidFill>
                  <a:srgbClr val="242424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Towards a Simpler, Risk-Based and Proportionate</a:t>
            </a:r>
            <a:endParaRPr lang="en-US" sz="2127" dirty="0"/>
          </a:p>
          <a:p>
            <a:pPr algn="l" indent="0" marL="0">
              <a:buNone/>
            </a:pPr>
            <a:r>
              <a:rPr lang="en-US" sz="2127" b="1" dirty="0">
                <a:solidFill>
                  <a:srgbClr val="242424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Al Governance Model</a:t>
            </a:r>
            <a:endParaRPr lang="en-US" sz="2127" dirty="0"/>
          </a:p>
        </p:txBody>
      </p:sp>
      <p:sp>
        <p:nvSpPr>
          <p:cNvPr id="81" name="Text 50"/>
          <p:cNvSpPr/>
          <p:nvPr/>
        </p:nvSpPr>
        <p:spPr>
          <a:xfrm>
            <a:off x="8919775" y="4943885"/>
            <a:ext cx="103909" cy="9844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9" b="1" dirty="0">
                <a:solidFill>
                  <a:srgbClr val="555556"/>
                </a:solidFill>
                <a:latin typeface="Red Hat Display" pitchFamily="34" charset="0"/>
                <a:ea typeface="Red Hat Display" pitchFamily="34" charset="-122"/>
                <a:cs typeface="Red Hat Display" pitchFamily="34" charset="-120"/>
              </a:rPr>
              <a:t>5</a:t>
            </a:r>
            <a:endParaRPr lang="en-US" sz="779" dirty="0"/>
          </a:p>
        </p:txBody>
      </p:sp>
      <p:sp>
        <p:nvSpPr>
          <p:cNvPr id="82" name="Text 51"/>
          <p:cNvSpPr/>
          <p:nvPr/>
        </p:nvSpPr>
        <p:spPr>
          <a:xfrm>
            <a:off x="4675909" y="2050837"/>
            <a:ext cx="1130968" cy="12031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4" dirty="0">
                <a:solidFill>
                  <a:srgbClr val="616362"/>
                </a:solidFill>
                <a:latin typeface="Gabarito" pitchFamily="34" charset="0"/>
                <a:ea typeface="Gabarito" pitchFamily="34" charset="-122"/>
                <a:cs typeface="Gabarito" pitchFamily="34" charset="-120"/>
              </a:rPr>
              <a:t>Fragmented governance</a:t>
            </a:r>
            <a:endParaRPr lang="en-US" sz="754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6234"/>
          </a:xfrm>
          <a:prstGeom prst="rect">
            <a:avLst/>
          </a:prstGeom>
          <a:solidFill>
            <a:srgbClr val="FEFEF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6952" y="2876641"/>
            <a:ext cx="32813" cy="49767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91411" y="4358713"/>
            <a:ext cx="8788522" cy="492201"/>
          </a:xfrm>
          <a:prstGeom prst="rect">
            <a:avLst/>
          </a:prstGeom>
          <a:solidFill>
            <a:srgbClr val="004425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43" y="4402464"/>
            <a:ext cx="404699" cy="404699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51589" y="4440746"/>
            <a:ext cx="6310563" cy="32266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9" b="1" dirty="0">
                <a:solidFill>
                  <a:srgbClr val="B8CCC2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The operating model turns the single 2LoD front door into a practical governance journey:</a:t>
            </a:r>
            <a:endParaRPr lang="en-US" sz="909" dirty="0"/>
          </a:p>
          <a:p>
            <a:pPr algn="l" indent="0" marL="0">
              <a:buNone/>
            </a:pPr>
            <a:r>
              <a:rPr lang="en-US" sz="909" b="1" dirty="0">
                <a:solidFill>
                  <a:srgbClr val="B8CCC2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risk-based triage, proportionate engagement, structured escalation, and clear re-assessment of changes.</a:t>
            </a:r>
            <a:endParaRPr lang="en-US" sz="909" dirty="0"/>
          </a:p>
        </p:txBody>
      </p:sp>
      <p:sp>
        <p:nvSpPr>
          <p:cNvPr id="7" name="Shape 3"/>
          <p:cNvSpPr/>
          <p:nvPr/>
        </p:nvSpPr>
        <p:spPr>
          <a:xfrm>
            <a:off x="6480646" y="3746196"/>
            <a:ext cx="2253187" cy="492201"/>
          </a:xfrm>
          <a:prstGeom prst="rect">
            <a:avLst/>
          </a:prstGeom>
          <a:solidFill>
            <a:srgbClr val="FDFDFD"/>
          </a:solidFill>
          <a:ln/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0804" y="3817292"/>
            <a:ext cx="355478" cy="35547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016598" y="4057923"/>
            <a:ext cx="1714500" cy="103909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72" dirty="0">
                <a:solidFill>
                  <a:srgbClr val="6C6C6D"/>
                </a:solidFill>
                <a:latin typeface="Gabarito" pitchFamily="34" charset="0"/>
                <a:ea typeface="Gabarito" pitchFamily="34" charset="-122"/>
                <a:cs typeface="Gabarito" pitchFamily="34" charset="-120"/>
              </a:rPr>
              <a:t>to determine the level of re-engagement.</a:t>
            </a:r>
            <a:endParaRPr lang="en-US" sz="672" dirty="0"/>
          </a:p>
        </p:txBody>
      </p:sp>
      <p:sp>
        <p:nvSpPr>
          <p:cNvPr id="10" name="Text 5"/>
          <p:cNvSpPr/>
          <p:nvPr/>
        </p:nvSpPr>
        <p:spPr>
          <a:xfrm>
            <a:off x="7022067" y="3811823"/>
            <a:ext cx="1419726" cy="22969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46" dirty="0">
                <a:solidFill>
                  <a:srgbClr val="6A6A6B"/>
                </a:solidFill>
                <a:latin typeface="Rethink Sans" pitchFamily="34" charset="0"/>
                <a:ea typeface="Rethink Sans" pitchFamily="34" charset="-122"/>
                <a:cs typeface="Rethink Sans" pitchFamily="34" charset="-120"/>
              </a:rPr>
              <a:t>Minor or material changes will be</a:t>
            </a:r>
            <a:endParaRPr lang="en-US" sz="646" dirty="0"/>
          </a:p>
          <a:p>
            <a:pPr algn="l" indent="0" marL="0">
              <a:buNone/>
            </a:pPr>
            <a:r>
              <a:rPr lang="en-US" sz="646" dirty="0">
                <a:solidFill>
                  <a:srgbClr val="6A6A6B"/>
                </a:solidFill>
                <a:latin typeface="Rethink Sans" pitchFamily="34" charset="0"/>
                <a:ea typeface="Rethink Sans" pitchFamily="34" charset="-122"/>
                <a:cs typeface="Rethink Sans" pitchFamily="34" charset="-120"/>
              </a:rPr>
              <a:t>reviewed by relevant 2LoD teams</a:t>
            </a:r>
            <a:endParaRPr lang="en-US" sz="646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2660" y="3948545"/>
            <a:ext cx="628923" cy="82033"/>
          </a:xfrm>
          <a:prstGeom prst="rect">
            <a:avLst/>
          </a:prstGeom>
        </p:spPr>
      </p:pic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1900" y="3461813"/>
            <a:ext cx="76565" cy="289852"/>
          </a:xfrm>
          <a:prstGeom prst="rect">
            <a:avLst/>
          </a:prstGeom>
        </p:spPr>
      </p:pic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80665" y="3385249"/>
            <a:ext cx="1378163" cy="38282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7771306" y="3007895"/>
            <a:ext cx="721895" cy="33907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42" dirty="0">
                <a:solidFill>
                  <a:srgbClr val="6F6F70"/>
                </a:solidFill>
                <a:latin typeface="Rethink Sans" pitchFamily="34" charset="0"/>
                <a:ea typeface="Rethink Sans" pitchFamily="34" charset="-122"/>
                <a:cs typeface="Rethink Sans" pitchFamily="34" charset="-120"/>
              </a:rPr>
              <a:t>Log non-material</a:t>
            </a:r>
            <a:endParaRPr lang="en-US" sz="642" dirty="0"/>
          </a:p>
          <a:p>
            <a:pPr algn="ctr" indent="0" marL="0">
              <a:buNone/>
            </a:pPr>
            <a:r>
              <a:rPr lang="en-US" sz="642" dirty="0">
                <a:solidFill>
                  <a:srgbClr val="6F6F70"/>
                </a:solidFill>
                <a:latin typeface="Rethink Sans" pitchFamily="34" charset="0"/>
                <a:ea typeface="Rethink Sans" pitchFamily="34" charset="-122"/>
                <a:cs typeface="Rethink Sans" pitchFamily="34" charset="-120"/>
              </a:rPr>
              <a:t>changes and</a:t>
            </a:r>
            <a:endParaRPr lang="en-US" sz="642" dirty="0"/>
          </a:p>
          <a:p>
            <a:pPr algn="ctr" indent="0" marL="0">
              <a:buNone/>
            </a:pPr>
            <a:r>
              <a:rPr lang="en-US" sz="642" dirty="0">
                <a:solidFill>
                  <a:srgbClr val="6F6F70"/>
                </a:solidFill>
                <a:latin typeface="Rethink Sans" pitchFamily="34" charset="0"/>
                <a:ea typeface="Rethink Sans" pitchFamily="34" charset="-122"/>
                <a:cs typeface="Rethink Sans" pitchFamily="34" charset="-120"/>
              </a:rPr>
              <a:t>notify 2LoD</a:t>
            </a:r>
            <a:endParaRPr lang="en-US" sz="642" dirty="0"/>
          </a:p>
        </p:txBody>
      </p:sp>
      <p:sp>
        <p:nvSpPr>
          <p:cNvPr id="15" name="Shape 7"/>
          <p:cNvSpPr/>
          <p:nvPr/>
        </p:nvSpPr>
        <p:spPr>
          <a:xfrm>
            <a:off x="8099440" y="2373502"/>
            <a:ext cx="853148" cy="503139"/>
          </a:xfrm>
          <a:prstGeom prst="rect">
            <a:avLst/>
          </a:prstGeom>
          <a:solidFill>
            <a:srgbClr val="EBF6EC"/>
          </a:solidFill>
          <a:ln/>
        </p:spPr>
      </p:sp>
      <p:pic>
        <p:nvPicPr>
          <p:cNvPr id="1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76005" y="2482880"/>
            <a:ext cx="273445" cy="273445"/>
          </a:xfrm>
          <a:prstGeom prst="rect">
            <a:avLst/>
          </a:prstGeom>
        </p:spPr>
      </p:pic>
      <p:sp>
        <p:nvSpPr>
          <p:cNvPr id="17" name="Text 8"/>
          <p:cNvSpPr/>
          <p:nvPr/>
        </p:nvSpPr>
        <p:spPr>
          <a:xfrm>
            <a:off x="8526014" y="2499287"/>
            <a:ext cx="378995" cy="26797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97" b="1" dirty="0">
                <a:solidFill>
                  <a:srgbClr val="4E6B57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Change</a:t>
            </a:r>
            <a:endParaRPr lang="en-US" sz="797" dirty="0"/>
          </a:p>
          <a:p>
            <a:pPr algn="l" indent="0" marL="0">
              <a:buNone/>
            </a:pPr>
            <a:r>
              <a:rPr lang="en-US" sz="797" b="1" dirty="0">
                <a:solidFill>
                  <a:srgbClr val="4E6B57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triaging</a:t>
            </a:r>
            <a:endParaRPr lang="en-US" sz="797" dirty="0"/>
          </a:p>
        </p:txBody>
      </p:sp>
      <p:sp>
        <p:nvSpPr>
          <p:cNvPr id="18" name="Shape 9"/>
          <p:cNvSpPr/>
          <p:nvPr/>
        </p:nvSpPr>
        <p:spPr>
          <a:xfrm>
            <a:off x="3724321" y="2805545"/>
            <a:ext cx="2132871" cy="1405507"/>
          </a:xfrm>
          <a:prstGeom prst="rect">
            <a:avLst/>
          </a:prstGeom>
          <a:solidFill>
            <a:srgbClr val="FDFDFD"/>
          </a:solidFill>
          <a:ln/>
        </p:spPr>
      </p:sp>
      <p:sp>
        <p:nvSpPr>
          <p:cNvPr id="19" name="Shape 10"/>
          <p:cNvSpPr/>
          <p:nvPr/>
        </p:nvSpPr>
        <p:spPr>
          <a:xfrm>
            <a:off x="5140766" y="3839167"/>
            <a:ext cx="645330" cy="289852"/>
          </a:xfrm>
          <a:prstGeom prst="rect">
            <a:avLst/>
          </a:prstGeom>
          <a:solidFill>
            <a:srgbClr val="E7F6E9"/>
          </a:solidFill>
          <a:ln/>
        </p:spPr>
      </p:sp>
      <p:sp>
        <p:nvSpPr>
          <p:cNvPr id="20" name="Text 11"/>
          <p:cNvSpPr/>
          <p:nvPr/>
        </p:nvSpPr>
        <p:spPr>
          <a:xfrm>
            <a:off x="5403273" y="3981359"/>
            <a:ext cx="385011" cy="9297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56" b="1" dirty="0">
                <a:solidFill>
                  <a:srgbClr val="536A5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Continuity</a:t>
            </a:r>
            <a:endParaRPr lang="en-US" sz="556" dirty="0"/>
          </a:p>
        </p:txBody>
      </p:sp>
      <p:sp>
        <p:nvSpPr>
          <p:cNvPr id="21" name="Text 12"/>
          <p:cNvSpPr/>
          <p:nvPr/>
        </p:nvSpPr>
        <p:spPr>
          <a:xfrm>
            <a:off x="5419679" y="3882919"/>
            <a:ext cx="328134" cy="8203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11" b="1" dirty="0">
                <a:solidFill>
                  <a:srgbClr val="50665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Business</a:t>
            </a:r>
            <a:endParaRPr lang="en-US" sz="611" dirty="0"/>
          </a:p>
        </p:txBody>
      </p:sp>
      <p:pic>
        <p:nvPicPr>
          <p:cNvPr id="2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33737" y="3899325"/>
            <a:ext cx="125785" cy="158598"/>
          </a:xfrm>
          <a:prstGeom prst="rect">
            <a:avLst/>
          </a:prstGeom>
        </p:spPr>
      </p:pic>
      <p:sp>
        <p:nvSpPr>
          <p:cNvPr id="23" name="Shape 13"/>
          <p:cNvSpPr/>
          <p:nvPr/>
        </p:nvSpPr>
        <p:spPr>
          <a:xfrm>
            <a:off x="4462622" y="3839167"/>
            <a:ext cx="656268" cy="289852"/>
          </a:xfrm>
          <a:prstGeom prst="rect">
            <a:avLst/>
          </a:prstGeom>
          <a:solidFill>
            <a:srgbClr val="E7F6E9"/>
          </a:solidFill>
          <a:ln/>
        </p:spPr>
      </p:sp>
      <p:sp>
        <p:nvSpPr>
          <p:cNvPr id="24" name="Text 14"/>
          <p:cNvSpPr/>
          <p:nvPr/>
        </p:nvSpPr>
        <p:spPr>
          <a:xfrm>
            <a:off x="4694230" y="3871981"/>
            <a:ext cx="439153" cy="202349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11" b="1" dirty="0">
                <a:solidFill>
                  <a:srgbClr val="506757"/>
                </a:solidFill>
                <a:latin typeface="Urbanist" pitchFamily="34" charset="0"/>
                <a:ea typeface="Urbanist" pitchFamily="34" charset="-122"/>
                <a:cs typeface="Urbanist" pitchFamily="34" charset="-120"/>
              </a:rPr>
              <a:t>Customer &amp;</a:t>
            </a:r>
            <a:endParaRPr lang="en-US" sz="611" dirty="0"/>
          </a:p>
          <a:p>
            <a:pPr algn="ctr" indent="0" marL="0">
              <a:buNone/>
            </a:pPr>
            <a:r>
              <a:rPr lang="en-US" sz="611" b="1" dirty="0">
                <a:solidFill>
                  <a:srgbClr val="506757"/>
                </a:solidFill>
                <a:latin typeface="Urbanist" pitchFamily="34" charset="0"/>
                <a:ea typeface="Urbanist" pitchFamily="34" charset="-122"/>
                <a:cs typeface="Urbanist" pitchFamily="34" charset="-120"/>
              </a:rPr>
              <a:t>Product</a:t>
            </a:r>
            <a:endParaRPr lang="en-US" sz="611" dirty="0"/>
          </a:p>
        </p:txBody>
      </p:sp>
      <p:pic>
        <p:nvPicPr>
          <p:cNvPr id="2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55593" y="3893856"/>
            <a:ext cx="125785" cy="164067"/>
          </a:xfrm>
          <a:prstGeom prst="rect">
            <a:avLst/>
          </a:prstGeom>
        </p:spPr>
      </p:pic>
      <p:sp>
        <p:nvSpPr>
          <p:cNvPr id="26" name="Shape 15"/>
          <p:cNvSpPr/>
          <p:nvPr/>
        </p:nvSpPr>
        <p:spPr>
          <a:xfrm>
            <a:off x="3795416" y="3839167"/>
            <a:ext cx="645330" cy="289852"/>
          </a:xfrm>
          <a:prstGeom prst="rect">
            <a:avLst/>
          </a:prstGeom>
          <a:solidFill>
            <a:srgbClr val="E8F5EA"/>
          </a:solidFill>
          <a:ln/>
        </p:spPr>
      </p:sp>
      <p:sp>
        <p:nvSpPr>
          <p:cNvPr id="27" name="Text 16"/>
          <p:cNvSpPr/>
          <p:nvPr/>
        </p:nvSpPr>
        <p:spPr>
          <a:xfrm>
            <a:off x="4129019" y="3921201"/>
            <a:ext cx="262507" cy="9297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11" b="1" dirty="0">
                <a:solidFill>
                  <a:srgbClr val="48584E"/>
                </a:solidFill>
                <a:latin typeface="Urbanist" pitchFamily="34" charset="0"/>
                <a:ea typeface="Urbanist" pitchFamily="34" charset="-122"/>
                <a:cs typeface="Urbanist" pitchFamily="34" charset="-120"/>
              </a:rPr>
              <a:t>DAIEC</a:t>
            </a:r>
            <a:endParaRPr lang="en-US" sz="611" dirty="0"/>
          </a:p>
        </p:txBody>
      </p:sp>
      <p:pic>
        <p:nvPicPr>
          <p:cNvPr id="2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66512" y="3910263"/>
            <a:ext cx="202349" cy="147660"/>
          </a:xfrm>
          <a:prstGeom prst="rect">
            <a:avLst/>
          </a:prstGeom>
        </p:spPr>
      </p:pic>
      <p:sp>
        <p:nvSpPr>
          <p:cNvPr id="29" name="Shape 17"/>
          <p:cNvSpPr/>
          <p:nvPr/>
        </p:nvSpPr>
        <p:spPr>
          <a:xfrm>
            <a:off x="5135297" y="3516502"/>
            <a:ext cx="650799" cy="289852"/>
          </a:xfrm>
          <a:prstGeom prst="rect">
            <a:avLst/>
          </a:prstGeom>
          <a:solidFill>
            <a:srgbClr val="E7F5E9"/>
          </a:solidFill>
          <a:ln/>
        </p:spPr>
      </p:sp>
      <p:sp>
        <p:nvSpPr>
          <p:cNvPr id="30" name="Text 18"/>
          <p:cNvSpPr/>
          <p:nvPr/>
        </p:nvSpPr>
        <p:spPr>
          <a:xfrm>
            <a:off x="5457962" y="3614943"/>
            <a:ext cx="295321" cy="9844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81" b="1" dirty="0">
                <a:solidFill>
                  <a:srgbClr val="54695B"/>
                </a:solidFill>
                <a:latin typeface="Rethink Sans" pitchFamily="34" charset="0"/>
                <a:ea typeface="Rethink Sans" pitchFamily="34" charset="-122"/>
                <a:cs typeface="Rethink Sans" pitchFamily="34" charset="-120"/>
              </a:rPr>
              <a:t>Change</a:t>
            </a:r>
            <a:endParaRPr lang="en-US" sz="581" dirty="0"/>
          </a:p>
        </p:txBody>
      </p:sp>
      <p:pic>
        <p:nvPicPr>
          <p:cNvPr id="3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244675" y="3587598"/>
            <a:ext cx="164067" cy="164067"/>
          </a:xfrm>
          <a:prstGeom prst="rect">
            <a:avLst/>
          </a:prstGeom>
        </p:spPr>
      </p:pic>
      <p:sp>
        <p:nvSpPr>
          <p:cNvPr id="32" name="Shape 19"/>
          <p:cNvSpPr/>
          <p:nvPr/>
        </p:nvSpPr>
        <p:spPr>
          <a:xfrm>
            <a:off x="4462622" y="3521971"/>
            <a:ext cx="656268" cy="284383"/>
          </a:xfrm>
          <a:prstGeom prst="rect">
            <a:avLst/>
          </a:prstGeom>
          <a:solidFill>
            <a:srgbClr val="E7F5E9"/>
          </a:solidFill>
          <a:ln/>
        </p:spPr>
      </p:sp>
      <p:sp>
        <p:nvSpPr>
          <p:cNvPr id="33" name="Text 20"/>
          <p:cNvSpPr/>
          <p:nvPr/>
        </p:nvSpPr>
        <p:spPr>
          <a:xfrm>
            <a:off x="4757943" y="3614943"/>
            <a:ext cx="322665" cy="8750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68" b="1" dirty="0">
                <a:solidFill>
                  <a:srgbClr val="5C6F63"/>
                </a:solidFill>
                <a:latin typeface="Rethink Sans" pitchFamily="34" charset="0"/>
                <a:ea typeface="Rethink Sans" pitchFamily="34" charset="-122"/>
                <a:cs typeface="Rethink Sans" pitchFamily="34" charset="-120"/>
              </a:rPr>
              <a:t>Conduct</a:t>
            </a:r>
            <a:endParaRPr lang="en-US" sz="568" dirty="0"/>
          </a:p>
        </p:txBody>
      </p:sp>
      <p:pic>
        <p:nvPicPr>
          <p:cNvPr id="3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28249" y="3582129"/>
            <a:ext cx="180474" cy="158598"/>
          </a:xfrm>
          <a:prstGeom prst="rect">
            <a:avLst/>
          </a:prstGeom>
        </p:spPr>
      </p:pic>
      <p:sp>
        <p:nvSpPr>
          <p:cNvPr id="35" name="Shape 21"/>
          <p:cNvSpPr/>
          <p:nvPr/>
        </p:nvSpPr>
        <p:spPr>
          <a:xfrm>
            <a:off x="3795416" y="3521971"/>
            <a:ext cx="645330" cy="289852"/>
          </a:xfrm>
          <a:prstGeom prst="rect">
            <a:avLst/>
          </a:prstGeom>
          <a:solidFill>
            <a:srgbClr val="E7F5E9"/>
          </a:solidFill>
          <a:ln/>
        </p:spPr>
      </p:sp>
      <p:sp>
        <p:nvSpPr>
          <p:cNvPr id="36" name="Text 22"/>
          <p:cNvSpPr/>
          <p:nvPr/>
        </p:nvSpPr>
        <p:spPr>
          <a:xfrm>
            <a:off x="4123550" y="3614943"/>
            <a:ext cx="306258" cy="9844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9" b="1" dirty="0">
                <a:solidFill>
                  <a:srgbClr val="5B6E60"/>
                </a:solidFill>
                <a:latin typeface="Dosis" pitchFamily="34" charset="0"/>
                <a:ea typeface="Dosis" pitchFamily="34" charset="-122"/>
                <a:cs typeface="Dosis" pitchFamily="34" charset="-120"/>
              </a:rPr>
              <a:t>Supplier</a:t>
            </a:r>
            <a:endParaRPr lang="en-US" sz="599" dirty="0"/>
          </a:p>
        </p:txBody>
      </p:sp>
      <p:pic>
        <p:nvPicPr>
          <p:cNvPr id="3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77450" y="3604005"/>
            <a:ext cx="191411" cy="136722"/>
          </a:xfrm>
          <a:prstGeom prst="rect">
            <a:avLst/>
          </a:prstGeom>
        </p:spPr>
      </p:pic>
      <p:sp>
        <p:nvSpPr>
          <p:cNvPr id="38" name="Shape 23"/>
          <p:cNvSpPr/>
          <p:nvPr/>
        </p:nvSpPr>
        <p:spPr>
          <a:xfrm>
            <a:off x="5140766" y="3204775"/>
            <a:ext cx="645330" cy="284383"/>
          </a:xfrm>
          <a:prstGeom prst="rect">
            <a:avLst/>
          </a:prstGeom>
          <a:solidFill>
            <a:srgbClr val="E7F5E9"/>
          </a:solidFill>
          <a:ln/>
        </p:spPr>
      </p:sp>
      <p:sp>
        <p:nvSpPr>
          <p:cNvPr id="39" name="Text 24"/>
          <p:cNvSpPr/>
          <p:nvPr/>
        </p:nvSpPr>
        <p:spPr>
          <a:xfrm>
            <a:off x="5436086" y="3303215"/>
            <a:ext cx="355478" cy="9844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17" b="1" dirty="0">
                <a:solidFill>
                  <a:srgbClr val="576E5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Payments</a:t>
            </a:r>
            <a:endParaRPr lang="en-US" sz="517" dirty="0"/>
          </a:p>
        </p:txBody>
      </p:sp>
      <p:pic>
        <p:nvPicPr>
          <p:cNvPr id="4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39206" y="3297746"/>
            <a:ext cx="158598" cy="114847"/>
          </a:xfrm>
          <a:prstGeom prst="rect">
            <a:avLst/>
          </a:prstGeom>
        </p:spPr>
      </p:pic>
      <p:sp>
        <p:nvSpPr>
          <p:cNvPr id="41" name="Shape 25"/>
          <p:cNvSpPr/>
          <p:nvPr/>
        </p:nvSpPr>
        <p:spPr>
          <a:xfrm>
            <a:off x="4457153" y="3204775"/>
            <a:ext cx="661737" cy="284383"/>
          </a:xfrm>
          <a:prstGeom prst="rect">
            <a:avLst/>
          </a:prstGeom>
          <a:solidFill>
            <a:srgbClr val="E7F5E9"/>
          </a:solidFill>
          <a:ln/>
        </p:spPr>
      </p:sp>
      <p:sp>
        <p:nvSpPr>
          <p:cNvPr id="42" name="Text 26"/>
          <p:cNvSpPr/>
          <p:nvPr/>
        </p:nvSpPr>
        <p:spPr>
          <a:xfrm>
            <a:off x="4752474" y="3243057"/>
            <a:ext cx="339072" cy="207818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77" b="1" dirty="0">
                <a:solidFill>
                  <a:srgbClr val="5B6C6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Market</a:t>
            </a:r>
            <a:endParaRPr lang="en-US" sz="577" dirty="0"/>
          </a:p>
          <a:p>
            <a:pPr algn="l" indent="0" marL="0">
              <a:buNone/>
            </a:pPr>
            <a:r>
              <a:rPr lang="en-US" sz="577" b="1" dirty="0">
                <a:solidFill>
                  <a:srgbClr val="5B6C6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Conduct</a:t>
            </a:r>
            <a:endParaRPr lang="en-US" sz="577" dirty="0"/>
          </a:p>
        </p:txBody>
      </p:sp>
      <p:pic>
        <p:nvPicPr>
          <p:cNvPr id="4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33718" y="3270402"/>
            <a:ext cx="180474" cy="147660"/>
          </a:xfrm>
          <a:prstGeom prst="rect">
            <a:avLst/>
          </a:prstGeom>
        </p:spPr>
      </p:pic>
      <p:sp>
        <p:nvSpPr>
          <p:cNvPr id="44" name="Shape 27"/>
          <p:cNvSpPr/>
          <p:nvPr/>
        </p:nvSpPr>
        <p:spPr>
          <a:xfrm>
            <a:off x="3795416" y="3204775"/>
            <a:ext cx="645330" cy="284383"/>
          </a:xfrm>
          <a:prstGeom prst="rect">
            <a:avLst/>
          </a:prstGeom>
          <a:solidFill>
            <a:srgbClr val="E7F5E9"/>
          </a:solidFill>
          <a:ln/>
        </p:spPr>
      </p:sp>
      <p:sp>
        <p:nvSpPr>
          <p:cNvPr id="45" name="Text 28"/>
          <p:cNvSpPr/>
          <p:nvPr/>
        </p:nvSpPr>
        <p:spPr>
          <a:xfrm>
            <a:off x="4145426" y="3292278"/>
            <a:ext cx="185943" cy="9844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11" dirty="0">
                <a:solidFill>
                  <a:srgbClr val="5B6B60"/>
                </a:solidFill>
                <a:latin typeface="Belanosima" pitchFamily="34" charset="0"/>
                <a:ea typeface="Belanosima" pitchFamily="34" charset="-122"/>
                <a:cs typeface="Belanosima" pitchFamily="34" charset="-120"/>
              </a:rPr>
              <a:t>ECP</a:t>
            </a:r>
            <a:endParaRPr lang="en-US" sz="611" dirty="0"/>
          </a:p>
        </p:txBody>
      </p:sp>
      <p:pic>
        <p:nvPicPr>
          <p:cNvPr id="46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882919" y="3253995"/>
            <a:ext cx="164067" cy="191411"/>
          </a:xfrm>
          <a:prstGeom prst="rect">
            <a:avLst/>
          </a:prstGeom>
        </p:spPr>
      </p:pic>
      <p:sp>
        <p:nvSpPr>
          <p:cNvPr id="47" name="Shape 29"/>
          <p:cNvSpPr/>
          <p:nvPr/>
        </p:nvSpPr>
        <p:spPr>
          <a:xfrm>
            <a:off x="5140766" y="2876641"/>
            <a:ext cx="645330" cy="289852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48" name="Text 30"/>
          <p:cNvSpPr/>
          <p:nvPr/>
        </p:nvSpPr>
        <p:spPr>
          <a:xfrm>
            <a:off x="5457962" y="2969612"/>
            <a:ext cx="191411" cy="9297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4" b="1" dirty="0">
                <a:solidFill>
                  <a:srgbClr val="58665C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Data</a:t>
            </a:r>
            <a:endParaRPr lang="en-US" sz="594" dirty="0"/>
          </a:p>
        </p:txBody>
      </p:sp>
      <p:pic>
        <p:nvPicPr>
          <p:cNvPr id="4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266550" y="2947737"/>
            <a:ext cx="114847" cy="158598"/>
          </a:xfrm>
          <a:prstGeom prst="rect">
            <a:avLst/>
          </a:prstGeom>
        </p:spPr>
      </p:pic>
      <p:sp>
        <p:nvSpPr>
          <p:cNvPr id="50" name="Shape 31"/>
          <p:cNvSpPr/>
          <p:nvPr/>
        </p:nvSpPr>
        <p:spPr>
          <a:xfrm>
            <a:off x="4462622" y="2876641"/>
            <a:ext cx="656268" cy="289852"/>
          </a:xfrm>
          <a:prstGeom prst="rect">
            <a:avLst/>
          </a:prstGeom>
          <a:solidFill>
            <a:srgbClr val="E8F5EA"/>
          </a:solidFill>
          <a:ln/>
        </p:spPr>
      </p:sp>
      <p:sp>
        <p:nvSpPr>
          <p:cNvPr id="51" name="Text 32"/>
          <p:cNvSpPr/>
          <p:nvPr/>
        </p:nvSpPr>
        <p:spPr>
          <a:xfrm>
            <a:off x="4774349" y="2964144"/>
            <a:ext cx="289852" cy="9844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37" b="1" dirty="0">
                <a:solidFill>
                  <a:srgbClr val="67716A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IT/ICP</a:t>
            </a:r>
            <a:endParaRPr lang="en-US" sz="637" dirty="0"/>
          </a:p>
        </p:txBody>
      </p:sp>
      <p:pic>
        <p:nvPicPr>
          <p:cNvPr id="5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539187" y="2947737"/>
            <a:ext cx="169536" cy="153129"/>
          </a:xfrm>
          <a:prstGeom prst="rect">
            <a:avLst/>
          </a:prstGeom>
        </p:spPr>
      </p:pic>
      <p:sp>
        <p:nvSpPr>
          <p:cNvPr id="53" name="Shape 33"/>
          <p:cNvSpPr/>
          <p:nvPr/>
        </p:nvSpPr>
        <p:spPr>
          <a:xfrm>
            <a:off x="3795416" y="2882110"/>
            <a:ext cx="645330" cy="289852"/>
          </a:xfrm>
          <a:prstGeom prst="rect">
            <a:avLst/>
          </a:prstGeom>
          <a:solidFill>
            <a:srgbClr val="E8F5EA"/>
          </a:solidFill>
          <a:ln/>
        </p:spPr>
      </p:sp>
      <p:sp>
        <p:nvSpPr>
          <p:cNvPr id="54" name="Text 34"/>
          <p:cNvSpPr/>
          <p:nvPr/>
        </p:nvSpPr>
        <p:spPr>
          <a:xfrm>
            <a:off x="4139957" y="2969612"/>
            <a:ext cx="251569" cy="9297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67" dirty="0">
                <a:solidFill>
                  <a:srgbClr val="5B695F"/>
                </a:solidFill>
                <a:latin typeface="Belanosima" pitchFamily="34" charset="0"/>
                <a:ea typeface="Belanosima" pitchFamily="34" charset="-122"/>
                <a:cs typeface="Belanosima" pitchFamily="34" charset="-120"/>
              </a:rPr>
              <a:t>Model</a:t>
            </a:r>
            <a:endParaRPr lang="en-US" sz="667" dirty="0"/>
          </a:p>
        </p:txBody>
      </p:sp>
      <p:pic>
        <p:nvPicPr>
          <p:cNvPr id="5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882919" y="2931330"/>
            <a:ext cx="169536" cy="175005"/>
          </a:xfrm>
          <a:prstGeom prst="rect">
            <a:avLst/>
          </a:prstGeom>
        </p:spPr>
      </p:pic>
      <p:pic>
        <p:nvPicPr>
          <p:cNvPr id="56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197072" y="2679761"/>
            <a:ext cx="864086" cy="60158"/>
          </a:xfrm>
          <a:prstGeom prst="rect">
            <a:avLst/>
          </a:prstGeom>
        </p:spPr>
      </p:pic>
      <p:sp>
        <p:nvSpPr>
          <p:cNvPr id="57" name="Text 35"/>
          <p:cNvSpPr/>
          <p:nvPr/>
        </p:nvSpPr>
        <p:spPr>
          <a:xfrm>
            <a:off x="7350201" y="2313344"/>
            <a:ext cx="553453" cy="34454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72" dirty="0">
                <a:solidFill>
                  <a:srgbClr val="636364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Change is</a:t>
            </a:r>
            <a:endParaRPr lang="en-US" sz="672" dirty="0"/>
          </a:p>
          <a:p>
            <a:pPr algn="l" indent="0" marL="0">
              <a:buNone/>
            </a:pPr>
            <a:r>
              <a:rPr lang="en-US" sz="672" dirty="0">
                <a:solidFill>
                  <a:srgbClr val="636364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identified and</a:t>
            </a:r>
            <a:endParaRPr lang="en-US" sz="672" dirty="0"/>
          </a:p>
          <a:p>
            <a:pPr algn="l" indent="0" marL="0">
              <a:buNone/>
            </a:pPr>
            <a:r>
              <a:rPr lang="en-US" sz="672" dirty="0">
                <a:solidFill>
                  <a:srgbClr val="636364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logged</a:t>
            </a:r>
            <a:endParaRPr lang="en-US" sz="672" dirty="0"/>
          </a:p>
        </p:txBody>
      </p:sp>
      <p:sp>
        <p:nvSpPr>
          <p:cNvPr id="58" name="Shape 36"/>
          <p:cNvSpPr/>
          <p:nvPr/>
        </p:nvSpPr>
        <p:spPr>
          <a:xfrm>
            <a:off x="6250952" y="2160215"/>
            <a:ext cx="929713" cy="1301598"/>
          </a:xfrm>
          <a:prstGeom prst="rect">
            <a:avLst/>
          </a:prstGeom>
          <a:solidFill>
            <a:srgbClr val="ECF6EB"/>
          </a:solidFill>
          <a:ln/>
        </p:spPr>
      </p:sp>
      <p:pic>
        <p:nvPicPr>
          <p:cNvPr id="59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453301" y="2203967"/>
            <a:ext cx="519545" cy="530483"/>
          </a:xfrm>
          <a:prstGeom prst="rect">
            <a:avLst/>
          </a:prstGeom>
        </p:spPr>
      </p:pic>
      <p:sp>
        <p:nvSpPr>
          <p:cNvPr id="60" name="Text 37"/>
          <p:cNvSpPr/>
          <p:nvPr/>
        </p:nvSpPr>
        <p:spPr>
          <a:xfrm>
            <a:off x="6312204" y="2964144"/>
            <a:ext cx="818147" cy="36094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2" dirty="0">
                <a:solidFill>
                  <a:srgbClr val="5A605B"/>
                </a:solidFill>
                <a:latin typeface="Gabarito" pitchFamily="34" charset="0"/>
                <a:ea typeface="Gabarito" pitchFamily="34" charset="-122"/>
                <a:cs typeface="Gabarito" pitchFamily="34" charset="-120"/>
              </a:rPr>
              <a:t>Approvals for Tier 3</a:t>
            </a:r>
            <a:endParaRPr lang="en-US" sz="672" dirty="0"/>
          </a:p>
          <a:p>
            <a:pPr algn="ctr" indent="0" marL="0">
              <a:buNone/>
            </a:pPr>
            <a:r>
              <a:rPr lang="en-US" sz="672" dirty="0">
                <a:solidFill>
                  <a:srgbClr val="5A605B"/>
                </a:solidFill>
                <a:latin typeface="Gabarito" pitchFamily="34" charset="0"/>
                <a:ea typeface="Gabarito" pitchFamily="34" charset="-122"/>
                <a:cs typeface="Gabarito" pitchFamily="34" charset="-120"/>
              </a:rPr>
              <a:t>and below granted</a:t>
            </a:r>
            <a:endParaRPr lang="en-US" sz="672" dirty="0"/>
          </a:p>
          <a:p>
            <a:pPr algn="ctr" indent="0" marL="0">
              <a:buNone/>
            </a:pPr>
            <a:r>
              <a:rPr lang="en-US" sz="672" dirty="0">
                <a:solidFill>
                  <a:srgbClr val="5A605B"/>
                </a:solidFill>
                <a:latin typeface="Gabarito" pitchFamily="34" charset="0"/>
                <a:ea typeface="Gabarito" pitchFamily="34" charset="-122"/>
                <a:cs typeface="Gabarito" pitchFamily="34" charset="-120"/>
              </a:rPr>
              <a:t>by MRO</a:t>
            </a:r>
            <a:endParaRPr lang="en-US" sz="672" dirty="0"/>
          </a:p>
        </p:txBody>
      </p:sp>
      <p:sp>
        <p:nvSpPr>
          <p:cNvPr id="61" name="Text 38"/>
          <p:cNvSpPr/>
          <p:nvPr/>
        </p:nvSpPr>
        <p:spPr>
          <a:xfrm>
            <a:off x="6590024" y="2783670"/>
            <a:ext cx="295321" cy="13125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5" b="1" dirty="0">
                <a:solidFill>
                  <a:srgbClr val="436A50"/>
                </a:solidFill>
                <a:latin typeface="Kumbh Sans" pitchFamily="34" charset="0"/>
                <a:ea typeface="Kumbh Sans" pitchFamily="34" charset="-122"/>
                <a:cs typeface="Kumbh Sans" pitchFamily="34" charset="-120"/>
              </a:rPr>
              <a:t>Live</a:t>
            </a:r>
            <a:endParaRPr lang="en-US" sz="1055" dirty="0"/>
          </a:p>
        </p:txBody>
      </p:sp>
      <p:pic>
        <p:nvPicPr>
          <p:cNvPr id="62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672057" y="1886770"/>
            <a:ext cx="82033" cy="278914"/>
          </a:xfrm>
          <a:prstGeom prst="rect">
            <a:avLst/>
          </a:prstGeom>
        </p:spPr>
      </p:pic>
      <p:sp>
        <p:nvSpPr>
          <p:cNvPr id="63" name="Shape 39"/>
          <p:cNvSpPr/>
          <p:nvPr/>
        </p:nvSpPr>
        <p:spPr>
          <a:xfrm>
            <a:off x="2275062" y="2018024"/>
            <a:ext cx="1082842" cy="1028153"/>
          </a:xfrm>
          <a:prstGeom prst="rect">
            <a:avLst/>
          </a:prstGeom>
          <a:solidFill>
            <a:srgbClr val="F9FCF8"/>
          </a:solidFill>
          <a:ln/>
        </p:spPr>
      </p:sp>
      <p:pic>
        <p:nvPicPr>
          <p:cNvPr id="64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750856" y="2214904"/>
            <a:ext cx="475794" cy="366416"/>
          </a:xfrm>
          <a:prstGeom prst="rect">
            <a:avLst/>
          </a:prstGeom>
        </p:spPr>
      </p:pic>
      <p:pic>
        <p:nvPicPr>
          <p:cNvPr id="65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2340689" y="2269593"/>
            <a:ext cx="360947" cy="393761"/>
          </a:xfrm>
          <a:prstGeom prst="rect">
            <a:avLst/>
          </a:prstGeom>
        </p:spPr>
      </p:pic>
      <p:sp>
        <p:nvSpPr>
          <p:cNvPr id="66" name="Text 40"/>
          <p:cNvSpPr/>
          <p:nvPr/>
        </p:nvSpPr>
        <p:spPr>
          <a:xfrm>
            <a:off x="2745388" y="2608665"/>
            <a:ext cx="643689" cy="41016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64" dirty="0">
                <a:solidFill>
                  <a:srgbClr val="787978"/>
                </a:solidFill>
                <a:latin typeface="Gabarito" pitchFamily="34" charset="0"/>
                <a:ea typeface="Gabarito" pitchFamily="34" charset="-122"/>
                <a:cs typeface="Gabarito" pitchFamily="34" charset="-120"/>
              </a:rPr>
              <a:t>governance route</a:t>
            </a:r>
            <a:endParaRPr lang="en-US" sz="564" dirty="0"/>
          </a:p>
          <a:p>
            <a:pPr algn="l" indent="0" marL="0">
              <a:buNone/>
            </a:pPr>
            <a:r>
              <a:rPr lang="en-US" sz="564" dirty="0">
                <a:solidFill>
                  <a:srgbClr val="787978"/>
                </a:solidFill>
                <a:latin typeface="Gabarito" pitchFamily="34" charset="0"/>
                <a:ea typeface="Gabarito" pitchFamily="34" charset="-122"/>
                <a:cs typeface="Gabarito" pitchFamily="34" charset="-120"/>
              </a:rPr>
              <a:t>and identify which</a:t>
            </a:r>
            <a:endParaRPr lang="en-US" sz="564" dirty="0"/>
          </a:p>
          <a:p>
            <a:pPr algn="l" indent="0" marL="0">
              <a:buNone/>
            </a:pPr>
            <a:r>
              <a:rPr lang="en-US" sz="564" dirty="0">
                <a:solidFill>
                  <a:srgbClr val="787978"/>
                </a:solidFill>
                <a:latin typeface="Gabarito" pitchFamily="34" charset="0"/>
                <a:ea typeface="Gabarito" pitchFamily="34" charset="-122"/>
                <a:cs typeface="Gabarito" pitchFamily="34" charset="-120"/>
              </a:rPr>
              <a:t>2LoD teams need</a:t>
            </a:r>
            <a:endParaRPr lang="en-US" sz="564" dirty="0"/>
          </a:p>
          <a:p>
            <a:pPr algn="l" indent="0" marL="0">
              <a:buNone/>
            </a:pPr>
            <a:r>
              <a:rPr lang="en-US" sz="564" dirty="0">
                <a:solidFill>
                  <a:srgbClr val="787978"/>
                </a:solidFill>
                <a:latin typeface="Gabarito" pitchFamily="34" charset="0"/>
                <a:ea typeface="Gabarito" pitchFamily="34" charset="-122"/>
                <a:cs typeface="Gabarito" pitchFamily="34" charset="-120"/>
              </a:rPr>
              <a:t>to be engaged.</a:t>
            </a:r>
            <a:endParaRPr lang="en-US" sz="564" dirty="0"/>
          </a:p>
        </p:txBody>
      </p:sp>
      <p:sp>
        <p:nvSpPr>
          <p:cNvPr id="67" name="Text 41"/>
          <p:cNvSpPr/>
          <p:nvPr/>
        </p:nvSpPr>
        <p:spPr>
          <a:xfrm>
            <a:off x="2750856" y="2067244"/>
            <a:ext cx="421105" cy="9297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15" b="1" dirty="0">
                <a:solidFill>
                  <a:srgbClr val="556C5D"/>
                </a:solidFill>
                <a:latin typeface="Rethink Sans" pitchFamily="34" charset="0"/>
                <a:ea typeface="Rethink Sans" pitchFamily="34" charset="-122"/>
                <a:cs typeface="Rethink Sans" pitchFamily="34" charset="-120"/>
              </a:rPr>
              <a:t>Standard</a:t>
            </a:r>
            <a:endParaRPr lang="en-US" sz="715" dirty="0"/>
          </a:p>
        </p:txBody>
      </p:sp>
      <p:pic>
        <p:nvPicPr>
          <p:cNvPr id="68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3352435" y="2275062"/>
            <a:ext cx="355478" cy="76565"/>
          </a:xfrm>
          <a:prstGeom prst="rect">
            <a:avLst/>
          </a:prstGeom>
        </p:spPr>
      </p:pic>
      <p:pic>
        <p:nvPicPr>
          <p:cNvPr id="69" name="Image 25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95340" y="2581321"/>
            <a:ext cx="229694" cy="65627"/>
          </a:xfrm>
          <a:prstGeom prst="rect">
            <a:avLst/>
          </a:prstGeom>
        </p:spPr>
      </p:pic>
      <p:pic>
        <p:nvPicPr>
          <p:cNvPr id="70" name="Image 26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520545" y="1859426"/>
            <a:ext cx="65627" cy="514077"/>
          </a:xfrm>
          <a:prstGeom prst="rect">
            <a:avLst/>
          </a:prstGeom>
        </p:spPr>
      </p:pic>
      <p:sp>
        <p:nvSpPr>
          <p:cNvPr id="71" name="Shape 42"/>
          <p:cNvSpPr/>
          <p:nvPr/>
        </p:nvSpPr>
        <p:spPr>
          <a:xfrm>
            <a:off x="1230502" y="2050837"/>
            <a:ext cx="705488" cy="1066435"/>
          </a:xfrm>
          <a:prstGeom prst="rect">
            <a:avLst/>
          </a:prstGeom>
          <a:solidFill>
            <a:srgbClr val="ECF6EB"/>
          </a:solidFill>
          <a:ln/>
        </p:spPr>
      </p:sp>
      <p:pic>
        <p:nvPicPr>
          <p:cNvPr id="72" name="Image 27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307067" y="2176622"/>
            <a:ext cx="519545" cy="519545"/>
          </a:xfrm>
          <a:prstGeom prst="rect">
            <a:avLst/>
          </a:prstGeom>
        </p:spPr>
      </p:pic>
      <p:sp>
        <p:nvSpPr>
          <p:cNvPr id="73" name="Text 43"/>
          <p:cNvSpPr/>
          <p:nvPr/>
        </p:nvSpPr>
        <p:spPr>
          <a:xfrm>
            <a:off x="1383632" y="2794608"/>
            <a:ext cx="415089" cy="13125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1" b="1" dirty="0">
                <a:solidFill>
                  <a:srgbClr val="4F6D58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Triaging</a:t>
            </a:r>
            <a:endParaRPr lang="en-US" sz="801" dirty="0"/>
          </a:p>
        </p:txBody>
      </p:sp>
      <p:sp>
        <p:nvSpPr>
          <p:cNvPr id="74" name="Shape 44"/>
          <p:cNvSpPr/>
          <p:nvPr/>
        </p:nvSpPr>
        <p:spPr>
          <a:xfrm>
            <a:off x="185943" y="1952397"/>
            <a:ext cx="787522" cy="1717234"/>
          </a:xfrm>
          <a:prstGeom prst="rect">
            <a:avLst/>
          </a:prstGeom>
          <a:solidFill>
            <a:srgbClr val="EBF6EB"/>
          </a:solidFill>
          <a:ln/>
        </p:spPr>
      </p:sp>
      <p:pic>
        <p:nvPicPr>
          <p:cNvPr id="75" name="Image 28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333603" y="1996148"/>
            <a:ext cx="492201" cy="492201"/>
          </a:xfrm>
          <a:prstGeom prst="rect">
            <a:avLst/>
          </a:prstGeom>
        </p:spPr>
      </p:pic>
      <p:sp>
        <p:nvSpPr>
          <p:cNvPr id="76" name="Text 45"/>
          <p:cNvSpPr/>
          <p:nvPr/>
        </p:nvSpPr>
        <p:spPr>
          <a:xfrm>
            <a:off x="237350" y="2821952"/>
            <a:ext cx="673768" cy="77111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37" dirty="0">
                <a:solidFill>
                  <a:srgbClr val="696D69"/>
                </a:solidFill>
                <a:latin typeface="Gabarito" pitchFamily="34" charset="0"/>
                <a:ea typeface="Gabarito" pitchFamily="34" charset="-122"/>
                <a:cs typeface="Gabarito" pitchFamily="34" charset="-120"/>
              </a:rPr>
              <a:t>Model owner</a:t>
            </a:r>
            <a:endParaRPr lang="en-US" sz="637" dirty="0"/>
          </a:p>
          <a:p>
            <a:pPr algn="ctr" indent="0" marL="0">
              <a:buNone/>
            </a:pPr>
            <a:r>
              <a:rPr lang="en-US" sz="637" dirty="0">
                <a:solidFill>
                  <a:srgbClr val="696D69"/>
                </a:solidFill>
                <a:latin typeface="Gabarito" pitchFamily="34" charset="0"/>
                <a:ea typeface="Gabarito" pitchFamily="34" charset="-122"/>
                <a:cs typeface="Gabarito" pitchFamily="34" charset="-120"/>
              </a:rPr>
              <a:t>completes triage</a:t>
            </a:r>
            <a:endParaRPr lang="en-US" sz="637" dirty="0"/>
          </a:p>
          <a:p>
            <a:pPr algn="ctr" indent="0" marL="0">
              <a:buNone/>
            </a:pPr>
            <a:r>
              <a:rPr lang="en-US" sz="637" dirty="0">
                <a:solidFill>
                  <a:srgbClr val="696D69"/>
                </a:solidFill>
                <a:latin typeface="Gabarito" pitchFamily="34" charset="0"/>
                <a:ea typeface="Gabarito" pitchFamily="34" charset="-122"/>
                <a:cs typeface="Gabarito" pitchFamily="34" charset="-120"/>
              </a:rPr>
              <a:t>after the</a:t>
            </a:r>
            <a:endParaRPr lang="en-US" sz="637" dirty="0"/>
          </a:p>
          <a:p>
            <a:pPr algn="ctr" indent="0" marL="0">
              <a:buNone/>
            </a:pPr>
            <a:r>
              <a:rPr lang="en-US" sz="637" dirty="0">
                <a:solidFill>
                  <a:srgbClr val="696D69"/>
                </a:solidFill>
                <a:latin typeface="Gabarito" pitchFamily="34" charset="0"/>
                <a:ea typeface="Gabarito" pitchFamily="34" charset="-122"/>
                <a:cs typeface="Gabarito" pitchFamily="34" charset="-120"/>
              </a:rPr>
              <a:t>consequence</a:t>
            </a:r>
            <a:endParaRPr lang="en-US" sz="637" dirty="0"/>
          </a:p>
          <a:p>
            <a:pPr algn="ctr" indent="0" marL="0">
              <a:buNone/>
            </a:pPr>
            <a:r>
              <a:rPr lang="en-US" sz="637" dirty="0">
                <a:solidFill>
                  <a:srgbClr val="696D69"/>
                </a:solidFill>
                <a:latin typeface="Gabarito" pitchFamily="34" charset="0"/>
                <a:ea typeface="Gabarito" pitchFamily="34" charset="-122"/>
                <a:cs typeface="Gabarito" pitchFamily="34" charset="-120"/>
              </a:rPr>
              <a:t>scanning</a:t>
            </a:r>
            <a:endParaRPr lang="en-US" sz="637" dirty="0"/>
          </a:p>
          <a:p>
            <a:pPr algn="ctr" indent="0" marL="0">
              <a:buNone/>
            </a:pPr>
            <a:r>
              <a:rPr lang="en-US" sz="637" dirty="0">
                <a:solidFill>
                  <a:srgbClr val="696D69"/>
                </a:solidFill>
                <a:latin typeface="Gabarito" pitchFamily="34" charset="0"/>
                <a:ea typeface="Gabarito" pitchFamily="34" charset="-122"/>
                <a:cs typeface="Gabarito" pitchFamily="34" charset="-120"/>
              </a:rPr>
              <a:t>workshop in the</a:t>
            </a:r>
            <a:endParaRPr lang="en-US" sz="637" dirty="0"/>
          </a:p>
          <a:p>
            <a:pPr algn="ctr" indent="0" marL="0">
              <a:buNone/>
            </a:pPr>
            <a:r>
              <a:rPr lang="en-US" sz="637" dirty="0">
                <a:solidFill>
                  <a:srgbClr val="696D69"/>
                </a:solidFill>
                <a:latin typeface="Gabarito" pitchFamily="34" charset="0"/>
                <a:ea typeface="Gabarito" pitchFamily="34" charset="-122"/>
                <a:cs typeface="Gabarito" pitchFamily="34" charset="-120"/>
              </a:rPr>
              <a:t>RAl journey.</a:t>
            </a:r>
            <a:endParaRPr lang="en-US" sz="637" dirty="0"/>
          </a:p>
        </p:txBody>
      </p:sp>
      <p:sp>
        <p:nvSpPr>
          <p:cNvPr id="77" name="Text 46"/>
          <p:cNvSpPr/>
          <p:nvPr/>
        </p:nvSpPr>
        <p:spPr>
          <a:xfrm>
            <a:off x="295321" y="2510225"/>
            <a:ext cx="613611" cy="257038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84" b="1" dirty="0">
                <a:solidFill>
                  <a:srgbClr val="526D5A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Responsible</a:t>
            </a:r>
            <a:endParaRPr lang="en-US" sz="784" dirty="0"/>
          </a:p>
          <a:p>
            <a:pPr algn="l" indent="0" marL="0">
              <a:buNone/>
            </a:pPr>
            <a:r>
              <a:rPr lang="en-US" sz="784" b="1" dirty="0">
                <a:solidFill>
                  <a:srgbClr val="526D5A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Al Journey</a:t>
            </a:r>
            <a:endParaRPr lang="en-US" sz="784" dirty="0"/>
          </a:p>
        </p:txBody>
      </p:sp>
      <p:pic>
        <p:nvPicPr>
          <p:cNvPr id="78" name="Image 29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028344" y="1553167"/>
            <a:ext cx="65627" cy="71096"/>
          </a:xfrm>
          <a:prstGeom prst="rect">
            <a:avLst/>
          </a:prstGeom>
        </p:spPr>
      </p:pic>
      <p:sp>
        <p:nvSpPr>
          <p:cNvPr id="79" name="Shape 47"/>
          <p:cNvSpPr/>
          <p:nvPr/>
        </p:nvSpPr>
        <p:spPr>
          <a:xfrm>
            <a:off x="8099440" y="1301598"/>
            <a:ext cx="825804" cy="557828"/>
          </a:xfrm>
          <a:prstGeom prst="rect">
            <a:avLst/>
          </a:prstGeom>
          <a:solidFill>
            <a:srgbClr val="EBF6EA"/>
          </a:solidFill>
          <a:ln/>
        </p:spPr>
      </p:sp>
      <p:pic>
        <p:nvPicPr>
          <p:cNvPr id="80" name="Image 30" descr="preencoded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8208818" y="1454727"/>
            <a:ext cx="257038" cy="251569"/>
          </a:xfrm>
          <a:prstGeom prst="rect">
            <a:avLst/>
          </a:prstGeom>
        </p:spPr>
      </p:pic>
      <p:sp>
        <p:nvSpPr>
          <p:cNvPr id="81" name="Text 48"/>
          <p:cNvSpPr/>
          <p:nvPr/>
        </p:nvSpPr>
        <p:spPr>
          <a:xfrm>
            <a:off x="8504139" y="1454727"/>
            <a:ext cx="355478" cy="2461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2" b="1" dirty="0">
                <a:solidFill>
                  <a:srgbClr val="5D7865"/>
                </a:solidFill>
                <a:latin typeface="Rethink Sans" pitchFamily="34" charset="0"/>
                <a:ea typeface="Rethink Sans" pitchFamily="34" charset="-122"/>
                <a:cs typeface="Rethink Sans" pitchFamily="34" charset="-120"/>
              </a:rPr>
              <a:t>Resolve</a:t>
            </a:r>
            <a:endParaRPr lang="en-US" sz="762" dirty="0"/>
          </a:p>
          <a:p>
            <a:pPr algn="ctr" indent="0" marL="0">
              <a:buNone/>
            </a:pPr>
            <a:r>
              <a:rPr lang="en-US" sz="762" b="1" dirty="0">
                <a:solidFill>
                  <a:srgbClr val="5D7865"/>
                </a:solidFill>
                <a:latin typeface="Rethink Sans" pitchFamily="34" charset="0"/>
                <a:ea typeface="Rethink Sans" pitchFamily="34" charset="-122"/>
                <a:cs typeface="Rethink Sans" pitchFamily="34" charset="-120"/>
              </a:rPr>
              <a:t>issue</a:t>
            </a:r>
            <a:endParaRPr lang="en-US" sz="762" dirty="0"/>
          </a:p>
        </p:txBody>
      </p:sp>
      <p:sp>
        <p:nvSpPr>
          <p:cNvPr id="82" name="Text 49"/>
          <p:cNvSpPr/>
          <p:nvPr/>
        </p:nvSpPr>
        <p:spPr>
          <a:xfrm>
            <a:off x="7279105" y="1378163"/>
            <a:ext cx="818147" cy="32813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37" dirty="0">
                <a:solidFill>
                  <a:srgbClr val="717172"/>
                </a:solidFill>
                <a:latin typeface="Rethink Sans" pitchFamily="34" charset="0"/>
                <a:ea typeface="Rethink Sans" pitchFamily="34" charset="-122"/>
                <a:cs typeface="Rethink Sans" pitchFamily="34" charset="-120"/>
              </a:rPr>
              <a:t>Root cause analysis</a:t>
            </a:r>
            <a:endParaRPr lang="en-US" sz="637" dirty="0"/>
          </a:p>
          <a:p>
            <a:pPr algn="l" indent="0" marL="0">
              <a:buNone/>
            </a:pPr>
            <a:r>
              <a:rPr lang="en-US" sz="637" dirty="0">
                <a:solidFill>
                  <a:srgbClr val="717172"/>
                </a:solidFill>
                <a:latin typeface="Rethink Sans" pitchFamily="34" charset="0"/>
                <a:ea typeface="Rethink Sans" pitchFamily="34" charset="-122"/>
                <a:cs typeface="Rethink Sans" pitchFamily="34" charset="-120"/>
              </a:rPr>
              <a:t>and solution</a:t>
            </a:r>
            <a:endParaRPr lang="en-US" sz="637" dirty="0"/>
          </a:p>
          <a:p>
            <a:pPr algn="l" indent="0" marL="0">
              <a:buNone/>
            </a:pPr>
            <a:r>
              <a:rPr lang="en-US" sz="637" dirty="0">
                <a:solidFill>
                  <a:srgbClr val="717172"/>
                </a:solidFill>
                <a:latin typeface="Rethink Sans" pitchFamily="34" charset="0"/>
                <a:ea typeface="Rethink Sans" pitchFamily="34" charset="-122"/>
                <a:cs typeface="Rethink Sans" pitchFamily="34" charset="-120"/>
              </a:rPr>
              <a:t>identification</a:t>
            </a:r>
            <a:endParaRPr lang="en-US" sz="637" dirty="0"/>
          </a:p>
        </p:txBody>
      </p:sp>
      <p:sp>
        <p:nvSpPr>
          <p:cNvPr id="83" name="Shape 50"/>
          <p:cNvSpPr/>
          <p:nvPr/>
        </p:nvSpPr>
        <p:spPr>
          <a:xfrm>
            <a:off x="6305641" y="1301598"/>
            <a:ext cx="880493" cy="563297"/>
          </a:xfrm>
          <a:prstGeom prst="rect">
            <a:avLst/>
          </a:prstGeom>
          <a:solidFill>
            <a:srgbClr val="EBF6EB"/>
          </a:solidFill>
          <a:ln/>
        </p:spPr>
      </p:sp>
      <p:pic>
        <p:nvPicPr>
          <p:cNvPr id="84" name="Image 31" descr="preencoded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382206" y="1476603"/>
            <a:ext cx="207818" cy="196880"/>
          </a:xfrm>
          <a:prstGeom prst="rect">
            <a:avLst/>
          </a:prstGeom>
        </p:spPr>
      </p:pic>
      <p:sp>
        <p:nvSpPr>
          <p:cNvPr id="85" name="Text 51"/>
          <p:cNvSpPr/>
          <p:nvPr/>
        </p:nvSpPr>
        <p:spPr>
          <a:xfrm>
            <a:off x="6633775" y="1449258"/>
            <a:ext cx="553453" cy="2461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67" b="1" dirty="0">
                <a:solidFill>
                  <a:srgbClr val="54725D"/>
                </a:solidFill>
                <a:latin typeface="Catamaran" pitchFamily="34" charset="0"/>
                <a:ea typeface="Catamaran" pitchFamily="34" charset="-122"/>
                <a:cs typeface="Catamaran" pitchFamily="34" charset="-120"/>
              </a:rPr>
              <a:t>Incident</a:t>
            </a:r>
            <a:endParaRPr lang="en-US" sz="667" dirty="0"/>
          </a:p>
          <a:p>
            <a:pPr algn="l" indent="0" marL="0">
              <a:buNone/>
            </a:pPr>
            <a:r>
              <a:rPr lang="en-US" sz="667" b="1" dirty="0">
                <a:solidFill>
                  <a:srgbClr val="54725D"/>
                </a:solidFill>
                <a:latin typeface="Catamaran" pitchFamily="34" charset="0"/>
                <a:ea typeface="Catamaran" pitchFamily="34" charset="-122"/>
                <a:cs typeface="Catamaran" pitchFamily="34" charset="-120"/>
              </a:rPr>
              <a:t>identification</a:t>
            </a:r>
            <a:endParaRPr lang="en-US" sz="667" dirty="0"/>
          </a:p>
        </p:txBody>
      </p:sp>
      <p:sp>
        <p:nvSpPr>
          <p:cNvPr id="86" name="Shape 52"/>
          <p:cNvSpPr/>
          <p:nvPr/>
        </p:nvSpPr>
        <p:spPr>
          <a:xfrm>
            <a:off x="3713383" y="1443789"/>
            <a:ext cx="2160215" cy="1153938"/>
          </a:xfrm>
          <a:prstGeom prst="rect">
            <a:avLst/>
          </a:prstGeom>
          <a:solidFill>
            <a:srgbClr val="FBFCFC"/>
          </a:solidFill>
          <a:ln/>
        </p:spPr>
      </p:sp>
      <p:pic>
        <p:nvPicPr>
          <p:cNvPr id="87" name="Image 32" descr="preencoded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714191" y="2220373"/>
            <a:ext cx="185943" cy="71096"/>
          </a:xfrm>
          <a:prstGeom prst="rect">
            <a:avLst/>
          </a:prstGeom>
        </p:spPr>
      </p:pic>
      <p:sp>
        <p:nvSpPr>
          <p:cNvPr id="88" name="Shape 53"/>
          <p:cNvSpPr/>
          <p:nvPr/>
        </p:nvSpPr>
        <p:spPr>
          <a:xfrm>
            <a:off x="4900134" y="1979742"/>
            <a:ext cx="896900" cy="552359"/>
          </a:xfrm>
          <a:prstGeom prst="rect">
            <a:avLst/>
          </a:prstGeom>
          <a:solidFill>
            <a:srgbClr val="EBF6EA"/>
          </a:solidFill>
          <a:ln/>
        </p:spPr>
      </p:sp>
      <p:pic>
        <p:nvPicPr>
          <p:cNvPr id="89" name="Image 33" descr="preencoded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927478" y="2083651"/>
            <a:ext cx="317196" cy="333603"/>
          </a:xfrm>
          <a:prstGeom prst="rect">
            <a:avLst/>
          </a:prstGeom>
        </p:spPr>
      </p:pic>
      <p:sp>
        <p:nvSpPr>
          <p:cNvPr id="90" name="Text 54"/>
          <p:cNvSpPr/>
          <p:nvPr/>
        </p:nvSpPr>
        <p:spPr>
          <a:xfrm>
            <a:off x="5266550" y="2264124"/>
            <a:ext cx="523374" cy="9844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9" b="1" dirty="0">
                <a:solidFill>
                  <a:srgbClr val="50705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engagement</a:t>
            </a:r>
            <a:endParaRPr lang="en-US" sz="599" dirty="0"/>
          </a:p>
        </p:txBody>
      </p:sp>
      <p:sp>
        <p:nvSpPr>
          <p:cNvPr id="91" name="Text 55"/>
          <p:cNvSpPr/>
          <p:nvPr/>
        </p:nvSpPr>
        <p:spPr>
          <a:xfrm>
            <a:off x="5343115" y="2138340"/>
            <a:ext cx="273445" cy="103909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63" b="1" dirty="0">
                <a:solidFill>
                  <a:srgbClr val="5A7962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Async</a:t>
            </a:r>
            <a:endParaRPr lang="en-US" sz="663" dirty="0"/>
          </a:p>
        </p:txBody>
      </p:sp>
      <p:sp>
        <p:nvSpPr>
          <p:cNvPr id="92" name="Shape 56"/>
          <p:cNvSpPr/>
          <p:nvPr/>
        </p:nvSpPr>
        <p:spPr>
          <a:xfrm>
            <a:off x="3795416" y="1979742"/>
            <a:ext cx="902368" cy="546890"/>
          </a:xfrm>
          <a:prstGeom prst="rect">
            <a:avLst/>
          </a:prstGeom>
          <a:solidFill>
            <a:srgbClr val="EAF6E9"/>
          </a:solidFill>
          <a:ln/>
        </p:spPr>
      </p:sp>
      <p:pic>
        <p:nvPicPr>
          <p:cNvPr id="93" name="Image 34" descr="preencoded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3822761" y="2083651"/>
            <a:ext cx="322665" cy="339072"/>
          </a:xfrm>
          <a:prstGeom prst="rect">
            <a:avLst/>
          </a:prstGeom>
        </p:spPr>
      </p:pic>
      <p:sp>
        <p:nvSpPr>
          <p:cNvPr id="94" name="Text 57"/>
          <p:cNvSpPr/>
          <p:nvPr/>
        </p:nvSpPr>
        <p:spPr>
          <a:xfrm>
            <a:off x="4178239" y="2072713"/>
            <a:ext cx="499311" cy="355478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11" b="1" dirty="0">
                <a:solidFill>
                  <a:srgbClr val="5E796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Use case</a:t>
            </a:r>
            <a:endParaRPr lang="en-US" sz="611" dirty="0"/>
          </a:p>
          <a:p>
            <a:pPr algn="l" indent="0" marL="0">
              <a:buNone/>
            </a:pPr>
            <a:r>
              <a:rPr lang="en-US" sz="611" b="1" dirty="0">
                <a:solidFill>
                  <a:srgbClr val="5E796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materiality</a:t>
            </a:r>
            <a:endParaRPr lang="en-US" sz="611" dirty="0"/>
          </a:p>
          <a:p>
            <a:pPr algn="l" indent="0" marL="0">
              <a:buNone/>
            </a:pPr>
            <a:r>
              <a:rPr lang="en-US" sz="611" b="1" dirty="0">
                <a:solidFill>
                  <a:srgbClr val="5E796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assessment</a:t>
            </a:r>
            <a:endParaRPr lang="en-US" sz="611" dirty="0"/>
          </a:p>
        </p:txBody>
      </p:sp>
      <p:pic>
        <p:nvPicPr>
          <p:cNvPr id="95" name="Image 35" descr="preencoded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784478" y="1509416"/>
            <a:ext cx="2018024" cy="278914"/>
          </a:xfrm>
          <a:prstGeom prst="rect">
            <a:avLst/>
          </a:prstGeom>
        </p:spPr>
      </p:pic>
      <p:pic>
        <p:nvPicPr>
          <p:cNvPr id="96" name="Image 36" descr="preencoded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3828230" y="1509416"/>
            <a:ext cx="295321" cy="284383"/>
          </a:xfrm>
          <a:prstGeom prst="rect">
            <a:avLst/>
          </a:prstGeom>
        </p:spPr>
      </p:pic>
      <p:sp>
        <p:nvSpPr>
          <p:cNvPr id="97" name="Text 58"/>
          <p:cNvSpPr/>
          <p:nvPr/>
        </p:nvSpPr>
        <p:spPr>
          <a:xfrm>
            <a:off x="4380589" y="1585981"/>
            <a:ext cx="1004637" cy="12578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ADC4B8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Al Oversight Forum</a:t>
            </a:r>
            <a:endParaRPr lang="en-US" sz="792" dirty="0"/>
          </a:p>
        </p:txBody>
      </p:sp>
      <p:pic>
        <p:nvPicPr>
          <p:cNvPr id="98" name="Image 37" descr="preencoded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5282957" y="1788330"/>
            <a:ext cx="76565" cy="185943"/>
          </a:xfrm>
          <a:prstGeom prst="rect">
            <a:avLst/>
          </a:prstGeom>
        </p:spPr>
      </p:pic>
      <p:pic>
        <p:nvPicPr>
          <p:cNvPr id="99" name="Image 38" descr="preencoded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4205584" y="1788330"/>
            <a:ext cx="76565" cy="191411"/>
          </a:xfrm>
          <a:prstGeom prst="rect">
            <a:avLst/>
          </a:prstGeom>
        </p:spPr>
      </p:pic>
      <p:pic>
        <p:nvPicPr>
          <p:cNvPr id="100" name="Image 39" descr="preencoded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736067" y="2499287"/>
            <a:ext cx="645330" cy="306258"/>
          </a:xfrm>
          <a:prstGeom prst="rect">
            <a:avLst/>
          </a:prstGeom>
        </p:spPr>
      </p:pic>
      <p:pic>
        <p:nvPicPr>
          <p:cNvPr id="101" name="Image 40" descr="preencoded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5868129" y="2307876"/>
            <a:ext cx="382823" cy="147660"/>
          </a:xfrm>
          <a:prstGeom prst="rect">
            <a:avLst/>
          </a:prstGeom>
        </p:spPr>
      </p:pic>
      <p:pic>
        <p:nvPicPr>
          <p:cNvPr id="102" name="Image 41" descr="preencoded.png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4752474" y="1307067"/>
            <a:ext cx="92971" cy="142191"/>
          </a:xfrm>
          <a:prstGeom prst="rect">
            <a:avLst/>
          </a:prstGeom>
        </p:spPr>
      </p:pic>
      <p:sp>
        <p:nvSpPr>
          <p:cNvPr id="103" name="Text 59"/>
          <p:cNvSpPr/>
          <p:nvPr/>
        </p:nvSpPr>
        <p:spPr>
          <a:xfrm>
            <a:off x="4107144" y="1181282"/>
            <a:ext cx="1528011" cy="12031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1" dirty="0">
                <a:solidFill>
                  <a:srgbClr val="616162"/>
                </a:solidFill>
                <a:latin typeface="League Spartan" pitchFamily="34" charset="0"/>
                <a:ea typeface="League Spartan" pitchFamily="34" charset="-122"/>
                <a:cs typeface="League Spartan" pitchFamily="34" charset="-120"/>
              </a:rPr>
              <a:t>Block /No Go/Diretion of change</a:t>
            </a:r>
            <a:endParaRPr lang="en-US" sz="801" dirty="0"/>
          </a:p>
        </p:txBody>
      </p:sp>
      <p:sp>
        <p:nvSpPr>
          <p:cNvPr id="104" name="Shape 60"/>
          <p:cNvSpPr/>
          <p:nvPr/>
        </p:nvSpPr>
        <p:spPr>
          <a:xfrm>
            <a:off x="2291469" y="1301598"/>
            <a:ext cx="1066435" cy="574234"/>
          </a:xfrm>
          <a:prstGeom prst="rect">
            <a:avLst/>
          </a:prstGeom>
          <a:solidFill>
            <a:srgbClr val="F9FCF8"/>
          </a:solidFill>
          <a:ln/>
        </p:spPr>
      </p:sp>
      <p:pic>
        <p:nvPicPr>
          <p:cNvPr id="105" name="Image 42" descr="preencoded.png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2351627" y="1405507"/>
            <a:ext cx="355478" cy="366416"/>
          </a:xfrm>
          <a:prstGeom prst="rect">
            <a:avLst/>
          </a:prstGeom>
        </p:spPr>
      </p:pic>
      <p:sp>
        <p:nvSpPr>
          <p:cNvPr id="106" name="Text 61"/>
          <p:cNvSpPr/>
          <p:nvPr/>
        </p:nvSpPr>
        <p:spPr>
          <a:xfrm>
            <a:off x="2761794" y="1503947"/>
            <a:ext cx="613611" cy="31172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81" dirty="0">
                <a:solidFill>
                  <a:srgbClr val="6D6E6D"/>
                </a:solidFill>
                <a:latin typeface="Gabarito" pitchFamily="34" charset="0"/>
                <a:ea typeface="Gabarito" pitchFamily="34" charset="-122"/>
                <a:cs typeface="Gabarito" pitchFamily="34" charset="-120"/>
              </a:rPr>
              <a:t>High-risk</a:t>
            </a:r>
            <a:endParaRPr lang="en-US" sz="581" dirty="0"/>
          </a:p>
          <a:p>
            <a:pPr algn="l" indent="0" marL="0">
              <a:buNone/>
            </a:pPr>
            <a:r>
              <a:rPr lang="en-US" sz="581" dirty="0">
                <a:solidFill>
                  <a:srgbClr val="6D6E6D"/>
                </a:solidFill>
                <a:latin typeface="Gabarito" pitchFamily="34" charset="0"/>
                <a:ea typeface="Gabarito" pitchFamily="34" charset="-122"/>
                <a:cs typeface="Gabarito" pitchFamily="34" charset="-120"/>
              </a:rPr>
              <a:t>indicators trigger</a:t>
            </a:r>
            <a:endParaRPr lang="en-US" sz="581" dirty="0"/>
          </a:p>
          <a:p>
            <a:pPr algn="l" indent="0" marL="0">
              <a:buNone/>
            </a:pPr>
            <a:r>
              <a:rPr lang="en-US" sz="581" dirty="0">
                <a:solidFill>
                  <a:srgbClr val="6D6E6D"/>
                </a:solidFill>
                <a:latin typeface="Gabarito" pitchFamily="34" charset="0"/>
                <a:ea typeface="Gabarito" pitchFamily="34" charset="-122"/>
                <a:cs typeface="Gabarito" pitchFamily="34" charset="-120"/>
              </a:rPr>
              <a:t>initial review.</a:t>
            </a:r>
            <a:endParaRPr lang="en-US" sz="581" dirty="0"/>
          </a:p>
        </p:txBody>
      </p:sp>
      <p:sp>
        <p:nvSpPr>
          <p:cNvPr id="107" name="Text 62"/>
          <p:cNvSpPr/>
          <p:nvPr/>
        </p:nvSpPr>
        <p:spPr>
          <a:xfrm>
            <a:off x="2767263" y="1378163"/>
            <a:ext cx="457200" cy="9844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15" b="1" dirty="0">
                <a:solidFill>
                  <a:srgbClr val="5C7464"/>
                </a:solidFill>
                <a:latin typeface="Rethink Sans" pitchFamily="34" charset="0"/>
                <a:ea typeface="Rethink Sans" pitchFamily="34" charset="-122"/>
                <a:cs typeface="Rethink Sans" pitchFamily="34" charset="-120"/>
              </a:rPr>
              <a:t>Enhanced</a:t>
            </a:r>
            <a:endParaRPr lang="en-US" sz="715" dirty="0"/>
          </a:p>
        </p:txBody>
      </p:sp>
      <p:pic>
        <p:nvPicPr>
          <p:cNvPr id="108" name="Image 43" descr="preencoded.png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3352435" y="1569574"/>
            <a:ext cx="355478" cy="71096"/>
          </a:xfrm>
          <a:prstGeom prst="rect">
            <a:avLst/>
          </a:prstGeom>
        </p:spPr>
      </p:pic>
      <p:sp>
        <p:nvSpPr>
          <p:cNvPr id="109" name="Shape 63"/>
          <p:cNvSpPr/>
          <p:nvPr/>
        </p:nvSpPr>
        <p:spPr>
          <a:xfrm>
            <a:off x="2269593" y="3188368"/>
            <a:ext cx="1088311" cy="765646"/>
          </a:xfrm>
          <a:prstGeom prst="rect">
            <a:avLst/>
          </a:prstGeom>
          <a:solidFill>
            <a:srgbClr val="F9FCF8"/>
          </a:solidFill>
          <a:ln/>
        </p:spPr>
      </p:sp>
      <p:pic>
        <p:nvPicPr>
          <p:cNvPr id="110" name="Image 44" descr="preencoded.png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2329751" y="3341498"/>
            <a:ext cx="355478" cy="393761"/>
          </a:xfrm>
          <a:prstGeom prst="rect">
            <a:avLst/>
          </a:prstGeom>
        </p:spPr>
      </p:pic>
      <p:sp>
        <p:nvSpPr>
          <p:cNvPr id="111" name="Text 64"/>
          <p:cNvSpPr/>
          <p:nvPr/>
        </p:nvSpPr>
        <p:spPr>
          <a:xfrm>
            <a:off x="2745388" y="3374311"/>
            <a:ext cx="553453" cy="51954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11" dirty="0">
                <a:solidFill>
                  <a:srgbClr val="797A79"/>
                </a:solidFill>
                <a:latin typeface="League Spartan" pitchFamily="34" charset="0"/>
                <a:ea typeface="League Spartan" pitchFamily="34" charset="-122"/>
                <a:cs typeface="League Spartan" pitchFamily="34" charset="-120"/>
              </a:rPr>
              <a:t>Very low risk</a:t>
            </a:r>
            <a:endParaRPr lang="en-US" sz="611" dirty="0"/>
          </a:p>
          <a:p>
            <a:pPr algn="l" indent="0" marL="0">
              <a:buNone/>
            </a:pPr>
            <a:r>
              <a:rPr lang="en-US" sz="611" dirty="0">
                <a:solidFill>
                  <a:srgbClr val="797A79"/>
                </a:solidFill>
                <a:latin typeface="League Spartan" pitchFamily="34" charset="0"/>
                <a:ea typeface="League Spartan" pitchFamily="34" charset="-122"/>
                <a:cs typeface="League Spartan" pitchFamily="34" charset="-120"/>
              </a:rPr>
              <a:t>use cases may</a:t>
            </a:r>
            <a:endParaRPr lang="en-US" sz="611" dirty="0"/>
          </a:p>
          <a:p>
            <a:pPr algn="l" indent="0" marL="0">
              <a:buNone/>
            </a:pPr>
            <a:r>
              <a:rPr lang="en-US" sz="611" dirty="0">
                <a:solidFill>
                  <a:srgbClr val="797A79"/>
                </a:solidFill>
                <a:latin typeface="League Spartan" pitchFamily="34" charset="0"/>
                <a:ea typeface="League Spartan" pitchFamily="34" charset="-122"/>
                <a:cs typeface="League Spartan" pitchFamily="34" charset="-120"/>
              </a:rPr>
              <a:t>proceed at MO</a:t>
            </a:r>
            <a:endParaRPr lang="en-US" sz="611" dirty="0"/>
          </a:p>
          <a:p>
            <a:pPr algn="l" indent="0" marL="0">
              <a:buNone/>
            </a:pPr>
            <a:r>
              <a:rPr lang="en-US" sz="611" dirty="0">
                <a:solidFill>
                  <a:srgbClr val="797A79"/>
                </a:solidFill>
                <a:latin typeface="League Spartan" pitchFamily="34" charset="0"/>
                <a:ea typeface="League Spartan" pitchFamily="34" charset="-122"/>
                <a:cs typeface="League Spartan" pitchFamily="34" charset="-120"/>
              </a:rPr>
              <a:t>approval/</a:t>
            </a:r>
            <a:endParaRPr lang="en-US" sz="611" dirty="0"/>
          </a:p>
          <a:p>
            <a:pPr algn="l" indent="0" marL="0">
              <a:buNone/>
            </a:pPr>
            <a:r>
              <a:rPr lang="en-US" sz="611" dirty="0">
                <a:solidFill>
                  <a:srgbClr val="797A79"/>
                </a:solidFill>
                <a:latin typeface="League Spartan" pitchFamily="34" charset="0"/>
                <a:ea typeface="League Spartan" pitchFamily="34" charset="-122"/>
                <a:cs typeface="League Spartan" pitchFamily="34" charset="-120"/>
              </a:rPr>
              <a:t>attestation.</a:t>
            </a:r>
            <a:endParaRPr lang="en-US" sz="611" dirty="0"/>
          </a:p>
        </p:txBody>
      </p:sp>
      <p:sp>
        <p:nvSpPr>
          <p:cNvPr id="112" name="Text 65"/>
          <p:cNvSpPr/>
          <p:nvPr/>
        </p:nvSpPr>
        <p:spPr>
          <a:xfrm>
            <a:off x="2750856" y="3253995"/>
            <a:ext cx="257038" cy="11484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4" b="1" dirty="0">
                <a:solidFill>
                  <a:srgbClr val="5A6F60"/>
                </a:solidFill>
                <a:latin typeface="Catamaran" pitchFamily="34" charset="0"/>
                <a:ea typeface="Catamaran" pitchFamily="34" charset="-122"/>
                <a:cs typeface="Catamaran" pitchFamily="34" charset="-120"/>
              </a:rPr>
              <a:t>Light</a:t>
            </a:r>
            <a:endParaRPr lang="en-US" sz="754" dirty="0"/>
          </a:p>
        </p:txBody>
      </p:sp>
      <p:pic>
        <p:nvPicPr>
          <p:cNvPr id="113" name="Image 45" descr="preencoded.png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3352435" y="3461813"/>
            <a:ext cx="360947" cy="65627"/>
          </a:xfrm>
          <a:prstGeom prst="rect">
            <a:avLst/>
          </a:prstGeom>
        </p:spPr>
      </p:pic>
      <p:pic>
        <p:nvPicPr>
          <p:cNvPr id="114" name="Image 46" descr="preencoded.png">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1952397" y="1509416"/>
            <a:ext cx="322665" cy="2121933"/>
          </a:xfrm>
          <a:prstGeom prst="rect">
            <a:avLst/>
          </a:prstGeom>
        </p:spPr>
      </p:pic>
      <p:sp>
        <p:nvSpPr>
          <p:cNvPr id="115" name="Shape 66"/>
          <p:cNvSpPr/>
          <p:nvPr/>
        </p:nvSpPr>
        <p:spPr>
          <a:xfrm>
            <a:off x="224225" y="596110"/>
            <a:ext cx="8755708" cy="503139"/>
          </a:xfrm>
          <a:prstGeom prst="rect">
            <a:avLst/>
          </a:prstGeom>
          <a:solidFill>
            <a:srgbClr val="ECF6EC"/>
          </a:solidFill>
          <a:ln/>
        </p:spPr>
      </p:sp>
      <p:pic>
        <p:nvPicPr>
          <p:cNvPr id="116" name="Image 47" descr="preencoded.png">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360947" y="607048"/>
            <a:ext cx="486732" cy="481263"/>
          </a:xfrm>
          <a:prstGeom prst="rect">
            <a:avLst/>
          </a:prstGeom>
        </p:spPr>
      </p:pic>
      <p:sp>
        <p:nvSpPr>
          <p:cNvPr id="117" name="Text 67"/>
          <p:cNvSpPr/>
          <p:nvPr/>
        </p:nvSpPr>
        <p:spPr>
          <a:xfrm>
            <a:off x="1028153" y="667206"/>
            <a:ext cx="6647447" cy="33907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6" dirty="0">
                <a:solidFill>
                  <a:srgbClr val="4F5B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This process view shows how the single 2LoD front door works in practice - from triage and early engagement</a:t>
            </a:r>
            <a:endParaRPr lang="en-US" sz="956" dirty="0"/>
          </a:p>
          <a:p>
            <a:pPr algn="l" indent="0" marL="0">
              <a:buNone/>
            </a:pPr>
            <a:r>
              <a:rPr lang="en-US" sz="956" dirty="0">
                <a:solidFill>
                  <a:srgbClr val="4F5B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through live operation, incident handling and change re-assessment.</a:t>
            </a:r>
            <a:endParaRPr lang="en-US" sz="956" dirty="0"/>
          </a:p>
        </p:txBody>
      </p:sp>
      <p:sp>
        <p:nvSpPr>
          <p:cNvPr id="118" name="Text 68"/>
          <p:cNvSpPr/>
          <p:nvPr/>
        </p:nvSpPr>
        <p:spPr>
          <a:xfrm>
            <a:off x="8361947" y="355478"/>
            <a:ext cx="703847" cy="8750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4" b="1" dirty="0">
                <a:solidFill>
                  <a:srgbClr val="5B5B5C"/>
                </a:solidFill>
                <a:latin typeface="Gantari" pitchFamily="34" charset="0"/>
                <a:ea typeface="Gantari" pitchFamily="34" charset="-122"/>
                <a:cs typeface="Gantari" pitchFamily="34" charset="-120"/>
              </a:rPr>
              <a:t>BANKING GROUP</a:t>
            </a:r>
            <a:endParaRPr lang="en-US" sz="594" dirty="0"/>
          </a:p>
        </p:txBody>
      </p:sp>
      <p:sp>
        <p:nvSpPr>
          <p:cNvPr id="119" name="Text 69"/>
          <p:cNvSpPr/>
          <p:nvPr/>
        </p:nvSpPr>
        <p:spPr>
          <a:xfrm>
            <a:off x="8361947" y="180474"/>
            <a:ext cx="715879" cy="16953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8" b="1" dirty="0">
                <a:solidFill>
                  <a:srgbClr val="3E3E3E"/>
                </a:solidFill>
                <a:latin typeface="Kumbh Sans" pitchFamily="34" charset="0"/>
                <a:ea typeface="Kumbh Sans" pitchFamily="34" charset="-122"/>
                <a:cs typeface="Kumbh Sans" pitchFamily="34" charset="-120"/>
              </a:rPr>
              <a:t>LLOYDS</a:t>
            </a:r>
            <a:endParaRPr lang="en-US" sz="1288" dirty="0"/>
          </a:p>
        </p:txBody>
      </p:sp>
      <p:pic>
        <p:nvPicPr>
          <p:cNvPr id="120" name="Image 48" descr="preencoded.png">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7886153" y="131254"/>
            <a:ext cx="393761" cy="344541"/>
          </a:xfrm>
          <a:prstGeom prst="rect">
            <a:avLst/>
          </a:prstGeom>
        </p:spPr>
      </p:pic>
      <p:sp>
        <p:nvSpPr>
          <p:cNvPr id="121" name="Text 70"/>
          <p:cNvSpPr/>
          <p:nvPr/>
        </p:nvSpPr>
        <p:spPr>
          <a:xfrm>
            <a:off x="235163" y="114847"/>
            <a:ext cx="6767763" cy="37735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90" b="1" dirty="0">
                <a:solidFill>
                  <a:srgbClr val="1D3B2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How the Operating Model Works in Practice</a:t>
            </a:r>
            <a:endParaRPr lang="en-US" sz="239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6234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78" y="4577469"/>
            <a:ext cx="8919775" cy="42110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478" y="4621220"/>
            <a:ext cx="333603" cy="339072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91431" y="4719660"/>
            <a:ext cx="8389292" cy="18047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61" b="1" dirty="0">
                <a:solidFill>
                  <a:srgbClr val="B2C5BB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Stakeholders are not asking for less risk management; they are asking for a clearer route, less duplication, and governance that is fit for purpose for Al.</a:t>
            </a:r>
            <a:endParaRPr lang="en-US" sz="861" dirty="0"/>
          </a:p>
        </p:txBody>
      </p:sp>
      <p:sp>
        <p:nvSpPr>
          <p:cNvPr id="6" name="Shape 1"/>
          <p:cNvSpPr/>
          <p:nvPr/>
        </p:nvSpPr>
        <p:spPr>
          <a:xfrm>
            <a:off x="4495435" y="4178239"/>
            <a:ext cx="4506373" cy="328134"/>
          </a:xfrm>
          <a:prstGeom prst="rect">
            <a:avLst/>
          </a:prstGeom>
          <a:solidFill>
            <a:srgbClr val="EEFAF4"/>
          </a:solidFill>
          <a:ln/>
        </p:spPr>
      </p:sp>
      <p:pic>
        <p:nvPicPr>
          <p:cNvPr id="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033" y="4227459"/>
            <a:ext cx="289852" cy="267976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5168110" y="4216522"/>
            <a:ext cx="3579395" cy="300789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4" dirty="0">
                <a:solidFill>
                  <a:srgbClr val="424544"/>
                </a:solidFill>
                <a:latin typeface="Gabarito" pitchFamily="34" charset="0"/>
                <a:ea typeface="Gabarito" pitchFamily="34" charset="-122"/>
                <a:cs typeface="Gabarito" pitchFamily="34" charset="-120"/>
              </a:rPr>
              <a:t>9.Considering monitoring and post-implementation expectations</a:t>
            </a:r>
            <a:endParaRPr lang="en-US" sz="904" dirty="0"/>
          </a:p>
          <a:p>
            <a:pPr algn="l" indent="0" marL="0">
              <a:buNone/>
            </a:pPr>
            <a:r>
              <a:rPr lang="en-US" sz="904" dirty="0">
                <a:solidFill>
                  <a:srgbClr val="424544"/>
                </a:solidFill>
                <a:latin typeface="Gabarito" pitchFamily="34" charset="0"/>
                <a:ea typeface="Gabarito" pitchFamily="34" charset="-122"/>
                <a:cs typeface="Gabarito" pitchFamily="34" charset="-120"/>
              </a:rPr>
              <a:t>for Al models and agentic systems</a:t>
            </a:r>
            <a:endParaRPr lang="en-US" sz="904" dirty="0"/>
          </a:p>
        </p:txBody>
      </p:sp>
      <p:sp>
        <p:nvSpPr>
          <p:cNvPr id="9" name="Text 3"/>
          <p:cNvSpPr/>
          <p:nvPr/>
        </p:nvSpPr>
        <p:spPr>
          <a:xfrm>
            <a:off x="5239206" y="3855574"/>
            <a:ext cx="3188368" cy="28985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7" b="1" dirty="0">
                <a:solidFill>
                  <a:srgbClr val="3B3E3D"/>
                </a:solidFill>
                <a:latin typeface="Rethink Sans" pitchFamily="34" charset="0"/>
                <a:ea typeface="Rethink Sans" pitchFamily="34" charset="-122"/>
                <a:cs typeface="Rethink Sans" pitchFamily="34" charset="-120"/>
              </a:rPr>
              <a:t>Defining validation expectations earlier and encouraging</a:t>
            </a:r>
            <a:endParaRPr lang="en-US" sz="887" dirty="0"/>
          </a:p>
          <a:p>
            <a:pPr algn="l" indent="0" marL="0">
              <a:buNone/>
            </a:pPr>
            <a:r>
              <a:rPr lang="en-US" sz="887" b="1" dirty="0">
                <a:solidFill>
                  <a:srgbClr val="3B3E3D"/>
                </a:solidFill>
                <a:latin typeface="Rethink Sans" pitchFamily="34" charset="0"/>
                <a:ea typeface="Rethink Sans" pitchFamily="34" charset="-122"/>
                <a:cs typeface="Rethink Sans" pitchFamily="34" charset="-120"/>
              </a:rPr>
              <a:t>earlier IVT engagement</a:t>
            </a:r>
            <a:endParaRPr lang="en-US" sz="887" dirty="0"/>
          </a:p>
        </p:txBody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5751" y="3839167"/>
            <a:ext cx="366416" cy="300789"/>
          </a:xfrm>
          <a:prstGeom prst="rect">
            <a:avLst/>
          </a:prstGeom>
        </p:spPr>
      </p:pic>
      <p:sp>
        <p:nvSpPr>
          <p:cNvPr id="11" name="Text 4"/>
          <p:cNvSpPr/>
          <p:nvPr/>
        </p:nvSpPr>
        <p:spPr>
          <a:xfrm>
            <a:off x="5321239" y="3505565"/>
            <a:ext cx="3158289" cy="28438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44" b="1" dirty="0">
                <a:solidFill>
                  <a:srgbClr val="3F4140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Adding operating model guidance on how model changes</a:t>
            </a:r>
            <a:endParaRPr lang="en-US" sz="844" dirty="0"/>
          </a:p>
          <a:p>
            <a:pPr algn="l" indent="0" marL="0">
              <a:buNone/>
            </a:pPr>
            <a:r>
              <a:rPr lang="en-US" sz="844" b="1" dirty="0">
                <a:solidFill>
                  <a:srgbClr val="3F4140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should be managed</a:t>
            </a:r>
            <a:endParaRPr lang="en-US" sz="844" dirty="0"/>
          </a:p>
        </p:txBody>
      </p:sp>
      <p:sp>
        <p:nvSpPr>
          <p:cNvPr id="12" name="Text 5"/>
          <p:cNvSpPr/>
          <p:nvPr/>
        </p:nvSpPr>
        <p:spPr>
          <a:xfrm>
            <a:off x="5151703" y="3516502"/>
            <a:ext cx="136722" cy="12031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7" b="1" dirty="0">
                <a:solidFill>
                  <a:srgbClr val="505452"/>
                </a:solidFill>
                <a:latin typeface="Odibee Sans" pitchFamily="34" charset="0"/>
                <a:ea typeface="Odibee Sans" pitchFamily="34" charset="-122"/>
                <a:cs typeface="Odibee Sans" pitchFamily="34" charset="-120"/>
              </a:rPr>
              <a:t>7.</a:t>
            </a:r>
            <a:endParaRPr lang="en-US" sz="827" dirty="0"/>
          </a:p>
        </p:txBody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5751" y="3489158"/>
            <a:ext cx="366416" cy="311727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5326708" y="3155555"/>
            <a:ext cx="3236495" cy="300789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1" b="1" dirty="0">
                <a:solidFill>
                  <a:srgbClr val="3E4140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Using the policy enabler and operating model to clarify risk</a:t>
            </a:r>
            <a:endParaRPr lang="en-US" sz="831" dirty="0"/>
          </a:p>
          <a:p>
            <a:pPr algn="l" indent="0" marL="0">
              <a:buNone/>
            </a:pPr>
            <a:r>
              <a:rPr lang="en-US" sz="831" b="1" dirty="0">
                <a:solidFill>
                  <a:srgbClr val="3E4140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expectations, oversight and acceptance roles</a:t>
            </a:r>
            <a:endParaRPr lang="en-US" sz="831" dirty="0"/>
          </a:p>
        </p:txBody>
      </p:sp>
      <p:sp>
        <p:nvSpPr>
          <p:cNvPr id="15" name="Text 7"/>
          <p:cNvSpPr/>
          <p:nvPr/>
        </p:nvSpPr>
        <p:spPr>
          <a:xfrm>
            <a:off x="5151703" y="3171962"/>
            <a:ext cx="131254" cy="12031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5" b="1" dirty="0">
                <a:solidFill>
                  <a:srgbClr val="4F5250"/>
                </a:solidFill>
                <a:latin typeface="Catamaran" pitchFamily="34" charset="0"/>
                <a:ea typeface="Catamaran" pitchFamily="34" charset="-122"/>
                <a:cs typeface="Catamaran" pitchFamily="34" charset="-120"/>
              </a:rPr>
              <a:t>6.</a:t>
            </a:r>
            <a:endParaRPr lang="en-US" sz="1025" dirty="0"/>
          </a:p>
        </p:txBody>
      </p:sp>
      <p:pic>
        <p:nvPicPr>
          <p:cNvPr id="1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21220" y="3139148"/>
            <a:ext cx="360947" cy="311727"/>
          </a:xfrm>
          <a:prstGeom prst="rect">
            <a:avLst/>
          </a:prstGeom>
        </p:spPr>
      </p:pic>
      <p:sp>
        <p:nvSpPr>
          <p:cNvPr id="17" name="Text 8"/>
          <p:cNvSpPr/>
          <p:nvPr/>
        </p:nvSpPr>
        <p:spPr>
          <a:xfrm>
            <a:off x="5321239" y="2116464"/>
            <a:ext cx="3392905" cy="29532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91" b="1" dirty="0">
                <a:solidFill>
                  <a:srgbClr val="464948"/>
                </a:solidFill>
                <a:latin typeface="Gabarito" pitchFamily="34" charset="0"/>
                <a:ea typeface="Gabarito" pitchFamily="34" charset="-122"/>
                <a:cs typeface="Gabarito" pitchFamily="34" charset="-120"/>
              </a:rPr>
              <a:t>Coordinating common information needs and moving towards</a:t>
            </a:r>
            <a:endParaRPr lang="en-US" sz="891" dirty="0"/>
          </a:p>
          <a:p>
            <a:pPr algn="l" indent="0" marL="0">
              <a:buNone/>
            </a:pPr>
            <a:r>
              <a:rPr lang="en-US" sz="891" b="1" dirty="0">
                <a:solidFill>
                  <a:srgbClr val="464948"/>
                </a:solidFill>
                <a:latin typeface="Gabarito" pitchFamily="34" charset="0"/>
                <a:ea typeface="Gabarito" pitchFamily="34" charset="-122"/>
                <a:cs typeface="Gabarito" pitchFamily="34" charset="-120"/>
              </a:rPr>
              <a:t>a single updateable assessment</a:t>
            </a:r>
            <a:endParaRPr lang="en-US" sz="891" dirty="0"/>
          </a:p>
        </p:txBody>
      </p:sp>
      <p:sp>
        <p:nvSpPr>
          <p:cNvPr id="18" name="Text 9"/>
          <p:cNvSpPr/>
          <p:nvPr/>
        </p:nvSpPr>
        <p:spPr>
          <a:xfrm>
            <a:off x="5151703" y="2132871"/>
            <a:ext cx="136722" cy="12031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5A5D5C"/>
                </a:solidFill>
                <a:latin typeface="Aleo" pitchFamily="34" charset="0"/>
                <a:ea typeface="Aleo" pitchFamily="34" charset="-122"/>
                <a:cs typeface="Aleo" pitchFamily="34" charset="-120"/>
              </a:rPr>
              <a:t>3.</a:t>
            </a:r>
            <a:endParaRPr lang="en-US" sz="930" dirty="0"/>
          </a:p>
        </p:txBody>
      </p:sp>
      <p:pic>
        <p:nvPicPr>
          <p:cNvPr id="1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26689" y="2100057"/>
            <a:ext cx="355478" cy="300789"/>
          </a:xfrm>
          <a:prstGeom prst="rect">
            <a:avLst/>
          </a:prstGeom>
        </p:spPr>
      </p:pic>
      <p:sp>
        <p:nvSpPr>
          <p:cNvPr id="20" name="Text 10"/>
          <p:cNvSpPr/>
          <p:nvPr/>
        </p:nvSpPr>
        <p:spPr>
          <a:xfrm>
            <a:off x="5168110" y="1760986"/>
            <a:ext cx="3314700" cy="28985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7" b="1" dirty="0">
                <a:solidFill>
                  <a:srgbClr val="424443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2.Uplifting the operating model to make 2LoD engagement</a:t>
            </a:r>
            <a:endParaRPr lang="en-US" sz="857" dirty="0"/>
          </a:p>
          <a:p>
            <a:pPr algn="l" indent="0" marL="0">
              <a:buNone/>
            </a:pPr>
            <a:r>
              <a:rPr lang="en-US" sz="857" b="1" dirty="0">
                <a:solidFill>
                  <a:srgbClr val="424443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clearer and more visible</a:t>
            </a:r>
            <a:endParaRPr lang="en-US" sz="857" dirty="0"/>
          </a:p>
        </p:txBody>
      </p:sp>
      <p:pic>
        <p:nvPicPr>
          <p:cNvPr id="2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54033" y="1793799"/>
            <a:ext cx="289852" cy="235163"/>
          </a:xfrm>
          <a:prstGeom prst="rect">
            <a:avLst/>
          </a:prstGeom>
        </p:spPr>
      </p:pic>
      <p:sp>
        <p:nvSpPr>
          <p:cNvPr id="22" name="Shape 11"/>
          <p:cNvSpPr/>
          <p:nvPr/>
        </p:nvSpPr>
        <p:spPr>
          <a:xfrm>
            <a:off x="4506373" y="1389100"/>
            <a:ext cx="4495435" cy="322665"/>
          </a:xfrm>
          <a:prstGeom prst="rect">
            <a:avLst/>
          </a:prstGeom>
          <a:solidFill>
            <a:srgbClr val="EDFAF3"/>
          </a:solidFill>
          <a:ln/>
        </p:spPr>
      </p:sp>
      <p:pic>
        <p:nvPicPr>
          <p:cNvPr id="2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21220" y="1405507"/>
            <a:ext cx="355478" cy="289852"/>
          </a:xfrm>
          <a:prstGeom prst="rect">
            <a:avLst/>
          </a:prstGeom>
        </p:spPr>
      </p:pic>
      <p:sp>
        <p:nvSpPr>
          <p:cNvPr id="24" name="Text 12"/>
          <p:cNvSpPr/>
          <p:nvPr/>
        </p:nvSpPr>
        <p:spPr>
          <a:xfrm>
            <a:off x="5173579" y="1482072"/>
            <a:ext cx="3513221" cy="14766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91" dirty="0">
                <a:solidFill>
                  <a:srgbClr val="424544"/>
                </a:solidFill>
                <a:latin typeface="Gabarito" pitchFamily="34" charset="0"/>
                <a:ea typeface="Gabarito" pitchFamily="34" charset="-122"/>
                <a:cs typeface="Gabarito" pitchFamily="34" charset="-120"/>
              </a:rPr>
              <a:t>1.Introducing ideation-stage triage and a single 2LoD front door</a:t>
            </a:r>
            <a:endParaRPr lang="en-US" sz="891" dirty="0"/>
          </a:p>
        </p:txBody>
      </p:sp>
      <p:sp>
        <p:nvSpPr>
          <p:cNvPr id="25" name="Shape 13"/>
          <p:cNvSpPr/>
          <p:nvPr/>
        </p:nvSpPr>
        <p:spPr>
          <a:xfrm>
            <a:off x="4500904" y="1115656"/>
            <a:ext cx="4500904" cy="229694"/>
          </a:xfrm>
          <a:prstGeom prst="rect">
            <a:avLst/>
          </a:prstGeom>
          <a:solidFill>
            <a:srgbClr val="014126"/>
          </a:solidFill>
          <a:ln/>
        </p:spPr>
      </p:sp>
      <p:sp>
        <p:nvSpPr>
          <p:cNvPr id="26" name="Text 14"/>
          <p:cNvSpPr/>
          <p:nvPr/>
        </p:nvSpPr>
        <p:spPr>
          <a:xfrm>
            <a:off x="5900943" y="1164876"/>
            <a:ext cx="1588168" cy="153129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17" b="1" dirty="0">
                <a:solidFill>
                  <a:srgbClr val="C9D8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MRO response underway</a:t>
            </a:r>
            <a:endParaRPr lang="en-US" sz="917" dirty="0"/>
          </a:p>
        </p:txBody>
      </p:sp>
      <p:sp>
        <p:nvSpPr>
          <p:cNvPr id="27" name="Shape 15"/>
          <p:cNvSpPr/>
          <p:nvPr/>
        </p:nvSpPr>
        <p:spPr>
          <a:xfrm>
            <a:off x="147660" y="4172770"/>
            <a:ext cx="4238397" cy="333603"/>
          </a:xfrm>
          <a:prstGeom prst="rect">
            <a:avLst/>
          </a:prstGeom>
          <a:solidFill>
            <a:srgbClr val="EFFAEE"/>
          </a:solidFill>
          <a:ln/>
        </p:spPr>
      </p:sp>
      <p:pic>
        <p:nvPicPr>
          <p:cNvPr id="2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7976" y="4189177"/>
            <a:ext cx="360947" cy="322665"/>
          </a:xfrm>
          <a:prstGeom prst="rect">
            <a:avLst/>
          </a:prstGeom>
        </p:spPr>
      </p:pic>
      <p:sp>
        <p:nvSpPr>
          <p:cNvPr id="29" name="Text 16"/>
          <p:cNvSpPr/>
          <p:nvPr/>
        </p:nvSpPr>
        <p:spPr>
          <a:xfrm>
            <a:off x="836742" y="4282148"/>
            <a:ext cx="3158289" cy="14766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17" b="1" dirty="0">
                <a:solidFill>
                  <a:srgbClr val="3D3F3D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9. Monitoring, observability and scale remain challenging</a:t>
            </a:r>
            <a:endParaRPr lang="en-US" sz="917" dirty="0"/>
          </a:p>
        </p:txBody>
      </p:sp>
      <p:sp>
        <p:nvSpPr>
          <p:cNvPr id="30" name="Shape 17"/>
          <p:cNvSpPr/>
          <p:nvPr/>
        </p:nvSpPr>
        <p:spPr>
          <a:xfrm>
            <a:off x="153129" y="3822761"/>
            <a:ext cx="4232928" cy="333603"/>
          </a:xfrm>
          <a:prstGeom prst="rect">
            <a:avLst/>
          </a:prstGeom>
          <a:solidFill>
            <a:srgbClr val="EFFAEE"/>
          </a:solidFill>
          <a:ln/>
        </p:spPr>
      </p:sp>
      <p:pic>
        <p:nvPicPr>
          <p:cNvPr id="31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7976" y="3844636"/>
            <a:ext cx="393761" cy="295321"/>
          </a:xfrm>
          <a:prstGeom prst="rect">
            <a:avLst/>
          </a:prstGeom>
        </p:spPr>
      </p:pic>
      <p:sp>
        <p:nvSpPr>
          <p:cNvPr id="32" name="Text 18"/>
          <p:cNvSpPr/>
          <p:nvPr/>
        </p:nvSpPr>
        <p:spPr>
          <a:xfrm>
            <a:off x="989871" y="3926670"/>
            <a:ext cx="2003258" cy="14219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96" b="1" dirty="0">
                <a:solidFill>
                  <a:srgbClr val="3E413E"/>
                </a:solidFill>
                <a:latin typeface="Rethink Sans" pitchFamily="34" charset="0"/>
                <a:ea typeface="Rethink Sans" pitchFamily="34" charset="-122"/>
                <a:cs typeface="Rethink Sans" pitchFamily="34" charset="-120"/>
              </a:rPr>
              <a:t>Agile delivery vs waterfall validation</a:t>
            </a:r>
            <a:endParaRPr lang="en-US" sz="896" dirty="0"/>
          </a:p>
        </p:txBody>
      </p:sp>
      <p:sp>
        <p:nvSpPr>
          <p:cNvPr id="33" name="Text 19"/>
          <p:cNvSpPr/>
          <p:nvPr/>
        </p:nvSpPr>
        <p:spPr>
          <a:xfrm>
            <a:off x="820335" y="3932139"/>
            <a:ext cx="125785" cy="12031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96" b="1" dirty="0">
                <a:solidFill>
                  <a:srgbClr val="484B48"/>
                </a:solidFill>
                <a:latin typeface="Ubuntu Sans" pitchFamily="34" charset="0"/>
                <a:ea typeface="Ubuntu Sans" pitchFamily="34" charset="-122"/>
                <a:cs typeface="Ubuntu Sans" pitchFamily="34" charset="-120"/>
              </a:rPr>
              <a:t>8.</a:t>
            </a:r>
            <a:endParaRPr lang="en-US" sz="896" dirty="0"/>
          </a:p>
        </p:txBody>
      </p:sp>
      <p:sp>
        <p:nvSpPr>
          <p:cNvPr id="34" name="Shape 20"/>
          <p:cNvSpPr/>
          <p:nvPr/>
        </p:nvSpPr>
        <p:spPr>
          <a:xfrm>
            <a:off x="153129" y="3472751"/>
            <a:ext cx="4232928" cy="328134"/>
          </a:xfrm>
          <a:prstGeom prst="rect">
            <a:avLst/>
          </a:prstGeom>
          <a:solidFill>
            <a:srgbClr val="EFFAEE"/>
          </a:solidFill>
          <a:ln/>
        </p:spPr>
      </p:sp>
      <p:pic>
        <p:nvPicPr>
          <p:cNvPr id="35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7976" y="3489158"/>
            <a:ext cx="360947" cy="300789"/>
          </a:xfrm>
          <a:prstGeom prst="rect">
            <a:avLst/>
          </a:prstGeom>
        </p:spPr>
      </p:pic>
      <p:sp>
        <p:nvSpPr>
          <p:cNvPr id="36" name="Text 21"/>
          <p:cNvSpPr/>
          <p:nvPr/>
        </p:nvSpPr>
        <p:spPr>
          <a:xfrm>
            <a:off x="836742" y="3582129"/>
            <a:ext cx="3170321" cy="14219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91" b="1" dirty="0">
                <a:solidFill>
                  <a:srgbClr val="444644"/>
                </a:solidFill>
                <a:latin typeface="Rethink Sans" pitchFamily="34" charset="0"/>
                <a:ea typeface="Rethink Sans" pitchFamily="34" charset="-122"/>
                <a:cs typeface="Rethink Sans" pitchFamily="34" charset="-120"/>
              </a:rPr>
              <a:t>7.Change materiality and re-assessment triggers unclear</a:t>
            </a:r>
            <a:endParaRPr lang="en-US" sz="891" dirty="0"/>
          </a:p>
        </p:txBody>
      </p:sp>
      <p:sp>
        <p:nvSpPr>
          <p:cNvPr id="37" name="Shape 22"/>
          <p:cNvSpPr/>
          <p:nvPr/>
        </p:nvSpPr>
        <p:spPr>
          <a:xfrm>
            <a:off x="153129" y="3128211"/>
            <a:ext cx="4232928" cy="328134"/>
          </a:xfrm>
          <a:prstGeom prst="rect">
            <a:avLst/>
          </a:prstGeom>
          <a:solidFill>
            <a:srgbClr val="EFFAEE"/>
          </a:solidFill>
          <a:ln/>
        </p:spPr>
      </p:sp>
      <p:pic>
        <p:nvPicPr>
          <p:cNvPr id="38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67976" y="3144617"/>
            <a:ext cx="360947" cy="306258"/>
          </a:xfrm>
          <a:prstGeom prst="rect">
            <a:avLst/>
          </a:prstGeom>
        </p:spPr>
      </p:pic>
      <p:sp>
        <p:nvSpPr>
          <p:cNvPr id="39" name="Text 23"/>
          <p:cNvSpPr/>
          <p:nvPr/>
        </p:nvSpPr>
        <p:spPr>
          <a:xfrm>
            <a:off x="836742" y="3237589"/>
            <a:ext cx="2965784" cy="14219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96" b="1" dirty="0">
                <a:solidFill>
                  <a:srgbClr val="404340"/>
                </a:solidFill>
                <a:latin typeface="Rethink Sans" pitchFamily="34" charset="0"/>
                <a:ea typeface="Rethink Sans" pitchFamily="34" charset="-122"/>
                <a:cs typeface="Rethink Sans" pitchFamily="34" charset="-120"/>
              </a:rPr>
              <a:t>6.Risk materiality and sign-off accountability unclear</a:t>
            </a:r>
            <a:endParaRPr lang="en-US" sz="896" dirty="0"/>
          </a:p>
        </p:txBody>
      </p:sp>
      <p:sp>
        <p:nvSpPr>
          <p:cNvPr id="40" name="Shape 24"/>
          <p:cNvSpPr/>
          <p:nvPr/>
        </p:nvSpPr>
        <p:spPr>
          <a:xfrm>
            <a:off x="153129" y="2078182"/>
            <a:ext cx="4238397" cy="333603"/>
          </a:xfrm>
          <a:prstGeom prst="rect">
            <a:avLst/>
          </a:prstGeom>
          <a:solidFill>
            <a:srgbClr val="EFFAEE"/>
          </a:solidFill>
          <a:ln/>
        </p:spPr>
      </p:sp>
      <p:pic>
        <p:nvPicPr>
          <p:cNvPr id="41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73445" y="2100057"/>
            <a:ext cx="355478" cy="300789"/>
          </a:xfrm>
          <a:prstGeom prst="rect">
            <a:avLst/>
          </a:prstGeom>
        </p:spPr>
      </p:pic>
      <p:sp>
        <p:nvSpPr>
          <p:cNvPr id="42" name="Text 25"/>
          <p:cNvSpPr/>
          <p:nvPr/>
        </p:nvSpPr>
        <p:spPr>
          <a:xfrm>
            <a:off x="995340" y="2182091"/>
            <a:ext cx="2267953" cy="13672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91" b="1" dirty="0">
                <a:solidFill>
                  <a:srgbClr val="56595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Duplicated assessments across functions</a:t>
            </a:r>
            <a:endParaRPr lang="en-US" sz="891" dirty="0"/>
          </a:p>
        </p:txBody>
      </p:sp>
      <p:sp>
        <p:nvSpPr>
          <p:cNvPr id="43" name="Text 26"/>
          <p:cNvSpPr/>
          <p:nvPr/>
        </p:nvSpPr>
        <p:spPr>
          <a:xfrm>
            <a:off x="820335" y="2187560"/>
            <a:ext cx="125785" cy="12031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96" b="1" dirty="0">
                <a:solidFill>
                  <a:srgbClr val="4C504D"/>
                </a:solidFill>
                <a:latin typeface="Aleo" pitchFamily="34" charset="0"/>
                <a:ea typeface="Aleo" pitchFamily="34" charset="-122"/>
                <a:cs typeface="Aleo" pitchFamily="34" charset="-120"/>
              </a:rPr>
              <a:t>3.</a:t>
            </a:r>
            <a:endParaRPr lang="en-US" sz="896" dirty="0"/>
          </a:p>
        </p:txBody>
      </p:sp>
      <p:sp>
        <p:nvSpPr>
          <p:cNvPr id="44" name="Shape 27"/>
          <p:cNvSpPr/>
          <p:nvPr/>
        </p:nvSpPr>
        <p:spPr>
          <a:xfrm>
            <a:off x="147660" y="1728172"/>
            <a:ext cx="4238397" cy="333603"/>
          </a:xfrm>
          <a:prstGeom prst="rect">
            <a:avLst/>
          </a:prstGeom>
          <a:solidFill>
            <a:srgbClr val="EFFAEE"/>
          </a:solidFill>
          <a:ln/>
        </p:spPr>
      </p:sp>
      <p:pic>
        <p:nvPicPr>
          <p:cNvPr id="45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67976" y="1744579"/>
            <a:ext cx="360947" cy="300789"/>
          </a:xfrm>
          <a:prstGeom prst="rect">
            <a:avLst/>
          </a:prstGeom>
        </p:spPr>
      </p:pic>
      <p:sp>
        <p:nvSpPr>
          <p:cNvPr id="46" name="Text 28"/>
          <p:cNvSpPr/>
          <p:nvPr/>
        </p:nvSpPr>
        <p:spPr>
          <a:xfrm>
            <a:off x="836742" y="1826612"/>
            <a:ext cx="2237874" cy="14766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74" b="1" dirty="0">
                <a:solidFill>
                  <a:srgbClr val="3D3F3D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2.End-to-end journey hard to navigate</a:t>
            </a:r>
            <a:endParaRPr lang="en-US" sz="874" dirty="0"/>
          </a:p>
        </p:txBody>
      </p:sp>
      <p:sp>
        <p:nvSpPr>
          <p:cNvPr id="47" name="Shape 29"/>
          <p:cNvSpPr/>
          <p:nvPr/>
        </p:nvSpPr>
        <p:spPr>
          <a:xfrm>
            <a:off x="147660" y="1389100"/>
            <a:ext cx="4243866" cy="322665"/>
          </a:xfrm>
          <a:prstGeom prst="rect">
            <a:avLst/>
          </a:prstGeom>
          <a:solidFill>
            <a:srgbClr val="EFFAEE"/>
          </a:solidFill>
          <a:ln/>
        </p:spPr>
      </p:sp>
      <p:pic>
        <p:nvPicPr>
          <p:cNvPr id="48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67976" y="1389100"/>
            <a:ext cx="360947" cy="311727"/>
          </a:xfrm>
          <a:prstGeom prst="rect">
            <a:avLst/>
          </a:prstGeom>
        </p:spPr>
      </p:pic>
      <p:sp>
        <p:nvSpPr>
          <p:cNvPr id="49" name="Text 30"/>
          <p:cNvSpPr/>
          <p:nvPr/>
        </p:nvSpPr>
        <p:spPr>
          <a:xfrm>
            <a:off x="836742" y="1487541"/>
            <a:ext cx="1876926" cy="13672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13" b="1" dirty="0">
                <a:solidFill>
                  <a:srgbClr val="4D514E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1.Unclear early stakeholder map</a:t>
            </a:r>
            <a:endParaRPr lang="en-US" sz="913" dirty="0"/>
          </a:p>
        </p:txBody>
      </p:sp>
      <p:sp>
        <p:nvSpPr>
          <p:cNvPr id="50" name="Shape 31"/>
          <p:cNvSpPr/>
          <p:nvPr/>
        </p:nvSpPr>
        <p:spPr>
          <a:xfrm>
            <a:off x="4500904" y="2783670"/>
            <a:ext cx="4500904" cy="317196"/>
          </a:xfrm>
          <a:prstGeom prst="rect">
            <a:avLst/>
          </a:prstGeom>
          <a:solidFill>
            <a:srgbClr val="EDFAF3"/>
          </a:solidFill>
          <a:ln/>
        </p:spPr>
      </p:sp>
      <p:pic>
        <p:nvPicPr>
          <p:cNvPr id="51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621220" y="2794608"/>
            <a:ext cx="360947" cy="306258"/>
          </a:xfrm>
          <a:prstGeom prst="rect">
            <a:avLst/>
          </a:prstGeom>
        </p:spPr>
      </p:pic>
      <p:sp>
        <p:nvSpPr>
          <p:cNvPr id="52" name="Text 32"/>
          <p:cNvSpPr/>
          <p:nvPr/>
        </p:nvSpPr>
        <p:spPr>
          <a:xfrm>
            <a:off x="5173579" y="2882110"/>
            <a:ext cx="3338763" cy="153129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1" b="1" dirty="0">
                <a:solidFill>
                  <a:srgbClr val="41444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5.Adding third-party Al guidance to uplifted MRO templates</a:t>
            </a:r>
            <a:endParaRPr lang="en-US" sz="831" dirty="0"/>
          </a:p>
        </p:txBody>
      </p:sp>
      <p:sp>
        <p:nvSpPr>
          <p:cNvPr id="53" name="Shape 33"/>
          <p:cNvSpPr/>
          <p:nvPr/>
        </p:nvSpPr>
        <p:spPr>
          <a:xfrm>
            <a:off x="153129" y="2783670"/>
            <a:ext cx="4238397" cy="322665"/>
          </a:xfrm>
          <a:prstGeom prst="rect">
            <a:avLst/>
          </a:prstGeom>
          <a:solidFill>
            <a:srgbClr val="EFFAEE"/>
          </a:solidFill>
          <a:ln/>
        </p:spPr>
      </p:sp>
      <p:pic>
        <p:nvPicPr>
          <p:cNvPr id="54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67976" y="2789139"/>
            <a:ext cx="360947" cy="311727"/>
          </a:xfrm>
          <a:prstGeom prst="rect">
            <a:avLst/>
          </a:prstGeom>
        </p:spPr>
      </p:pic>
      <p:sp>
        <p:nvSpPr>
          <p:cNvPr id="55" name="Text 34"/>
          <p:cNvSpPr/>
          <p:nvPr/>
        </p:nvSpPr>
        <p:spPr>
          <a:xfrm>
            <a:off x="836742" y="2887579"/>
            <a:ext cx="2267953" cy="14219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74" b="1" dirty="0">
                <a:solidFill>
                  <a:srgbClr val="454845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5. Third-party AI lacks a dedicated route</a:t>
            </a:r>
            <a:endParaRPr lang="en-US" sz="874" dirty="0"/>
          </a:p>
        </p:txBody>
      </p:sp>
      <p:sp>
        <p:nvSpPr>
          <p:cNvPr id="56" name="Text 35"/>
          <p:cNvSpPr/>
          <p:nvPr/>
        </p:nvSpPr>
        <p:spPr>
          <a:xfrm>
            <a:off x="5168110" y="2466474"/>
            <a:ext cx="3260558" cy="28438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12" dirty="0">
                <a:solidFill>
                  <a:srgbClr val="454746"/>
                </a:solidFill>
                <a:latin typeface="Capriola" pitchFamily="34" charset="0"/>
                <a:ea typeface="Capriola" pitchFamily="34" charset="-122"/>
                <a:cs typeface="Capriola" pitchFamily="34" charset="-120"/>
              </a:rPr>
              <a:t>4.Uplifting MRO templates and validation expectations for</a:t>
            </a:r>
            <a:endParaRPr lang="en-US" sz="512" dirty="0"/>
          </a:p>
          <a:p>
            <a:pPr algn="l" indent="0" marL="0">
              <a:buNone/>
            </a:pPr>
            <a:r>
              <a:rPr lang="en-US" sz="512" dirty="0">
                <a:solidFill>
                  <a:srgbClr val="454746"/>
                </a:solidFill>
                <a:latin typeface="Capriola" pitchFamily="34" charset="0"/>
                <a:ea typeface="Capriola" pitchFamily="34" charset="-122"/>
                <a:cs typeface="Capriola" pitchFamily="34" charset="-120"/>
              </a:rPr>
              <a:t>GenAl and agentic Al</a:t>
            </a:r>
            <a:endParaRPr lang="en-US" sz="512" dirty="0"/>
          </a:p>
        </p:txBody>
      </p:sp>
      <p:pic>
        <p:nvPicPr>
          <p:cNvPr id="57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615751" y="2450067"/>
            <a:ext cx="366416" cy="289852"/>
          </a:xfrm>
          <a:prstGeom prst="rect">
            <a:avLst/>
          </a:prstGeom>
        </p:spPr>
      </p:pic>
      <p:sp>
        <p:nvSpPr>
          <p:cNvPr id="58" name="Shape 36"/>
          <p:cNvSpPr/>
          <p:nvPr/>
        </p:nvSpPr>
        <p:spPr>
          <a:xfrm>
            <a:off x="147660" y="2433660"/>
            <a:ext cx="4243866" cy="333603"/>
          </a:xfrm>
          <a:prstGeom prst="rect">
            <a:avLst/>
          </a:prstGeom>
          <a:solidFill>
            <a:srgbClr val="EFFAEE"/>
          </a:solidFill>
          <a:ln/>
        </p:spPr>
      </p:sp>
      <p:pic>
        <p:nvPicPr>
          <p:cNvPr id="59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67976" y="2444598"/>
            <a:ext cx="360947" cy="289852"/>
          </a:xfrm>
          <a:prstGeom prst="rect">
            <a:avLst/>
          </a:prstGeom>
        </p:spPr>
      </p:pic>
      <p:sp>
        <p:nvSpPr>
          <p:cNvPr id="60" name="Text 37"/>
          <p:cNvSpPr/>
          <p:nvPr/>
        </p:nvSpPr>
        <p:spPr>
          <a:xfrm>
            <a:off x="831273" y="2543038"/>
            <a:ext cx="2033337" cy="13672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13" b="1" dirty="0">
                <a:solidFill>
                  <a:srgbClr val="525552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4.Templates assume traditional ML</a:t>
            </a:r>
            <a:endParaRPr lang="en-US" sz="913" dirty="0"/>
          </a:p>
        </p:txBody>
      </p:sp>
      <p:sp>
        <p:nvSpPr>
          <p:cNvPr id="61" name="Shape 38"/>
          <p:cNvSpPr/>
          <p:nvPr/>
        </p:nvSpPr>
        <p:spPr>
          <a:xfrm>
            <a:off x="142191" y="1115656"/>
            <a:ext cx="4254804" cy="229694"/>
          </a:xfrm>
          <a:prstGeom prst="rect">
            <a:avLst/>
          </a:prstGeom>
          <a:solidFill>
            <a:srgbClr val="014126"/>
          </a:solidFill>
          <a:ln/>
        </p:spPr>
      </p:sp>
      <p:sp>
        <p:nvSpPr>
          <p:cNvPr id="62" name="Text 39"/>
          <p:cNvSpPr/>
          <p:nvPr/>
        </p:nvSpPr>
        <p:spPr>
          <a:xfrm>
            <a:off x="1771923" y="1159407"/>
            <a:ext cx="1022684" cy="153129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CEDCD4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Pain point heard</a:t>
            </a:r>
            <a:endParaRPr lang="en-US" sz="960" dirty="0"/>
          </a:p>
        </p:txBody>
      </p:sp>
      <p:pic>
        <p:nvPicPr>
          <p:cNvPr id="63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9378" y="590641"/>
            <a:ext cx="8919775" cy="432043"/>
          </a:xfrm>
          <a:prstGeom prst="rect">
            <a:avLst/>
          </a:prstGeom>
        </p:spPr>
      </p:pic>
      <p:pic>
        <p:nvPicPr>
          <p:cNvPr id="64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55478" y="634392"/>
            <a:ext cx="366416" cy="366416"/>
          </a:xfrm>
          <a:prstGeom prst="rect">
            <a:avLst/>
          </a:prstGeom>
        </p:spPr>
      </p:pic>
      <p:sp>
        <p:nvSpPr>
          <p:cNvPr id="65" name="Text 40"/>
          <p:cNvSpPr/>
          <p:nvPr/>
        </p:nvSpPr>
        <p:spPr>
          <a:xfrm>
            <a:off x="891431" y="738301"/>
            <a:ext cx="8657268" cy="16953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17" dirty="0">
                <a:solidFill>
                  <a:srgbClr val="414C3F"/>
                </a:solidFill>
                <a:latin typeface="Gabarito" pitchFamily="34" charset="0"/>
                <a:ea typeface="Gabarito" pitchFamily="34" charset="-122"/>
                <a:cs typeface="Gabarito" pitchFamily="34" charset="-120"/>
              </a:rPr>
              <a:t>The work is directly responding to stakeholder pain points by simplifying the Al governance journey, clarifying 2LoD engagement, and reducing duplication.</a:t>
            </a:r>
            <a:endParaRPr lang="en-US" sz="917" dirty="0"/>
          </a:p>
        </p:txBody>
      </p:sp>
      <p:sp>
        <p:nvSpPr>
          <p:cNvPr id="66" name="Text 41"/>
          <p:cNvSpPr/>
          <p:nvPr/>
        </p:nvSpPr>
        <p:spPr>
          <a:xfrm>
            <a:off x="8520545" y="442981"/>
            <a:ext cx="529389" cy="7656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87" b="1" dirty="0">
                <a:solidFill>
                  <a:srgbClr val="616161"/>
                </a:solidFill>
                <a:latin typeface="Zain" pitchFamily="34" charset="0"/>
                <a:ea typeface="Zain" pitchFamily="34" charset="-122"/>
                <a:cs typeface="Zain" pitchFamily="34" charset="-120"/>
              </a:rPr>
              <a:t>BANKING GROUP</a:t>
            </a:r>
            <a:endParaRPr lang="en-US" sz="487" dirty="0"/>
          </a:p>
        </p:txBody>
      </p:sp>
      <p:sp>
        <p:nvSpPr>
          <p:cNvPr id="67" name="Text 42"/>
          <p:cNvSpPr/>
          <p:nvPr/>
        </p:nvSpPr>
        <p:spPr>
          <a:xfrm>
            <a:off x="8526014" y="311727"/>
            <a:ext cx="529389" cy="13125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3" b="1" dirty="0">
                <a:solidFill>
                  <a:srgbClr val="414142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LLOYDS</a:t>
            </a:r>
            <a:endParaRPr lang="en-US" sz="1003" dirty="0"/>
          </a:p>
        </p:txBody>
      </p:sp>
      <p:pic>
        <p:nvPicPr>
          <p:cNvPr id="68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640861" y="38282"/>
            <a:ext cx="229694" cy="240632"/>
          </a:xfrm>
          <a:prstGeom prst="rect">
            <a:avLst/>
          </a:prstGeom>
        </p:spPr>
      </p:pic>
      <p:sp>
        <p:nvSpPr>
          <p:cNvPr id="69" name="Text 43"/>
          <p:cNvSpPr/>
          <p:nvPr/>
        </p:nvSpPr>
        <p:spPr>
          <a:xfrm>
            <a:off x="136722" y="153129"/>
            <a:ext cx="8515077" cy="31172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65" b="1" dirty="0">
                <a:solidFill>
                  <a:srgbClr val="2121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Have Heard: Pain Points from the Business/ Model Owners</a:t>
            </a:r>
            <a:endParaRPr lang="en-US" sz="1865" dirty="0"/>
          </a:p>
        </p:txBody>
      </p:sp>
      <p:sp>
        <p:nvSpPr>
          <p:cNvPr id="70" name="Text 44"/>
          <p:cNvSpPr/>
          <p:nvPr/>
        </p:nvSpPr>
        <p:spPr>
          <a:xfrm>
            <a:off x="9001809" y="4998574"/>
            <a:ext cx="98440" cy="9844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9" b="1" dirty="0">
                <a:solidFill>
                  <a:srgbClr val="555656"/>
                </a:solidFill>
                <a:latin typeface="Red Hat Display" pitchFamily="34" charset="0"/>
                <a:ea typeface="Red Hat Display" pitchFamily="34" charset="-122"/>
                <a:cs typeface="Red Hat Display" pitchFamily="34" charset="-120"/>
              </a:rPr>
              <a:t>3</a:t>
            </a:r>
            <a:endParaRPr lang="en-US" sz="779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2026-06-28T12:58:52Z</dcterms:created>
  <dcterms:modified xsi:type="dcterms:W3CDTF">2026-06-28T12:58:52Z</dcterms:modified>
</cp:coreProperties>
</file>