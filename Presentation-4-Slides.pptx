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jpeg"/><Relationship Id="rId18" Type="http://schemas.openxmlformats.org/officeDocument/2006/relationships/image" Target="../media/image-1-18.jpeg"/><Relationship Id="rId19" Type="http://schemas.openxmlformats.org/officeDocument/2006/relationships/image" Target="../media/image-1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image" Target="../media/image-2-5.png"/><Relationship Id="rId6" Type="http://schemas.openxmlformats.org/officeDocument/2006/relationships/image" Target="../media/image-2-6.jpe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jpeg"/><Relationship Id="rId14" Type="http://schemas.openxmlformats.org/officeDocument/2006/relationships/image" Target="../media/image-2-14.jpeg"/><Relationship Id="rId15" Type="http://schemas.openxmlformats.org/officeDocument/2006/relationships/image" Target="../media/image-2-15.jpeg"/><Relationship Id="rId16" Type="http://schemas.openxmlformats.org/officeDocument/2006/relationships/image" Target="../media/image-2-16.jpe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jpe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6234"/>
          </a:xfrm>
          <a:prstGeom prst="rect">
            <a:avLst/>
          </a:prstGeom>
          <a:solidFill>
            <a:srgbClr val="FEFEF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623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26574" y="4861852"/>
            <a:ext cx="8186943" cy="5469"/>
          </a:xfrm>
          <a:prstGeom prst="rect">
            <a:avLst/>
          </a:prstGeom>
          <a:solidFill>
            <a:srgbClr val="13864A"/>
          </a:solidFill>
          <a:ln/>
        </p:spPr>
      </p:sp>
      <p:sp>
        <p:nvSpPr>
          <p:cNvPr id="5" name="Shape 2"/>
          <p:cNvSpPr/>
          <p:nvPr/>
        </p:nvSpPr>
        <p:spPr>
          <a:xfrm>
            <a:off x="4621220" y="3423531"/>
            <a:ext cx="4090737" cy="1257847"/>
          </a:xfrm>
          <a:prstGeom prst="rect">
            <a:avLst/>
          </a:prstGeom>
          <a:solidFill>
            <a:srgbClr val="FDFDFD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2502" y="4276679"/>
            <a:ext cx="38282" cy="38282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2502" y="3915732"/>
            <a:ext cx="38282" cy="38282"/>
          </a:xfrm>
          <a:prstGeom prst="rect">
            <a:avLst/>
          </a:prstGeom>
        </p:spPr>
      </p:pic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8880" y="3587598"/>
            <a:ext cx="880493" cy="880493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5933756" y="4211053"/>
            <a:ext cx="2540304" cy="31172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5" dirty="0">
                <a:solidFill>
                  <a:srgbClr val="535559"/>
                </a:solidFill>
                <a:latin typeface="Spinnaker" pitchFamily="34" charset="0"/>
                <a:ea typeface="Spinnaker" pitchFamily="34" charset="-122"/>
                <a:cs typeface="Spinnaker" pitchFamily="34" charset="-120"/>
              </a:rPr>
              <a:t>Framework, tooling and independent</a:t>
            </a:r>
            <a:endParaRPr lang="en-US" sz="835" dirty="0"/>
          </a:p>
          <a:p>
            <a:pPr algn="l" indent="0" marL="0">
              <a:buNone/>
            </a:pPr>
            <a:r>
              <a:rPr lang="en-US" sz="835" dirty="0">
                <a:solidFill>
                  <a:srgbClr val="535559"/>
                </a:solidFill>
                <a:latin typeface="Spinnaker" pitchFamily="34" charset="0"/>
                <a:ea typeface="Spinnaker" pitchFamily="34" charset="-122"/>
                <a:cs typeface="Spinnaker" pitchFamily="34" charset="-120"/>
              </a:rPr>
              <a:t>validation.</a:t>
            </a:r>
            <a:endParaRPr lang="en-US" sz="835" dirty="0"/>
          </a:p>
        </p:txBody>
      </p:sp>
      <p:sp>
        <p:nvSpPr>
          <p:cNvPr id="10" name="Text 4"/>
          <p:cNvSpPr/>
          <p:nvPr/>
        </p:nvSpPr>
        <p:spPr>
          <a:xfrm>
            <a:off x="5933756" y="3844636"/>
            <a:ext cx="2438582" cy="3171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74" dirty="0">
                <a:solidFill>
                  <a:srgbClr val="434549"/>
                </a:solidFill>
                <a:latin typeface="Kumbh Sans" pitchFamily="34" charset="0"/>
                <a:ea typeface="Kumbh Sans" pitchFamily="34" charset="-122"/>
                <a:cs typeface="Kumbh Sans" pitchFamily="34" charset="-120"/>
              </a:rPr>
              <a:t>PwC is supporting three targeted</a:t>
            </a:r>
            <a:endParaRPr lang="en-US" sz="874" dirty="0"/>
          </a:p>
          <a:p>
            <a:pPr algn="l" indent="0" marL="0">
              <a:buNone/>
            </a:pPr>
            <a:r>
              <a:rPr lang="en-US" sz="874" dirty="0">
                <a:solidFill>
                  <a:srgbClr val="434549"/>
                </a:solidFill>
                <a:latin typeface="Kumbh Sans" pitchFamily="34" charset="0"/>
                <a:ea typeface="Kumbh Sans" pitchFamily="34" charset="-122"/>
                <a:cs typeface="Kumbh Sans" pitchFamily="34" charset="-120"/>
              </a:rPr>
              <a:t>workstreams under MRO direction.</a:t>
            </a:r>
            <a:endParaRPr lang="en-US" sz="874" dirty="0"/>
          </a:p>
        </p:txBody>
      </p:sp>
      <p:sp>
        <p:nvSpPr>
          <p:cNvPr id="11" name="Text 5"/>
          <p:cNvSpPr/>
          <p:nvPr/>
        </p:nvSpPr>
        <p:spPr>
          <a:xfrm>
            <a:off x="5802502" y="3571191"/>
            <a:ext cx="1390194" cy="2242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26513B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PwC support</a:t>
            </a:r>
            <a:endParaRPr lang="en-US" sz="1425" dirty="0"/>
          </a:p>
        </p:txBody>
      </p:sp>
      <p:sp>
        <p:nvSpPr>
          <p:cNvPr id="12" name="Shape 6"/>
          <p:cNvSpPr/>
          <p:nvPr/>
        </p:nvSpPr>
        <p:spPr>
          <a:xfrm>
            <a:off x="442981" y="3418062"/>
            <a:ext cx="4079799" cy="1263316"/>
          </a:xfrm>
          <a:prstGeom prst="rect">
            <a:avLst/>
          </a:prstGeom>
          <a:solidFill>
            <a:srgbClr val="FDFDFE"/>
          </a:solidFill>
          <a:ln/>
        </p:spPr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6139" y="4331368"/>
            <a:ext cx="38282" cy="38282"/>
          </a:xfrm>
          <a:prstGeom prst="rect">
            <a:avLst/>
          </a:prstGeom>
        </p:spPr>
      </p:pic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6139" y="3871981"/>
            <a:ext cx="38282" cy="38282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79" y="3576660"/>
            <a:ext cx="891431" cy="891431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1777392" y="3800885"/>
            <a:ext cx="3261105" cy="7875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5" dirty="0">
                <a:solidFill>
                  <a:srgbClr val="53555B"/>
                </a:solidFill>
                <a:latin typeface="Spinnaker" pitchFamily="34" charset="0"/>
                <a:ea typeface="Spinnaker" pitchFamily="34" charset="-122"/>
                <a:cs typeface="Spinnaker" pitchFamily="34" charset="-120"/>
              </a:rPr>
              <a:t>Leading a coordinated programme to simplify</a:t>
            </a:r>
            <a:endParaRPr lang="en-US" sz="835" dirty="0"/>
          </a:p>
          <a:p>
            <a:pPr algn="l" indent="0" marL="0">
              <a:buNone/>
            </a:pPr>
            <a:r>
              <a:rPr lang="en-US" sz="835" dirty="0">
                <a:solidFill>
                  <a:srgbClr val="53555B"/>
                </a:solidFill>
                <a:latin typeface="Spinnaker" pitchFamily="34" charset="0"/>
                <a:ea typeface="Spinnaker" pitchFamily="34" charset="-122"/>
                <a:cs typeface="Spinnaker" pitchFamily="34" charset="-120"/>
              </a:rPr>
              <a:t>governance, strengthen independent validation</a:t>
            </a:r>
            <a:endParaRPr lang="en-US" sz="835" dirty="0"/>
          </a:p>
          <a:p>
            <a:pPr algn="l" indent="0" marL="0">
              <a:buNone/>
            </a:pPr>
            <a:r>
              <a:rPr lang="en-US" sz="835" dirty="0">
                <a:solidFill>
                  <a:srgbClr val="53555B"/>
                </a:solidFill>
                <a:latin typeface="Spinnaker" pitchFamily="34" charset="0"/>
                <a:ea typeface="Spinnaker" pitchFamily="34" charset="-122"/>
                <a:cs typeface="Spinnaker" pitchFamily="34" charset="-120"/>
              </a:rPr>
              <a:t>and scale oversight through tooling.</a:t>
            </a:r>
            <a:endParaRPr lang="en-US" sz="835" dirty="0"/>
          </a:p>
          <a:p>
            <a:pPr algn="l" indent="0" marL="0">
              <a:buNone/>
            </a:pPr>
            <a:r>
              <a:rPr lang="en-US" sz="835" dirty="0">
                <a:solidFill>
                  <a:srgbClr val="53555B"/>
                </a:solidFill>
                <a:latin typeface="Spinnaker" pitchFamily="34" charset="0"/>
                <a:ea typeface="Spinnaker" pitchFamily="34" charset="-122"/>
                <a:cs typeface="Spinnaker" pitchFamily="34" charset="-120"/>
              </a:rPr>
              <a:t>Providing the second-line front door for</a:t>
            </a:r>
            <a:endParaRPr lang="en-US" sz="835" dirty="0"/>
          </a:p>
          <a:p>
            <a:pPr algn="l" indent="0" marL="0">
              <a:buNone/>
            </a:pPr>
            <a:r>
              <a:rPr lang="en-US" sz="835" dirty="0">
                <a:solidFill>
                  <a:srgbClr val="53555B"/>
                </a:solidFill>
                <a:latin typeface="Spinnaker" pitchFamily="34" charset="0"/>
                <a:ea typeface="Spinnaker" pitchFamily="34" charset="-122"/>
                <a:cs typeface="Spinnaker" pitchFamily="34" charset="-120"/>
              </a:rPr>
              <a:t>AI risk oversight.</a:t>
            </a:r>
            <a:endParaRPr lang="en-US" sz="835" dirty="0"/>
          </a:p>
        </p:txBody>
      </p:sp>
      <p:sp>
        <p:nvSpPr>
          <p:cNvPr id="17" name="Text 8"/>
          <p:cNvSpPr/>
          <p:nvPr/>
        </p:nvSpPr>
        <p:spPr>
          <a:xfrm>
            <a:off x="1629732" y="3560254"/>
            <a:ext cx="1979742" cy="2242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81" b="1" dirty="0">
                <a:solidFill>
                  <a:srgbClr val="2D5843"/>
                </a:solidFill>
                <a:latin typeface="Afacad" pitchFamily="34" charset="0"/>
                <a:ea typeface="Afacad" pitchFamily="34" charset="-122"/>
                <a:cs typeface="Afacad" pitchFamily="34" charset="-120"/>
              </a:rPr>
              <a:t>What MRO is doing</a:t>
            </a:r>
            <a:endParaRPr lang="en-US" sz="1481" dirty="0"/>
          </a:p>
        </p:txBody>
      </p:sp>
      <p:sp>
        <p:nvSpPr>
          <p:cNvPr id="18" name="Shape 9"/>
          <p:cNvSpPr/>
          <p:nvPr/>
        </p:nvSpPr>
        <p:spPr>
          <a:xfrm>
            <a:off x="4621220" y="2143809"/>
            <a:ext cx="4096206" cy="1230502"/>
          </a:xfrm>
          <a:prstGeom prst="rect">
            <a:avLst/>
          </a:prstGeom>
          <a:solidFill>
            <a:srgbClr val="FDFDFD"/>
          </a:solidFill>
          <a:ln/>
        </p:spPr>
      </p:sp>
      <p:pic>
        <p:nvPicPr>
          <p:cNvPr id="1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7033" y="2980550"/>
            <a:ext cx="38282" cy="38282"/>
          </a:xfrm>
          <a:prstGeom prst="rect">
            <a:avLst/>
          </a:prstGeom>
        </p:spPr>
      </p:pic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97033" y="2614134"/>
            <a:ext cx="38282" cy="43751"/>
          </a:xfrm>
          <a:prstGeom prst="rect">
            <a:avLst/>
          </a:prstGeom>
        </p:spPr>
      </p:pic>
      <p:pic>
        <p:nvPicPr>
          <p:cNvPr id="2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4349" y="2291469"/>
            <a:ext cx="880493" cy="880493"/>
          </a:xfrm>
          <a:prstGeom prst="rect">
            <a:avLst/>
          </a:prstGeom>
        </p:spPr>
      </p:pic>
      <p:sp>
        <p:nvSpPr>
          <p:cNvPr id="22" name="Text 10"/>
          <p:cNvSpPr/>
          <p:nvPr/>
        </p:nvSpPr>
        <p:spPr>
          <a:xfrm>
            <a:off x="5928287" y="2914923"/>
            <a:ext cx="3013364" cy="32266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5" dirty="0">
                <a:solidFill>
                  <a:srgbClr val="54555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ask is not less governance, but a clearer</a:t>
            </a:r>
            <a:endParaRPr lang="en-US" sz="805" dirty="0"/>
          </a:p>
          <a:p>
            <a:pPr algn="l" indent="0" marL="0">
              <a:buNone/>
            </a:pPr>
            <a:r>
              <a:rPr lang="en-US" sz="805" dirty="0">
                <a:solidFill>
                  <a:srgbClr val="54555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route through governance.</a:t>
            </a:r>
            <a:endParaRPr lang="en-US" sz="805" dirty="0"/>
          </a:p>
        </p:txBody>
      </p:sp>
      <p:sp>
        <p:nvSpPr>
          <p:cNvPr id="23" name="Text 11"/>
          <p:cNvSpPr/>
          <p:nvPr/>
        </p:nvSpPr>
        <p:spPr>
          <a:xfrm>
            <a:off x="5933756" y="2548507"/>
            <a:ext cx="3362826" cy="3171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F5052"/>
                </a:solidFill>
                <a:latin typeface="Spinnaker" pitchFamily="34" charset="0"/>
                <a:ea typeface="Spinnaker" pitchFamily="34" charset="-122"/>
                <a:cs typeface="Spinnaker" pitchFamily="34" charset="-120"/>
              </a:rPr>
              <a:t>Stakeholders highlighted complexity, duplication</a:t>
            </a:r>
            <a:endParaRPr lang="en-US" sz="840" dirty="0"/>
          </a:p>
          <a:p>
            <a:pPr algn="l" indent="0" marL="0">
              <a:buNone/>
            </a:pPr>
            <a:r>
              <a:rPr lang="en-US" sz="840" dirty="0">
                <a:solidFill>
                  <a:srgbClr val="4F5052"/>
                </a:solidFill>
                <a:latin typeface="Spinnaker" pitchFamily="34" charset="0"/>
                <a:ea typeface="Spinnaker" pitchFamily="34" charset="-122"/>
                <a:cs typeface="Spinnaker" pitchFamily="34" charset="-120"/>
              </a:rPr>
              <a:t>and unclear ownership</a:t>
            </a:r>
            <a:endParaRPr lang="en-US" sz="840" dirty="0"/>
          </a:p>
        </p:txBody>
      </p:sp>
      <p:sp>
        <p:nvSpPr>
          <p:cNvPr id="24" name="Text 12"/>
          <p:cNvSpPr/>
          <p:nvPr/>
        </p:nvSpPr>
        <p:spPr>
          <a:xfrm>
            <a:off x="5769689" y="2291469"/>
            <a:ext cx="1587075" cy="16953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17" b="1" dirty="0">
                <a:solidFill>
                  <a:srgbClr val="27543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we heard</a:t>
            </a:r>
            <a:endParaRPr lang="en-US" sz="1417" dirty="0"/>
          </a:p>
        </p:txBody>
      </p:sp>
      <p:sp>
        <p:nvSpPr>
          <p:cNvPr id="25" name="Shape 13"/>
          <p:cNvSpPr/>
          <p:nvPr/>
        </p:nvSpPr>
        <p:spPr>
          <a:xfrm>
            <a:off x="442981" y="2143809"/>
            <a:ext cx="4085268" cy="1225033"/>
          </a:xfrm>
          <a:prstGeom prst="rect">
            <a:avLst/>
          </a:prstGeom>
          <a:solidFill>
            <a:srgbClr val="FDFDFD"/>
          </a:solidFill>
          <a:ln/>
        </p:spPr>
      </p:sp>
      <p:pic>
        <p:nvPicPr>
          <p:cNvPr id="2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0670" y="2975081"/>
            <a:ext cx="38282" cy="38282"/>
          </a:xfrm>
          <a:prstGeom prst="rect">
            <a:avLst/>
          </a:prstGeom>
        </p:spPr>
      </p:pic>
      <p:pic>
        <p:nvPicPr>
          <p:cNvPr id="2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40670" y="2614134"/>
            <a:ext cx="38282" cy="38282"/>
          </a:xfrm>
          <a:prstGeom prst="rect">
            <a:avLst/>
          </a:prstGeom>
        </p:spPr>
      </p:pic>
      <p:pic>
        <p:nvPicPr>
          <p:cNvPr id="2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2517" y="2291469"/>
            <a:ext cx="880493" cy="880493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1777392" y="2914923"/>
            <a:ext cx="3202588" cy="32266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97" dirty="0">
                <a:solidFill>
                  <a:srgbClr val="565759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Al is increasingly material to strategy, customer</a:t>
            </a:r>
            <a:endParaRPr lang="en-US" sz="797" dirty="0"/>
          </a:p>
          <a:p>
            <a:pPr algn="l" indent="0" marL="0">
              <a:buNone/>
            </a:pPr>
            <a:r>
              <a:rPr lang="en-US" sz="797" dirty="0">
                <a:solidFill>
                  <a:srgbClr val="565759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proposition and operational delivery.</a:t>
            </a:r>
            <a:endParaRPr lang="en-US" sz="797" dirty="0"/>
          </a:p>
        </p:txBody>
      </p:sp>
      <p:sp>
        <p:nvSpPr>
          <p:cNvPr id="30" name="Text 15"/>
          <p:cNvSpPr/>
          <p:nvPr/>
        </p:nvSpPr>
        <p:spPr>
          <a:xfrm>
            <a:off x="1777392" y="2548507"/>
            <a:ext cx="3071881" cy="3171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5" dirty="0">
                <a:solidFill>
                  <a:srgbClr val="57585A"/>
                </a:solidFill>
                <a:latin typeface="Spinnaker" pitchFamily="34" charset="0"/>
                <a:ea typeface="Spinnaker" pitchFamily="34" charset="-122"/>
                <a:cs typeface="Spinnaker" pitchFamily="34" charset="-120"/>
              </a:rPr>
              <a:t>Al adoption is accelerating across the Group,</a:t>
            </a:r>
            <a:endParaRPr lang="en-US" sz="835" dirty="0"/>
          </a:p>
          <a:p>
            <a:pPr algn="l" indent="0" marL="0">
              <a:buNone/>
            </a:pPr>
            <a:r>
              <a:rPr lang="en-US" sz="835" dirty="0">
                <a:solidFill>
                  <a:srgbClr val="57585A"/>
                </a:solidFill>
                <a:latin typeface="Spinnaker" pitchFamily="34" charset="0"/>
                <a:ea typeface="Spinnaker" pitchFamily="34" charset="-122"/>
                <a:cs typeface="Spinnaker" pitchFamily="34" charset="-120"/>
              </a:rPr>
              <a:t>including GenAI and agentic AI.</a:t>
            </a:r>
            <a:endParaRPr lang="en-US" sz="835" dirty="0"/>
          </a:p>
        </p:txBody>
      </p:sp>
      <p:sp>
        <p:nvSpPr>
          <p:cNvPr id="31" name="Text 16"/>
          <p:cNvSpPr/>
          <p:nvPr/>
        </p:nvSpPr>
        <p:spPr>
          <a:xfrm>
            <a:off x="1624263" y="2280531"/>
            <a:ext cx="1026512" cy="2132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81" b="1" dirty="0">
                <a:solidFill>
                  <a:srgbClr val="27523D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Why now</a:t>
            </a:r>
            <a:endParaRPr lang="en-US" sz="1481" dirty="0"/>
          </a:p>
        </p:txBody>
      </p:sp>
      <p:pic>
        <p:nvPicPr>
          <p:cNvPr id="32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2981" y="1454727"/>
            <a:ext cx="6054072" cy="574234"/>
          </a:xfrm>
          <a:prstGeom prst="rect">
            <a:avLst/>
          </a:prstGeom>
        </p:spPr>
      </p:pic>
      <p:pic>
        <p:nvPicPr>
          <p:cNvPr id="3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32062" y="1585981"/>
            <a:ext cx="10938" cy="317196"/>
          </a:xfrm>
          <a:prstGeom prst="rect">
            <a:avLst/>
          </a:prstGeom>
        </p:spPr>
      </p:pic>
      <p:pic>
        <p:nvPicPr>
          <p:cNvPr id="34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6268" y="1575043"/>
            <a:ext cx="333603" cy="333603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1290660" y="1564105"/>
            <a:ext cx="5372100" cy="36094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2" b="1" dirty="0">
                <a:solidFill>
                  <a:srgbClr val="BFD1C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MRO is leading the evolution of Al risk oversight to make</a:t>
            </a:r>
            <a:endParaRPr lang="en-US" sz="1042" dirty="0"/>
          </a:p>
          <a:p>
            <a:pPr algn="l" indent="0" marL="0">
              <a:buNone/>
            </a:pPr>
            <a:r>
              <a:rPr lang="en-US" sz="1042" b="1" dirty="0">
                <a:solidFill>
                  <a:srgbClr val="BFD1C8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 governance clearer, more proportionate and easier to navigate.</a:t>
            </a:r>
            <a:endParaRPr lang="en-US" sz="1042" dirty="0"/>
          </a:p>
        </p:txBody>
      </p:sp>
      <p:sp>
        <p:nvSpPr>
          <p:cNvPr id="36" name="Text 18"/>
          <p:cNvSpPr/>
          <p:nvPr/>
        </p:nvSpPr>
        <p:spPr>
          <a:xfrm>
            <a:off x="442981" y="1082842"/>
            <a:ext cx="6507444" cy="2242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89" dirty="0">
                <a:solidFill>
                  <a:srgbClr val="4A4F54"/>
                </a:solidFill>
                <a:latin typeface="Kumbh Sans" pitchFamily="34" charset="0"/>
                <a:ea typeface="Kumbh Sans" pitchFamily="34" charset="-122"/>
                <a:cs typeface="Kumbh Sans" pitchFamily="34" charset="-120"/>
              </a:rPr>
              <a:t>Simplifying End-to-End Al Governance through MRO-led Oversight</a:t>
            </a:r>
            <a:endParaRPr lang="en-US" sz="1189" dirty="0"/>
          </a:p>
        </p:txBody>
      </p:sp>
      <p:pic>
        <p:nvPicPr>
          <p:cNvPr id="37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97053" y="825804"/>
            <a:ext cx="2100057" cy="1203158"/>
          </a:xfrm>
          <a:prstGeom prst="rect">
            <a:avLst/>
          </a:prstGeom>
        </p:spPr>
      </p:pic>
      <p:sp>
        <p:nvSpPr>
          <p:cNvPr id="38" name="Text 19"/>
          <p:cNvSpPr/>
          <p:nvPr/>
        </p:nvSpPr>
        <p:spPr>
          <a:xfrm>
            <a:off x="442981" y="656268"/>
            <a:ext cx="8369057" cy="33360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60" b="1" dirty="0">
                <a:solidFill>
                  <a:srgbClr val="1B242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Evolution of Al Risk &amp; Control Framework</a:t>
            </a:r>
            <a:endParaRPr lang="en-US" sz="2760" dirty="0"/>
          </a:p>
        </p:txBody>
      </p:sp>
      <p:pic>
        <p:nvPicPr>
          <p:cNvPr id="39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56459" y="568766"/>
            <a:ext cx="1268785" cy="49220"/>
          </a:xfrm>
          <a:prstGeom prst="rect">
            <a:avLst/>
          </a:prstGeom>
        </p:spPr>
      </p:pic>
      <p:pic>
        <p:nvPicPr>
          <p:cNvPr id="4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31483" y="196880"/>
            <a:ext cx="404699" cy="350010"/>
          </a:xfrm>
          <a:prstGeom prst="rect">
            <a:avLst/>
          </a:prstGeom>
        </p:spPr>
      </p:pic>
      <p:sp>
        <p:nvSpPr>
          <p:cNvPr id="41" name="Text 20"/>
          <p:cNvSpPr/>
          <p:nvPr/>
        </p:nvSpPr>
        <p:spPr>
          <a:xfrm>
            <a:off x="7667397" y="415636"/>
            <a:ext cx="1056044" cy="10390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19" dirty="0">
                <a:solidFill>
                  <a:srgbClr val="567966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BANKING GROUP</a:t>
            </a:r>
            <a:endParaRPr lang="en-US" sz="719" dirty="0"/>
          </a:p>
        </p:txBody>
      </p:sp>
      <p:sp>
        <p:nvSpPr>
          <p:cNvPr id="42" name="Text 21"/>
          <p:cNvSpPr/>
          <p:nvPr/>
        </p:nvSpPr>
        <p:spPr>
          <a:xfrm>
            <a:off x="7667397" y="175005"/>
            <a:ext cx="1077373" cy="22969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35" b="1" dirty="0">
                <a:solidFill>
                  <a:srgbClr val="2F5A45"/>
                </a:solidFill>
                <a:latin typeface="Alexandria" pitchFamily="34" charset="0"/>
                <a:ea typeface="Alexandria" pitchFamily="34" charset="-122"/>
                <a:cs typeface="Alexandria" pitchFamily="34" charset="-120"/>
              </a:rPr>
              <a:t>LLOYDS</a:t>
            </a:r>
            <a:endParaRPr lang="en-US" sz="1735" dirty="0"/>
          </a:p>
        </p:txBody>
      </p:sp>
      <p:sp>
        <p:nvSpPr>
          <p:cNvPr id="43" name="Text 22"/>
          <p:cNvSpPr/>
          <p:nvPr/>
        </p:nvSpPr>
        <p:spPr>
          <a:xfrm>
            <a:off x="8673675" y="4796225"/>
            <a:ext cx="153129" cy="10390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96" b="1" dirty="0">
                <a:solidFill>
                  <a:srgbClr val="648474"/>
                </a:solidFill>
                <a:latin typeface="Pontano Sans" pitchFamily="34" charset="0"/>
                <a:ea typeface="Pontano Sans" pitchFamily="34" charset="-122"/>
                <a:cs typeface="Pontano Sans" pitchFamily="34" charset="-120"/>
              </a:rPr>
              <a:t>1</a:t>
            </a:r>
            <a:endParaRPr lang="en-US" sz="89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6234"/>
          </a:xfrm>
          <a:prstGeom prst="rect">
            <a:avLst/>
          </a:prstGeom>
          <a:solidFill>
            <a:srgbClr val="FCFCFC"/>
          </a:solidFill>
          <a:ln/>
        </p:spPr>
      </p:sp>
      <p:sp>
        <p:nvSpPr>
          <p:cNvPr id="3" name="Shape 1"/>
          <p:cNvSpPr/>
          <p:nvPr/>
        </p:nvSpPr>
        <p:spPr>
          <a:xfrm>
            <a:off x="7109569" y="2034431"/>
            <a:ext cx="1755517" cy="2564914"/>
          </a:xfrm>
          <a:prstGeom prst="rect">
            <a:avLst/>
          </a:prstGeom>
          <a:solidFill>
            <a:srgbClr val="F0F0F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0043" y="3795416"/>
            <a:ext cx="49220" cy="4922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0043" y="3385249"/>
            <a:ext cx="49220" cy="4922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0043" y="2980550"/>
            <a:ext cx="49220" cy="4922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292" y="2745388"/>
            <a:ext cx="1482072" cy="49220"/>
          </a:xfrm>
          <a:prstGeom prst="rect">
            <a:avLst/>
          </a:prstGeom>
        </p:spPr>
      </p:pic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0823" y="2253187"/>
            <a:ext cx="410167" cy="360947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7443172" y="3729789"/>
            <a:ext cx="1415898" cy="51954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8" dirty="0">
                <a:solidFill>
                  <a:srgbClr val="545556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Clearer accountability</a:t>
            </a:r>
            <a:endParaRPr lang="en-US" sz="1008" dirty="0"/>
          </a:p>
          <a:p>
            <a:pPr algn="l" indent="0" marL="0">
              <a:buNone/>
            </a:pPr>
            <a:r>
              <a:rPr lang="en-US" sz="1008" dirty="0">
                <a:solidFill>
                  <a:srgbClr val="545556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and 2LoD assurance</a:t>
            </a:r>
            <a:endParaRPr lang="en-US" sz="1008" dirty="0"/>
          </a:p>
          <a:p>
            <a:pPr algn="l" indent="0" marL="0">
              <a:buNone/>
            </a:pPr>
            <a:r>
              <a:rPr lang="en-US" sz="1008" dirty="0">
                <a:solidFill>
                  <a:srgbClr val="545556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expected</a:t>
            </a:r>
            <a:endParaRPr lang="en-US" sz="1008" dirty="0"/>
          </a:p>
        </p:txBody>
      </p:sp>
      <p:sp>
        <p:nvSpPr>
          <p:cNvPr id="10" name="Text 3"/>
          <p:cNvSpPr/>
          <p:nvPr/>
        </p:nvSpPr>
        <p:spPr>
          <a:xfrm>
            <a:off x="7443172" y="3319622"/>
            <a:ext cx="1178001" cy="35001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7" dirty="0">
                <a:solidFill>
                  <a:srgbClr val="4A4C4D"/>
                </a:solidFill>
                <a:latin typeface="Roboto Flex" pitchFamily="34" charset="0"/>
                <a:ea typeface="Roboto Flex" pitchFamily="34" charset="-122"/>
                <a:cs typeface="Roboto Flex" pitchFamily="34" charset="-120"/>
              </a:rPr>
              <a:t>Peer banks facing</a:t>
            </a:r>
            <a:endParaRPr lang="en-US" sz="947" dirty="0"/>
          </a:p>
          <a:p>
            <a:pPr algn="l" indent="0" marL="0">
              <a:buNone/>
            </a:pPr>
            <a:r>
              <a:rPr lang="en-US" sz="947" dirty="0">
                <a:solidFill>
                  <a:srgbClr val="4A4C4D"/>
                </a:solidFill>
                <a:latin typeface="Roboto Flex" pitchFamily="34" charset="0"/>
                <a:ea typeface="Roboto Flex" pitchFamily="34" charset="-122"/>
                <a:cs typeface="Roboto Flex" pitchFamily="34" charset="-120"/>
              </a:rPr>
              <a:t>similar ambiguity</a:t>
            </a:r>
            <a:endParaRPr lang="en-US" sz="947" dirty="0"/>
          </a:p>
        </p:txBody>
      </p:sp>
      <p:sp>
        <p:nvSpPr>
          <p:cNvPr id="11" name="Text 4"/>
          <p:cNvSpPr/>
          <p:nvPr/>
        </p:nvSpPr>
        <p:spPr>
          <a:xfrm>
            <a:off x="7443172" y="2914923"/>
            <a:ext cx="1363397" cy="34454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3" dirty="0">
                <a:solidFill>
                  <a:srgbClr val="55565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Increasing regulatory</a:t>
            </a:r>
            <a:endParaRPr lang="en-US" sz="943" dirty="0"/>
          </a:p>
          <a:p>
            <a:pPr algn="l" indent="0" marL="0">
              <a:buNone/>
            </a:pPr>
            <a:r>
              <a:rPr lang="en-US" sz="943" dirty="0">
                <a:solidFill>
                  <a:srgbClr val="55565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scrutiny</a:t>
            </a:r>
            <a:endParaRPr lang="en-US" sz="943" dirty="0"/>
          </a:p>
        </p:txBody>
      </p:sp>
      <p:sp>
        <p:nvSpPr>
          <p:cNvPr id="12" name="Text 5"/>
          <p:cNvSpPr/>
          <p:nvPr/>
        </p:nvSpPr>
        <p:spPr>
          <a:xfrm>
            <a:off x="7722086" y="2389909"/>
            <a:ext cx="1178001" cy="1367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94" b="1" dirty="0">
                <a:solidFill>
                  <a:srgbClr val="474A4B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External context</a:t>
            </a:r>
            <a:endParaRPr lang="en-US" sz="1094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2124" y="0"/>
            <a:ext cx="21876" cy="5146234"/>
          </a:xfrm>
          <a:prstGeom prst="rect">
            <a:avLst/>
          </a:prstGeom>
        </p:spPr>
      </p:pic>
      <p:sp>
        <p:nvSpPr>
          <p:cNvPr id="14" name="Shape 6"/>
          <p:cNvSpPr/>
          <p:nvPr/>
        </p:nvSpPr>
        <p:spPr>
          <a:xfrm>
            <a:off x="5403273" y="2072713"/>
            <a:ext cx="1607856" cy="2482880"/>
          </a:xfrm>
          <a:prstGeom prst="rect">
            <a:avLst/>
          </a:prstGeom>
          <a:solidFill>
            <a:srgbClr val="035F35"/>
          </a:solidFill>
          <a:ln/>
        </p:spPr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5474" y="2264124"/>
            <a:ext cx="628923" cy="623455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572809" y="3270402"/>
            <a:ext cx="1495744" cy="8640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4" dirty="0">
                <a:solidFill>
                  <a:srgbClr val="B3D0C2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Federated delivery and</a:t>
            </a:r>
            <a:endParaRPr lang="en-US" sz="904" dirty="0"/>
          </a:p>
          <a:p>
            <a:pPr algn="l" indent="0" marL="0">
              <a:buNone/>
            </a:pPr>
            <a:r>
              <a:rPr lang="en-US" sz="904" dirty="0">
                <a:solidFill>
                  <a:srgbClr val="B3D0C2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external scrutiny</a:t>
            </a:r>
            <a:endParaRPr lang="en-US" sz="904" dirty="0"/>
          </a:p>
          <a:p>
            <a:pPr algn="l" indent="0" marL="0">
              <a:buNone/>
            </a:pPr>
            <a:r>
              <a:rPr lang="en-US" sz="904" dirty="0">
                <a:solidFill>
                  <a:srgbClr val="B3D0C2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increase the need for</a:t>
            </a:r>
            <a:endParaRPr lang="en-US" sz="904" dirty="0"/>
          </a:p>
          <a:p>
            <a:pPr algn="l" indent="0" marL="0">
              <a:buNone/>
            </a:pPr>
            <a:r>
              <a:rPr lang="en-US" sz="904" dirty="0">
                <a:solidFill>
                  <a:srgbClr val="B3D0C2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stronger central</a:t>
            </a:r>
            <a:endParaRPr lang="en-US" sz="904" dirty="0"/>
          </a:p>
          <a:p>
            <a:pPr algn="l" indent="0" marL="0">
              <a:buNone/>
            </a:pPr>
            <a:r>
              <a:rPr lang="en-US" sz="904" dirty="0">
                <a:solidFill>
                  <a:srgbClr val="B3D0C2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oversight.</a:t>
            </a:r>
            <a:endParaRPr lang="en-US" sz="904" dirty="0"/>
          </a:p>
        </p:txBody>
      </p:sp>
      <p:sp>
        <p:nvSpPr>
          <p:cNvPr id="17" name="Text 8"/>
          <p:cNvSpPr/>
          <p:nvPr/>
        </p:nvSpPr>
        <p:spPr>
          <a:xfrm>
            <a:off x="5578278" y="3040708"/>
            <a:ext cx="1455821" cy="1640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37" b="1" dirty="0">
                <a:solidFill>
                  <a:srgbClr val="C8DDD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Need for oversight</a:t>
            </a:r>
            <a:endParaRPr lang="en-US" sz="1137" dirty="0"/>
          </a:p>
        </p:txBody>
      </p:sp>
      <p:sp>
        <p:nvSpPr>
          <p:cNvPr id="18" name="Shape 9"/>
          <p:cNvSpPr/>
          <p:nvPr/>
        </p:nvSpPr>
        <p:spPr>
          <a:xfrm>
            <a:off x="3680569" y="2072713"/>
            <a:ext cx="1596919" cy="2482880"/>
          </a:xfrm>
          <a:prstGeom prst="rect">
            <a:avLst/>
          </a:prstGeom>
          <a:solidFill>
            <a:srgbClr val="6CC871"/>
          </a:solidFill>
          <a:ln/>
        </p:spPr>
      </p:sp>
      <p:pic>
        <p:nvPicPr>
          <p:cNvPr id="1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7144" y="2253187"/>
            <a:ext cx="727364" cy="634392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3833699" y="3270402"/>
            <a:ext cx="1614419" cy="10937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3" dirty="0">
                <a:solidFill>
                  <a:srgbClr val="204224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GenAI and agentic AI</a:t>
            </a:r>
            <a:endParaRPr lang="en-US" sz="943" dirty="0"/>
          </a:p>
          <a:p>
            <a:pPr algn="l" indent="0" marL="0">
              <a:buNone/>
            </a:pPr>
            <a:r>
              <a:rPr lang="en-US" sz="943" dirty="0">
                <a:solidFill>
                  <a:srgbClr val="204224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introduce new risks:</a:t>
            </a:r>
            <a:endParaRPr lang="en-US" sz="943" dirty="0"/>
          </a:p>
          <a:p>
            <a:pPr algn="l" indent="0" marL="0">
              <a:buNone/>
            </a:pPr>
            <a:r>
              <a:rPr lang="en-US" sz="943" dirty="0">
                <a:solidFill>
                  <a:srgbClr val="204224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non-deterministic</a:t>
            </a:r>
            <a:endParaRPr lang="en-US" sz="943" dirty="0"/>
          </a:p>
          <a:p>
            <a:pPr algn="l" indent="0" marL="0">
              <a:buNone/>
            </a:pPr>
            <a:r>
              <a:rPr lang="en-US" sz="943" dirty="0">
                <a:solidFill>
                  <a:srgbClr val="204224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outputs, retrieval</a:t>
            </a:r>
            <a:endParaRPr lang="en-US" sz="943" dirty="0"/>
          </a:p>
          <a:p>
            <a:pPr algn="l" indent="0" marL="0">
              <a:buNone/>
            </a:pPr>
            <a:r>
              <a:rPr lang="en-US" sz="943" dirty="0">
                <a:solidFill>
                  <a:srgbClr val="204224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complexity, tool use,</a:t>
            </a:r>
            <a:endParaRPr lang="en-US" sz="943" dirty="0"/>
          </a:p>
          <a:p>
            <a:pPr algn="l" indent="0" marL="0">
              <a:buNone/>
            </a:pPr>
            <a:r>
              <a:rPr lang="en-US" sz="943" dirty="0">
                <a:solidFill>
                  <a:srgbClr val="204224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autonomy and third-party</a:t>
            </a:r>
            <a:endParaRPr lang="en-US" sz="943" dirty="0"/>
          </a:p>
          <a:p>
            <a:pPr algn="l" indent="0" marL="0">
              <a:buNone/>
            </a:pPr>
            <a:r>
              <a:rPr lang="en-US" sz="943" dirty="0">
                <a:solidFill>
                  <a:srgbClr val="204224"/>
                </a:solidFill>
                <a:latin typeface="Gabarito" pitchFamily="34" charset="0"/>
                <a:ea typeface="Gabarito" pitchFamily="34" charset="-122"/>
                <a:cs typeface="Gabarito" pitchFamily="34" charset="-120"/>
              </a:rPr>
              <a:t>dependencies.</a:t>
            </a:r>
            <a:endParaRPr lang="en-US" sz="943" dirty="0"/>
          </a:p>
        </p:txBody>
      </p:sp>
      <p:sp>
        <p:nvSpPr>
          <p:cNvPr id="21" name="Text 11"/>
          <p:cNvSpPr/>
          <p:nvPr/>
        </p:nvSpPr>
        <p:spPr>
          <a:xfrm>
            <a:off x="3839167" y="3040708"/>
            <a:ext cx="1482072" cy="1640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5" b="1" dirty="0">
                <a:solidFill>
                  <a:srgbClr val="16321C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Risk profile evolving</a:t>
            </a:r>
            <a:endParaRPr lang="en-US" sz="1115" dirty="0"/>
          </a:p>
        </p:txBody>
      </p:sp>
      <p:sp>
        <p:nvSpPr>
          <p:cNvPr id="22" name="Shape 12"/>
          <p:cNvSpPr/>
          <p:nvPr/>
        </p:nvSpPr>
        <p:spPr>
          <a:xfrm>
            <a:off x="1979742" y="2072713"/>
            <a:ext cx="1575043" cy="2488349"/>
          </a:xfrm>
          <a:prstGeom prst="rect">
            <a:avLst/>
          </a:prstGeom>
          <a:solidFill>
            <a:srgbClr val="B2E5AF"/>
          </a:solidFill>
          <a:ln/>
        </p:spPr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00847" y="2275062"/>
            <a:ext cx="661737" cy="563297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2105526" y="3270402"/>
            <a:ext cx="1601294" cy="6945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2" dirty="0">
                <a:solidFill>
                  <a:srgbClr val="374E3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Big Bets are accelerating</a:t>
            </a:r>
            <a:endParaRPr lang="en-US" sz="922" dirty="0"/>
          </a:p>
          <a:p>
            <a:pPr algn="l" indent="0" marL="0">
              <a:buNone/>
            </a:pPr>
            <a:r>
              <a:rPr lang="en-US" sz="922" dirty="0">
                <a:solidFill>
                  <a:srgbClr val="374E3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adoption and increasing</a:t>
            </a:r>
            <a:endParaRPr lang="en-US" sz="922" dirty="0"/>
          </a:p>
          <a:p>
            <a:pPr algn="l" indent="0" marL="0">
              <a:buNone/>
            </a:pPr>
            <a:r>
              <a:rPr lang="en-US" sz="922" dirty="0">
                <a:solidFill>
                  <a:srgbClr val="374E3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need for consistent</a:t>
            </a:r>
            <a:endParaRPr lang="en-US" sz="922" dirty="0"/>
          </a:p>
          <a:p>
            <a:pPr algn="l" indent="0" marL="0">
              <a:buNone/>
            </a:pPr>
            <a:r>
              <a:rPr lang="en-US" sz="922" dirty="0">
                <a:solidFill>
                  <a:srgbClr val="374E39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governance.</a:t>
            </a:r>
            <a:endParaRPr lang="en-US" sz="922" dirty="0"/>
          </a:p>
        </p:txBody>
      </p:sp>
      <p:sp>
        <p:nvSpPr>
          <p:cNvPr id="25" name="Text 14"/>
          <p:cNvSpPr/>
          <p:nvPr/>
        </p:nvSpPr>
        <p:spPr>
          <a:xfrm>
            <a:off x="2100057" y="3040708"/>
            <a:ext cx="1607856" cy="1640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5" b="1" dirty="0">
                <a:solidFill>
                  <a:srgbClr val="273C2C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Adoption accelerating</a:t>
            </a:r>
            <a:endParaRPr lang="en-US" sz="1115" dirty="0"/>
          </a:p>
        </p:txBody>
      </p:sp>
      <p:sp>
        <p:nvSpPr>
          <p:cNvPr id="26" name="Shape 15"/>
          <p:cNvSpPr/>
          <p:nvPr/>
        </p:nvSpPr>
        <p:spPr>
          <a:xfrm>
            <a:off x="333603" y="2072713"/>
            <a:ext cx="1525823" cy="2488349"/>
          </a:xfrm>
          <a:prstGeom prst="rect">
            <a:avLst/>
          </a:prstGeom>
          <a:solidFill>
            <a:srgbClr val="D8F2D3"/>
          </a:solidFill>
          <a:ln/>
        </p:spPr>
      </p:sp>
      <p:pic>
        <p:nvPicPr>
          <p:cNvPr id="2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2833" y="2264124"/>
            <a:ext cx="623455" cy="601579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475794" y="3264933"/>
            <a:ext cx="1535120" cy="6890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73" dirty="0">
                <a:solidFill>
                  <a:srgbClr val="4A584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Al systems are already</a:t>
            </a:r>
            <a:endParaRPr lang="en-US" sz="973" dirty="0"/>
          </a:p>
          <a:p>
            <a:pPr algn="l" indent="0" marL="0">
              <a:buNone/>
            </a:pPr>
            <a:r>
              <a:rPr lang="en-US" sz="973" dirty="0">
                <a:solidFill>
                  <a:srgbClr val="4A584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live across the Group—</a:t>
            </a:r>
            <a:endParaRPr lang="en-US" sz="973" dirty="0"/>
          </a:p>
          <a:p>
            <a:pPr algn="l" indent="0" marL="0">
              <a:buNone/>
            </a:pPr>
            <a:r>
              <a:rPr lang="en-US" sz="973" dirty="0">
                <a:solidFill>
                  <a:srgbClr val="4A584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 theoretical or</a:t>
            </a:r>
            <a:endParaRPr lang="en-US" sz="973" dirty="0"/>
          </a:p>
          <a:p>
            <a:pPr algn="l" indent="0" marL="0">
              <a:buNone/>
            </a:pPr>
            <a:r>
              <a:rPr lang="en-US" sz="973" dirty="0">
                <a:solidFill>
                  <a:srgbClr val="4A584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future-state.</a:t>
            </a:r>
            <a:endParaRPr lang="en-US" sz="973" dirty="0"/>
          </a:p>
        </p:txBody>
      </p:sp>
      <p:sp>
        <p:nvSpPr>
          <p:cNvPr id="29" name="Text 17"/>
          <p:cNvSpPr/>
          <p:nvPr/>
        </p:nvSpPr>
        <p:spPr>
          <a:xfrm>
            <a:off x="486732" y="3035239"/>
            <a:ext cx="893618" cy="1640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94" b="1" dirty="0">
                <a:solidFill>
                  <a:srgbClr val="232E2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Already live</a:t>
            </a:r>
            <a:endParaRPr lang="en-US" sz="1094" dirty="0"/>
          </a:p>
        </p:txBody>
      </p:sp>
      <p:sp>
        <p:nvSpPr>
          <p:cNvPr id="30" name="Shape 18"/>
          <p:cNvSpPr/>
          <p:nvPr/>
        </p:nvSpPr>
        <p:spPr>
          <a:xfrm>
            <a:off x="350010" y="1372694"/>
            <a:ext cx="8513983" cy="514077"/>
          </a:xfrm>
          <a:prstGeom prst="rect">
            <a:avLst/>
          </a:prstGeom>
          <a:solidFill>
            <a:srgbClr val="D2F0CD"/>
          </a:solidFill>
          <a:ln/>
        </p:spPr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794" y="1465665"/>
            <a:ext cx="481263" cy="333603"/>
          </a:xfrm>
          <a:prstGeom prst="rect">
            <a:avLst/>
          </a:prstGeom>
        </p:spPr>
      </p:pic>
      <p:sp>
        <p:nvSpPr>
          <p:cNvPr id="32" name="Text 19"/>
          <p:cNvSpPr/>
          <p:nvPr/>
        </p:nvSpPr>
        <p:spPr>
          <a:xfrm>
            <a:off x="1219565" y="1536761"/>
            <a:ext cx="6577445" cy="2132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9" b="1" dirty="0">
                <a:solidFill>
                  <a:srgbClr val="334137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 is already material to the Group's strategy, customer proposition and operating model.</a:t>
            </a:r>
            <a:endParaRPr lang="en-US" sz="1029" dirty="0"/>
          </a:p>
        </p:txBody>
      </p:sp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27574" y="273445"/>
            <a:ext cx="459388" cy="415636"/>
          </a:xfrm>
          <a:prstGeom prst="rect">
            <a:avLst/>
          </a:prstGeom>
        </p:spPr>
      </p:pic>
      <p:sp>
        <p:nvSpPr>
          <p:cNvPr id="34" name="Text 20"/>
          <p:cNvSpPr/>
          <p:nvPr/>
        </p:nvSpPr>
        <p:spPr>
          <a:xfrm>
            <a:off x="7683804" y="535952"/>
            <a:ext cx="827444" cy="9297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59" dirty="0">
                <a:solidFill>
                  <a:srgbClr val="61666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BANKING GROUP</a:t>
            </a:r>
            <a:endParaRPr lang="en-US" sz="659" dirty="0"/>
          </a:p>
        </p:txBody>
      </p:sp>
      <p:sp>
        <p:nvSpPr>
          <p:cNvPr id="35" name="Text 21"/>
          <p:cNvSpPr/>
          <p:nvPr/>
        </p:nvSpPr>
        <p:spPr>
          <a:xfrm>
            <a:off x="7683804" y="333603"/>
            <a:ext cx="847133" cy="18594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95" b="1" dirty="0">
                <a:solidFill>
                  <a:srgbClr val="27342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LLOYDS</a:t>
            </a:r>
            <a:endParaRPr lang="en-US" sz="1395" dirty="0"/>
          </a:p>
        </p:txBody>
      </p:sp>
      <p:sp>
        <p:nvSpPr>
          <p:cNvPr id="36" name="Text 22"/>
          <p:cNvSpPr/>
          <p:nvPr/>
        </p:nvSpPr>
        <p:spPr>
          <a:xfrm>
            <a:off x="360947" y="333603"/>
            <a:ext cx="6974488" cy="83127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55" b="1" dirty="0">
                <a:solidFill>
                  <a:srgbClr val="1B2122"/>
                </a:solidFill>
                <a:latin typeface="Radio Canada Big" pitchFamily="34" charset="0"/>
                <a:ea typeface="Radio Canada Big" pitchFamily="34" charset="-122"/>
                <a:cs typeface="Radio Canada Big" pitchFamily="34" charset="-120"/>
              </a:rPr>
              <a:t>Al Adoption is Scaling;</a:t>
            </a:r>
            <a:endParaRPr lang="en-US" sz="2855" dirty="0"/>
          </a:p>
          <a:p>
            <a:pPr algn="l" indent="0" marL="0">
              <a:buNone/>
            </a:pPr>
            <a:r>
              <a:rPr lang="en-US" sz="2855" b="1" dirty="0">
                <a:solidFill>
                  <a:srgbClr val="1B2122"/>
                </a:solidFill>
                <a:latin typeface="Radio Canada Big" pitchFamily="34" charset="0"/>
                <a:ea typeface="Radio Canada Big" pitchFamily="34" charset="-122"/>
                <a:cs typeface="Radio Canada Big" pitchFamily="34" charset="-120"/>
              </a:rPr>
              <a:t>Governance Needs to Scale With It</a:t>
            </a:r>
            <a:endParaRPr lang="en-US" sz="2855" dirty="0"/>
          </a:p>
        </p:txBody>
      </p:sp>
      <p:sp>
        <p:nvSpPr>
          <p:cNvPr id="37" name="Shape 23"/>
          <p:cNvSpPr/>
          <p:nvPr/>
        </p:nvSpPr>
        <p:spPr>
          <a:xfrm>
            <a:off x="0" y="5140766"/>
            <a:ext cx="9138531" cy="5469"/>
          </a:xfrm>
          <a:prstGeom prst="rect">
            <a:avLst/>
          </a:prstGeom>
          <a:solidFill>
            <a:srgbClr val="717473"/>
          </a:solidFill>
          <a:ln/>
        </p:spPr>
      </p:sp>
      <p:sp>
        <p:nvSpPr>
          <p:cNvPr id="38" name="Text 24"/>
          <p:cNvSpPr/>
          <p:nvPr/>
        </p:nvSpPr>
        <p:spPr>
          <a:xfrm>
            <a:off x="8755708" y="4856383"/>
            <a:ext cx="131254" cy="1203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9E9FA1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</a:t>
            </a:r>
            <a:endParaRPr lang="en-US" sz="788" dirty="0"/>
          </a:p>
        </p:txBody>
      </p:sp>
      <p:pic>
        <p:nvPicPr>
          <p:cNvPr id="3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5135297"/>
            <a:ext cx="9144000" cy="10938"/>
          </a:xfrm>
          <a:prstGeom prst="rect">
            <a:avLst/>
          </a:prstGeom>
        </p:spPr>
      </p:pic>
      <p:pic>
        <p:nvPicPr>
          <p:cNvPr id="4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0" y="0"/>
            <a:ext cx="9144000" cy="10938"/>
          </a:xfrm>
          <a:prstGeom prst="rect">
            <a:avLst/>
          </a:prstGeom>
        </p:spPr>
      </p:pic>
      <p:pic>
        <p:nvPicPr>
          <p:cNvPr id="4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3062" y="0"/>
            <a:ext cx="10938" cy="5146234"/>
          </a:xfrm>
          <a:prstGeom prst="rect">
            <a:avLst/>
          </a:prstGeom>
        </p:spPr>
      </p:pic>
      <p:pic>
        <p:nvPicPr>
          <p:cNvPr id="4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0" y="0"/>
            <a:ext cx="10938" cy="51462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6234"/>
          </a:xfrm>
          <a:prstGeom prst="rect">
            <a:avLst/>
          </a:prstGeom>
          <a:solidFill>
            <a:srgbClr val="FEFEFE"/>
          </a:solidFill>
          <a:ln/>
        </p:spPr>
      </p:sp>
      <p:sp>
        <p:nvSpPr>
          <p:cNvPr id="3" name="Shape 1"/>
          <p:cNvSpPr/>
          <p:nvPr/>
        </p:nvSpPr>
        <p:spPr>
          <a:xfrm>
            <a:off x="218756" y="4511842"/>
            <a:ext cx="8673675" cy="448450"/>
          </a:xfrm>
          <a:prstGeom prst="rect">
            <a:avLst/>
          </a:prstGeom>
          <a:solidFill>
            <a:srgbClr val="013E2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388" y="4550124"/>
            <a:ext cx="377354" cy="3664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60967" y="4659502"/>
            <a:ext cx="8241632" cy="18594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5" dirty="0">
                <a:solidFill>
                  <a:srgbClr val="BECEC6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Stakeholders are not asking for less risk management; they are asking for a clearer route through risk management.</a:t>
            </a:r>
            <a:endParaRPr lang="en-US" sz="1115" dirty="0"/>
          </a:p>
        </p:txBody>
      </p:sp>
      <p:sp>
        <p:nvSpPr>
          <p:cNvPr id="6" name="Shape 3"/>
          <p:cNvSpPr/>
          <p:nvPr/>
        </p:nvSpPr>
        <p:spPr>
          <a:xfrm>
            <a:off x="4539187" y="3992297"/>
            <a:ext cx="4375120" cy="426574"/>
          </a:xfrm>
          <a:prstGeom prst="rect">
            <a:avLst/>
          </a:prstGeom>
          <a:solidFill>
            <a:srgbClr val="E8F8F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033" y="4008703"/>
            <a:ext cx="393761" cy="39376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28268" y="4046986"/>
            <a:ext cx="2441864" cy="3664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38" dirty="0">
                <a:solidFill>
                  <a:srgbClr val="333836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6.Building ongoing oversight and</a:t>
            </a:r>
            <a:endParaRPr lang="en-US" sz="1038" dirty="0"/>
          </a:p>
          <a:p>
            <a:pPr algn="l" indent="0" marL="0">
              <a:buNone/>
            </a:pPr>
            <a:r>
              <a:rPr lang="en-US" sz="1038" dirty="0">
                <a:solidFill>
                  <a:srgbClr val="333836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monitoring capability</a:t>
            </a:r>
            <a:endParaRPr lang="en-US" sz="1038" dirty="0"/>
          </a:p>
        </p:txBody>
      </p:sp>
      <p:sp>
        <p:nvSpPr>
          <p:cNvPr id="9" name="Shape 5"/>
          <p:cNvSpPr/>
          <p:nvPr/>
        </p:nvSpPr>
        <p:spPr>
          <a:xfrm>
            <a:off x="4539187" y="3521971"/>
            <a:ext cx="4375120" cy="426574"/>
          </a:xfrm>
          <a:prstGeom prst="rect">
            <a:avLst/>
          </a:prstGeom>
          <a:solidFill>
            <a:srgbClr val="E8F9F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565" y="3538378"/>
            <a:ext cx="399230" cy="36641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228268" y="3653225"/>
            <a:ext cx="2779295" cy="196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313634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5. Enabling earlier 2LoD engagement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4539187" y="3051646"/>
            <a:ext cx="4380589" cy="432043"/>
          </a:xfrm>
          <a:prstGeom prst="rect">
            <a:avLst/>
          </a:prstGeom>
          <a:solidFill>
            <a:srgbClr val="E8F9F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565" y="3073522"/>
            <a:ext cx="399230" cy="38282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228268" y="3182900"/>
            <a:ext cx="4354338" cy="196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5" dirty="0">
                <a:solidFill>
                  <a:srgbClr val="373B3A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4. Introducing risk-based triage and proportionate pathways</a:t>
            </a:r>
            <a:endParaRPr lang="en-US" sz="1115" dirty="0"/>
          </a:p>
        </p:txBody>
      </p:sp>
      <p:sp>
        <p:nvSpPr>
          <p:cNvPr id="15" name="Shape 9"/>
          <p:cNvSpPr/>
          <p:nvPr/>
        </p:nvSpPr>
        <p:spPr>
          <a:xfrm>
            <a:off x="4544656" y="2586789"/>
            <a:ext cx="4369651" cy="421105"/>
          </a:xfrm>
          <a:prstGeom prst="rect">
            <a:avLst/>
          </a:prstGeom>
          <a:solidFill>
            <a:srgbClr val="E8F8F1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033" y="2603196"/>
            <a:ext cx="399230" cy="393761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228268" y="2712574"/>
            <a:ext cx="2977816" cy="16953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37" dirty="0">
                <a:solidFill>
                  <a:srgbClr val="33383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3.Updating RAPID and forum hierarchy</a:t>
            </a:r>
            <a:endParaRPr lang="en-US" sz="1137" dirty="0"/>
          </a:p>
        </p:txBody>
      </p:sp>
      <p:sp>
        <p:nvSpPr>
          <p:cNvPr id="18" name="Shape 11"/>
          <p:cNvSpPr/>
          <p:nvPr/>
        </p:nvSpPr>
        <p:spPr>
          <a:xfrm>
            <a:off x="4539187" y="2110995"/>
            <a:ext cx="4380589" cy="432043"/>
          </a:xfrm>
          <a:prstGeom prst="rect">
            <a:avLst/>
          </a:prstGeom>
          <a:solidFill>
            <a:srgbClr val="E9F9F2"/>
          </a:solidFill>
          <a:ln/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3254" y="2187560"/>
            <a:ext cx="295321" cy="28985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228268" y="2253187"/>
            <a:ext cx="3037427" cy="16953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3A3F3D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2. Developing a common evidence spine</a:t>
            </a:r>
            <a:endParaRPr lang="en-US" sz="1120" dirty="0"/>
          </a:p>
        </p:txBody>
      </p:sp>
      <p:sp>
        <p:nvSpPr>
          <p:cNvPr id="21" name="Shape 13"/>
          <p:cNvSpPr/>
          <p:nvPr/>
        </p:nvSpPr>
        <p:spPr>
          <a:xfrm>
            <a:off x="4539187" y="1640670"/>
            <a:ext cx="4380589" cy="432043"/>
          </a:xfrm>
          <a:prstGeom prst="rect">
            <a:avLst/>
          </a:prstGeom>
          <a:solidFill>
            <a:srgbClr val="E8F9F2"/>
          </a:solidFill>
          <a:ln/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4033" y="1657077"/>
            <a:ext cx="393761" cy="377354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233737" y="1766455"/>
            <a:ext cx="3004067" cy="196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2" dirty="0">
                <a:solidFill>
                  <a:srgbClr val="404543"/>
                </a:solidFill>
                <a:latin typeface="Belanosima" pitchFamily="34" charset="0"/>
                <a:ea typeface="Belanosima" pitchFamily="34" charset="-122"/>
                <a:cs typeface="Belanosima" pitchFamily="34" charset="-120"/>
              </a:rPr>
              <a:t>1. Establishing a single 2LoD front door</a:t>
            </a:r>
            <a:endParaRPr lang="en-US" sz="1262" dirty="0"/>
          </a:p>
        </p:txBody>
      </p:sp>
      <p:sp>
        <p:nvSpPr>
          <p:cNvPr id="24" name="Shape 15"/>
          <p:cNvSpPr/>
          <p:nvPr/>
        </p:nvSpPr>
        <p:spPr>
          <a:xfrm>
            <a:off x="4539187" y="1323474"/>
            <a:ext cx="4380589" cy="257038"/>
          </a:xfrm>
          <a:prstGeom prst="rect">
            <a:avLst/>
          </a:prstGeom>
          <a:solidFill>
            <a:srgbClr val="014B2E"/>
          </a:solidFill>
          <a:ln/>
        </p:spPr>
      </p:sp>
      <p:sp>
        <p:nvSpPr>
          <p:cNvPr id="25" name="Text 16"/>
          <p:cNvSpPr/>
          <p:nvPr/>
        </p:nvSpPr>
        <p:spPr>
          <a:xfrm>
            <a:off x="6223608" y="1383632"/>
            <a:ext cx="1052216" cy="15312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76" b="1" dirty="0">
                <a:solidFill>
                  <a:srgbClr val="CCDBD4"/>
                </a:solidFill>
                <a:latin typeface="Catamaran" pitchFamily="34" charset="0"/>
                <a:ea typeface="Catamaran" pitchFamily="34" charset="-122"/>
                <a:cs typeface="Catamaran" pitchFamily="34" charset="-120"/>
              </a:rPr>
              <a:t>MRO response</a:t>
            </a:r>
            <a:endParaRPr lang="en-US" sz="1176" dirty="0"/>
          </a:p>
        </p:txBody>
      </p:sp>
      <p:sp>
        <p:nvSpPr>
          <p:cNvPr id="26" name="Shape 17"/>
          <p:cNvSpPr/>
          <p:nvPr/>
        </p:nvSpPr>
        <p:spPr>
          <a:xfrm>
            <a:off x="218756" y="3986828"/>
            <a:ext cx="4243866" cy="432043"/>
          </a:xfrm>
          <a:prstGeom prst="rect">
            <a:avLst/>
          </a:prstGeom>
          <a:solidFill>
            <a:srgbClr val="EBF9E9"/>
          </a:solidFill>
          <a:ln/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9072" y="4008703"/>
            <a:ext cx="388292" cy="382823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96900" y="4036048"/>
            <a:ext cx="2924767" cy="36641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2" dirty="0">
                <a:solidFill>
                  <a:srgbClr val="404540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6.Monitoring and residual risks are not</a:t>
            </a:r>
            <a:endParaRPr lang="en-US" sz="1072" dirty="0"/>
          </a:p>
          <a:p>
            <a:pPr algn="l" indent="0" marL="0">
              <a:buNone/>
            </a:pPr>
            <a:r>
              <a:rPr lang="en-US" sz="1072" dirty="0">
                <a:solidFill>
                  <a:srgbClr val="404540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consistently captured</a:t>
            </a:r>
            <a:endParaRPr lang="en-US" sz="1072" dirty="0"/>
          </a:p>
        </p:txBody>
      </p:sp>
      <p:sp>
        <p:nvSpPr>
          <p:cNvPr id="29" name="Shape 19"/>
          <p:cNvSpPr/>
          <p:nvPr/>
        </p:nvSpPr>
        <p:spPr>
          <a:xfrm>
            <a:off x="218756" y="3516502"/>
            <a:ext cx="4254804" cy="426574"/>
          </a:xfrm>
          <a:prstGeom prst="rect">
            <a:avLst/>
          </a:prstGeom>
          <a:solidFill>
            <a:srgbClr val="EBF9E8"/>
          </a:solidFill>
          <a:ln/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603" y="3532909"/>
            <a:ext cx="393761" cy="388292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896900" y="3642287"/>
            <a:ext cx="3500643" cy="196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37" dirty="0">
                <a:solidFill>
                  <a:srgbClr val="3E423E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5. Late-stage challenge creates delivery friction</a:t>
            </a:r>
            <a:endParaRPr lang="en-US" sz="1137" dirty="0"/>
          </a:p>
        </p:txBody>
      </p:sp>
      <p:sp>
        <p:nvSpPr>
          <p:cNvPr id="32" name="Shape 21"/>
          <p:cNvSpPr/>
          <p:nvPr/>
        </p:nvSpPr>
        <p:spPr>
          <a:xfrm>
            <a:off x="213287" y="3040708"/>
            <a:ext cx="4260273" cy="432043"/>
          </a:xfrm>
          <a:prstGeom prst="rect">
            <a:avLst/>
          </a:prstGeom>
          <a:solidFill>
            <a:srgbClr val="EBF9E8"/>
          </a:solidFill>
          <a:ln/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603" y="3062584"/>
            <a:ext cx="393761" cy="393761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91431" y="3161024"/>
            <a:ext cx="3970421" cy="196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37" b="1" dirty="0">
                <a:solidFill>
                  <a:srgbClr val="383C3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Risk expectations vary across MVP, pilot and scale</a:t>
            </a:r>
            <a:endParaRPr lang="en-US" sz="1137" dirty="0"/>
          </a:p>
        </p:txBody>
      </p:sp>
      <p:sp>
        <p:nvSpPr>
          <p:cNvPr id="35" name="Shape 23"/>
          <p:cNvSpPr/>
          <p:nvPr/>
        </p:nvSpPr>
        <p:spPr>
          <a:xfrm>
            <a:off x="213287" y="2581321"/>
            <a:ext cx="4260273" cy="421105"/>
          </a:xfrm>
          <a:prstGeom prst="rect">
            <a:avLst/>
          </a:prstGeom>
          <a:solidFill>
            <a:srgbClr val="ECF9E9"/>
          </a:solidFill>
          <a:ln/>
        </p:spPr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3603" y="2597727"/>
            <a:ext cx="393761" cy="388292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896900" y="2696167"/>
            <a:ext cx="3983546" cy="196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94" dirty="0">
                <a:solidFill>
                  <a:srgbClr val="2F332F"/>
                </a:solidFill>
                <a:latin typeface="Wix Madefor Text" pitchFamily="34" charset="0"/>
                <a:ea typeface="Wix Madefor Text" pitchFamily="34" charset="-122"/>
                <a:cs typeface="Wix Madefor Text" pitchFamily="34" charset="-120"/>
              </a:rPr>
              <a:t>3. Ownership and decision rights are not always clear</a:t>
            </a:r>
            <a:endParaRPr lang="en-US" sz="1094" dirty="0"/>
          </a:p>
        </p:txBody>
      </p:sp>
      <p:sp>
        <p:nvSpPr>
          <p:cNvPr id="38" name="Shape 25"/>
          <p:cNvSpPr/>
          <p:nvPr/>
        </p:nvSpPr>
        <p:spPr>
          <a:xfrm>
            <a:off x="213287" y="2105526"/>
            <a:ext cx="4260273" cy="432043"/>
          </a:xfrm>
          <a:prstGeom prst="rect">
            <a:avLst/>
          </a:prstGeom>
          <a:solidFill>
            <a:srgbClr val="ECF9E9"/>
          </a:solidFill>
          <a:ln/>
        </p:spPr>
      </p:sp>
      <p:pic>
        <p:nvPicPr>
          <p:cNvPr id="3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9072" y="2127402"/>
            <a:ext cx="388292" cy="382823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896900" y="2242249"/>
            <a:ext cx="2964690" cy="16953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333733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2.Evidence requests can be duplicative</a:t>
            </a:r>
            <a:endParaRPr lang="en-US" sz="1120" dirty="0"/>
          </a:p>
        </p:txBody>
      </p:sp>
      <p:sp>
        <p:nvSpPr>
          <p:cNvPr id="41" name="Shape 27"/>
          <p:cNvSpPr/>
          <p:nvPr/>
        </p:nvSpPr>
        <p:spPr>
          <a:xfrm>
            <a:off x="218756" y="1635201"/>
            <a:ext cx="4254804" cy="437512"/>
          </a:xfrm>
          <a:prstGeom prst="rect">
            <a:avLst/>
          </a:prstGeom>
          <a:solidFill>
            <a:srgbClr val="ECF9E9"/>
          </a:solidFill>
          <a:ln/>
        </p:spPr>
      </p:sp>
      <p:pic>
        <p:nvPicPr>
          <p:cNvPr id="4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9072" y="1657077"/>
            <a:ext cx="388292" cy="382823"/>
          </a:xfrm>
          <a:prstGeom prst="rect">
            <a:avLst/>
          </a:prstGeom>
        </p:spPr>
      </p:pic>
      <p:sp>
        <p:nvSpPr>
          <p:cNvPr id="43" name="Text 28"/>
          <p:cNvSpPr/>
          <p:nvPr/>
        </p:nvSpPr>
        <p:spPr>
          <a:xfrm>
            <a:off x="902368" y="1782861"/>
            <a:ext cx="2739372" cy="15312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8" b="1" dirty="0">
                <a:solidFill>
                  <a:srgbClr val="343834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1.  Governance routes canbe unclear</a:t>
            </a:r>
            <a:endParaRPr lang="en-US" sz="1128" dirty="0"/>
          </a:p>
        </p:txBody>
      </p:sp>
      <p:sp>
        <p:nvSpPr>
          <p:cNvPr id="44" name="Shape 29"/>
          <p:cNvSpPr/>
          <p:nvPr/>
        </p:nvSpPr>
        <p:spPr>
          <a:xfrm>
            <a:off x="213287" y="1323474"/>
            <a:ext cx="4265742" cy="257038"/>
          </a:xfrm>
          <a:prstGeom prst="rect">
            <a:avLst/>
          </a:prstGeom>
          <a:solidFill>
            <a:srgbClr val="014B2E"/>
          </a:solidFill>
          <a:ln/>
        </p:spPr>
      </p:sp>
      <p:sp>
        <p:nvSpPr>
          <p:cNvPr id="45" name="Text 30"/>
          <p:cNvSpPr/>
          <p:nvPr/>
        </p:nvSpPr>
        <p:spPr>
          <a:xfrm>
            <a:off x="1826612" y="1378163"/>
            <a:ext cx="1171438" cy="14219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5" dirty="0">
                <a:solidFill>
                  <a:srgbClr val="C5D7CF"/>
                </a:solidFill>
                <a:latin typeface="Reddit Sans" pitchFamily="34" charset="0"/>
                <a:ea typeface="Reddit Sans" pitchFamily="34" charset="-122"/>
                <a:cs typeface="Reddit Sans" pitchFamily="34" charset="-120"/>
              </a:rPr>
              <a:t>Feedback heard</a:t>
            </a:r>
            <a:endParaRPr lang="en-US" sz="1085" dirty="0"/>
          </a:p>
        </p:txBody>
      </p:sp>
      <p:sp>
        <p:nvSpPr>
          <p:cNvPr id="46" name="Shape 31"/>
          <p:cNvSpPr/>
          <p:nvPr/>
        </p:nvSpPr>
        <p:spPr>
          <a:xfrm>
            <a:off x="218756" y="743770"/>
            <a:ext cx="8706488" cy="486732"/>
          </a:xfrm>
          <a:prstGeom prst="rect">
            <a:avLst/>
          </a:prstGeom>
          <a:solidFill>
            <a:srgbClr val="C3EEC4"/>
          </a:solidFill>
          <a:ln/>
        </p:spPr>
      </p:sp>
      <p:pic>
        <p:nvPicPr>
          <p:cNvPr id="4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9388" y="782053"/>
            <a:ext cx="404699" cy="404699"/>
          </a:xfrm>
          <a:prstGeom prst="rect">
            <a:avLst/>
          </a:prstGeom>
        </p:spPr>
      </p:pic>
      <p:sp>
        <p:nvSpPr>
          <p:cNvPr id="48" name="Text 32"/>
          <p:cNvSpPr/>
          <p:nvPr/>
        </p:nvSpPr>
        <p:spPr>
          <a:xfrm>
            <a:off x="1060967" y="880493"/>
            <a:ext cx="8066627" cy="21328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5" dirty="0">
                <a:solidFill>
                  <a:srgbClr val="344336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The work is directly responding to stakeholder feedback that governance needs to be simpler and clearer.</a:t>
            </a:r>
            <a:endParaRPr lang="en-US" sz="1115" dirty="0"/>
          </a:p>
        </p:txBody>
      </p:sp>
      <p:pic>
        <p:nvPicPr>
          <p:cNvPr id="4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69766" y="136722"/>
            <a:ext cx="240632" cy="251569"/>
          </a:xfrm>
          <a:prstGeom prst="rect">
            <a:avLst/>
          </a:prstGeom>
        </p:spPr>
      </p:pic>
      <p:sp>
        <p:nvSpPr>
          <p:cNvPr id="50" name="Text 33"/>
          <p:cNvSpPr/>
          <p:nvPr/>
        </p:nvSpPr>
        <p:spPr>
          <a:xfrm>
            <a:off x="8919775" y="4949354"/>
            <a:ext cx="125785" cy="984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8" dirty="0">
                <a:solidFill>
                  <a:srgbClr val="5F6664"/>
                </a:solidFill>
                <a:latin typeface="Geologica" pitchFamily="34" charset="0"/>
                <a:ea typeface="Geologica" pitchFamily="34" charset="-122"/>
                <a:cs typeface="Geologica" pitchFamily="34" charset="-120"/>
              </a:rPr>
              <a:t>3</a:t>
            </a:r>
            <a:endParaRPr lang="en-US" sz="728" dirty="0"/>
          </a:p>
        </p:txBody>
      </p:sp>
      <p:sp>
        <p:nvSpPr>
          <p:cNvPr id="51" name="Text 34"/>
          <p:cNvSpPr/>
          <p:nvPr/>
        </p:nvSpPr>
        <p:spPr>
          <a:xfrm>
            <a:off x="8460388" y="557828"/>
            <a:ext cx="562750" cy="7656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707171"/>
                </a:solidFill>
                <a:latin typeface="Puritan" pitchFamily="34" charset="0"/>
                <a:ea typeface="Puritan" pitchFamily="34" charset="-122"/>
                <a:cs typeface="Puritan" pitchFamily="34" charset="-120"/>
              </a:rPr>
              <a:t>BANKING GROUP</a:t>
            </a:r>
            <a:endParaRPr lang="en-US" sz="590" dirty="0"/>
          </a:p>
        </p:txBody>
      </p:sp>
      <p:sp>
        <p:nvSpPr>
          <p:cNvPr id="52" name="Text 35"/>
          <p:cNvSpPr/>
          <p:nvPr/>
        </p:nvSpPr>
        <p:spPr>
          <a:xfrm>
            <a:off x="8460388" y="426574"/>
            <a:ext cx="562750" cy="12578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16" dirty="0">
                <a:solidFill>
                  <a:srgbClr val="454647"/>
                </a:solidFill>
                <a:latin typeface="Rethink Sans" pitchFamily="34" charset="0"/>
                <a:ea typeface="Rethink Sans" pitchFamily="34" charset="-122"/>
                <a:cs typeface="Rethink Sans" pitchFamily="34" charset="-120"/>
              </a:rPr>
              <a:t>LLOYDS</a:t>
            </a:r>
            <a:endParaRPr lang="en-US" sz="1016" dirty="0"/>
          </a:p>
        </p:txBody>
      </p:sp>
      <p:sp>
        <p:nvSpPr>
          <p:cNvPr id="53" name="Text 36"/>
          <p:cNvSpPr/>
          <p:nvPr/>
        </p:nvSpPr>
        <p:spPr>
          <a:xfrm>
            <a:off x="207818" y="251569"/>
            <a:ext cx="8427574" cy="32813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96" b="1" dirty="0">
                <a:solidFill>
                  <a:srgbClr val="202625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What We Have Heard: AI Governance Can Feel Complex</a:t>
            </a:r>
            <a:endParaRPr lang="en-US" sz="219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623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83053" y="4867321"/>
            <a:ext cx="109378" cy="10390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7" dirty="0">
                <a:solidFill>
                  <a:srgbClr val="525252"/>
                </a:solidFill>
                <a:latin typeface="Red Hat Display" pitchFamily="34" charset="0"/>
                <a:ea typeface="Red Hat Display" pitchFamily="34" charset="-122"/>
                <a:cs typeface="Red Hat Display" pitchFamily="34" charset="-120"/>
              </a:rPr>
              <a:t>4</a:t>
            </a:r>
            <a:endParaRPr lang="en-US" sz="917" dirty="0"/>
          </a:p>
        </p:txBody>
      </p:sp>
      <p:sp>
        <p:nvSpPr>
          <p:cNvPr id="4" name="Shape 1"/>
          <p:cNvSpPr/>
          <p:nvPr/>
        </p:nvSpPr>
        <p:spPr>
          <a:xfrm>
            <a:off x="267976" y="4938416"/>
            <a:ext cx="8367416" cy="5469"/>
          </a:xfrm>
          <a:prstGeom prst="rect">
            <a:avLst/>
          </a:prstGeom>
          <a:solidFill>
            <a:srgbClr val="ABC5B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445" y="4364182"/>
            <a:ext cx="8586172" cy="371885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957" y="4424340"/>
            <a:ext cx="267976" cy="262507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071904" y="4473560"/>
            <a:ext cx="8083033" cy="16953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464647"/>
                </a:solidFill>
                <a:latin typeface="Ysabeau Office" pitchFamily="34" charset="0"/>
                <a:ea typeface="Ysabeau Office" pitchFamily="34" charset="-122"/>
                <a:cs typeface="Ysabeau Office" pitchFamily="34" charset="-120"/>
              </a:rPr>
              <a:t>MRO coordinates the second-line oversight pathway; domain-specific policy and control owners retain accountable ownership.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6054072" y="1531292"/>
            <a:ext cx="2811014" cy="2690699"/>
          </a:xfrm>
          <a:prstGeom prst="rect">
            <a:avLst/>
          </a:prstGeom>
          <a:solidFill>
            <a:srgbClr val="004D2F"/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6263" y="3478220"/>
            <a:ext cx="54689" cy="54689"/>
          </a:xfrm>
          <a:prstGeom prst="rect">
            <a:avLst/>
          </a:prstGeom>
        </p:spPr>
      </p:pic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1732" y="2893048"/>
            <a:ext cx="49220" cy="54689"/>
          </a:xfrm>
          <a:prstGeom prst="rect">
            <a:avLst/>
          </a:prstGeom>
        </p:spPr>
      </p:pic>
      <p:pic>
        <p:nvPicPr>
          <p:cNvPr id="1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1732" y="2477411"/>
            <a:ext cx="49220" cy="49220"/>
          </a:xfrm>
          <a:prstGeom prst="rect">
            <a:avLst/>
          </a:prstGeom>
        </p:spPr>
      </p:pic>
      <p:pic>
        <p:nvPicPr>
          <p:cNvPr id="1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3608" y="1706297"/>
            <a:ext cx="579703" cy="590641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6365799" y="3412593"/>
            <a:ext cx="2340142" cy="53048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8" dirty="0">
                <a:solidFill>
                  <a:srgbClr val="C3D6CD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Assessss performance, robustness</a:t>
            </a:r>
            <a:endParaRPr lang="en-US" sz="1158" dirty="0"/>
          </a:p>
          <a:p>
            <a:pPr algn="l" indent="0" marL="0">
              <a:buNone/>
            </a:pPr>
            <a:r>
              <a:rPr lang="en-US" sz="1158" dirty="0">
                <a:solidFill>
                  <a:srgbClr val="C3D6CD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fairness and monitoring</a:t>
            </a:r>
            <a:endParaRPr lang="en-US" sz="1158" dirty="0"/>
          </a:p>
          <a:p>
            <a:pPr algn="l" indent="0" marL="0">
              <a:buNone/>
            </a:pPr>
            <a:r>
              <a:rPr lang="en-US" sz="1158" dirty="0">
                <a:solidFill>
                  <a:srgbClr val="C3D6CD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arrangements.</a:t>
            </a:r>
            <a:endParaRPr lang="en-US" sz="1158" dirty="0"/>
          </a:p>
        </p:txBody>
      </p:sp>
      <p:sp>
        <p:nvSpPr>
          <p:cNvPr id="14" name="Text 5"/>
          <p:cNvSpPr/>
          <p:nvPr/>
        </p:nvSpPr>
        <p:spPr>
          <a:xfrm>
            <a:off x="6365799" y="2827421"/>
            <a:ext cx="2370221" cy="53048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1" dirty="0">
                <a:solidFill>
                  <a:srgbClr val="BCD0C7"/>
                </a:solidFill>
                <a:latin typeface="REM" pitchFamily="34" charset="0"/>
                <a:ea typeface="REM" pitchFamily="34" charset="-122"/>
                <a:cs typeface="REM" pitchFamily="34" charset="-120"/>
              </a:rPr>
              <a:t>Reviews model documentation,</a:t>
            </a:r>
            <a:endParaRPr lang="en-US" sz="1021" dirty="0"/>
          </a:p>
          <a:p>
            <a:pPr algn="l" indent="0" marL="0">
              <a:buNone/>
            </a:pPr>
            <a:r>
              <a:rPr lang="en-US" sz="1021" dirty="0">
                <a:solidFill>
                  <a:srgbClr val="BCD0C7"/>
                </a:solidFill>
                <a:latin typeface="REM" pitchFamily="34" charset="0"/>
                <a:ea typeface="REM" pitchFamily="34" charset="-122"/>
                <a:cs typeface="REM" pitchFamily="34" charset="-120"/>
              </a:rPr>
              <a:t>data, architecture, implementation,</a:t>
            </a:r>
            <a:endParaRPr lang="en-US" sz="1021" dirty="0"/>
          </a:p>
          <a:p>
            <a:pPr algn="l" indent="0" marL="0">
              <a:buNone/>
            </a:pPr>
            <a:r>
              <a:rPr lang="en-US" sz="1021" dirty="0">
                <a:solidFill>
                  <a:srgbClr val="BCD0C7"/>
                </a:solidFill>
                <a:latin typeface="REM" pitchFamily="34" charset="0"/>
                <a:ea typeface="REM" pitchFamily="34" charset="-122"/>
                <a:cs typeface="REM" pitchFamily="34" charset="-120"/>
              </a:rPr>
              <a:t>testing evidence and monitoring.</a:t>
            </a:r>
            <a:endParaRPr lang="en-US" sz="1021" dirty="0"/>
          </a:p>
        </p:txBody>
      </p:sp>
      <p:sp>
        <p:nvSpPr>
          <p:cNvPr id="15" name="Text 6"/>
          <p:cNvSpPr/>
          <p:nvPr/>
        </p:nvSpPr>
        <p:spPr>
          <a:xfrm>
            <a:off x="6371268" y="2406316"/>
            <a:ext cx="2171700" cy="34454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80" dirty="0">
                <a:solidFill>
                  <a:srgbClr val="BBD0C7"/>
                </a:solidFill>
                <a:latin typeface="League Spartan" pitchFamily="34" charset="0"/>
                <a:ea typeface="League Spartan" pitchFamily="34" charset="-122"/>
                <a:cs typeface="League Spartan" pitchFamily="34" charset="-120"/>
              </a:rPr>
              <a:t>Provides independent assurance</a:t>
            </a:r>
            <a:endParaRPr lang="en-US" sz="1180" dirty="0"/>
          </a:p>
          <a:p>
            <a:pPr algn="l" indent="0" marL="0">
              <a:buNone/>
            </a:pPr>
            <a:r>
              <a:rPr lang="en-US" sz="1180" dirty="0">
                <a:solidFill>
                  <a:srgbClr val="BBD0C7"/>
                </a:solidFill>
                <a:latin typeface="League Spartan" pitchFamily="34" charset="0"/>
                <a:ea typeface="League Spartan" pitchFamily="34" charset="-122"/>
                <a:cs typeface="League Spartan" pitchFamily="34" charset="-120"/>
              </a:rPr>
              <a:t>over Al model risk.</a:t>
            </a:r>
            <a:endParaRPr lang="en-US" sz="1180" dirty="0"/>
          </a:p>
        </p:txBody>
      </p:sp>
      <p:sp>
        <p:nvSpPr>
          <p:cNvPr id="16" name="Text 7"/>
          <p:cNvSpPr/>
          <p:nvPr/>
        </p:nvSpPr>
        <p:spPr>
          <a:xfrm>
            <a:off x="6907220" y="1952397"/>
            <a:ext cx="2003258" cy="20781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9" b="1" dirty="0">
                <a:solidFill>
                  <a:srgbClr val="C7D7D0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Al Independent Validation</a:t>
            </a:r>
            <a:endParaRPr lang="en-US" sz="1339" dirty="0"/>
          </a:p>
        </p:txBody>
      </p:sp>
      <p:sp>
        <p:nvSpPr>
          <p:cNvPr id="17" name="Shape 8"/>
          <p:cNvSpPr/>
          <p:nvPr/>
        </p:nvSpPr>
        <p:spPr>
          <a:xfrm>
            <a:off x="3232120" y="1531292"/>
            <a:ext cx="2652416" cy="2690699"/>
          </a:xfrm>
          <a:prstGeom prst="rect">
            <a:avLst/>
          </a:prstGeom>
          <a:solidFill>
            <a:srgbClr val="69D16A"/>
          </a:solidFill>
          <a:ln/>
        </p:spPr>
      </p:sp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96187" y="3565722"/>
            <a:ext cx="49220" cy="49220"/>
          </a:xfrm>
          <a:prstGeom prst="rect">
            <a:avLst/>
          </a:prstGeom>
        </p:spPr>
      </p:pic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96187" y="3007895"/>
            <a:ext cx="49220" cy="54689"/>
          </a:xfrm>
          <a:prstGeom prst="rect">
            <a:avLst/>
          </a:prstGeom>
        </p:spPr>
      </p:pic>
      <p:pic>
        <p:nvPicPr>
          <p:cNvPr id="2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96187" y="2466474"/>
            <a:ext cx="49220" cy="49220"/>
          </a:xfrm>
          <a:prstGeom prst="rect">
            <a:avLst/>
          </a:prstGeom>
        </p:spPr>
      </p:pic>
      <p:pic>
        <p:nvPicPr>
          <p:cNvPr id="2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39938" y="1700828"/>
            <a:ext cx="650799" cy="590641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3560254" y="3494627"/>
            <a:ext cx="2057400" cy="51954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41" dirty="0">
                <a:solidFill>
                  <a:srgbClr val="19371A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Provides scalable dashboards,</a:t>
            </a:r>
            <a:endParaRPr lang="en-US" sz="1141" dirty="0"/>
          </a:p>
          <a:p>
            <a:pPr algn="l" indent="0" marL="0">
              <a:buNone/>
            </a:pPr>
            <a:r>
              <a:rPr lang="en-US" sz="1141" dirty="0">
                <a:solidFill>
                  <a:srgbClr val="19371A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reporting and workflow</a:t>
            </a:r>
            <a:endParaRPr lang="en-US" sz="1141" dirty="0"/>
          </a:p>
          <a:p>
            <a:pPr algn="l" indent="0" marL="0">
              <a:buNone/>
            </a:pPr>
            <a:r>
              <a:rPr lang="en-US" sz="1141" dirty="0">
                <a:solidFill>
                  <a:srgbClr val="19371A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automation.</a:t>
            </a:r>
            <a:endParaRPr lang="en-US" sz="1141" dirty="0"/>
          </a:p>
        </p:txBody>
      </p:sp>
      <p:sp>
        <p:nvSpPr>
          <p:cNvPr id="23" name="Text 10"/>
          <p:cNvSpPr/>
          <p:nvPr/>
        </p:nvSpPr>
        <p:spPr>
          <a:xfrm>
            <a:off x="3560254" y="2942268"/>
            <a:ext cx="2153653" cy="51407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45" dirty="0">
                <a:solidFill>
                  <a:srgbClr val="1C3C1D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Develops reusable test suites,</a:t>
            </a:r>
            <a:endParaRPr lang="en-US" sz="1145" dirty="0"/>
          </a:p>
          <a:p>
            <a:pPr algn="l" indent="0" marL="0">
              <a:buNone/>
            </a:pPr>
            <a:r>
              <a:rPr lang="en-US" sz="1145" dirty="0">
                <a:solidFill>
                  <a:srgbClr val="1C3C1D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LLM-as-a-judge, RAG / agentic</a:t>
            </a:r>
            <a:endParaRPr lang="en-US" sz="1145" dirty="0"/>
          </a:p>
          <a:p>
            <a:pPr algn="l" indent="0" marL="0">
              <a:buNone/>
            </a:pPr>
            <a:r>
              <a:rPr lang="en-US" sz="1145" dirty="0">
                <a:solidFill>
                  <a:srgbClr val="1C3C1D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testing and evidence capture.</a:t>
            </a:r>
            <a:endParaRPr lang="en-US" sz="1145" dirty="0"/>
          </a:p>
        </p:txBody>
      </p:sp>
      <p:sp>
        <p:nvSpPr>
          <p:cNvPr id="24" name="Text 11"/>
          <p:cNvSpPr/>
          <p:nvPr/>
        </p:nvSpPr>
        <p:spPr>
          <a:xfrm>
            <a:off x="3560254" y="2389909"/>
            <a:ext cx="1937084" cy="51954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15" dirty="0">
                <a:solidFill>
                  <a:srgbClr val="1C3A1D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Builds tooling to support</a:t>
            </a:r>
            <a:endParaRPr lang="en-US" sz="1115" dirty="0"/>
          </a:p>
          <a:p>
            <a:pPr algn="l" indent="0" marL="0">
              <a:buNone/>
            </a:pPr>
            <a:r>
              <a:rPr lang="en-US" sz="1115" dirty="0">
                <a:solidFill>
                  <a:srgbClr val="1C3A1D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repeatable Al validation and</a:t>
            </a:r>
            <a:endParaRPr lang="en-US" sz="1115" dirty="0"/>
          </a:p>
          <a:p>
            <a:pPr algn="l" indent="0" marL="0">
              <a:buNone/>
            </a:pPr>
            <a:r>
              <a:rPr lang="en-US" sz="1115" dirty="0">
                <a:solidFill>
                  <a:srgbClr val="1C3A1D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oversight.</a:t>
            </a:r>
            <a:endParaRPr lang="en-US" sz="1115" dirty="0"/>
          </a:p>
        </p:txBody>
      </p:sp>
      <p:sp>
        <p:nvSpPr>
          <p:cNvPr id="25" name="Text 12"/>
          <p:cNvSpPr/>
          <p:nvPr/>
        </p:nvSpPr>
        <p:spPr>
          <a:xfrm>
            <a:off x="4211053" y="1941459"/>
            <a:ext cx="1401679" cy="21875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9" b="1" dirty="0">
                <a:solidFill>
                  <a:srgbClr val="112411"/>
                </a:solidFill>
                <a:latin typeface="Rosario" pitchFamily="34" charset="0"/>
                <a:ea typeface="Rosario" pitchFamily="34" charset="-122"/>
                <a:cs typeface="Rosario" pitchFamily="34" charset="-120"/>
              </a:rPr>
              <a:t>Al Tech &amp; Tooling</a:t>
            </a:r>
            <a:endParaRPr lang="en-US" sz="1279" dirty="0"/>
          </a:p>
        </p:txBody>
      </p:sp>
      <p:sp>
        <p:nvSpPr>
          <p:cNvPr id="26" name="Shape 13"/>
          <p:cNvSpPr/>
          <p:nvPr/>
        </p:nvSpPr>
        <p:spPr>
          <a:xfrm>
            <a:off x="267976" y="1525823"/>
            <a:ext cx="2772732" cy="2696167"/>
          </a:xfrm>
          <a:prstGeom prst="rect">
            <a:avLst/>
          </a:prstGeom>
          <a:solidFill>
            <a:srgbClr val="CBF0C9"/>
          </a:solidFill>
          <a:ln/>
        </p:spPr>
      </p:sp>
      <p:pic>
        <p:nvPicPr>
          <p:cNvPr id="2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6574" y="3297746"/>
            <a:ext cx="49220" cy="49220"/>
          </a:xfrm>
          <a:prstGeom prst="rect">
            <a:avLst/>
          </a:prstGeom>
        </p:spPr>
      </p:pic>
      <p:pic>
        <p:nvPicPr>
          <p:cNvPr id="2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6574" y="2882110"/>
            <a:ext cx="49220" cy="49220"/>
          </a:xfrm>
          <a:prstGeom prst="rect">
            <a:avLst/>
          </a:prstGeom>
        </p:spPr>
      </p:pic>
      <p:pic>
        <p:nvPicPr>
          <p:cNvPr id="2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6574" y="2466474"/>
            <a:ext cx="49220" cy="49220"/>
          </a:xfrm>
          <a:prstGeom prst="rect">
            <a:avLst/>
          </a:prstGeom>
        </p:spPr>
      </p:pic>
      <p:pic>
        <p:nvPicPr>
          <p:cNvPr id="3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8450" y="1771923"/>
            <a:ext cx="535952" cy="514077"/>
          </a:xfrm>
          <a:prstGeom prst="rect">
            <a:avLst/>
          </a:prstGeom>
        </p:spPr>
      </p:pic>
      <p:pic>
        <p:nvPicPr>
          <p:cNvPr id="3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51589" y="1689890"/>
            <a:ext cx="131254" cy="136722"/>
          </a:xfrm>
          <a:prstGeom prst="rect">
            <a:avLst/>
          </a:prstGeom>
        </p:spPr>
      </p:pic>
      <p:sp>
        <p:nvSpPr>
          <p:cNvPr id="32" name="Text 14"/>
          <p:cNvSpPr/>
          <p:nvPr/>
        </p:nvSpPr>
        <p:spPr>
          <a:xfrm>
            <a:off x="590641" y="3226651"/>
            <a:ext cx="2304047" cy="53048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2" dirty="0">
                <a:solidFill>
                  <a:srgbClr val="364335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Promotes consistent expectations</a:t>
            </a:r>
            <a:endParaRPr lang="en-US" sz="1102" dirty="0"/>
          </a:p>
          <a:p>
            <a:pPr algn="l" indent="0" marL="0">
              <a:buNone/>
            </a:pPr>
            <a:r>
              <a:rPr lang="en-US" sz="1102" dirty="0">
                <a:solidFill>
                  <a:srgbClr val="364335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for transparency, fairness, security</a:t>
            </a:r>
            <a:endParaRPr lang="en-US" sz="1102" dirty="0"/>
          </a:p>
          <a:p>
            <a:pPr algn="l" indent="0" marL="0">
              <a:buNone/>
            </a:pPr>
            <a:r>
              <a:rPr lang="en-US" sz="1102" dirty="0">
                <a:solidFill>
                  <a:srgbClr val="364335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and regulatory compliance.</a:t>
            </a:r>
            <a:endParaRPr lang="en-US" sz="1102" dirty="0"/>
          </a:p>
        </p:txBody>
      </p:sp>
      <p:sp>
        <p:nvSpPr>
          <p:cNvPr id="33" name="Text 15"/>
          <p:cNvSpPr/>
          <p:nvPr/>
        </p:nvSpPr>
        <p:spPr>
          <a:xfrm>
            <a:off x="590641" y="2811014"/>
            <a:ext cx="1913021" cy="32813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41" dirty="0">
                <a:solidFill>
                  <a:srgbClr val="364437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Supports triage, routing and</a:t>
            </a:r>
            <a:endParaRPr lang="en-US" sz="1141" dirty="0"/>
          </a:p>
          <a:p>
            <a:pPr algn="l" indent="0" marL="0">
              <a:buNone/>
            </a:pPr>
            <a:r>
              <a:rPr lang="en-US" sz="1141" dirty="0">
                <a:solidFill>
                  <a:srgbClr val="364437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cross-risk review.</a:t>
            </a:r>
            <a:endParaRPr lang="en-US" sz="1141" dirty="0"/>
          </a:p>
        </p:txBody>
      </p:sp>
      <p:sp>
        <p:nvSpPr>
          <p:cNvPr id="34" name="Text 16"/>
          <p:cNvSpPr/>
          <p:nvPr/>
        </p:nvSpPr>
        <p:spPr>
          <a:xfrm>
            <a:off x="590641" y="2395378"/>
            <a:ext cx="2298032" cy="34454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2" dirty="0">
                <a:solidFill>
                  <a:srgbClr val="333F32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Coordinates Al use case oversight</a:t>
            </a:r>
            <a:endParaRPr lang="en-US" sz="1102" dirty="0"/>
          </a:p>
          <a:p>
            <a:pPr algn="l" indent="0" marL="0">
              <a:buNone/>
            </a:pPr>
            <a:r>
              <a:rPr lang="en-US" sz="1102" dirty="0">
                <a:solidFill>
                  <a:srgbClr val="333F32"/>
                </a:solidFill>
                <a:latin typeface="Cagliostro" pitchFamily="34" charset="0"/>
                <a:ea typeface="Cagliostro" pitchFamily="34" charset="-122"/>
                <a:cs typeface="Cagliostro" pitchFamily="34" charset="-120"/>
              </a:rPr>
              <a:t>across the lifecycle.</a:t>
            </a:r>
            <a:endParaRPr lang="en-US" sz="1102" dirty="0"/>
          </a:p>
        </p:txBody>
      </p:sp>
      <p:sp>
        <p:nvSpPr>
          <p:cNvPr id="35" name="Text 17"/>
          <p:cNvSpPr/>
          <p:nvPr/>
        </p:nvSpPr>
        <p:spPr>
          <a:xfrm>
            <a:off x="1279722" y="1941459"/>
            <a:ext cx="1431758" cy="21875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9" b="1" dirty="0">
                <a:solidFill>
                  <a:srgbClr val="242D24"/>
                </a:solidFill>
                <a:latin typeface="Rosario" pitchFamily="34" charset="0"/>
                <a:ea typeface="Rosario" pitchFamily="34" charset="-122"/>
                <a:cs typeface="Rosario" pitchFamily="34" charset="-120"/>
              </a:rPr>
              <a:t>Al Risk Oversight</a:t>
            </a:r>
            <a:endParaRPr lang="en-US" sz="1279" dirty="0"/>
          </a:p>
        </p:txBody>
      </p:sp>
      <p:sp>
        <p:nvSpPr>
          <p:cNvPr id="36" name="Shape 18"/>
          <p:cNvSpPr/>
          <p:nvPr/>
        </p:nvSpPr>
        <p:spPr>
          <a:xfrm>
            <a:off x="267976" y="885962"/>
            <a:ext cx="8608048" cy="508608"/>
          </a:xfrm>
          <a:prstGeom prst="rect">
            <a:avLst/>
          </a:prstGeom>
          <a:solidFill>
            <a:srgbClr val="CBEDC9"/>
          </a:solidFill>
          <a:ln/>
        </p:spPr>
      </p:sp>
      <p:pic>
        <p:nvPicPr>
          <p:cNvPr id="37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48469" y="957057"/>
            <a:ext cx="333603" cy="333603"/>
          </a:xfrm>
          <a:prstGeom prst="rect">
            <a:avLst/>
          </a:prstGeom>
        </p:spPr>
      </p:pic>
      <p:sp>
        <p:nvSpPr>
          <p:cNvPr id="38" name="Text 19"/>
          <p:cNvSpPr/>
          <p:nvPr/>
        </p:nvSpPr>
        <p:spPr>
          <a:xfrm>
            <a:off x="1580512" y="935182"/>
            <a:ext cx="7056521" cy="4101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5" b="1" dirty="0">
                <a:solidFill>
                  <a:srgbClr val="313B30"/>
                </a:solidFill>
                <a:latin typeface="Ysabeau" pitchFamily="34" charset="0"/>
                <a:ea typeface="Ysabeau" pitchFamily="34" charset="-122"/>
                <a:cs typeface="Ysabeau" pitchFamily="34" charset="-120"/>
              </a:rPr>
              <a:t>MRO provides the central second-line front door for Al risk oversight while accountable</a:t>
            </a:r>
            <a:endParaRPr lang="en-US" sz="1335" dirty="0"/>
          </a:p>
          <a:p>
            <a:pPr algn="l" indent="0" marL="0">
              <a:buNone/>
            </a:pPr>
            <a:r>
              <a:rPr lang="en-US" sz="1335" b="1" dirty="0">
                <a:solidFill>
                  <a:srgbClr val="313B30"/>
                </a:solidFill>
                <a:latin typeface="Ysabeau" pitchFamily="34" charset="0"/>
                <a:ea typeface="Ysabeau" pitchFamily="34" charset="-122"/>
                <a:cs typeface="Ysabeau" pitchFamily="34" charset="-120"/>
              </a:rPr>
              <a:t>policy and control ownership remains with relevant domain owners.</a:t>
            </a:r>
            <a:endParaRPr lang="en-US" sz="1335" dirty="0"/>
          </a:p>
        </p:txBody>
      </p:sp>
      <p:pic>
        <p:nvPicPr>
          <p:cNvPr id="39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53359" y="213287"/>
            <a:ext cx="322665" cy="328134"/>
          </a:xfrm>
          <a:prstGeom prst="rect">
            <a:avLst/>
          </a:prstGeom>
        </p:spPr>
      </p:pic>
      <p:sp>
        <p:nvSpPr>
          <p:cNvPr id="40" name="Text 20"/>
          <p:cNvSpPr/>
          <p:nvPr/>
        </p:nvSpPr>
        <p:spPr>
          <a:xfrm>
            <a:off x="311727" y="355478"/>
            <a:ext cx="8394761" cy="36094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272727"/>
                </a:solidFill>
                <a:latin typeface="Asul" pitchFamily="34" charset="0"/>
                <a:ea typeface="Asul" pitchFamily="34" charset="-122"/>
                <a:cs typeface="Asul" pitchFamily="34" charset="-120"/>
              </a:rPr>
              <a:t>MRO is Leading the Second-Line Al Risk Oversight Agenda</a:t>
            </a:r>
            <a:endParaRPr lang="en-US" sz="21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2026-06-28T06:47:53Z</dcterms:created>
  <dcterms:modified xsi:type="dcterms:W3CDTF">2026-06-28T06:47:53Z</dcterms:modified>
</cp:coreProperties>
</file>