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jpe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jpeg"/><Relationship Id="rId14" Type="http://schemas.openxmlformats.org/officeDocument/2006/relationships/image" Target="../media/image-2-14.png"/><Relationship Id="rId15" Type="http://schemas.openxmlformats.org/officeDocument/2006/relationships/image" Target="../media/image-2-15.jpe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image" Target="../media/image-3-5.jpe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jpe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jpeg"/><Relationship Id="rId38" Type="http://schemas.openxmlformats.org/officeDocument/2006/relationships/image" Target="../media/image-3-38.png"/><Relationship Id="rId39" Type="http://schemas.openxmlformats.org/officeDocument/2006/relationships/image" Target="../media/image-3-39.jpe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image" Target="../media/image-3-45.png"/><Relationship Id="rId46" Type="http://schemas.openxmlformats.org/officeDocument/2006/relationships/image" Target="../media/image-3-46.png"/><Relationship Id="rId47" Type="http://schemas.openxmlformats.org/officeDocument/2006/relationships/image" Target="../media/image-3-47.png"/><Relationship Id="rId48" Type="http://schemas.openxmlformats.org/officeDocument/2006/relationships/image" Target="../media/image-3-48.png"/><Relationship Id="rId49" Type="http://schemas.openxmlformats.org/officeDocument/2006/relationships/image" Target="../media/image-3-49.png"/><Relationship Id="rId50" Type="http://schemas.openxmlformats.org/officeDocument/2006/relationships/slideLayout" Target="../slideLayouts/slideLayout1.xml"/><Relationship Id="rId5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jpeg"/><Relationship Id="rId12" Type="http://schemas.openxmlformats.org/officeDocument/2006/relationships/image" Target="../media/image-4-12.jpeg"/><Relationship Id="rId13" Type="http://schemas.openxmlformats.org/officeDocument/2006/relationships/image" Target="../media/image-4-13.png"/><Relationship Id="rId14" Type="http://schemas.openxmlformats.org/officeDocument/2006/relationships/image" Target="../media/image-4-14.jpe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jpe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jpe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34350"/>
            <a:ext cx="15925800" cy="8286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8334375"/>
            <a:ext cx="8001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44775" y="8429625"/>
            <a:ext cx="257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733" dirty="0">
                <a:solidFill>
                  <a:srgbClr val="A7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733" dirty="0"/>
          </a:p>
        </p:txBody>
      </p:sp>
      <p:sp>
        <p:nvSpPr>
          <p:cNvPr id="6" name="Text 2"/>
          <p:cNvSpPr/>
          <p:nvPr/>
        </p:nvSpPr>
        <p:spPr>
          <a:xfrm>
            <a:off x="1304925" y="8362950"/>
            <a:ext cx="135921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5" b="1" dirty="0">
                <a:solidFill>
                  <a:srgbClr val="B8C7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does not reside in one repository-it emerges from the governed combination of logic, assets, evidence, decisions and calibration history.</a:t>
            </a:r>
            <a:endParaRPr lang="en-US" sz="146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925800" cy="813435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7515225"/>
            <a:ext cx="15468600" cy="60960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350" y="7581900"/>
            <a:ext cx="381000" cy="4762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809750" y="7658100"/>
            <a:ext cx="1210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707" dirty="0">
                <a:solidFill>
                  <a:srgbClr val="3D5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&amp; control: ownership · approvals · versioning · access control · traceability · calibration · release management</a:t>
            </a:r>
            <a:endParaRPr lang="en-US" sz="1707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7625" y="6191250"/>
            <a:ext cx="609600" cy="276225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2115800" y="971550"/>
            <a:ext cx="3457575" cy="6496050"/>
          </a:xfrm>
          <a:prstGeom prst="roundRect">
            <a:avLst>
              <a:gd name="adj" fmla="val 1240"/>
            </a:avLst>
          </a:prstGeom>
          <a:solidFill>
            <a:srgbClr val="073A20"/>
          </a:solidFill>
          <a:ln w="19050">
            <a:solidFill>
              <a:srgbClr val="8C873B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12506325" y="6048375"/>
            <a:ext cx="27622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83"/>
              </a:lnSpc>
              <a:buNone/>
            </a:pPr>
            <a:r>
              <a:rPr lang="en-US" sz="1543" b="1" dirty="0">
                <a:solidFill>
                  <a:srgbClr val="93B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Consistent, evidence-based</a:t>
            </a:r>
            <a:endParaRPr lang="en-US" sz="1543" dirty="0"/>
          </a:p>
          <a:p>
            <a:pPr algn="ctr" indent="0" marL="0">
              <a:lnSpc>
                <a:spcPts val="1883"/>
              </a:lnSpc>
              <a:buNone/>
            </a:pPr>
            <a:r>
              <a:rPr lang="en-US" sz="1543" b="1" dirty="0">
                <a:solidFill>
                  <a:srgbClr val="93B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progressively improving</a:t>
            </a:r>
            <a:endParaRPr lang="en-US" sz="1543" dirty="0"/>
          </a:p>
          <a:p>
            <a:pPr algn="ctr" indent="0" marL="0">
              <a:lnSpc>
                <a:spcPts val="1883"/>
              </a:lnSpc>
              <a:buNone/>
            </a:pPr>
            <a:r>
              <a:rPr lang="en-US" sz="1543" b="1" dirty="0">
                <a:solidFill>
                  <a:srgbClr val="93BB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across Layers 1-3</a:t>
            </a:r>
            <a:endParaRPr lang="en-US" sz="1543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15850" y="5848350"/>
            <a:ext cx="2752725" cy="857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2639675" y="5400675"/>
            <a:ext cx="2505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1400" b="1" dirty="0">
                <a:solidFill>
                  <a:srgbClr val="C7D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&amp; governance</a:t>
            </a:r>
            <a:endParaRPr lang="en-US" sz="1400" dirty="0"/>
          </a:p>
        </p:txBody>
      </p:sp>
      <p:sp>
        <p:nvSpPr>
          <p:cNvPr id="16" name="Text 7"/>
          <p:cNvSpPr/>
          <p:nvPr/>
        </p:nvSpPr>
        <p:spPr>
          <a:xfrm>
            <a:off x="13773150" y="5105400"/>
            <a:ext cx="180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2160" dirty="0">
                <a:solidFill>
                  <a:srgbClr val="A18E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160" dirty="0"/>
          </a:p>
        </p:txBody>
      </p:sp>
      <p:sp>
        <p:nvSpPr>
          <p:cNvPr id="17" name="Text 8"/>
          <p:cNvSpPr/>
          <p:nvPr/>
        </p:nvSpPr>
        <p:spPr>
          <a:xfrm>
            <a:off x="13020675" y="4762500"/>
            <a:ext cx="1695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413" b="1" dirty="0">
                <a:solidFill>
                  <a:srgbClr val="C2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records</a:t>
            </a:r>
            <a:endParaRPr lang="en-US" sz="1413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73150" y="4495800"/>
            <a:ext cx="161925" cy="18097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2601575" y="4133850"/>
            <a:ext cx="2543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2"/>
              </a:lnSpc>
              <a:buNone/>
            </a:pPr>
            <a:r>
              <a:rPr lang="en-US" sz="1387" b="1" dirty="0">
                <a:solidFill>
                  <a:srgbClr val="BECC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assets &amp; evidence</a:t>
            </a:r>
            <a:endParaRPr lang="en-US" sz="1387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73150" y="3867150"/>
            <a:ext cx="161925" cy="18097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2763500" y="3505200"/>
            <a:ext cx="2228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1412" b="1" dirty="0">
                <a:solidFill>
                  <a:srgbClr val="BDCC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MRO decisions</a:t>
            </a:r>
            <a:endParaRPr lang="en-US" sz="1412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73150" y="3248025"/>
            <a:ext cx="161925" cy="17145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2896850" y="2600325"/>
            <a:ext cx="19240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79"/>
              </a:lnSpc>
              <a:buNone/>
            </a:pPr>
            <a:r>
              <a:rPr lang="en-US" sz="1437" b="1" dirty="0">
                <a:solidFill>
                  <a:srgbClr val="BBCB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evaluation</a:t>
            </a:r>
            <a:endParaRPr lang="en-US" sz="1437" dirty="0"/>
          </a:p>
          <a:p>
            <a:pPr algn="ctr" indent="0" marL="0">
              <a:lnSpc>
                <a:spcPts val="1779"/>
              </a:lnSpc>
              <a:buNone/>
            </a:pPr>
            <a:r>
              <a:rPr lang="en-US" sz="1437" b="1" dirty="0">
                <a:solidFill>
                  <a:srgbClr val="BBCB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1437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73150" y="2362200"/>
            <a:ext cx="161925" cy="17145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12706350" y="1714500"/>
            <a:ext cx="2324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64"/>
              </a:lnSpc>
              <a:buNone/>
            </a:pPr>
            <a:r>
              <a:rPr lang="en-US" sz="1446" b="1" dirty="0">
                <a:solidFill>
                  <a:srgbClr val="BFCD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methodology &amp;</a:t>
            </a:r>
            <a:endParaRPr lang="en-US" sz="1446" dirty="0"/>
          </a:p>
          <a:p>
            <a:pPr algn="ctr" indent="0" marL="0">
              <a:lnSpc>
                <a:spcPts val="1764"/>
              </a:lnSpc>
              <a:buNone/>
            </a:pPr>
            <a:r>
              <a:rPr lang="en-US" sz="1446" b="1" dirty="0">
                <a:solidFill>
                  <a:srgbClr val="BFCD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logic</a:t>
            </a:r>
            <a:endParaRPr lang="en-US" sz="1446" dirty="0"/>
          </a:p>
        </p:txBody>
      </p:sp>
      <p:sp>
        <p:nvSpPr>
          <p:cNvPr id="26" name="Text 13"/>
          <p:cNvSpPr/>
          <p:nvPr/>
        </p:nvSpPr>
        <p:spPr>
          <a:xfrm>
            <a:off x="12411075" y="1209675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8"/>
              </a:lnSpc>
              <a:buNone/>
            </a:pPr>
            <a:r>
              <a:rPr lang="en-US" sz="1896" b="1" dirty="0">
                <a:solidFill>
                  <a:srgbClr val="D1DB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Al Risk Intelligence</a:t>
            </a:r>
            <a:endParaRPr lang="en-US" sz="1896" dirty="0"/>
          </a:p>
        </p:txBody>
      </p:sp>
      <p:sp>
        <p:nvSpPr>
          <p:cNvPr id="27" name="Shape 14"/>
          <p:cNvSpPr/>
          <p:nvPr/>
        </p:nvSpPr>
        <p:spPr>
          <a:xfrm>
            <a:off x="6858000" y="5448300"/>
            <a:ext cx="4619625" cy="1571625"/>
          </a:xfrm>
          <a:prstGeom prst="roundRect">
            <a:avLst>
              <a:gd name="adj" fmla="val 6061"/>
            </a:avLst>
          </a:prstGeom>
          <a:solidFill>
            <a:srgbClr val="EEF4EB"/>
          </a:solidFill>
          <a:ln w="19050">
            <a:solidFill>
              <a:srgbClr val="385745"/>
            </a:solidFill>
            <a:prstDash val="solid"/>
          </a:ln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7550" y="5705475"/>
            <a:ext cx="942975" cy="885825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239125" y="6638925"/>
            <a:ext cx="284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7"/>
              </a:lnSpc>
              <a:buNone/>
            </a:pPr>
            <a:r>
              <a:rPr lang="en-US" sz="1275" b="1" dirty="0">
                <a:solidFill>
                  <a:srgbClr val="45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· Traces · Calibration packs</a:t>
            </a:r>
            <a:endParaRPr lang="en-US" sz="1275" dirty="0"/>
          </a:p>
        </p:txBody>
      </p:sp>
      <p:sp>
        <p:nvSpPr>
          <p:cNvPr id="30" name="Text 16"/>
          <p:cNvSpPr/>
          <p:nvPr/>
        </p:nvSpPr>
        <p:spPr>
          <a:xfrm>
            <a:off x="8410575" y="6343650"/>
            <a:ext cx="2476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319" b="1" dirty="0">
                <a:solidFill>
                  <a:srgbClr val="4B4F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assets · Evidence ·</a:t>
            </a:r>
            <a:endParaRPr lang="en-US" sz="1319" dirty="0"/>
          </a:p>
        </p:txBody>
      </p:sp>
      <p:sp>
        <p:nvSpPr>
          <p:cNvPr id="31" name="Text 17"/>
          <p:cNvSpPr/>
          <p:nvPr/>
        </p:nvSpPr>
        <p:spPr>
          <a:xfrm>
            <a:off x="9429750" y="6019800"/>
            <a:ext cx="495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746" b="1" dirty="0">
                <a:solidFill>
                  <a:srgbClr val="3D7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GCS</a:t>
            </a:r>
            <a:endParaRPr lang="en-US" sz="1746" dirty="0"/>
          </a:p>
        </p:txBody>
      </p:sp>
      <p:sp>
        <p:nvSpPr>
          <p:cNvPr id="32" name="Text 18"/>
          <p:cNvSpPr/>
          <p:nvPr/>
        </p:nvSpPr>
        <p:spPr>
          <a:xfrm>
            <a:off x="8286750" y="5610225"/>
            <a:ext cx="28384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6"/>
              </a:lnSpc>
              <a:buNone/>
            </a:pPr>
            <a:r>
              <a:rPr lang="en-US" sz="1912" b="1" dirty="0">
                <a:solidFill>
                  <a:srgbClr val="355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Asset Store</a:t>
            </a:r>
            <a:endParaRPr lang="en-US" sz="1912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6150" y="5143500"/>
            <a:ext cx="1362075" cy="114300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8115300" y="2847975"/>
            <a:ext cx="3381375" cy="1571625"/>
          </a:xfrm>
          <a:prstGeom prst="roundRect">
            <a:avLst>
              <a:gd name="adj" fmla="val 6061"/>
            </a:avLst>
          </a:prstGeom>
          <a:solidFill>
            <a:srgbClr val="E7F0E4"/>
          </a:solidFill>
          <a:ln w="19050">
            <a:solidFill>
              <a:srgbClr val="42664F"/>
            </a:solidFill>
            <a:prstDash val="solid"/>
          </a:ln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4375" y="3200400"/>
            <a:ext cx="819150" cy="752475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9324975" y="3648075"/>
            <a:ext cx="1905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1"/>
              </a:lnSpc>
              <a:buNone/>
            </a:pPr>
            <a:r>
              <a:rPr lang="en-US" sz="1265" b="1" dirty="0">
                <a:solidFill>
                  <a:srgbClr val="475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Connectors · Ingestion ·</a:t>
            </a:r>
            <a:endParaRPr lang="en-US" sz="1265" dirty="0"/>
          </a:p>
          <a:p>
            <a:pPr algn="l" indent="0" marL="0">
              <a:lnSpc>
                <a:spcPts val="1691"/>
              </a:lnSpc>
              <a:buNone/>
            </a:pPr>
            <a:r>
              <a:rPr lang="en-US" sz="1265" b="1" dirty="0">
                <a:solidFill>
                  <a:srgbClr val="475B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· Observability</a:t>
            </a:r>
            <a:endParaRPr lang="en-US" sz="1265" dirty="0"/>
          </a:p>
        </p:txBody>
      </p:sp>
      <p:sp>
        <p:nvSpPr>
          <p:cNvPr id="37" name="Text 21"/>
          <p:cNvSpPr/>
          <p:nvPr/>
        </p:nvSpPr>
        <p:spPr>
          <a:xfrm>
            <a:off x="9277350" y="2990850"/>
            <a:ext cx="19526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57"/>
              </a:lnSpc>
              <a:buNone/>
            </a:pPr>
            <a:r>
              <a:rPr lang="en-US" sz="1932" b="1" dirty="0">
                <a:solidFill>
                  <a:srgbClr val="2E5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mro-ai-platform-</a:t>
            </a:r>
            <a:endParaRPr lang="en-US" sz="1932" dirty="0"/>
          </a:p>
          <a:p>
            <a:pPr algn="ctr" indent="0" marL="0">
              <a:lnSpc>
                <a:spcPts val="2357"/>
              </a:lnSpc>
              <a:buNone/>
            </a:pPr>
            <a:r>
              <a:rPr lang="en-US" sz="1932" b="1" dirty="0">
                <a:solidFill>
                  <a:srgbClr val="2E5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</a:t>
            </a:r>
            <a:endParaRPr lang="en-US" sz="1932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25025" y="4410075"/>
            <a:ext cx="190500" cy="1028700"/>
          </a:xfrm>
          <a:prstGeom prst="rect">
            <a:avLst/>
          </a:prstGeom>
        </p:spPr>
      </p:pic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77625" y="3305175"/>
            <a:ext cx="609600" cy="276225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5057775" y="5229225"/>
            <a:ext cx="1781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1248" dirty="0">
                <a:solidFill>
                  <a:srgbClr val="6666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Provenance · Versioning</a:t>
            </a:r>
            <a:endParaRPr lang="en-US" sz="1248" dirty="0"/>
          </a:p>
        </p:txBody>
      </p:sp>
      <p:sp>
        <p:nvSpPr>
          <p:cNvPr id="41" name="Shape 23"/>
          <p:cNvSpPr/>
          <p:nvPr/>
        </p:nvSpPr>
        <p:spPr>
          <a:xfrm>
            <a:off x="409575" y="5448300"/>
            <a:ext cx="4600575" cy="1571625"/>
          </a:xfrm>
          <a:prstGeom prst="roundRect">
            <a:avLst>
              <a:gd name="adj" fmla="val 6061"/>
            </a:avLst>
          </a:prstGeom>
          <a:solidFill>
            <a:srgbClr val="EEF4EB"/>
          </a:solidFill>
          <a:ln w="19050">
            <a:solidFill>
              <a:srgbClr val="3F5B49"/>
            </a:solidFill>
            <a:prstDash val="solid"/>
          </a:ln>
        </p:spPr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5686425"/>
            <a:ext cx="676275" cy="942975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1838325" y="6305550"/>
            <a:ext cx="27908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2"/>
              </a:lnSpc>
              <a:buNone/>
            </a:pPr>
            <a:r>
              <a:rPr lang="en-US" sz="1305" b="1" dirty="0">
                <a:solidFill>
                  <a:srgbClr val="4D5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decisions · Risk profiles</a:t>
            </a:r>
            <a:endParaRPr lang="en-US" sz="1305" dirty="0"/>
          </a:p>
          <a:p>
            <a:pPr algn="ctr" indent="0" marL="0">
              <a:lnSpc>
                <a:spcPts val="1602"/>
              </a:lnSpc>
              <a:buNone/>
            </a:pPr>
            <a:r>
              <a:rPr lang="en-US" sz="1305" b="1" dirty="0">
                <a:solidFill>
                  <a:srgbClr val="4D51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records · Approvals</a:t>
            </a:r>
            <a:endParaRPr lang="en-US" sz="1305" dirty="0"/>
          </a:p>
        </p:txBody>
      </p:sp>
      <p:sp>
        <p:nvSpPr>
          <p:cNvPr id="44" name="Text 25"/>
          <p:cNvSpPr/>
          <p:nvPr/>
        </p:nvSpPr>
        <p:spPr>
          <a:xfrm>
            <a:off x="2609850" y="6000750"/>
            <a:ext cx="123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5"/>
              </a:lnSpc>
              <a:buNone/>
            </a:pPr>
            <a:r>
              <a:rPr lang="en-US" sz="1637" b="1" dirty="0">
                <a:solidFill>
                  <a:srgbClr val="4878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637" dirty="0"/>
          </a:p>
        </p:txBody>
      </p:sp>
      <p:sp>
        <p:nvSpPr>
          <p:cNvPr id="45" name="Text 26"/>
          <p:cNvSpPr/>
          <p:nvPr/>
        </p:nvSpPr>
        <p:spPr>
          <a:xfrm>
            <a:off x="1905000" y="5591175"/>
            <a:ext cx="26765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87"/>
              </a:lnSpc>
              <a:buNone/>
            </a:pPr>
            <a:r>
              <a:rPr lang="en-US" sz="1999" b="1" dirty="0">
                <a:solidFill>
                  <a:srgbClr val="3354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Database</a:t>
            </a:r>
            <a:endParaRPr lang="en-US" sz="1999" dirty="0"/>
          </a:p>
        </p:txBody>
      </p:sp>
      <p:sp>
        <p:nvSpPr>
          <p:cNvPr id="46" name="Text 27"/>
          <p:cNvSpPr/>
          <p:nvPr/>
        </p:nvSpPr>
        <p:spPr>
          <a:xfrm>
            <a:off x="4676775" y="4972050"/>
            <a:ext cx="2533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1218" b="1" dirty="0">
                <a:solidFill>
                  <a:srgbClr val="525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identifiers · Metadata ·</a:t>
            </a:r>
            <a:endParaRPr lang="en-US" sz="1218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00375" y="5143500"/>
            <a:ext cx="1543050" cy="114300"/>
          </a:xfrm>
          <a:prstGeom prst="rect">
            <a:avLst/>
          </a:prstGeom>
        </p:spPr>
      </p:pic>
      <p:sp>
        <p:nvSpPr>
          <p:cNvPr id="48" name="Shape 28"/>
          <p:cNvSpPr/>
          <p:nvPr/>
        </p:nvSpPr>
        <p:spPr>
          <a:xfrm>
            <a:off x="4238625" y="2847975"/>
            <a:ext cx="3295650" cy="1571625"/>
          </a:xfrm>
          <a:prstGeom prst="roundRect">
            <a:avLst>
              <a:gd name="adj" fmla="val 6061"/>
            </a:avLst>
          </a:prstGeom>
          <a:solidFill>
            <a:srgbClr val="A6C2A1"/>
          </a:solidFill>
          <a:ln w="9525">
            <a:solidFill>
              <a:srgbClr val="30573C"/>
            </a:solidFill>
            <a:prstDash val="solid"/>
          </a:ln>
        </p:spPr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71975" y="3200400"/>
            <a:ext cx="800100" cy="847725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5343525" y="3676650"/>
            <a:ext cx="17811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57" dirty="0">
                <a:solidFill>
                  <a:srgbClr val="385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· Testing ·</a:t>
            </a:r>
            <a:endParaRPr lang="en-US" sz="1457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457" dirty="0">
                <a:solidFill>
                  <a:srgbClr val="385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Tracing · Evidence</a:t>
            </a:r>
            <a:endParaRPr lang="en-US" sz="1457" dirty="0"/>
          </a:p>
        </p:txBody>
      </p:sp>
      <p:sp>
        <p:nvSpPr>
          <p:cNvPr id="51" name="Text 30"/>
          <p:cNvSpPr/>
          <p:nvPr/>
        </p:nvSpPr>
        <p:spPr>
          <a:xfrm>
            <a:off x="5334000" y="3019425"/>
            <a:ext cx="208597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71"/>
              </a:lnSpc>
              <a:buNone/>
            </a:pPr>
            <a:r>
              <a:rPr lang="en-US" sz="1862" b="1" dirty="0">
                <a:solidFill>
                  <a:srgbClr val="1F4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mro-ai-controlled-</a:t>
            </a:r>
            <a:endParaRPr lang="en-US" sz="1862" dirty="0"/>
          </a:p>
          <a:p>
            <a:pPr algn="l" indent="0" marL="0">
              <a:lnSpc>
                <a:spcPts val="2271"/>
              </a:lnSpc>
              <a:buNone/>
            </a:pPr>
            <a:r>
              <a:rPr lang="en-US" sz="1862" b="1" dirty="0">
                <a:solidFill>
                  <a:srgbClr val="1F4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1862" dirty="0"/>
          </a:p>
        </p:txBody>
      </p:sp>
      <p:pic>
        <p:nvPicPr>
          <p:cNvPr id="5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81675" y="4410075"/>
            <a:ext cx="171450" cy="523875"/>
          </a:xfrm>
          <a:prstGeom prst="rect">
            <a:avLst/>
          </a:prstGeom>
        </p:spPr>
      </p:pic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15225" y="3429000"/>
            <a:ext cx="590550" cy="276225"/>
          </a:xfrm>
          <a:prstGeom prst="rect">
            <a:avLst/>
          </a:prstGeom>
        </p:spPr>
      </p:pic>
      <p:sp>
        <p:nvSpPr>
          <p:cNvPr id="54" name="Shape 31"/>
          <p:cNvSpPr/>
          <p:nvPr/>
        </p:nvSpPr>
        <p:spPr>
          <a:xfrm>
            <a:off x="466725" y="2847975"/>
            <a:ext cx="3419475" cy="1571625"/>
          </a:xfrm>
          <a:prstGeom prst="roundRect">
            <a:avLst>
              <a:gd name="adj" fmla="val 6061"/>
            </a:avLst>
          </a:prstGeom>
          <a:solidFill>
            <a:srgbClr val="073C20"/>
          </a:solidFill>
          <a:ln w="9525">
            <a:solidFill>
              <a:srgbClr val="1A3F29"/>
            </a:solidFill>
            <a:prstDash val="solid"/>
          </a:ln>
        </p:spPr>
      </p:sp>
      <p:sp>
        <p:nvSpPr>
          <p:cNvPr id="55" name="Text 32"/>
          <p:cNvSpPr/>
          <p:nvPr/>
        </p:nvSpPr>
        <p:spPr>
          <a:xfrm>
            <a:off x="1581150" y="3571875"/>
            <a:ext cx="21145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222" b="1" dirty="0">
                <a:solidFill>
                  <a:srgbClr val="B4C5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· Taxonomy ·</a:t>
            </a:r>
            <a:endParaRPr lang="en-US" sz="1222" dirty="0"/>
          </a:p>
          <a:p>
            <a:pPr algn="l" indent="0" marL="0">
              <a:lnSpc>
                <a:spcPts val="1491"/>
              </a:lnSpc>
              <a:buNone/>
            </a:pPr>
            <a:r>
              <a:rPr lang="en-US" sz="1222" b="1" dirty="0">
                <a:solidFill>
                  <a:srgbClr val="B4C5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Logic · Calibration</a:t>
            </a:r>
            <a:endParaRPr lang="en-US" sz="1222" dirty="0"/>
          </a:p>
        </p:txBody>
      </p:sp>
      <p:sp>
        <p:nvSpPr>
          <p:cNvPr id="56" name="Text 33"/>
          <p:cNvSpPr/>
          <p:nvPr/>
        </p:nvSpPr>
        <p:spPr>
          <a:xfrm>
            <a:off x="1657350" y="3086100"/>
            <a:ext cx="1885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892" b="1" dirty="0">
                <a:solidFill>
                  <a:srgbClr val="D0D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mro-ai-risk-core</a:t>
            </a:r>
            <a:endParaRPr lang="en-US" sz="1892" dirty="0"/>
          </a:p>
        </p:txBody>
      </p:sp>
      <p:pic>
        <p:nvPicPr>
          <p:cNvPr id="5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6750" y="3152775"/>
            <a:ext cx="742950" cy="981075"/>
          </a:xfrm>
          <a:prstGeom prst="rect">
            <a:avLst/>
          </a:prstGeom>
        </p:spPr>
      </p:pic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05025" y="4410075"/>
            <a:ext cx="209550" cy="1028700"/>
          </a:xfrm>
          <a:prstGeom prst="rect">
            <a:avLst/>
          </a:prstGeom>
        </p:spPr>
      </p:pic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6725" y="1066800"/>
            <a:ext cx="11049000" cy="1219200"/>
          </a:xfrm>
          <a:prstGeom prst="rect">
            <a:avLst/>
          </a:prstGeom>
        </p:spPr>
      </p:pic>
      <p:pic>
        <p:nvPicPr>
          <p:cNvPr id="6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76450" y="1257300"/>
            <a:ext cx="971550" cy="847725"/>
          </a:xfrm>
          <a:prstGeom prst="rect">
            <a:avLst/>
          </a:prstGeom>
        </p:spPr>
      </p:pic>
      <p:sp>
        <p:nvSpPr>
          <p:cNvPr id="61" name="Text 34"/>
          <p:cNvSpPr/>
          <p:nvPr/>
        </p:nvSpPr>
        <p:spPr>
          <a:xfrm>
            <a:off x="3619500" y="1743075"/>
            <a:ext cx="5314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7"/>
              </a:lnSpc>
              <a:buNone/>
            </a:pPr>
            <a:r>
              <a:rPr lang="en-US" sz="1684" b="1" dirty="0">
                <a:solidFill>
                  <a:srgbClr val="5455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Layers 1–3 · UI · APIs · Workflows · Human Review</a:t>
            </a:r>
            <a:endParaRPr lang="en-US" sz="1684" dirty="0"/>
          </a:p>
        </p:txBody>
      </p:sp>
      <p:sp>
        <p:nvSpPr>
          <p:cNvPr id="62" name="Text 35"/>
          <p:cNvSpPr/>
          <p:nvPr/>
        </p:nvSpPr>
        <p:spPr>
          <a:xfrm>
            <a:off x="3781425" y="1285875"/>
            <a:ext cx="48101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44"/>
              </a:lnSpc>
              <a:buNone/>
            </a:pPr>
            <a:r>
              <a:rPr lang="en-US" sz="2563" b="1" dirty="0">
                <a:solidFill>
                  <a:srgbClr val="2A4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mro-ai-risk-oversight-platform</a:t>
            </a:r>
            <a:endParaRPr lang="en-US" sz="2563" dirty="0"/>
          </a:p>
        </p:txBody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10700" y="2266950"/>
            <a:ext cx="733425" cy="571500"/>
          </a:xfrm>
          <a:prstGeom prst="rect">
            <a:avLst/>
          </a:prstGeom>
        </p:spPr>
      </p:pic>
      <p:pic>
        <p:nvPicPr>
          <p:cNvPr id="6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77400" y="2266950"/>
            <a:ext cx="257175" cy="571500"/>
          </a:xfrm>
          <a:prstGeom prst="rect">
            <a:avLst/>
          </a:prstGeom>
        </p:spPr>
      </p:pic>
      <p:pic>
        <p:nvPicPr>
          <p:cNvPr id="6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34050" y="2276475"/>
            <a:ext cx="228600" cy="552450"/>
          </a:xfrm>
          <a:prstGeom prst="rect">
            <a:avLst/>
          </a:prstGeom>
        </p:spPr>
      </p:pic>
      <p:pic>
        <p:nvPicPr>
          <p:cNvPr id="6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85975" y="2266950"/>
            <a:ext cx="247650" cy="561975"/>
          </a:xfrm>
          <a:prstGeom prst="rect">
            <a:avLst/>
          </a:prstGeom>
        </p:spPr>
      </p:pic>
      <p:pic>
        <p:nvPicPr>
          <p:cNvPr id="6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487150" y="1457325"/>
            <a:ext cx="600075" cy="342900"/>
          </a:xfrm>
          <a:prstGeom prst="rect">
            <a:avLst/>
          </a:prstGeom>
        </p:spPr>
      </p:pic>
      <p:sp>
        <p:nvSpPr>
          <p:cNvPr id="68" name="Text 36"/>
          <p:cNvSpPr/>
          <p:nvPr/>
        </p:nvSpPr>
        <p:spPr>
          <a:xfrm>
            <a:off x="504825" y="257175"/>
            <a:ext cx="112014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46"/>
              </a:lnSpc>
              <a:buNone/>
            </a:pPr>
            <a:r>
              <a:rPr lang="en-US" sz="3056" b="1" dirty="0">
                <a:solidFill>
                  <a:srgbClr val="1E3E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Technical Estate Creates MRO AI Risk Intelligence</a:t>
            </a:r>
            <a:endParaRPr lang="en-US" sz="30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9F8F4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7734300"/>
            <a:ext cx="14973300" cy="885825"/>
          </a:xfrm>
          <a:prstGeom prst="roundRect">
            <a:avLst>
              <a:gd name="adj" fmla="val 23656"/>
            </a:avLst>
          </a:prstGeom>
          <a:solidFill>
            <a:srgbClr val="0B3925"/>
          </a:solidFill>
          <a:ln w="9525">
            <a:solidFill>
              <a:srgbClr val="2C544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0" y="7886700"/>
            <a:ext cx="28575" cy="571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7820025"/>
            <a:ext cx="695325" cy="7048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38400" y="7972425"/>
            <a:ext cx="1087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5"/>
              </a:lnSpc>
              <a:buNone/>
            </a:pPr>
            <a:r>
              <a:rPr lang="en-US" sz="1747" b="1" dirty="0">
                <a:solidFill>
                  <a:srgbClr val="C2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software, data, assets, workflows and operating processes form one managed capability.</a:t>
            </a:r>
            <a:endParaRPr lang="en-US" sz="174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152775"/>
            <a:ext cx="6381750" cy="193357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5" y="3457575"/>
            <a:ext cx="28575" cy="133350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467100"/>
            <a:ext cx="1247775" cy="124777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543175" y="3971925"/>
            <a:ext cx="36004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25" dirty="0">
                <a:solidFill>
                  <a:srgbClr val="49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methods encoded as logic</a:t>
            </a:r>
            <a:endParaRPr lang="en-US" sz="1425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25" dirty="0">
                <a:solidFill>
                  <a:srgbClr val="49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taxonomy · policy mapping ·</a:t>
            </a:r>
            <a:endParaRPr lang="en-US" sz="1425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25" dirty="0">
                <a:solidFill>
                  <a:srgbClr val="49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contracts</a:t>
            </a:r>
            <a:endParaRPr lang="en-US" sz="1425" dirty="0"/>
          </a:p>
        </p:txBody>
      </p:sp>
      <p:sp>
        <p:nvSpPr>
          <p:cNvPr id="11" name="Text 4"/>
          <p:cNvSpPr/>
          <p:nvPr/>
        </p:nvSpPr>
        <p:spPr>
          <a:xfrm>
            <a:off x="2562225" y="3533775"/>
            <a:ext cx="27717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1"/>
              </a:lnSpc>
              <a:buNone/>
            </a:pPr>
            <a:r>
              <a:rPr lang="en-US" sz="2017" b="1" dirty="0">
                <a:solidFill>
                  <a:srgbClr val="2B53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CORE</a:t>
            </a:r>
            <a:endParaRPr lang="en-US" sz="2017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5429250"/>
            <a:ext cx="6391275" cy="194310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8375" y="5724525"/>
            <a:ext cx="28575" cy="13525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5724525"/>
            <a:ext cx="1266825" cy="1266825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2562225" y="6276975"/>
            <a:ext cx="36385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14"/>
              </a:lnSpc>
              <a:buNone/>
            </a:pPr>
            <a:r>
              <a:rPr lang="en-US" sz="1425" dirty="0">
                <a:solidFill>
                  <a:srgbClr val="4D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assets · calibration packs ·</a:t>
            </a:r>
            <a:endParaRPr lang="en-US" sz="1425" dirty="0"/>
          </a:p>
          <a:p>
            <a:pPr algn="l" indent="0" marL="0">
              <a:lnSpc>
                <a:spcPts val="2214"/>
              </a:lnSpc>
              <a:buNone/>
            </a:pPr>
            <a:r>
              <a:rPr lang="en-US" sz="1425" dirty="0">
                <a:solidFill>
                  <a:srgbClr val="4D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retrieval • structured decisions</a:t>
            </a:r>
            <a:endParaRPr lang="en-US" sz="1425" dirty="0"/>
          </a:p>
        </p:txBody>
      </p:sp>
      <p:sp>
        <p:nvSpPr>
          <p:cNvPr id="16" name="Text 6"/>
          <p:cNvSpPr/>
          <p:nvPr/>
        </p:nvSpPr>
        <p:spPr>
          <a:xfrm>
            <a:off x="2562225" y="5810250"/>
            <a:ext cx="30384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6"/>
              </a:lnSpc>
              <a:buNone/>
            </a:pPr>
            <a:r>
              <a:rPr lang="en-US" sz="1998" b="1" dirty="0">
                <a:solidFill>
                  <a:srgbClr val="2E55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ASSETS</a:t>
            </a:r>
            <a:endParaRPr lang="en-US" sz="1998" dirty="0"/>
          </a:p>
        </p:txBody>
      </p:sp>
      <p:sp>
        <p:nvSpPr>
          <p:cNvPr id="17" name="Shape 7"/>
          <p:cNvSpPr/>
          <p:nvPr/>
        </p:nvSpPr>
        <p:spPr>
          <a:xfrm>
            <a:off x="9029700" y="5429250"/>
            <a:ext cx="6391275" cy="1943100"/>
          </a:xfrm>
          <a:prstGeom prst="roundRect">
            <a:avLst>
              <a:gd name="adj" fmla="val 10294"/>
            </a:avLst>
          </a:prstGeom>
          <a:solidFill>
            <a:srgbClr val="E6EDE5"/>
          </a:solidFill>
          <a:ln w="19050">
            <a:solidFill>
              <a:srgbClr val="396D53"/>
            </a:solidFill>
            <a:prstDash val="solid"/>
          </a:ln>
        </p:spPr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8400" y="6610350"/>
            <a:ext cx="9525" cy="28575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13782675" y="6276975"/>
            <a:ext cx="104775" cy="104775"/>
          </a:xfrm>
          <a:prstGeom prst="rect">
            <a:avLst/>
          </a:prstGeom>
          <a:solidFill>
            <a:srgbClr val="E6EDE5"/>
          </a:solidFill>
          <a:ln/>
        </p:spPr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2300" y="5724525"/>
            <a:ext cx="28575" cy="1352550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5450" y="5734050"/>
            <a:ext cx="1228725" cy="125730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11115675" y="6162675"/>
            <a:ext cx="27432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4"/>
              </a:lnSpc>
              <a:buNone/>
            </a:pPr>
            <a:r>
              <a:rPr lang="en-US" sz="1597" dirty="0">
                <a:solidFill>
                  <a:srgbClr val="475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· tracing · versioning ·</a:t>
            </a:r>
            <a:endParaRPr lang="en-US" sz="1597" dirty="0"/>
          </a:p>
          <a:p>
            <a:pPr algn="l" indent="0" marL="0">
              <a:lnSpc>
                <a:spcPts val="1894"/>
              </a:lnSpc>
              <a:buNone/>
            </a:pPr>
            <a:r>
              <a:rPr lang="en-US" sz="1597" dirty="0">
                <a:solidFill>
                  <a:srgbClr val="475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controls · monitoring</a:t>
            </a:r>
            <a:endParaRPr lang="en-US" sz="1597" dirty="0"/>
          </a:p>
          <a:p>
            <a:pPr algn="l" indent="0" marL="0">
              <a:lnSpc>
                <a:spcPts val="1894"/>
              </a:lnSpc>
              <a:buNone/>
            </a:pPr>
            <a:r>
              <a:rPr lang="en-US" sz="1597" dirty="0">
                <a:solidFill>
                  <a:srgbClr val="475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</a:t>
            </a:r>
            <a:endParaRPr lang="en-US" sz="1597" dirty="0"/>
          </a:p>
        </p:txBody>
      </p:sp>
      <p:sp>
        <p:nvSpPr>
          <p:cNvPr id="23" name="Text 10"/>
          <p:cNvSpPr/>
          <p:nvPr/>
        </p:nvSpPr>
        <p:spPr>
          <a:xfrm>
            <a:off x="11134725" y="5715000"/>
            <a:ext cx="3429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7"/>
              </a:lnSpc>
              <a:buNone/>
            </a:pPr>
            <a:r>
              <a:rPr lang="en-US" sz="1886" b="1" dirty="0">
                <a:solidFill>
                  <a:srgbClr val="274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&amp; CONTROLS</a:t>
            </a:r>
            <a:endParaRPr lang="en-US" sz="1886" dirty="0"/>
          </a:p>
        </p:txBody>
      </p:sp>
      <p:sp>
        <p:nvSpPr>
          <p:cNvPr id="24" name="Shape 11"/>
          <p:cNvSpPr/>
          <p:nvPr/>
        </p:nvSpPr>
        <p:spPr>
          <a:xfrm>
            <a:off x="9029700" y="3152775"/>
            <a:ext cx="6400800" cy="1933575"/>
          </a:xfrm>
          <a:prstGeom prst="roundRect">
            <a:avLst>
              <a:gd name="adj" fmla="val 10837"/>
            </a:avLst>
          </a:prstGeom>
          <a:solidFill>
            <a:srgbClr val="E6EDE5"/>
          </a:solidFill>
          <a:ln w="28575">
            <a:solidFill>
              <a:srgbClr val="4D7C63"/>
            </a:solidFill>
            <a:prstDash val="solid"/>
          </a:ln>
        </p:spPr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11275" y="4171950"/>
            <a:ext cx="76200" cy="76200"/>
          </a:xfrm>
          <a:prstGeom prst="rect">
            <a:avLst/>
          </a:prstGeom>
        </p:spPr>
      </p:pic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82300" y="3457575"/>
            <a:ext cx="28575" cy="1333500"/>
          </a:xfrm>
          <a:prstGeom prst="rect">
            <a:avLst/>
          </a:prstGeom>
        </p:spPr>
      </p:pic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5925" y="3486150"/>
            <a:ext cx="1247775" cy="1247775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11115675" y="4029075"/>
            <a:ext cx="288607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11" dirty="0">
                <a:solidFill>
                  <a:srgbClr val="4658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Layers 1–3 • workflow services</a:t>
            </a:r>
            <a:endParaRPr lang="en-US" sz="1611" dirty="0"/>
          </a:p>
          <a:p>
            <a:pPr algn="l" indent="0" marL="0">
              <a:lnSpc>
                <a:spcPts val="2178"/>
              </a:lnSpc>
              <a:buNone/>
            </a:pPr>
            <a:r>
              <a:rPr lang="en-US" sz="1611" dirty="0">
                <a:solidFill>
                  <a:srgbClr val="4658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• interfaces • integrations</a:t>
            </a:r>
            <a:endParaRPr lang="en-US" sz="1611" dirty="0"/>
          </a:p>
        </p:txBody>
      </p:sp>
      <p:sp>
        <p:nvSpPr>
          <p:cNvPr id="29" name="Text 13"/>
          <p:cNvSpPr/>
          <p:nvPr/>
        </p:nvSpPr>
        <p:spPr>
          <a:xfrm>
            <a:off x="11115675" y="3581400"/>
            <a:ext cx="33813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895" b="1" dirty="0">
                <a:solidFill>
                  <a:srgbClr val="264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PLATFORMS</a:t>
            </a:r>
            <a:endParaRPr lang="en-US" sz="1895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7050" y="2962275"/>
            <a:ext cx="2085975" cy="4752975"/>
          </a:xfrm>
          <a:prstGeom prst="rect">
            <a:avLst/>
          </a:prstGeom>
        </p:spPr>
      </p:pic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48475" y="4048125"/>
            <a:ext cx="542925" cy="2362200"/>
          </a:xfrm>
          <a:prstGeom prst="rect">
            <a:avLst/>
          </a:prstGeom>
        </p:spPr>
      </p:pic>
      <p:sp>
        <p:nvSpPr>
          <p:cNvPr id="32" name="Shape 14"/>
          <p:cNvSpPr/>
          <p:nvPr/>
        </p:nvSpPr>
        <p:spPr>
          <a:xfrm>
            <a:off x="7391400" y="3038475"/>
            <a:ext cx="1123950" cy="4648200"/>
          </a:xfrm>
          <a:prstGeom prst="roundRect">
            <a:avLst>
              <a:gd name="adj" fmla="val 16102"/>
            </a:avLst>
          </a:prstGeom>
          <a:solidFill>
            <a:srgbClr val="0C3925"/>
          </a:solidFill>
          <a:ln w="9525">
            <a:solidFill>
              <a:srgbClr val="3C6051"/>
            </a:solidFill>
            <a:prstDash val="solid"/>
          </a:ln>
        </p:spPr>
      </p:sp>
      <p:sp>
        <p:nvSpPr>
          <p:cNvPr id="33" name="Text 15"/>
          <p:cNvSpPr/>
          <p:nvPr/>
        </p:nvSpPr>
        <p:spPr>
          <a:xfrm rot="-5400000">
            <a:off x="7820025" y="3429000"/>
            <a:ext cx="323850" cy="397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32"/>
              </a:lnSpc>
              <a:buNone/>
            </a:pPr>
            <a:r>
              <a:rPr lang="en-US" sz="300" b="1" dirty="0">
                <a:solidFill>
                  <a:srgbClr val="CB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STEWARDSHIP</a:t>
            </a:r>
            <a:endParaRPr lang="en-US" sz="300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86775" y="3952875"/>
            <a:ext cx="561975" cy="2619375"/>
          </a:xfrm>
          <a:prstGeom prst="rect">
            <a:avLst/>
          </a:prstGeom>
        </p:spPr>
      </p:pic>
      <p:pic>
        <p:nvPicPr>
          <p:cNvPr id="3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15350" y="4143375"/>
            <a:ext cx="504825" cy="981075"/>
          </a:xfrm>
          <a:prstGeom prst="rect">
            <a:avLst/>
          </a:prstGeom>
        </p:spPr>
      </p:pic>
      <p:pic>
        <p:nvPicPr>
          <p:cNvPr id="3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44700" y="2162175"/>
            <a:ext cx="714375" cy="733425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10325100" y="2628900"/>
            <a:ext cx="4191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1134" dirty="0">
                <a:solidFill>
                  <a:srgbClr val="6C7A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technical implementation, integrity and controlled evolution</a:t>
            </a:r>
            <a:endParaRPr lang="en-US" sz="1134" dirty="0"/>
          </a:p>
        </p:txBody>
      </p:sp>
      <p:sp>
        <p:nvSpPr>
          <p:cNvPr id="38" name="Text 17"/>
          <p:cNvSpPr/>
          <p:nvPr/>
        </p:nvSpPr>
        <p:spPr>
          <a:xfrm>
            <a:off x="1409700" y="2628900"/>
            <a:ext cx="39909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1"/>
              </a:lnSpc>
              <a:buNone/>
            </a:pPr>
            <a:r>
              <a:rPr lang="en-US" sz="1162" dirty="0">
                <a:solidFill>
                  <a:srgbClr val="6A79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methodology, interpretation and approved judgements</a:t>
            </a:r>
            <a:endParaRPr lang="en-US" sz="1162" dirty="0"/>
          </a:p>
        </p:txBody>
      </p:sp>
      <p:sp>
        <p:nvSpPr>
          <p:cNvPr id="39" name="Text 18"/>
          <p:cNvSpPr/>
          <p:nvPr/>
        </p:nvSpPr>
        <p:spPr>
          <a:xfrm>
            <a:off x="10715625" y="2209800"/>
            <a:ext cx="24479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938" dirty="0">
                <a:solidFill>
                  <a:srgbClr val="304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TECH &amp; TOOLING</a:t>
            </a:r>
            <a:endParaRPr lang="en-US" sz="1938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86750" y="2514600"/>
            <a:ext cx="2162175" cy="47625"/>
          </a:xfrm>
          <a:prstGeom prst="rect">
            <a:avLst/>
          </a:prstGeom>
        </p:spPr>
      </p:pic>
      <p:pic>
        <p:nvPicPr>
          <p:cNvPr id="4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62850" y="2190750"/>
            <a:ext cx="685800" cy="695325"/>
          </a:xfrm>
          <a:prstGeom prst="rect">
            <a:avLst/>
          </a:prstGeom>
        </p:spPr>
      </p:pic>
      <p:pic>
        <p:nvPicPr>
          <p:cNvPr id="4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38725" y="2514600"/>
            <a:ext cx="2466975" cy="47625"/>
          </a:xfrm>
          <a:prstGeom prst="rect">
            <a:avLst/>
          </a:prstGeom>
        </p:spPr>
      </p:pic>
      <p:sp>
        <p:nvSpPr>
          <p:cNvPr id="43" name="Text 19"/>
          <p:cNvSpPr/>
          <p:nvPr/>
        </p:nvSpPr>
        <p:spPr>
          <a:xfrm>
            <a:off x="1409700" y="2209800"/>
            <a:ext cx="34575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944" b="1" dirty="0">
                <a:solidFill>
                  <a:srgbClr val="2D4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IVT / AI RISK OVERSIGHT</a:t>
            </a:r>
            <a:endParaRPr lang="en-US" sz="1944" dirty="0"/>
          </a:p>
        </p:txBody>
      </p:sp>
      <p:pic>
        <p:nvPicPr>
          <p:cNvPr id="4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7675" y="2162175"/>
            <a:ext cx="723900" cy="733425"/>
          </a:xfrm>
          <a:prstGeom prst="rect">
            <a:avLst/>
          </a:prstGeom>
        </p:spPr>
      </p:pic>
      <p:sp>
        <p:nvSpPr>
          <p:cNvPr id="45" name="Shape 20"/>
          <p:cNvSpPr/>
          <p:nvPr/>
        </p:nvSpPr>
        <p:spPr>
          <a:xfrm>
            <a:off x="438150" y="1171575"/>
            <a:ext cx="15078075" cy="752475"/>
          </a:xfrm>
          <a:prstGeom prst="roundRect">
            <a:avLst>
              <a:gd name="adj" fmla="val 5063"/>
            </a:avLst>
          </a:prstGeom>
          <a:solidFill>
            <a:srgbClr val="E1EAE1"/>
          </a:solidFill>
          <a:ln w="9525">
            <a:solidFill>
              <a:srgbClr val="E5ECE3"/>
            </a:solidFill>
            <a:prstDash val="solid"/>
          </a:ln>
        </p:spPr>
      </p:sp>
      <p:pic>
        <p:nvPicPr>
          <p:cNvPr id="4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" y="1238250"/>
            <a:ext cx="638175" cy="628650"/>
          </a:xfrm>
          <a:prstGeom prst="rect">
            <a:avLst/>
          </a:prstGeom>
        </p:spPr>
      </p:pic>
      <p:sp>
        <p:nvSpPr>
          <p:cNvPr id="47" name="Text 21"/>
          <p:cNvSpPr/>
          <p:nvPr/>
        </p:nvSpPr>
        <p:spPr>
          <a:xfrm>
            <a:off x="1533525" y="1381125"/>
            <a:ext cx="100393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602" b="1" dirty="0">
                <a:solidFill>
                  <a:srgbClr val="366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approved risk methodology and expert judgement into controlled, reusable technical assets.</a:t>
            </a:r>
            <a:endParaRPr lang="en-US" sz="1602" dirty="0"/>
          </a:p>
        </p:txBody>
      </p:sp>
      <p:sp>
        <p:nvSpPr>
          <p:cNvPr id="48" name="Text 22"/>
          <p:cNvSpPr/>
          <p:nvPr/>
        </p:nvSpPr>
        <p:spPr>
          <a:xfrm>
            <a:off x="438150" y="304800"/>
            <a:ext cx="113442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25"/>
              </a:lnSpc>
              <a:buNone/>
            </a:pPr>
            <a:r>
              <a:rPr lang="en-US" sz="3766" b="1" dirty="0">
                <a:solidFill>
                  <a:srgbClr val="1A34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Tech &amp; Tooling: Technical Stewardship Scope</a:t>
            </a:r>
            <a:endParaRPr lang="en-US" sz="3766" dirty="0"/>
          </a:p>
        </p:txBody>
      </p:sp>
      <p:sp>
        <p:nvSpPr>
          <p:cNvPr id="49" name="Text 23"/>
          <p:cNvSpPr/>
          <p:nvPr/>
        </p:nvSpPr>
        <p:spPr>
          <a:xfrm>
            <a:off x="15487650" y="85915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1962" dirty="0">
                <a:solidFill>
                  <a:srgbClr val="2E4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96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BF8F3"/>
          </a:solidFill>
          <a:ln/>
        </p:spPr>
      </p:sp>
      <p:sp>
        <p:nvSpPr>
          <p:cNvPr id="3" name="Text 1"/>
          <p:cNvSpPr/>
          <p:nvPr/>
        </p:nvSpPr>
        <p:spPr>
          <a:xfrm>
            <a:off x="15468600" y="8620125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24"/>
              </a:lnSpc>
              <a:buNone/>
            </a:pPr>
            <a:r>
              <a:rPr lang="en-US" sz="1439" dirty="0">
                <a:solidFill>
                  <a:srgbClr val="5A6F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439" dirty="0"/>
          </a:p>
        </p:txBody>
      </p:sp>
      <p:sp>
        <p:nvSpPr>
          <p:cNvPr id="4" name="Shape 2"/>
          <p:cNvSpPr/>
          <p:nvPr/>
        </p:nvSpPr>
        <p:spPr>
          <a:xfrm>
            <a:off x="647700" y="7943850"/>
            <a:ext cx="14573250" cy="628650"/>
          </a:xfrm>
          <a:prstGeom prst="roundRect">
            <a:avLst>
              <a:gd name="adj" fmla="val 3409"/>
            </a:avLst>
          </a:prstGeom>
          <a:solidFill>
            <a:srgbClr val="D7E4D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" y="7905750"/>
            <a:ext cx="70485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95475" y="8077200"/>
            <a:ext cx="127920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39"/>
              </a:lnSpc>
              <a:buNone/>
            </a:pPr>
            <a:r>
              <a:rPr lang="en-US" sz="1739" b="1" dirty="0">
                <a:solidFill>
                  <a:srgbClr val="335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Distinctive value comes from the controlled relationships between logic, decisions, evidence and historical outcomes.</a:t>
            </a:r>
            <a:endParaRPr lang="en-US" sz="1739" dirty="0"/>
          </a:p>
        </p:txBody>
      </p:sp>
      <p:sp>
        <p:nvSpPr>
          <p:cNvPr id="7" name="Shape 4"/>
          <p:cNvSpPr/>
          <p:nvPr/>
        </p:nvSpPr>
        <p:spPr>
          <a:xfrm>
            <a:off x="657225" y="7267575"/>
            <a:ext cx="14630400" cy="514350"/>
          </a:xfrm>
          <a:prstGeom prst="roundRect">
            <a:avLst>
              <a:gd name="adj" fmla="val 8333"/>
            </a:avLst>
          </a:prstGeom>
          <a:solidFill>
            <a:srgbClr val="FAF8F3"/>
          </a:solidFill>
          <a:ln w="19050">
            <a:solidFill>
              <a:srgbClr val="4D695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900" y="7343775"/>
            <a:ext cx="314325" cy="3810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675" y="7391400"/>
            <a:ext cx="19050" cy="2857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300" y="7343775"/>
            <a:ext cx="295275" cy="38100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5" y="7400925"/>
            <a:ext cx="19050" cy="276225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7324725"/>
            <a:ext cx="466725" cy="447675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2975" y="7391400"/>
            <a:ext cx="28575" cy="295275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175" y="7334250"/>
            <a:ext cx="342900" cy="390525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2782550" y="7419975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1442" dirty="0">
                <a:solidFill>
                  <a:srgbClr val="506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1442" dirty="0"/>
          </a:p>
        </p:txBody>
      </p:sp>
      <p:sp>
        <p:nvSpPr>
          <p:cNvPr id="16" name="Text 6"/>
          <p:cNvSpPr/>
          <p:nvPr/>
        </p:nvSpPr>
        <p:spPr>
          <a:xfrm>
            <a:off x="9029700" y="7419975"/>
            <a:ext cx="16573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6"/>
              </a:lnSpc>
              <a:buNone/>
            </a:pPr>
            <a:r>
              <a:rPr lang="en-US" sz="1357" dirty="0">
                <a:solidFill>
                  <a:srgbClr val="516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1357" dirty="0"/>
          </a:p>
        </p:txBody>
      </p:sp>
      <p:sp>
        <p:nvSpPr>
          <p:cNvPr id="17" name="Text 7"/>
          <p:cNvSpPr/>
          <p:nvPr/>
        </p:nvSpPr>
        <p:spPr>
          <a:xfrm>
            <a:off x="6019800" y="7419975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1387" dirty="0">
                <a:solidFill>
                  <a:srgbClr val="506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1387" dirty="0"/>
          </a:p>
        </p:txBody>
      </p:sp>
      <p:sp>
        <p:nvSpPr>
          <p:cNvPr id="18" name="Text 8"/>
          <p:cNvSpPr/>
          <p:nvPr/>
        </p:nvSpPr>
        <p:spPr>
          <a:xfrm>
            <a:off x="2419350" y="7419975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1"/>
              </a:lnSpc>
              <a:buNone/>
            </a:pPr>
            <a:r>
              <a:rPr lang="en-US" sz="1484" dirty="0">
                <a:solidFill>
                  <a:srgbClr val="546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484" dirty="0"/>
          </a:p>
        </p:txBody>
      </p:sp>
      <p:sp>
        <p:nvSpPr>
          <p:cNvPr id="19" name="Shape 9"/>
          <p:cNvSpPr/>
          <p:nvPr/>
        </p:nvSpPr>
        <p:spPr>
          <a:xfrm>
            <a:off x="657225" y="6219825"/>
            <a:ext cx="14554200" cy="895350"/>
          </a:xfrm>
          <a:prstGeom prst="roundRect">
            <a:avLst>
              <a:gd name="adj" fmla="val 1862"/>
            </a:avLst>
          </a:prstGeom>
          <a:solidFill>
            <a:srgbClr val="083D24"/>
          </a:solidFill>
          <a:ln w="9525">
            <a:solidFill>
              <a:srgbClr val="1E4D37"/>
            </a:solidFill>
            <a:prstDash val="solid"/>
          </a:ln>
        </p:spPr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600" y="5715000"/>
            <a:ext cx="209550" cy="495300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8875" y="3619500"/>
            <a:ext cx="838200" cy="276225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10934700" y="1504950"/>
            <a:ext cx="3895725" cy="4229100"/>
          </a:xfrm>
          <a:prstGeom prst="roundRect">
            <a:avLst>
              <a:gd name="adj" fmla="val 2445"/>
            </a:avLst>
          </a:prstGeom>
          <a:solidFill>
            <a:srgbClr val="FAF7F2"/>
          </a:solidFill>
          <a:ln w="19050">
            <a:solidFill>
              <a:srgbClr val="89968A"/>
            </a:solidFill>
            <a:prstDash val="solid"/>
          </a:ln>
        </p:spPr>
      </p:sp>
      <p:sp>
        <p:nvSpPr>
          <p:cNvPr id="23" name="Text 11"/>
          <p:cNvSpPr/>
          <p:nvPr/>
        </p:nvSpPr>
        <p:spPr>
          <a:xfrm>
            <a:off x="11953875" y="527685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498" dirty="0">
                <a:solidFill>
                  <a:srgbClr val="5D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test data</a:t>
            </a:r>
            <a:endParaRPr lang="en-US" sz="1498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91875" y="5172075"/>
            <a:ext cx="561975" cy="428625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11963400" y="4752975"/>
            <a:ext cx="1143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448" dirty="0">
                <a:solidFill>
                  <a:srgbClr val="4E63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traces</a:t>
            </a:r>
            <a:endParaRPr lang="en-US" sz="1448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91875" y="4648200"/>
            <a:ext cx="561975" cy="419100"/>
          </a:xfrm>
          <a:prstGeom prst="rect">
            <a:avLst/>
          </a:prstGeom>
        </p:spPr>
      </p:pic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25225" y="4705350"/>
            <a:ext cx="295275" cy="314325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11963400" y="4229100"/>
            <a:ext cx="15906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02" dirty="0">
                <a:solidFill>
                  <a:srgbClr val="5D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outputs</a:t>
            </a:r>
            <a:endParaRPr lang="en-US" sz="1402" dirty="0"/>
          </a:p>
        </p:txBody>
      </p:sp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91875" y="4114800"/>
            <a:ext cx="561975" cy="428625"/>
          </a:xfrm>
          <a:prstGeom prst="rect">
            <a:avLst/>
          </a:prstGeom>
        </p:spPr>
      </p:pic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96650" y="4191000"/>
            <a:ext cx="333375" cy="295275"/>
          </a:xfrm>
          <a:prstGeom prst="rect">
            <a:avLst/>
          </a:prstGeom>
        </p:spPr>
      </p:pic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91875" y="3581400"/>
            <a:ext cx="561975" cy="428625"/>
          </a:xfrm>
          <a:prstGeom prst="rect">
            <a:avLst/>
          </a:prstGeom>
        </p:spPr>
      </p:pic>
      <p:pic>
        <p:nvPicPr>
          <p:cNvPr id="3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77600" y="3686175"/>
            <a:ext cx="333375" cy="247650"/>
          </a:xfrm>
          <a:prstGeom prst="rect">
            <a:avLst/>
          </a:prstGeom>
        </p:spPr>
      </p:pic>
      <p:pic>
        <p:nvPicPr>
          <p:cNvPr id="3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91875" y="3057525"/>
            <a:ext cx="561975" cy="428625"/>
          </a:xfrm>
          <a:prstGeom prst="rect">
            <a:avLst/>
          </a:prstGeom>
        </p:spPr>
      </p:pic>
      <p:pic>
        <p:nvPicPr>
          <p:cNvPr id="3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325225" y="3114675"/>
            <a:ext cx="276225" cy="323850"/>
          </a:xfrm>
          <a:prstGeom prst="rect">
            <a:avLst/>
          </a:prstGeom>
        </p:spPr>
      </p:pic>
      <p:pic>
        <p:nvPicPr>
          <p:cNvPr id="3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20425" y="2895600"/>
            <a:ext cx="3705225" cy="76200"/>
          </a:xfrm>
          <a:prstGeom prst="rect">
            <a:avLst/>
          </a:prstGeom>
        </p:spPr>
      </p:pic>
      <p:pic>
        <p:nvPicPr>
          <p:cNvPr id="3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439650" y="1714500"/>
            <a:ext cx="942975" cy="762000"/>
          </a:xfrm>
          <a:prstGeom prst="rect">
            <a:avLst/>
          </a:prstGeom>
        </p:spPr>
      </p:pic>
      <p:sp>
        <p:nvSpPr>
          <p:cNvPr id="37" name="Text 14"/>
          <p:cNvSpPr/>
          <p:nvPr/>
        </p:nvSpPr>
        <p:spPr>
          <a:xfrm>
            <a:off x="11963400" y="3695700"/>
            <a:ext cx="1714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95" dirty="0">
                <a:solidFill>
                  <a:srgbClr val="5D7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datasets</a:t>
            </a:r>
            <a:endParaRPr lang="en-US" sz="1395" dirty="0"/>
          </a:p>
        </p:txBody>
      </p:sp>
      <p:sp>
        <p:nvSpPr>
          <p:cNvPr id="38" name="Text 15"/>
          <p:cNvSpPr/>
          <p:nvPr/>
        </p:nvSpPr>
        <p:spPr>
          <a:xfrm>
            <a:off x="11953875" y="3143250"/>
            <a:ext cx="243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7"/>
              </a:lnSpc>
              <a:buNone/>
            </a:pPr>
            <a:r>
              <a:rPr lang="en-US" sz="1455" dirty="0">
                <a:solidFill>
                  <a:srgbClr val="48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evidence and reports</a:t>
            </a:r>
            <a:endParaRPr lang="en-US" sz="1455" dirty="0"/>
          </a:p>
        </p:txBody>
      </p:sp>
      <p:sp>
        <p:nvSpPr>
          <p:cNvPr id="39" name="Text 16"/>
          <p:cNvSpPr/>
          <p:nvPr/>
        </p:nvSpPr>
        <p:spPr>
          <a:xfrm>
            <a:off x="11172825" y="25622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1717" b="1" dirty="0">
                <a:solidFill>
                  <a:srgbClr val="345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&amp; ARTIFACT STORE</a:t>
            </a:r>
            <a:endParaRPr lang="en-US" sz="1717" dirty="0"/>
          </a:p>
        </p:txBody>
      </p:sp>
      <p:pic>
        <p:nvPicPr>
          <p:cNvPr id="4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29950" y="5705475"/>
            <a:ext cx="2057400" cy="266700"/>
          </a:xfrm>
          <a:prstGeom prst="rect">
            <a:avLst/>
          </a:prstGeom>
        </p:spPr>
      </p:pic>
      <p:pic>
        <p:nvPicPr>
          <p:cNvPr id="4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81575" y="3619500"/>
            <a:ext cx="876300" cy="266700"/>
          </a:xfrm>
          <a:prstGeom prst="rect">
            <a:avLst/>
          </a:prstGeom>
        </p:spPr>
      </p:pic>
      <p:pic>
        <p:nvPicPr>
          <p:cNvPr id="4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95975" y="1504950"/>
            <a:ext cx="4095750" cy="4200525"/>
          </a:xfrm>
          <a:prstGeom prst="rect">
            <a:avLst/>
          </a:prstGeom>
        </p:spPr>
      </p:pic>
      <p:pic>
        <p:nvPicPr>
          <p:cNvPr id="4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91250" y="5172075"/>
            <a:ext cx="561975" cy="428625"/>
          </a:xfrm>
          <a:prstGeom prst="rect">
            <a:avLst/>
          </a:prstGeom>
        </p:spPr>
      </p:pic>
      <p:pic>
        <p:nvPicPr>
          <p:cNvPr id="4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91250" y="4648200"/>
            <a:ext cx="561975" cy="419100"/>
          </a:xfrm>
          <a:prstGeom prst="rect">
            <a:avLst/>
          </a:prstGeom>
        </p:spPr>
      </p:pic>
      <p:sp>
        <p:nvSpPr>
          <p:cNvPr id="45" name="Shape 17"/>
          <p:cNvSpPr/>
          <p:nvPr/>
        </p:nvSpPr>
        <p:spPr>
          <a:xfrm>
            <a:off x="6076950" y="4048125"/>
            <a:ext cx="3686175" cy="552450"/>
          </a:xfrm>
          <a:prstGeom prst="rect">
            <a:avLst/>
          </a:prstGeom>
          <a:solidFill>
            <a:srgbClr val="FAF8F3"/>
          </a:solidFill>
          <a:ln w="9525">
            <a:solidFill>
              <a:srgbClr val="DDDCD5"/>
            </a:solidFill>
            <a:prstDash val="solid"/>
          </a:ln>
        </p:spPr>
      </p:sp>
      <p:pic>
        <p:nvPicPr>
          <p:cNvPr id="4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91250" y="4114800"/>
            <a:ext cx="561975" cy="428625"/>
          </a:xfrm>
          <a:prstGeom prst="rect">
            <a:avLst/>
          </a:prstGeom>
        </p:spPr>
      </p:pic>
      <p:sp>
        <p:nvSpPr>
          <p:cNvPr id="47" name="Text 18"/>
          <p:cNvSpPr/>
          <p:nvPr/>
        </p:nvSpPr>
        <p:spPr>
          <a:xfrm>
            <a:off x="6953250" y="4219575"/>
            <a:ext cx="1933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365" dirty="0">
                <a:solidFill>
                  <a:srgbClr val="586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and decisions</a:t>
            </a:r>
            <a:endParaRPr lang="en-US" sz="1365" dirty="0"/>
          </a:p>
        </p:txBody>
      </p:sp>
      <p:pic>
        <p:nvPicPr>
          <p:cNvPr id="48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81725" y="3590925"/>
            <a:ext cx="571500" cy="419100"/>
          </a:xfrm>
          <a:prstGeom prst="rect">
            <a:avLst/>
          </a:prstGeom>
        </p:spPr>
      </p:pic>
      <p:pic>
        <p:nvPicPr>
          <p:cNvPr id="4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81725" y="3057525"/>
            <a:ext cx="571500" cy="428625"/>
          </a:xfrm>
          <a:prstGeom prst="rect">
            <a:avLst/>
          </a:prstGeom>
        </p:spPr>
      </p:pic>
      <p:pic>
        <p:nvPicPr>
          <p:cNvPr id="5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543800" y="1638300"/>
            <a:ext cx="809625" cy="876300"/>
          </a:xfrm>
          <a:prstGeom prst="rect">
            <a:avLst/>
          </a:prstGeom>
        </p:spPr>
      </p:pic>
      <p:sp>
        <p:nvSpPr>
          <p:cNvPr id="51" name="Text 19"/>
          <p:cNvSpPr/>
          <p:nvPr/>
        </p:nvSpPr>
        <p:spPr>
          <a:xfrm>
            <a:off x="6943725" y="5276850"/>
            <a:ext cx="2743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484" dirty="0">
                <a:solidFill>
                  <a:srgbClr val="4459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and approval history</a:t>
            </a:r>
            <a:endParaRPr lang="en-US" sz="1484" dirty="0"/>
          </a:p>
        </p:txBody>
      </p:sp>
      <p:sp>
        <p:nvSpPr>
          <p:cNvPr id="52" name="Text 20"/>
          <p:cNvSpPr/>
          <p:nvPr/>
        </p:nvSpPr>
        <p:spPr>
          <a:xfrm>
            <a:off x="6953250" y="4752975"/>
            <a:ext cx="1504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1510" dirty="0">
                <a:solidFill>
                  <a:srgbClr val="586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overrides</a:t>
            </a:r>
            <a:endParaRPr lang="en-US" sz="1510" dirty="0"/>
          </a:p>
        </p:txBody>
      </p:sp>
      <p:sp>
        <p:nvSpPr>
          <p:cNvPr id="53" name="Text 21"/>
          <p:cNvSpPr/>
          <p:nvPr/>
        </p:nvSpPr>
        <p:spPr>
          <a:xfrm>
            <a:off x="6943725" y="3686175"/>
            <a:ext cx="13620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49"/>
              </a:lnSpc>
              <a:buNone/>
            </a:pPr>
            <a:r>
              <a:rPr lang="en-US" sz="1477" dirty="0">
                <a:solidFill>
                  <a:srgbClr val="475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plans</a:t>
            </a:r>
            <a:endParaRPr lang="en-US" sz="1477" dirty="0"/>
          </a:p>
        </p:txBody>
      </p:sp>
      <p:sp>
        <p:nvSpPr>
          <p:cNvPr id="54" name="Text 22"/>
          <p:cNvSpPr/>
          <p:nvPr/>
        </p:nvSpPr>
        <p:spPr>
          <a:xfrm>
            <a:off x="6953250" y="3143250"/>
            <a:ext cx="2152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1"/>
              </a:lnSpc>
              <a:buNone/>
            </a:pPr>
            <a:r>
              <a:rPr lang="en-US" sz="1510" dirty="0">
                <a:solidFill>
                  <a:srgbClr val="485D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 and risk profiles</a:t>
            </a:r>
            <a:endParaRPr lang="en-US" sz="1510" dirty="0"/>
          </a:p>
        </p:txBody>
      </p:sp>
      <p:sp>
        <p:nvSpPr>
          <p:cNvPr id="55" name="Text 23"/>
          <p:cNvSpPr/>
          <p:nvPr/>
        </p:nvSpPr>
        <p:spPr>
          <a:xfrm>
            <a:off x="6048375" y="2562225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712" b="1" dirty="0">
                <a:solidFill>
                  <a:srgbClr val="31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CONTROLLED DATABASE</a:t>
            </a:r>
            <a:endParaRPr lang="en-US" sz="1712" dirty="0"/>
          </a:p>
        </p:txBody>
      </p:sp>
      <p:sp>
        <p:nvSpPr>
          <p:cNvPr id="56" name="Shape 24"/>
          <p:cNvSpPr/>
          <p:nvPr/>
        </p:nvSpPr>
        <p:spPr>
          <a:xfrm>
            <a:off x="1047750" y="1504950"/>
            <a:ext cx="3867150" cy="4229100"/>
          </a:xfrm>
          <a:prstGeom prst="roundRect">
            <a:avLst>
              <a:gd name="adj" fmla="val 2833"/>
            </a:avLst>
          </a:prstGeom>
          <a:solidFill>
            <a:srgbClr val="FAF7F2"/>
          </a:solidFill>
          <a:ln w="19050">
            <a:solidFill>
              <a:srgbClr val="8D9A8E"/>
            </a:solidFill>
            <a:prstDash val="solid"/>
          </a:ln>
        </p:spPr>
      </p:sp>
      <p:sp>
        <p:nvSpPr>
          <p:cNvPr id="57" name="Text 25"/>
          <p:cNvSpPr/>
          <p:nvPr/>
        </p:nvSpPr>
        <p:spPr>
          <a:xfrm>
            <a:off x="2124075" y="527685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1387" dirty="0">
                <a:solidFill>
                  <a:srgbClr val="5A6C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definitions</a:t>
            </a:r>
            <a:endParaRPr lang="en-US" sz="1387" dirty="0"/>
          </a:p>
        </p:txBody>
      </p:sp>
      <p:pic>
        <p:nvPicPr>
          <p:cNvPr id="5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71600" y="5172075"/>
            <a:ext cx="552450" cy="428625"/>
          </a:xfrm>
          <a:prstGeom prst="rect">
            <a:avLst/>
          </a:prstGeom>
        </p:spPr>
      </p:pic>
      <p:sp>
        <p:nvSpPr>
          <p:cNvPr id="59" name="Text 26"/>
          <p:cNvSpPr/>
          <p:nvPr/>
        </p:nvSpPr>
        <p:spPr>
          <a:xfrm>
            <a:off x="2114550" y="4752975"/>
            <a:ext cx="1352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1537" dirty="0">
                <a:solidFill>
                  <a:srgbClr val="556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harnesses</a:t>
            </a:r>
            <a:endParaRPr lang="en-US" sz="1537" dirty="0"/>
          </a:p>
        </p:txBody>
      </p:sp>
      <p:pic>
        <p:nvPicPr>
          <p:cNvPr id="60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71600" y="4648200"/>
            <a:ext cx="552450" cy="419100"/>
          </a:xfrm>
          <a:prstGeom prst="rect">
            <a:avLst/>
          </a:prstGeom>
        </p:spPr>
      </p:pic>
      <p:sp>
        <p:nvSpPr>
          <p:cNvPr id="61" name="Text 27"/>
          <p:cNvSpPr/>
          <p:nvPr/>
        </p:nvSpPr>
        <p:spPr>
          <a:xfrm>
            <a:off x="2124075" y="4219575"/>
            <a:ext cx="1400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448" dirty="0">
                <a:solidFill>
                  <a:srgbClr val="475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logic</a:t>
            </a:r>
            <a:endParaRPr lang="en-US" sz="1448" dirty="0"/>
          </a:p>
        </p:txBody>
      </p:sp>
      <p:pic>
        <p:nvPicPr>
          <p:cNvPr id="62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71600" y="4124325"/>
            <a:ext cx="552450" cy="419100"/>
          </a:xfrm>
          <a:prstGeom prst="rect">
            <a:avLst/>
          </a:prstGeom>
        </p:spPr>
      </p:pic>
      <p:pic>
        <p:nvPicPr>
          <p:cNvPr id="63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419225" y="4114800"/>
            <a:ext cx="438150" cy="371475"/>
          </a:xfrm>
          <a:prstGeom prst="rect">
            <a:avLst/>
          </a:prstGeom>
        </p:spPr>
      </p:pic>
      <p:sp>
        <p:nvSpPr>
          <p:cNvPr id="64" name="Text 28"/>
          <p:cNvSpPr/>
          <p:nvPr/>
        </p:nvSpPr>
        <p:spPr>
          <a:xfrm>
            <a:off x="2114550" y="3686175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2"/>
              </a:lnSpc>
              <a:buNone/>
            </a:pPr>
            <a:r>
              <a:rPr lang="en-US" sz="1560" dirty="0">
                <a:solidFill>
                  <a:srgbClr val="6074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Schemas and contracts</a:t>
            </a:r>
            <a:endParaRPr lang="en-US" sz="1560" dirty="0"/>
          </a:p>
        </p:txBody>
      </p:sp>
      <p:pic>
        <p:nvPicPr>
          <p:cNvPr id="65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71600" y="3581400"/>
            <a:ext cx="552450" cy="428625"/>
          </a:xfrm>
          <a:prstGeom prst="rect">
            <a:avLst/>
          </a:prstGeom>
        </p:spPr>
      </p:pic>
      <p:sp>
        <p:nvSpPr>
          <p:cNvPr id="66" name="Text 29"/>
          <p:cNvSpPr/>
          <p:nvPr/>
        </p:nvSpPr>
        <p:spPr>
          <a:xfrm>
            <a:off x="2124075" y="3143250"/>
            <a:ext cx="2590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489" dirty="0">
                <a:solidFill>
                  <a:srgbClr val="47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implementations</a:t>
            </a:r>
            <a:endParaRPr lang="en-US" sz="1489" dirty="0"/>
          </a:p>
        </p:txBody>
      </p:sp>
      <p:pic>
        <p:nvPicPr>
          <p:cNvPr id="6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62075" y="3048000"/>
            <a:ext cx="561975" cy="438150"/>
          </a:xfrm>
          <a:prstGeom prst="rect">
            <a:avLst/>
          </a:prstGeom>
        </p:spPr>
      </p:pic>
      <p:pic>
        <p:nvPicPr>
          <p:cNvPr id="6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81100" y="2895600"/>
            <a:ext cx="3609975" cy="66675"/>
          </a:xfrm>
          <a:prstGeom prst="rect">
            <a:avLst/>
          </a:prstGeom>
        </p:spPr>
      </p:pic>
      <p:sp>
        <p:nvSpPr>
          <p:cNvPr id="69" name="Text 30"/>
          <p:cNvSpPr/>
          <p:nvPr/>
        </p:nvSpPr>
        <p:spPr>
          <a:xfrm>
            <a:off x="1695450" y="2533650"/>
            <a:ext cx="2609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8"/>
              </a:lnSpc>
              <a:buNone/>
            </a:pPr>
            <a:r>
              <a:rPr lang="en-US" sz="1971" b="1" dirty="0">
                <a:solidFill>
                  <a:srgbClr val="284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CODE</a:t>
            </a:r>
            <a:endParaRPr lang="en-US" sz="1971" dirty="0"/>
          </a:p>
        </p:txBody>
      </p:sp>
      <p:pic>
        <p:nvPicPr>
          <p:cNvPr id="7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428875" y="1657350"/>
            <a:ext cx="1000125" cy="790575"/>
          </a:xfrm>
          <a:prstGeom prst="rect">
            <a:avLst/>
          </a:prstGeom>
        </p:spPr>
      </p:pic>
      <p:pic>
        <p:nvPicPr>
          <p:cNvPr id="71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724150" y="5705475"/>
            <a:ext cx="3276600" cy="504825"/>
          </a:xfrm>
          <a:prstGeom prst="rect">
            <a:avLst/>
          </a:prstGeom>
        </p:spPr>
      </p:pic>
      <p:sp>
        <p:nvSpPr>
          <p:cNvPr id="72" name="Text 31"/>
          <p:cNvSpPr/>
          <p:nvPr/>
        </p:nvSpPr>
        <p:spPr>
          <a:xfrm>
            <a:off x="13449300" y="6696075"/>
            <a:ext cx="1562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1341" dirty="0">
                <a:solidFill>
                  <a:srgbClr val="B9C9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Revalidation signals</a:t>
            </a:r>
            <a:endParaRPr lang="en-US" sz="1341" dirty="0"/>
          </a:p>
        </p:txBody>
      </p:sp>
      <p:pic>
        <p:nvPicPr>
          <p:cNvPr id="73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134975" y="6791325"/>
            <a:ext cx="104775" cy="95250"/>
          </a:xfrm>
          <a:prstGeom prst="rect">
            <a:avLst/>
          </a:prstGeom>
        </p:spPr>
      </p:pic>
      <p:sp>
        <p:nvSpPr>
          <p:cNvPr id="74" name="Text 32"/>
          <p:cNvSpPr/>
          <p:nvPr/>
        </p:nvSpPr>
        <p:spPr>
          <a:xfrm>
            <a:off x="11125200" y="6696075"/>
            <a:ext cx="1828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9"/>
              </a:lnSpc>
              <a:buNone/>
            </a:pPr>
            <a:r>
              <a:rPr lang="en-US" sz="1381" dirty="0">
                <a:solidFill>
                  <a:srgbClr val="B5C6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Cross-project analytics</a:t>
            </a:r>
            <a:endParaRPr lang="en-US" sz="1381" dirty="0"/>
          </a:p>
        </p:txBody>
      </p:sp>
      <p:pic>
        <p:nvPicPr>
          <p:cNvPr id="75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839450" y="6791325"/>
            <a:ext cx="95250" cy="95250"/>
          </a:xfrm>
          <a:prstGeom prst="rect">
            <a:avLst/>
          </a:prstGeom>
        </p:spPr>
      </p:pic>
      <p:sp>
        <p:nvSpPr>
          <p:cNvPr id="76" name="Text 33"/>
          <p:cNvSpPr/>
          <p:nvPr/>
        </p:nvSpPr>
        <p:spPr>
          <a:xfrm>
            <a:off x="8982075" y="6705600"/>
            <a:ext cx="1743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1369" dirty="0">
                <a:solidFill>
                  <a:srgbClr val="B3C2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monitoring</a:t>
            </a:r>
            <a:endParaRPr lang="en-US" sz="1369" dirty="0"/>
          </a:p>
        </p:txBody>
      </p:sp>
      <p:pic>
        <p:nvPicPr>
          <p:cNvPr id="7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677275" y="6791325"/>
            <a:ext cx="95250" cy="95250"/>
          </a:xfrm>
          <a:prstGeom prst="rect">
            <a:avLst/>
          </a:prstGeom>
        </p:spPr>
      </p:pic>
      <p:sp>
        <p:nvSpPr>
          <p:cNvPr id="78" name="Text 34"/>
          <p:cNvSpPr/>
          <p:nvPr/>
        </p:nvSpPr>
        <p:spPr>
          <a:xfrm>
            <a:off x="6781800" y="67056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7"/>
              </a:lnSpc>
              <a:buNone/>
            </a:pPr>
            <a:r>
              <a:rPr lang="en-US" sz="1309" b="1" dirty="0">
                <a:solidFill>
                  <a:srgbClr val="B6C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Risk-pattern analysis</a:t>
            </a:r>
            <a:endParaRPr lang="en-US" sz="1309" dirty="0"/>
          </a:p>
        </p:txBody>
      </p:sp>
      <p:pic>
        <p:nvPicPr>
          <p:cNvPr id="79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57950" y="6791325"/>
            <a:ext cx="95250" cy="95250"/>
          </a:xfrm>
          <a:prstGeom prst="rect">
            <a:avLst/>
          </a:prstGeom>
        </p:spPr>
      </p:pic>
      <p:sp>
        <p:nvSpPr>
          <p:cNvPr id="80" name="Text 35"/>
          <p:cNvSpPr/>
          <p:nvPr/>
        </p:nvSpPr>
        <p:spPr>
          <a:xfrm>
            <a:off x="4400550" y="670560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4"/>
              </a:lnSpc>
              <a:buNone/>
            </a:pPr>
            <a:r>
              <a:rPr lang="en-US" sz="1418" dirty="0">
                <a:solidFill>
                  <a:srgbClr val="BAC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Precedent comparison</a:t>
            </a:r>
            <a:endParaRPr lang="en-US" sz="1418" dirty="0"/>
          </a:p>
        </p:txBody>
      </p:sp>
      <p:pic>
        <p:nvPicPr>
          <p:cNvPr id="81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95750" y="6791325"/>
            <a:ext cx="95250" cy="95250"/>
          </a:xfrm>
          <a:prstGeom prst="rect">
            <a:avLst/>
          </a:prstGeom>
        </p:spPr>
      </p:pic>
      <p:sp>
        <p:nvSpPr>
          <p:cNvPr id="82" name="Text 36"/>
          <p:cNvSpPr/>
          <p:nvPr/>
        </p:nvSpPr>
        <p:spPr>
          <a:xfrm>
            <a:off x="2295525" y="6696075"/>
            <a:ext cx="1581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1385" b="1" dirty="0">
                <a:solidFill>
                  <a:srgbClr val="B8C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retrieval</a:t>
            </a:r>
            <a:endParaRPr lang="en-US" sz="1385" dirty="0"/>
          </a:p>
        </p:txBody>
      </p:sp>
      <p:sp>
        <p:nvSpPr>
          <p:cNvPr id="83" name="Text 37"/>
          <p:cNvSpPr/>
          <p:nvPr/>
        </p:nvSpPr>
        <p:spPr>
          <a:xfrm>
            <a:off x="6038850" y="6334125"/>
            <a:ext cx="42005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4"/>
              </a:lnSpc>
              <a:buNone/>
            </a:pPr>
            <a:r>
              <a:rPr lang="en-US" sz="1847" b="1" dirty="0">
                <a:solidFill>
                  <a:srgbClr val="C6D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INTELLIGENCE SERVICES</a:t>
            </a:r>
            <a:endParaRPr lang="en-US" sz="1847" dirty="0"/>
          </a:p>
        </p:txBody>
      </p:sp>
      <p:pic>
        <p:nvPicPr>
          <p:cNvPr id="84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990725" y="6353175"/>
            <a:ext cx="38100" cy="619125"/>
          </a:xfrm>
          <a:prstGeom prst="rect">
            <a:avLst/>
          </a:prstGeom>
        </p:spPr>
      </p:pic>
      <p:pic>
        <p:nvPicPr>
          <p:cNvPr id="8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38225" y="6305550"/>
            <a:ext cx="762000" cy="723900"/>
          </a:xfrm>
          <a:prstGeom prst="rect">
            <a:avLst/>
          </a:prstGeom>
        </p:spPr>
      </p:pic>
      <p:pic>
        <p:nvPicPr>
          <p:cNvPr id="8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972675" y="5924550"/>
            <a:ext cx="1685925" cy="295275"/>
          </a:xfrm>
          <a:prstGeom prst="rect">
            <a:avLst/>
          </a:prstGeom>
        </p:spPr>
      </p:pic>
      <p:pic>
        <p:nvPicPr>
          <p:cNvPr id="8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915525" y="6086475"/>
            <a:ext cx="190500" cy="123825"/>
          </a:xfrm>
          <a:prstGeom prst="rect">
            <a:avLst/>
          </a:prstGeom>
        </p:spPr>
      </p:pic>
      <p:pic>
        <p:nvPicPr>
          <p:cNvPr id="88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772150" y="6086475"/>
            <a:ext cx="200025" cy="123825"/>
          </a:xfrm>
          <a:prstGeom prst="rect">
            <a:avLst/>
          </a:prstGeom>
        </p:spPr>
      </p:pic>
      <p:sp>
        <p:nvSpPr>
          <p:cNvPr id="89" name="Shape 38"/>
          <p:cNvSpPr/>
          <p:nvPr/>
        </p:nvSpPr>
        <p:spPr>
          <a:xfrm>
            <a:off x="447675" y="923925"/>
            <a:ext cx="15001875" cy="495300"/>
          </a:xfrm>
          <a:prstGeom prst="rect">
            <a:avLst/>
          </a:prstGeom>
          <a:solidFill>
            <a:srgbClr val="D5E2D1"/>
          </a:solidFill>
          <a:ln/>
        </p:spPr>
      </p:sp>
      <p:sp>
        <p:nvSpPr>
          <p:cNvPr id="90" name="Text 39"/>
          <p:cNvSpPr/>
          <p:nvPr/>
        </p:nvSpPr>
        <p:spPr>
          <a:xfrm>
            <a:off x="2647950" y="1019175"/>
            <a:ext cx="11058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658" dirty="0">
                <a:solidFill>
                  <a:srgbClr val="3B5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intelligence accumulates only when code, structured decisions and evidence remain connected.</a:t>
            </a:r>
            <a:endParaRPr lang="en-US" sz="1658" dirty="0"/>
          </a:p>
        </p:txBody>
      </p:sp>
      <p:sp>
        <p:nvSpPr>
          <p:cNvPr id="91" name="Text 40"/>
          <p:cNvSpPr/>
          <p:nvPr/>
        </p:nvSpPr>
        <p:spPr>
          <a:xfrm>
            <a:off x="438150" y="228600"/>
            <a:ext cx="8629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39"/>
              </a:lnSpc>
              <a:buNone/>
            </a:pPr>
            <a:r>
              <a:rPr lang="en-US" sz="3270" b="1" dirty="0">
                <a:solidFill>
                  <a:srgbClr val="214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Intelligence Assets We Operate</a:t>
            </a:r>
            <a:endParaRPr lang="en-US" sz="32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CFB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15250"/>
            <a:ext cx="15925800" cy="10191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1825" y="7886700"/>
            <a:ext cx="19050" cy="71437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7848600"/>
            <a:ext cx="771525" cy="7810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4963775" y="8096250"/>
            <a:ext cx="266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1831" dirty="0">
                <a:solidFill>
                  <a:srgbClr val="C9D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831" dirty="0"/>
          </a:p>
        </p:txBody>
      </p:sp>
      <p:sp>
        <p:nvSpPr>
          <p:cNvPr id="7" name="Text 2"/>
          <p:cNvSpPr/>
          <p:nvPr/>
        </p:nvSpPr>
        <p:spPr>
          <a:xfrm>
            <a:off x="1905000" y="7867650"/>
            <a:ext cx="1083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7"/>
              </a:lnSpc>
              <a:buNone/>
            </a:pPr>
            <a:r>
              <a:rPr lang="en-US" sz="2145" dirty="0">
                <a:solidFill>
                  <a:srgbClr val="B5C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governed cycle creates reusable evidence, decisions and calibration insight—</a:t>
            </a:r>
            <a:endParaRPr lang="en-US" sz="2145" dirty="0"/>
          </a:p>
          <a:p>
            <a:pPr algn="l" indent="0" marL="0">
              <a:lnSpc>
                <a:spcPts val="2777"/>
              </a:lnSpc>
              <a:buNone/>
            </a:pPr>
            <a:r>
              <a:rPr lang="en-US" sz="2145" dirty="0">
                <a:solidFill>
                  <a:srgbClr val="B5C3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making the capability harder to reproduce through software alone.</a:t>
            </a:r>
            <a:endParaRPr lang="en-US" sz="2145" dirty="0"/>
          </a:p>
        </p:txBody>
      </p:sp>
      <p:sp>
        <p:nvSpPr>
          <p:cNvPr id="8" name="Text 3"/>
          <p:cNvSpPr/>
          <p:nvPr/>
        </p:nvSpPr>
        <p:spPr>
          <a:xfrm rot="-5400000">
            <a:off x="15163800" y="2438400"/>
            <a:ext cx="238125" cy="491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393"/>
              </a:lnSpc>
              <a:buNone/>
            </a:pPr>
            <a:r>
              <a:rPr lang="en-US" sz="300" dirty="0">
                <a:solidFill>
                  <a:srgbClr val="8599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RELIABILITY·CONSISTENCY·EFFICIENCY</a:t>
            </a:r>
            <a:endParaRPr lang="en-US" sz="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6125" y="2057400"/>
            <a:ext cx="219075" cy="5419725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8925" y="2657475"/>
            <a:ext cx="3933825" cy="48958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744325" y="6791325"/>
            <a:ext cx="23907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6"/>
              </a:lnSpc>
              <a:buNone/>
            </a:pPr>
            <a:r>
              <a:rPr lang="en-US" sz="1770" dirty="0">
                <a:solidFill>
                  <a:srgbClr val="425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governance</a:t>
            </a:r>
            <a:endParaRPr lang="en-US" sz="1770" dirty="0"/>
          </a:p>
          <a:p>
            <a:pPr algn="l" indent="0" marL="0">
              <a:lnSpc>
                <a:spcPts val="2096"/>
              </a:lnSpc>
              <a:buNone/>
            </a:pPr>
            <a:r>
              <a:rPr lang="en-US" sz="1770" dirty="0">
                <a:solidFill>
                  <a:srgbClr val="425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auditability</a:t>
            </a:r>
            <a:endParaRPr lang="en-US" sz="177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2775" y="6734175"/>
            <a:ext cx="581025" cy="6858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1734800" y="5810250"/>
            <a:ext cx="1733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415C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Domain-specific</a:t>
            </a:r>
            <a:endParaRPr lang="en-US" sz="1500" dirty="0"/>
          </a:p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415C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skills</a:t>
            </a:r>
            <a:endParaRPr lang="en-US" sz="15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0" y="5781675"/>
            <a:ext cx="647700" cy="7048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1744325" y="4819650"/>
            <a:ext cx="22098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51"/>
              </a:lnSpc>
              <a:buNone/>
            </a:pPr>
            <a:r>
              <a:rPr lang="en-US" sz="1350" dirty="0">
                <a:solidFill>
                  <a:srgbClr val="4460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evaluation</a:t>
            </a:r>
            <a:endParaRPr lang="en-US" sz="1350" dirty="0"/>
          </a:p>
          <a:p>
            <a:pPr algn="l" indent="0" marL="0">
              <a:lnSpc>
                <a:spcPts val="2151"/>
              </a:lnSpc>
              <a:buNone/>
            </a:pPr>
            <a:r>
              <a:rPr lang="en-US" sz="1350" dirty="0">
                <a:solidFill>
                  <a:srgbClr val="4460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assets</a:t>
            </a:r>
            <a:endParaRPr lang="en-US" sz="135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2300" y="4791075"/>
            <a:ext cx="609600" cy="67627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1744325" y="3848100"/>
            <a:ext cx="16097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500" dirty="0">
                <a:solidFill>
                  <a:srgbClr val="375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MRO</a:t>
            </a:r>
            <a:endParaRPr lang="en-US" sz="1500" dirty="0"/>
          </a:p>
          <a:p>
            <a:pPr algn="l" indent="0" marL="0">
              <a:lnSpc>
                <a:spcPts val="2185"/>
              </a:lnSpc>
              <a:buNone/>
            </a:pPr>
            <a:r>
              <a:rPr lang="en-US" sz="1500" dirty="0">
                <a:solidFill>
                  <a:srgbClr val="3751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</a:t>
            </a:r>
            <a:endParaRPr lang="en-US" sz="15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2775" y="3857625"/>
            <a:ext cx="552450" cy="62865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1744325" y="2847975"/>
            <a:ext cx="19907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5"/>
              </a:lnSpc>
              <a:buNone/>
            </a:pPr>
            <a:r>
              <a:rPr lang="en-US" sz="1500" dirty="0">
                <a:solidFill>
                  <a:srgbClr val="455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technical</a:t>
            </a:r>
            <a:endParaRPr lang="en-US" sz="1500" dirty="0"/>
          </a:p>
          <a:p>
            <a:pPr algn="l" indent="0" marL="0">
              <a:lnSpc>
                <a:spcPts val="2255"/>
              </a:lnSpc>
              <a:buNone/>
            </a:pPr>
            <a:r>
              <a:rPr lang="en-US" sz="1500" dirty="0">
                <a:solidFill>
                  <a:srgbClr val="455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50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25150" y="2819400"/>
            <a:ext cx="657225" cy="666750"/>
          </a:xfrm>
          <a:prstGeom prst="rect">
            <a:avLst/>
          </a:prstGeom>
        </p:spPr>
      </p:pic>
      <p:sp>
        <p:nvSpPr>
          <p:cNvPr id="21" name="Shape 9"/>
          <p:cNvSpPr/>
          <p:nvPr/>
        </p:nvSpPr>
        <p:spPr>
          <a:xfrm>
            <a:off x="10439400" y="1933575"/>
            <a:ext cx="3943350" cy="723900"/>
          </a:xfrm>
          <a:prstGeom prst="roundRect">
            <a:avLst>
              <a:gd name="adj" fmla="val 2961"/>
            </a:avLst>
          </a:prstGeom>
          <a:solidFill>
            <a:srgbClr val="04311D"/>
          </a:solidFill>
          <a:ln w="9525">
            <a:solidFill>
              <a:srgbClr val="3C5849"/>
            </a:solidFill>
            <a:prstDash val="solid"/>
          </a:ln>
        </p:spPr>
      </p:sp>
      <p:sp>
        <p:nvSpPr>
          <p:cNvPr id="22" name="Text 10"/>
          <p:cNvSpPr/>
          <p:nvPr/>
        </p:nvSpPr>
        <p:spPr>
          <a:xfrm>
            <a:off x="11029950" y="2000250"/>
            <a:ext cx="28384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61"/>
              </a:lnSpc>
              <a:buNone/>
            </a:pPr>
            <a:r>
              <a:rPr lang="en-US" sz="1688" b="1" dirty="0">
                <a:solidFill>
                  <a:srgbClr val="CBD6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CAPABILITY</a:t>
            </a:r>
            <a:endParaRPr lang="en-US" sz="1688" dirty="0"/>
          </a:p>
          <a:p>
            <a:pPr algn="ctr" indent="0" marL="0">
              <a:lnSpc>
                <a:spcPts val="2061"/>
              </a:lnSpc>
              <a:buNone/>
            </a:pPr>
            <a:r>
              <a:rPr lang="en-US" sz="1688" b="1" dirty="0">
                <a:solidFill>
                  <a:srgbClr val="CBD6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688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5900" y="1847850"/>
            <a:ext cx="7096125" cy="5610225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9500" y="2095500"/>
            <a:ext cx="4495800" cy="5295900"/>
          </a:xfrm>
          <a:prstGeom prst="rect">
            <a:avLst/>
          </a:prstGeom>
        </p:spPr>
      </p:pic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5075" y="2543175"/>
            <a:ext cx="1200150" cy="1047750"/>
          </a:xfrm>
          <a:prstGeom prst="rect">
            <a:avLst/>
          </a:prstGeom>
        </p:spPr>
      </p:pic>
      <p:sp>
        <p:nvSpPr>
          <p:cNvPr id="26" name="Shape 11"/>
          <p:cNvSpPr/>
          <p:nvPr/>
        </p:nvSpPr>
        <p:spPr>
          <a:xfrm>
            <a:off x="4924425" y="1828800"/>
            <a:ext cx="504825" cy="504825"/>
          </a:xfrm>
          <a:prstGeom prst="roundRect">
            <a:avLst>
              <a:gd name="adj" fmla="val 48585"/>
            </a:avLst>
          </a:prstGeom>
          <a:solidFill>
            <a:srgbClr val="02321E"/>
          </a:solidFill>
          <a:ln w="9525">
            <a:solidFill>
              <a:srgbClr val="1F3D2E"/>
            </a:solidFill>
            <a:prstDash val="solid"/>
          </a:ln>
        </p:spPr>
      </p:sp>
      <p:sp>
        <p:nvSpPr>
          <p:cNvPr id="27" name="Text 12"/>
          <p:cNvSpPr/>
          <p:nvPr/>
        </p:nvSpPr>
        <p:spPr>
          <a:xfrm>
            <a:off x="5095875" y="1924050"/>
            <a:ext cx="1619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16"/>
              </a:lnSpc>
              <a:buNone/>
            </a:pPr>
            <a:r>
              <a:rPr lang="en-US" sz="2224" b="1" dirty="0">
                <a:solidFill>
                  <a:srgbClr val="C3C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24" dirty="0"/>
          </a:p>
        </p:txBody>
      </p:sp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4200" y="3667125"/>
            <a:ext cx="2876550" cy="1285875"/>
          </a:xfrm>
          <a:prstGeom prst="rect">
            <a:avLst/>
          </a:prstGeom>
        </p:spPr>
      </p:pic>
      <p:pic>
        <p:nvPicPr>
          <p:cNvPr id="2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4200" y="3705225"/>
            <a:ext cx="1162050" cy="1190625"/>
          </a:xfrm>
          <a:prstGeom prst="rect">
            <a:avLst/>
          </a:prstGeom>
        </p:spPr>
      </p:pic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53450" y="3705225"/>
            <a:ext cx="552450" cy="514350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8705850" y="3790950"/>
            <a:ext cx="2190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2685" b="1" dirty="0">
                <a:solidFill>
                  <a:srgbClr val="D4D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85" dirty="0"/>
          </a:p>
        </p:txBody>
      </p:sp>
      <p:pic>
        <p:nvPicPr>
          <p:cNvPr id="3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8150" y="4048125"/>
            <a:ext cx="533400" cy="76200"/>
          </a:xfrm>
          <a:prstGeom prst="rect">
            <a:avLst/>
          </a:prstGeom>
        </p:spPr>
      </p:pic>
      <p:sp>
        <p:nvSpPr>
          <p:cNvPr id="33" name="Shape 14"/>
          <p:cNvSpPr/>
          <p:nvPr/>
        </p:nvSpPr>
        <p:spPr>
          <a:xfrm>
            <a:off x="6800850" y="6696075"/>
            <a:ext cx="2676525" cy="828675"/>
          </a:xfrm>
          <a:prstGeom prst="roundRect">
            <a:avLst>
              <a:gd name="adj" fmla="val 21264"/>
            </a:avLst>
          </a:prstGeom>
          <a:solidFill>
            <a:srgbClr val="FBFBF6"/>
          </a:solidFill>
          <a:ln w="28575">
            <a:solidFill>
              <a:srgbClr val="54685D"/>
            </a:solidFill>
            <a:prstDash val="solid"/>
          </a:ln>
        </p:spPr>
      </p:sp>
      <p:sp>
        <p:nvSpPr>
          <p:cNvPr id="34" name="Text 15"/>
          <p:cNvSpPr/>
          <p:nvPr/>
        </p:nvSpPr>
        <p:spPr>
          <a:xfrm>
            <a:off x="7743825" y="714375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1624" b="1" dirty="0">
                <a:solidFill>
                  <a:srgbClr val="4E6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1624" dirty="0"/>
          </a:p>
        </p:txBody>
      </p:sp>
      <p:sp>
        <p:nvSpPr>
          <p:cNvPr id="35" name="Text 16"/>
          <p:cNvSpPr/>
          <p:nvPr/>
        </p:nvSpPr>
        <p:spPr>
          <a:xfrm>
            <a:off x="7000875" y="6848475"/>
            <a:ext cx="2409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3"/>
              </a:lnSpc>
              <a:buNone/>
            </a:pPr>
            <a:r>
              <a:rPr lang="en-US" sz="1585" b="1" dirty="0">
                <a:solidFill>
                  <a:srgbClr val="3C5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QUALITY-CONTROLLED</a:t>
            </a:r>
            <a:endParaRPr lang="en-US" sz="1585" dirty="0"/>
          </a:p>
        </p:txBody>
      </p:sp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0950" y="6257925"/>
            <a:ext cx="581025" cy="51435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7772400" y="6353175"/>
            <a:ext cx="228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685" b="1" dirty="0">
                <a:solidFill>
                  <a:srgbClr val="CFD8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685" dirty="0"/>
          </a:p>
        </p:txBody>
      </p:sp>
      <p:pic>
        <p:nvPicPr>
          <p:cNvPr id="3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0450" y="3600450"/>
            <a:ext cx="3067050" cy="3762375"/>
          </a:xfrm>
          <a:prstGeom prst="rect">
            <a:avLst/>
          </a:prstGeom>
        </p:spPr>
      </p:pic>
      <p:pic>
        <p:nvPicPr>
          <p:cNvPr id="3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86225" y="6867525"/>
            <a:ext cx="2390775" cy="409575"/>
          </a:xfrm>
          <a:prstGeom prst="rect">
            <a:avLst/>
          </a:prstGeom>
        </p:spPr>
      </p:pic>
      <p:pic>
        <p:nvPicPr>
          <p:cNvPr id="4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57925" y="5953125"/>
            <a:ext cx="1104900" cy="990600"/>
          </a:xfrm>
          <a:prstGeom prst="rect">
            <a:avLst/>
          </a:prstGeom>
        </p:spPr>
      </p:pic>
      <p:pic>
        <p:nvPicPr>
          <p:cNvPr id="4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34250" y="4914900"/>
            <a:ext cx="666750" cy="1181100"/>
          </a:xfrm>
          <a:prstGeom prst="rect">
            <a:avLst/>
          </a:prstGeom>
        </p:spPr>
      </p:pic>
      <p:pic>
        <p:nvPicPr>
          <p:cNvPr id="4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43450" y="4095750"/>
            <a:ext cx="819150" cy="971550"/>
          </a:xfrm>
          <a:prstGeom prst="rect">
            <a:avLst/>
          </a:prstGeom>
        </p:spPr>
      </p:pic>
      <p:pic>
        <p:nvPicPr>
          <p:cNvPr id="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00200" y="6677025"/>
            <a:ext cx="2324100" cy="847725"/>
          </a:xfrm>
          <a:prstGeom prst="rect">
            <a:avLst/>
          </a:prstGeom>
        </p:spPr>
      </p:pic>
      <p:sp>
        <p:nvSpPr>
          <p:cNvPr id="44" name="Text 18"/>
          <p:cNvSpPr/>
          <p:nvPr/>
        </p:nvSpPr>
        <p:spPr>
          <a:xfrm>
            <a:off x="1933575" y="7134225"/>
            <a:ext cx="1619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9"/>
              </a:lnSpc>
              <a:buNone/>
            </a:pPr>
            <a:r>
              <a:rPr lang="en-US" sz="1661" dirty="0">
                <a:solidFill>
                  <a:srgbClr val="4F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1661" dirty="0"/>
          </a:p>
        </p:txBody>
      </p:sp>
      <p:sp>
        <p:nvSpPr>
          <p:cNvPr id="45" name="Text 19"/>
          <p:cNvSpPr/>
          <p:nvPr/>
        </p:nvSpPr>
        <p:spPr>
          <a:xfrm>
            <a:off x="1895475" y="6858000"/>
            <a:ext cx="1676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636" b="1" dirty="0">
                <a:solidFill>
                  <a:srgbClr val="3E5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&amp;</a:t>
            </a:r>
            <a:endParaRPr lang="en-US" sz="1636" dirty="0"/>
          </a:p>
        </p:txBody>
      </p:sp>
      <p:pic>
        <p:nvPicPr>
          <p:cNvPr id="4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90700" y="6257925"/>
            <a:ext cx="600075" cy="514350"/>
          </a:xfrm>
          <a:prstGeom prst="rect">
            <a:avLst/>
          </a:prstGeom>
        </p:spPr>
      </p:pic>
      <p:sp>
        <p:nvSpPr>
          <p:cNvPr id="47" name="Text 20"/>
          <p:cNvSpPr/>
          <p:nvPr/>
        </p:nvSpPr>
        <p:spPr>
          <a:xfrm>
            <a:off x="1971675" y="6353175"/>
            <a:ext cx="238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685" b="1" dirty="0">
                <a:solidFill>
                  <a:srgbClr val="D4D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685" dirty="0"/>
          </a:p>
        </p:txBody>
      </p:sp>
      <p:pic>
        <p:nvPicPr>
          <p:cNvPr id="4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800350" y="5953125"/>
            <a:ext cx="1114425" cy="876300"/>
          </a:xfrm>
          <a:prstGeom prst="rect">
            <a:avLst/>
          </a:prstGeom>
        </p:spPr>
      </p:pic>
      <p:pic>
        <p:nvPicPr>
          <p:cNvPr id="4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200275" y="4972050"/>
            <a:ext cx="714375" cy="1200150"/>
          </a:xfrm>
          <a:prstGeom prst="rect">
            <a:avLst/>
          </a:prstGeom>
        </p:spPr>
      </p:pic>
      <p:pic>
        <p:nvPicPr>
          <p:cNvPr id="5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38675" y="2676525"/>
            <a:ext cx="1066800" cy="933450"/>
          </a:xfrm>
          <a:prstGeom prst="rect">
            <a:avLst/>
          </a:prstGeom>
        </p:spPr>
      </p:pic>
      <p:pic>
        <p:nvPicPr>
          <p:cNvPr id="5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9625" y="2333625"/>
            <a:ext cx="3305175" cy="2609850"/>
          </a:xfrm>
          <a:prstGeom prst="rect">
            <a:avLst/>
          </a:prstGeom>
        </p:spPr>
      </p:pic>
      <p:pic>
        <p:nvPicPr>
          <p:cNvPr id="5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43175" y="2438400"/>
            <a:ext cx="1524000" cy="1257300"/>
          </a:xfrm>
          <a:prstGeom prst="rect">
            <a:avLst/>
          </a:prstGeom>
        </p:spPr>
      </p:pic>
      <p:pic>
        <p:nvPicPr>
          <p:cNvPr id="5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2450" y="3848100"/>
            <a:ext cx="2600325" cy="1076325"/>
          </a:xfrm>
          <a:prstGeom prst="rect">
            <a:avLst/>
          </a:prstGeom>
        </p:spPr>
      </p:pic>
      <p:pic>
        <p:nvPicPr>
          <p:cNvPr id="5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8650" y="4067175"/>
            <a:ext cx="1695450" cy="847725"/>
          </a:xfrm>
          <a:prstGeom prst="rect">
            <a:avLst/>
          </a:prstGeom>
        </p:spPr>
      </p:pic>
      <p:sp>
        <p:nvSpPr>
          <p:cNvPr id="55" name="Text 21"/>
          <p:cNvSpPr/>
          <p:nvPr/>
        </p:nvSpPr>
        <p:spPr>
          <a:xfrm>
            <a:off x="1000125" y="4533900"/>
            <a:ext cx="9334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9"/>
              </a:lnSpc>
              <a:buNone/>
            </a:pPr>
            <a:r>
              <a:rPr lang="en-US" sz="1546" dirty="0">
                <a:solidFill>
                  <a:srgbClr val="50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546" dirty="0"/>
          </a:p>
        </p:txBody>
      </p:sp>
      <p:sp>
        <p:nvSpPr>
          <p:cNvPr id="56" name="Text 22"/>
          <p:cNvSpPr/>
          <p:nvPr/>
        </p:nvSpPr>
        <p:spPr>
          <a:xfrm>
            <a:off x="876300" y="4238625"/>
            <a:ext cx="1143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4"/>
              </a:lnSpc>
              <a:buNone/>
            </a:pPr>
            <a:r>
              <a:rPr lang="en-US" sz="1540" b="1" dirty="0">
                <a:solidFill>
                  <a:srgbClr val="4F6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1540" dirty="0"/>
          </a:p>
        </p:txBody>
      </p:sp>
      <p:pic>
        <p:nvPicPr>
          <p:cNvPr id="5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028825" y="3714750"/>
            <a:ext cx="1104900" cy="1143000"/>
          </a:xfrm>
          <a:prstGeom prst="rect">
            <a:avLst/>
          </a:prstGeom>
        </p:spPr>
      </p:pic>
      <p:sp>
        <p:nvSpPr>
          <p:cNvPr id="58" name="Shape 23"/>
          <p:cNvSpPr/>
          <p:nvPr/>
        </p:nvSpPr>
        <p:spPr>
          <a:xfrm>
            <a:off x="1028700" y="3686175"/>
            <a:ext cx="514350" cy="504825"/>
          </a:xfrm>
          <a:prstGeom prst="roundRect">
            <a:avLst>
              <a:gd name="adj" fmla="val 50000"/>
            </a:avLst>
          </a:prstGeom>
          <a:solidFill>
            <a:srgbClr val="01311E"/>
          </a:solidFill>
          <a:ln w="9525">
            <a:solidFill>
              <a:srgbClr val="3B5448"/>
            </a:solidFill>
            <a:prstDash val="solid"/>
          </a:ln>
        </p:spPr>
      </p:sp>
      <p:sp>
        <p:nvSpPr>
          <p:cNvPr id="59" name="Text 24"/>
          <p:cNvSpPr/>
          <p:nvPr/>
        </p:nvSpPr>
        <p:spPr>
          <a:xfrm>
            <a:off x="1190625" y="3771900"/>
            <a:ext cx="20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678" b="1" dirty="0">
                <a:solidFill>
                  <a:srgbClr val="C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678" dirty="0"/>
          </a:p>
        </p:txBody>
      </p:sp>
      <p:sp>
        <p:nvSpPr>
          <p:cNvPr id="60" name="Text 25"/>
          <p:cNvSpPr/>
          <p:nvPr/>
        </p:nvSpPr>
        <p:spPr>
          <a:xfrm>
            <a:off x="4410075" y="2371725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1587" dirty="0">
                <a:solidFill>
                  <a:srgbClr val="435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USE</a:t>
            </a:r>
            <a:endParaRPr lang="en-US" sz="1587" dirty="0"/>
          </a:p>
        </p:txBody>
      </p:sp>
      <p:sp>
        <p:nvSpPr>
          <p:cNvPr id="61" name="Text 26"/>
          <p:cNvSpPr/>
          <p:nvPr/>
        </p:nvSpPr>
        <p:spPr>
          <a:xfrm>
            <a:off x="8210550" y="4267200"/>
            <a:ext cx="1285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62"/>
              </a:lnSpc>
              <a:buNone/>
            </a:pPr>
            <a:r>
              <a:rPr lang="en-US" sz="1607" b="1" dirty="0">
                <a:solidFill>
                  <a:srgbClr val="556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&amp;</a:t>
            </a:r>
            <a:endParaRPr lang="en-US" sz="1607" dirty="0"/>
          </a:p>
          <a:p>
            <a:pPr algn="ctr" indent="0" marL="0">
              <a:lnSpc>
                <a:spcPts val="1962"/>
              </a:lnSpc>
              <a:buNone/>
            </a:pPr>
            <a:r>
              <a:rPr lang="en-US" sz="1607" b="1" dirty="0">
                <a:solidFill>
                  <a:srgbClr val="556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</a:t>
            </a:r>
            <a:endParaRPr lang="en-US" sz="1607" dirty="0"/>
          </a:p>
        </p:txBody>
      </p:sp>
      <p:sp>
        <p:nvSpPr>
          <p:cNvPr id="62" name="Text 27"/>
          <p:cNvSpPr/>
          <p:nvPr/>
        </p:nvSpPr>
        <p:spPr>
          <a:xfrm>
            <a:off x="4467225" y="5448300"/>
            <a:ext cx="13906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1"/>
              </a:lnSpc>
              <a:buNone/>
            </a:pPr>
            <a:r>
              <a:rPr lang="en-US" sz="1711" b="1" dirty="0">
                <a:solidFill>
                  <a:srgbClr val="3F60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&amp;APPROVAL</a:t>
            </a:r>
            <a:endParaRPr lang="en-US" sz="1711" dirty="0"/>
          </a:p>
        </p:txBody>
      </p:sp>
      <p:sp>
        <p:nvSpPr>
          <p:cNvPr id="63" name="Text 28"/>
          <p:cNvSpPr/>
          <p:nvPr/>
        </p:nvSpPr>
        <p:spPr>
          <a:xfrm>
            <a:off x="4286250" y="5143500"/>
            <a:ext cx="1752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2"/>
              </a:lnSpc>
              <a:buNone/>
            </a:pPr>
            <a:r>
              <a:rPr lang="en-US" sz="1685" b="1" dirty="0">
                <a:solidFill>
                  <a:srgbClr val="355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685" dirty="0"/>
          </a:p>
        </p:txBody>
      </p:sp>
      <p:sp>
        <p:nvSpPr>
          <p:cNvPr id="64" name="Shape 29"/>
          <p:cNvSpPr/>
          <p:nvPr/>
        </p:nvSpPr>
        <p:spPr>
          <a:xfrm>
            <a:off x="390525" y="1047750"/>
            <a:ext cx="14316075" cy="695325"/>
          </a:xfrm>
          <a:prstGeom prst="roundRect">
            <a:avLst>
              <a:gd name="adj" fmla="val 8219"/>
            </a:avLst>
          </a:prstGeom>
          <a:solidFill>
            <a:srgbClr val="EAF1E6"/>
          </a:solidFill>
          <a:ln w="9525">
            <a:solidFill>
              <a:srgbClr val="D7E3D2"/>
            </a:solidFill>
            <a:prstDash val="solid"/>
          </a:ln>
        </p:spPr>
      </p:sp>
      <p:pic>
        <p:nvPicPr>
          <p:cNvPr id="6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14375" y="1076325"/>
            <a:ext cx="628650" cy="628650"/>
          </a:xfrm>
          <a:prstGeom prst="rect">
            <a:avLst/>
          </a:prstGeom>
        </p:spPr>
      </p:pic>
      <p:sp>
        <p:nvSpPr>
          <p:cNvPr id="66" name="Text 30"/>
          <p:cNvSpPr/>
          <p:nvPr/>
        </p:nvSpPr>
        <p:spPr>
          <a:xfrm>
            <a:off x="1600200" y="1209675"/>
            <a:ext cx="10687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883" dirty="0">
                <a:solidFill>
                  <a:srgbClr val="435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strategic value is created through controlled learning, not automatic self-learning.</a:t>
            </a:r>
            <a:endParaRPr lang="en-US" sz="1883" dirty="0"/>
          </a:p>
        </p:txBody>
      </p:sp>
      <p:sp>
        <p:nvSpPr>
          <p:cNvPr id="67" name="Text 31"/>
          <p:cNvSpPr/>
          <p:nvPr/>
        </p:nvSpPr>
        <p:spPr>
          <a:xfrm>
            <a:off x="381000" y="247650"/>
            <a:ext cx="12792075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013" b="1" dirty="0">
                <a:solidFill>
                  <a:srgbClr val="1D41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Capability Strengthens Through Governed Use</a:t>
            </a:r>
            <a:endParaRPr lang="en-US" sz="40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2026-07-24T18:35:08Z</dcterms:created>
  <dcterms:modified xsi:type="dcterms:W3CDTF">2026-07-24T18:35:08Z</dcterms:modified>
</cp:coreProperties>
</file>