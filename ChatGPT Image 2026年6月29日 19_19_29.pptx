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image" Target="../media/image-1-6.jpe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jpeg"/><Relationship Id="rId19" Type="http://schemas.openxmlformats.org/officeDocument/2006/relationships/image" Target="../media/image-1-19.jpeg"/><Relationship Id="rId20" Type="http://schemas.openxmlformats.org/officeDocument/2006/relationships/image" Target="../media/image-1-20.png"/><Relationship Id="rId21" Type="http://schemas.openxmlformats.org/officeDocument/2006/relationships/image" Target="../media/image-1-21.jpeg"/><Relationship Id="rId22" Type="http://schemas.openxmlformats.org/officeDocument/2006/relationships/image" Target="../media/image-1-22.jpeg"/><Relationship Id="rId23" Type="http://schemas.openxmlformats.org/officeDocument/2006/relationships/image" Target="../media/image-1-23.png"/><Relationship Id="rId24" Type="http://schemas.openxmlformats.org/officeDocument/2006/relationships/image" Target="../media/image-1-24.jpe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jpe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jpe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jpe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jpeg"/><Relationship Id="rId62" Type="http://schemas.openxmlformats.org/officeDocument/2006/relationships/image" Target="../media/image-1-62.jpeg"/><Relationship Id="rId63" Type="http://schemas.openxmlformats.org/officeDocument/2006/relationships/image" Target="../media/image-1-63.jpeg"/><Relationship Id="rId64" Type="http://schemas.openxmlformats.org/officeDocument/2006/relationships/image" Target="../media/image-1-64.png"/><Relationship Id="rId65" Type="http://schemas.openxmlformats.org/officeDocument/2006/relationships/image" Target="../media/image-1-65.jpe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jpeg"/><Relationship Id="rId69" Type="http://schemas.openxmlformats.org/officeDocument/2006/relationships/image" Target="../media/image-1-69.jpe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jpeg"/><Relationship Id="rId79" Type="http://schemas.openxmlformats.org/officeDocument/2006/relationships/image" Target="../media/image-1-79.png"/><Relationship Id="rId80" Type="http://schemas.openxmlformats.org/officeDocument/2006/relationships/image" Target="../media/image-1-80.jpeg"/><Relationship Id="rId81" Type="http://schemas.openxmlformats.org/officeDocument/2006/relationships/image" Target="../media/image-1-81.png"/><Relationship Id="rId82" Type="http://schemas.openxmlformats.org/officeDocument/2006/relationships/image" Target="../media/image-1-82.jpeg"/><Relationship Id="rId83" Type="http://schemas.openxmlformats.org/officeDocument/2006/relationships/image" Target="../media/image-1-83.png"/><Relationship Id="rId84" Type="http://schemas.openxmlformats.org/officeDocument/2006/relationships/image" Target="../media/image-1-84.jpeg"/><Relationship Id="rId85" Type="http://schemas.openxmlformats.org/officeDocument/2006/relationships/image" Target="../media/image-1-85.png"/><Relationship Id="rId86" Type="http://schemas.openxmlformats.org/officeDocument/2006/relationships/image" Target="../media/image-1-86.jpeg"/><Relationship Id="rId87" Type="http://schemas.openxmlformats.org/officeDocument/2006/relationships/image" Target="../media/image-1-87.jpeg"/><Relationship Id="rId88" Type="http://schemas.openxmlformats.org/officeDocument/2006/relationships/image" Target="../media/image-1-88.jpeg"/><Relationship Id="rId89" Type="http://schemas.openxmlformats.org/officeDocument/2006/relationships/image" Target="../media/image-1-89.jpeg"/><Relationship Id="rId90" Type="http://schemas.openxmlformats.org/officeDocument/2006/relationships/slideLayout" Target="../slideLayouts/slideLayout1.xml"/><Relationship Id="rId9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3" name="Text 1"/>
          <p:cNvSpPr/>
          <p:nvPr/>
        </p:nvSpPr>
        <p:spPr>
          <a:xfrm>
            <a:off x="6415019" y="4987636"/>
            <a:ext cx="2863516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2" b="1" dirty="0">
                <a:solidFill>
                  <a:srgbClr val="94939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Designed for Al Risk Oversight Team Al Tech &amp; Tooling TeamPwC</a:t>
            </a:r>
            <a:endParaRPr lang="en-US" sz="702" dirty="0"/>
          </a:p>
        </p:txBody>
      </p:sp>
      <p:sp>
        <p:nvSpPr>
          <p:cNvPr id="4" name="Shape 2"/>
          <p:cNvSpPr/>
          <p:nvPr/>
        </p:nvSpPr>
        <p:spPr>
          <a:xfrm>
            <a:off x="4577469" y="4107144"/>
            <a:ext cx="4495435" cy="831273"/>
          </a:xfrm>
          <a:prstGeom prst="rect">
            <a:avLst/>
          </a:prstGeom>
          <a:solidFill>
            <a:srgbClr val="FDFDFE"/>
          </a:solidFill>
          <a:ln/>
        </p:spPr>
      </p:sp>
      <p:sp>
        <p:nvSpPr>
          <p:cNvPr id="5" name="Text 3"/>
          <p:cNvSpPr/>
          <p:nvPr/>
        </p:nvSpPr>
        <p:spPr>
          <a:xfrm>
            <a:off x="4954823" y="4768880"/>
            <a:ext cx="2009274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7" dirty="0">
                <a:solidFill>
                  <a:srgbClr val="6E6E6E"/>
                </a:solidFill>
                <a:latin typeface="Spinnaker" pitchFamily="34" charset="0"/>
                <a:ea typeface="Spinnaker" pitchFamily="34" charset="-122"/>
                <a:cs typeface="Spinnaker" pitchFamily="34" charset="-120"/>
              </a:rPr>
              <a:t>Can start with existing collaboration channels</a:t>
            </a:r>
            <a:endParaRPr lang="en-US" sz="637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7005" y="4757943"/>
            <a:ext cx="131254" cy="13672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416" y="4697785"/>
            <a:ext cx="3992297" cy="382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0292" y="4577469"/>
            <a:ext cx="1780674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6" dirty="0">
                <a:solidFill>
                  <a:srgbClr val="6A6A6B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No need for deep integration on day one</a:t>
            </a:r>
            <a:endParaRPr lang="en-US" sz="736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005" y="4561062"/>
            <a:ext cx="125785" cy="13125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947" y="4506373"/>
            <a:ext cx="4003234" cy="382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0292" y="4380589"/>
            <a:ext cx="2225842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b="1" dirty="0">
                <a:solidFill>
                  <a:srgbClr val="666667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No need for every team to log into a new platform</a:t>
            </a:r>
            <a:endParaRPr lang="en-US" sz="711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005" y="4369651"/>
            <a:ext cx="131254" cy="12578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536" y="4320431"/>
            <a:ext cx="4194646" cy="2734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960292" y="4178239"/>
            <a:ext cx="2135605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dirty="0">
                <a:solidFill>
                  <a:srgbClr val="6D6D6D"/>
                </a:solidFill>
                <a:latin typeface="Tilt Neon" pitchFamily="34" charset="0"/>
                <a:ea typeface="Tilt Neon" pitchFamily="34" charset="-122"/>
                <a:cs typeface="Tilt Neon" pitchFamily="34" charset="-120"/>
              </a:rPr>
              <a:t>No need to deploy the full tool to all 2LoD teams</a:t>
            </a:r>
            <a:endParaRPr lang="en-US" sz="711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7005" y="4167301"/>
            <a:ext cx="125785" cy="131254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4582938" y="3964952"/>
            <a:ext cx="4489967" cy="142191"/>
          </a:xfrm>
          <a:prstGeom prst="rect">
            <a:avLst/>
          </a:prstGeom>
          <a:solidFill>
            <a:srgbClr val="013B17"/>
          </a:solidFill>
          <a:ln/>
        </p:spPr>
      </p:sp>
      <p:sp>
        <p:nvSpPr>
          <p:cNvPr id="17" name="Text 8"/>
          <p:cNvSpPr/>
          <p:nvPr/>
        </p:nvSpPr>
        <p:spPr>
          <a:xfrm>
            <a:off x="5742344" y="3975890"/>
            <a:ext cx="1515979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ACC0B1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What is NOT required for MVP</a:t>
            </a:r>
            <a:endParaRPr lang="en-US" sz="792" dirty="0"/>
          </a:p>
        </p:txBody>
      </p:sp>
      <p:sp>
        <p:nvSpPr>
          <p:cNvPr id="18" name="Shape 9"/>
          <p:cNvSpPr/>
          <p:nvPr/>
        </p:nvSpPr>
        <p:spPr>
          <a:xfrm>
            <a:off x="87502" y="4107144"/>
            <a:ext cx="4232928" cy="836742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9" name="Text 10"/>
          <p:cNvSpPr/>
          <p:nvPr/>
        </p:nvSpPr>
        <p:spPr>
          <a:xfrm>
            <a:off x="3503650" y="4675909"/>
            <a:ext cx="643689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5" dirty="0">
                <a:solidFill>
                  <a:srgbClr val="676768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Final record and</a:t>
            </a:r>
            <a:endParaRPr lang="en-US" sz="655" dirty="0"/>
          </a:p>
          <a:p>
            <a:pPr algn="ctr" indent="0" marL="0">
              <a:buNone/>
            </a:pPr>
            <a:r>
              <a:rPr lang="en-US" sz="655" dirty="0">
                <a:solidFill>
                  <a:srgbClr val="676768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audit trail</a:t>
            </a:r>
            <a:endParaRPr lang="en-US" sz="655" dirty="0"/>
          </a:p>
        </p:txBody>
      </p:sp>
      <p:sp>
        <p:nvSpPr>
          <p:cNvPr id="20" name="Text 11"/>
          <p:cNvSpPr/>
          <p:nvPr/>
        </p:nvSpPr>
        <p:spPr>
          <a:xfrm>
            <a:off x="3408218" y="4462622"/>
            <a:ext cx="818147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5" b="1" dirty="0">
                <a:solidFill>
                  <a:srgbClr val="5E5E5E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Assessment/</a:t>
            </a:r>
            <a:endParaRPr lang="en-US" sz="685" dirty="0"/>
          </a:p>
          <a:p>
            <a:pPr algn="ctr" indent="0" marL="0">
              <a:buNone/>
            </a:pPr>
            <a:r>
              <a:rPr lang="en-US" sz="685" b="1" dirty="0">
                <a:solidFill>
                  <a:srgbClr val="5E5E5E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evidence repository</a:t>
            </a:r>
            <a:endParaRPr lang="en-US" sz="685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6038" y="4167301"/>
            <a:ext cx="246100" cy="267976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9928" y="4325900"/>
            <a:ext cx="289852" cy="65627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7727" y="4211053"/>
            <a:ext cx="284383" cy="240632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6306" y="4325900"/>
            <a:ext cx="289852" cy="60158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5665" y="4200115"/>
            <a:ext cx="339072" cy="289852"/>
          </a:xfrm>
          <a:prstGeom prst="rect">
            <a:avLst/>
          </a:prstGeom>
        </p:spPr>
      </p:pic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120" y="4325900"/>
            <a:ext cx="289852" cy="65627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267976" y="4648565"/>
            <a:ext cx="601579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6F6F7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Forms, trackers,</a:t>
            </a:r>
            <a:endParaRPr lang="en-US" sz="672" dirty="0"/>
          </a:p>
          <a:p>
            <a:pPr algn="ctr" indent="0" marL="0">
              <a:buNone/>
            </a:pPr>
            <a:r>
              <a:rPr lang="en-US" sz="672" dirty="0">
                <a:solidFill>
                  <a:srgbClr val="6F6F7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documents</a:t>
            </a:r>
            <a:endParaRPr lang="en-US" sz="672" dirty="0"/>
          </a:p>
        </p:txBody>
      </p:sp>
      <p:sp>
        <p:nvSpPr>
          <p:cNvPr id="28" name="Text 13"/>
          <p:cNvSpPr/>
          <p:nvPr/>
        </p:nvSpPr>
        <p:spPr>
          <a:xfrm>
            <a:off x="317196" y="4533718"/>
            <a:ext cx="553453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3" b="1" dirty="0">
                <a:solidFill>
                  <a:srgbClr val="666666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Input sources</a:t>
            </a:r>
            <a:endParaRPr lang="en-US" sz="663" dirty="0"/>
          </a:p>
        </p:txBody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761" y="4172770"/>
            <a:ext cx="339072" cy="317196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2411785" y="4648565"/>
            <a:ext cx="776037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2" dirty="0">
                <a:solidFill>
                  <a:srgbClr val="656565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Where 2LoD teams</a:t>
            </a:r>
            <a:endParaRPr lang="en-US" sz="642" dirty="0"/>
          </a:p>
          <a:p>
            <a:pPr algn="l" indent="0" marL="0">
              <a:buNone/>
            </a:pPr>
            <a:r>
              <a:rPr lang="en-US" sz="642" dirty="0">
                <a:solidFill>
                  <a:srgbClr val="656565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view and respond</a:t>
            </a:r>
            <a:endParaRPr lang="en-US" sz="642" dirty="0"/>
          </a:p>
        </p:txBody>
      </p:sp>
      <p:sp>
        <p:nvSpPr>
          <p:cNvPr id="31" name="Text 15"/>
          <p:cNvSpPr/>
          <p:nvPr/>
        </p:nvSpPr>
        <p:spPr>
          <a:xfrm>
            <a:off x="2286000" y="4522780"/>
            <a:ext cx="1022684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646465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Shared review workspace</a:t>
            </a:r>
            <a:endParaRPr lang="en-US" sz="685" dirty="0"/>
          </a:p>
        </p:txBody>
      </p:sp>
      <p:sp>
        <p:nvSpPr>
          <p:cNvPr id="32" name="Text 16"/>
          <p:cNvSpPr/>
          <p:nvPr/>
        </p:nvSpPr>
        <p:spPr>
          <a:xfrm>
            <a:off x="1266871" y="4517311"/>
            <a:ext cx="764005" cy="3718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7" b="1" dirty="0">
                <a:solidFill>
                  <a:srgbClr val="626263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AIRO triaging tool</a:t>
            </a:r>
            <a:endParaRPr lang="en-US" sz="667" dirty="0"/>
          </a:p>
          <a:p>
            <a:pPr algn="ctr" indent="0" marL="0">
              <a:buNone/>
            </a:pPr>
            <a:r>
              <a:rPr lang="en-US" sz="667" b="1" dirty="0">
                <a:solidFill>
                  <a:srgbClr val="626263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Used by AI Risk</a:t>
            </a:r>
            <a:endParaRPr lang="en-US" sz="667" dirty="0"/>
          </a:p>
          <a:p>
            <a:pPr algn="ctr" indent="0" marL="0">
              <a:buNone/>
            </a:pPr>
            <a:r>
              <a:rPr lang="en-US" sz="667" b="1" dirty="0">
                <a:solidFill>
                  <a:srgbClr val="626263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Oversight only</a:t>
            </a:r>
            <a:endParaRPr lang="en-US" sz="667" dirty="0"/>
          </a:p>
        </p:txBody>
      </p:sp>
      <p:sp>
        <p:nvSpPr>
          <p:cNvPr id="33" name="Shape 17"/>
          <p:cNvSpPr/>
          <p:nvPr/>
        </p:nvSpPr>
        <p:spPr>
          <a:xfrm>
            <a:off x="92971" y="3970421"/>
            <a:ext cx="4216522" cy="142191"/>
          </a:xfrm>
          <a:prstGeom prst="rect">
            <a:avLst/>
          </a:prstGeom>
          <a:solidFill>
            <a:srgbClr val="013C17"/>
          </a:solidFill>
          <a:ln/>
        </p:spPr>
      </p:sp>
      <p:sp>
        <p:nvSpPr>
          <p:cNvPr id="34" name="Text 18"/>
          <p:cNvSpPr/>
          <p:nvPr/>
        </p:nvSpPr>
        <p:spPr>
          <a:xfrm>
            <a:off x="1558636" y="3986828"/>
            <a:ext cx="1263316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1" b="1" dirty="0">
                <a:solidFill>
                  <a:srgbClr val="ACC0B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Practical design approach</a:t>
            </a:r>
            <a:endParaRPr lang="en-US" sz="801" dirty="0"/>
          </a:p>
        </p:txBody>
      </p:sp>
      <p:sp>
        <p:nvSpPr>
          <p:cNvPr id="35" name="Shape 19"/>
          <p:cNvSpPr/>
          <p:nvPr/>
        </p:nvSpPr>
        <p:spPr>
          <a:xfrm>
            <a:off x="21876" y="1121124"/>
            <a:ext cx="7656459" cy="2805545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36" name="Shape 20"/>
          <p:cNvSpPr/>
          <p:nvPr/>
        </p:nvSpPr>
        <p:spPr>
          <a:xfrm>
            <a:off x="6502522" y="3429000"/>
            <a:ext cx="1093780" cy="399230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9086" y="3511033"/>
            <a:ext cx="235163" cy="20781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923627" y="3467282"/>
            <a:ext cx="403058" cy="322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4" b="1" dirty="0">
                <a:solidFill>
                  <a:srgbClr val="555656"/>
                </a:solidFill>
                <a:latin typeface="Sunshiney" pitchFamily="34" charset="0"/>
                <a:ea typeface="Sunshiney" pitchFamily="34" charset="-122"/>
                <a:cs typeface="Sunshiney" pitchFamily="34" charset="-120"/>
              </a:rPr>
              <a:t>Output: Final triage outcome</a:t>
            </a:r>
            <a:endParaRPr lang="en-US" sz="284" dirty="0"/>
          </a:p>
        </p:txBody>
      </p:sp>
      <p:sp>
        <p:nvSpPr>
          <p:cNvPr id="39" name="Shape 22"/>
          <p:cNvSpPr/>
          <p:nvPr/>
        </p:nvSpPr>
        <p:spPr>
          <a:xfrm>
            <a:off x="5370459" y="3429000"/>
            <a:ext cx="1006278" cy="399230"/>
          </a:xfrm>
          <a:prstGeom prst="rect">
            <a:avLst/>
          </a:prstGeom>
          <a:solidFill>
            <a:srgbClr val="FDFEFD"/>
          </a:solidFill>
          <a:ln/>
        </p:spPr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0617" y="3500096"/>
            <a:ext cx="164067" cy="240632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5682187" y="3511033"/>
            <a:ext cx="571500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3" b="1" dirty="0">
                <a:solidFill>
                  <a:srgbClr val="5B5B5B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Output:</a:t>
            </a:r>
            <a:endParaRPr lang="en-US" sz="603" dirty="0"/>
          </a:p>
          <a:p>
            <a:pPr algn="l" indent="0" marL="0">
              <a:buNone/>
            </a:pPr>
            <a:r>
              <a:rPr lang="en-US" sz="603" b="1" dirty="0">
                <a:solidFill>
                  <a:srgbClr val="5B5B5B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Risk team inputs</a:t>
            </a:r>
            <a:endParaRPr lang="en-US" sz="603" dirty="0"/>
          </a:p>
        </p:txBody>
      </p:sp>
      <p:sp>
        <p:nvSpPr>
          <p:cNvPr id="42" name="Shape 24"/>
          <p:cNvSpPr/>
          <p:nvPr/>
        </p:nvSpPr>
        <p:spPr>
          <a:xfrm>
            <a:off x="3100866" y="3423531"/>
            <a:ext cx="1017215" cy="399230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5555" y="3494627"/>
            <a:ext cx="164067" cy="240632"/>
          </a:xfrm>
          <a:prstGeom prst="rect">
            <a:avLst/>
          </a:prstGeom>
        </p:spPr>
      </p:pic>
      <p:sp>
        <p:nvSpPr>
          <p:cNvPr id="44" name="Text 25"/>
          <p:cNvSpPr/>
          <p:nvPr/>
        </p:nvSpPr>
        <p:spPr>
          <a:xfrm>
            <a:off x="3396187" y="3511033"/>
            <a:ext cx="733926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64646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Output: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64646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Targeted review pack</a:t>
            </a:r>
            <a:endParaRPr lang="en-US" sz="581" dirty="0"/>
          </a:p>
        </p:txBody>
      </p:sp>
      <p:sp>
        <p:nvSpPr>
          <p:cNvPr id="45" name="Shape 26"/>
          <p:cNvSpPr/>
          <p:nvPr/>
        </p:nvSpPr>
        <p:spPr>
          <a:xfrm>
            <a:off x="5337646" y="3024301"/>
            <a:ext cx="1219565" cy="360947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30636" y="3336029"/>
            <a:ext cx="371885" cy="10938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5583746" y="3281340"/>
            <a:ext cx="595563" cy="656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74" b="1" dirty="0">
                <a:solidFill>
                  <a:srgbClr val="929192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Comments / Conditions</a:t>
            </a:r>
            <a:endParaRPr lang="en-US" sz="474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21258" y="3237589"/>
            <a:ext cx="481263" cy="10938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5589215" y="3182900"/>
            <a:ext cx="469232" cy="710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9" dirty="0">
                <a:solidFill>
                  <a:srgbClr val="84848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More info needed?</a:t>
            </a:r>
            <a:endParaRPr lang="en-US" sz="409" dirty="0"/>
          </a:p>
        </p:txBody>
      </p:sp>
      <p:sp>
        <p:nvSpPr>
          <p:cNvPr id="50" name="Text 29"/>
          <p:cNvSpPr/>
          <p:nvPr/>
        </p:nvSpPr>
        <p:spPr>
          <a:xfrm>
            <a:off x="5583746" y="3068053"/>
            <a:ext cx="1022684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848484"/>
                </a:solidFill>
                <a:latin typeface="Englebert" pitchFamily="34" charset="0"/>
                <a:ea typeface="Englebert" pitchFamily="34" charset="-122"/>
                <a:cs typeface="Englebert" pitchFamily="34" charset="-120"/>
              </a:rPr>
              <a:t>Assessment: Low / Medium / High / N/A</a:t>
            </a:r>
            <a:endParaRPr lang="en-US" sz="405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59522" y="3078990"/>
            <a:ext cx="202349" cy="262507"/>
          </a:xfrm>
          <a:prstGeom prst="rect">
            <a:avLst/>
          </a:prstGeom>
        </p:spPr>
      </p:pic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48584" y="3363373"/>
            <a:ext cx="2318813" cy="27344"/>
          </a:xfrm>
          <a:prstGeom prst="rect">
            <a:avLst/>
          </a:prstGeom>
        </p:spPr>
      </p:pic>
      <p:pic>
        <p:nvPicPr>
          <p:cNvPr id="5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6273" y="3363373"/>
            <a:ext cx="1115656" cy="21876"/>
          </a:xfrm>
          <a:prstGeom prst="rect">
            <a:avLst/>
          </a:prstGeom>
        </p:spPr>
      </p:pic>
      <p:pic>
        <p:nvPicPr>
          <p:cNvPr id="5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25957" y="1121124"/>
            <a:ext cx="32813" cy="1903177"/>
          </a:xfrm>
          <a:prstGeom prst="rect">
            <a:avLst/>
          </a:prstGeom>
        </p:spPr>
      </p:pic>
      <p:sp>
        <p:nvSpPr>
          <p:cNvPr id="55" name="Shape 30"/>
          <p:cNvSpPr/>
          <p:nvPr/>
        </p:nvSpPr>
        <p:spPr>
          <a:xfrm>
            <a:off x="4221990" y="3013364"/>
            <a:ext cx="1039091" cy="875024"/>
          </a:xfrm>
          <a:prstGeom prst="rect">
            <a:avLst/>
          </a:prstGeom>
          <a:solidFill>
            <a:srgbClr val="EEF6E8"/>
          </a:solidFill>
          <a:ln/>
        </p:spPr>
      </p:sp>
      <p:pic>
        <p:nvPicPr>
          <p:cNvPr id="5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43866" y="3642287"/>
            <a:ext cx="978933" cy="27344"/>
          </a:xfrm>
          <a:prstGeom prst="rect">
            <a:avLst/>
          </a:prstGeom>
        </p:spPr>
      </p:pic>
      <p:pic>
        <p:nvPicPr>
          <p:cNvPr id="5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80589" y="3489158"/>
            <a:ext cx="21876" cy="27344"/>
          </a:xfrm>
          <a:prstGeom prst="rect">
            <a:avLst/>
          </a:prstGeom>
        </p:spPr>
      </p:pic>
      <p:pic>
        <p:nvPicPr>
          <p:cNvPr id="5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80589" y="3308684"/>
            <a:ext cx="21876" cy="27344"/>
          </a:xfrm>
          <a:prstGeom prst="rect">
            <a:avLst/>
          </a:prstGeom>
        </p:spPr>
      </p:pic>
      <p:pic>
        <p:nvPicPr>
          <p:cNvPr id="5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80589" y="3215713"/>
            <a:ext cx="21876" cy="21876"/>
          </a:xfrm>
          <a:prstGeom prst="rect">
            <a:avLst/>
          </a:prstGeom>
        </p:spPr>
      </p:pic>
      <p:pic>
        <p:nvPicPr>
          <p:cNvPr id="6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54804" y="3068053"/>
            <a:ext cx="147660" cy="125785"/>
          </a:xfrm>
          <a:prstGeom prst="rect">
            <a:avLst/>
          </a:prstGeom>
        </p:spPr>
      </p:pic>
      <p:sp>
        <p:nvSpPr>
          <p:cNvPr id="61" name="Text 31"/>
          <p:cNvSpPr/>
          <p:nvPr/>
        </p:nvSpPr>
        <p:spPr>
          <a:xfrm>
            <a:off x="4253710" y="3669632"/>
            <a:ext cx="986589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8" dirty="0">
                <a:solidFill>
                  <a:srgbClr val="7F847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Examples: Confluence, SharePoint,</a:t>
            </a:r>
            <a:endParaRPr lang="en-US" sz="448" dirty="0"/>
          </a:p>
          <a:p>
            <a:pPr algn="ctr" indent="0" marL="0">
              <a:buNone/>
            </a:pPr>
            <a:r>
              <a:rPr lang="en-US" sz="448" dirty="0">
                <a:solidFill>
                  <a:srgbClr val="7F847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Jira task, workflow page, email pack</a:t>
            </a:r>
            <a:endParaRPr lang="en-US" sz="448" dirty="0"/>
          </a:p>
        </p:txBody>
      </p:sp>
      <p:sp>
        <p:nvSpPr>
          <p:cNvPr id="62" name="Text 32"/>
          <p:cNvSpPr/>
          <p:nvPr/>
        </p:nvSpPr>
        <p:spPr>
          <a:xfrm>
            <a:off x="4451684" y="3445407"/>
            <a:ext cx="739942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6C71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Can be implemented via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6C71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existing tools</a:t>
            </a:r>
            <a:endParaRPr lang="en-US" sz="525" dirty="0"/>
          </a:p>
        </p:txBody>
      </p:sp>
      <p:sp>
        <p:nvSpPr>
          <p:cNvPr id="63" name="Text 33"/>
          <p:cNvSpPr/>
          <p:nvPr/>
        </p:nvSpPr>
        <p:spPr>
          <a:xfrm>
            <a:off x="4451684" y="3275871"/>
            <a:ext cx="709863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757971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Relevant reviewers can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757971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view content</a:t>
            </a:r>
            <a:endParaRPr lang="en-US" sz="525" dirty="0"/>
          </a:p>
        </p:txBody>
      </p:sp>
      <p:sp>
        <p:nvSpPr>
          <p:cNvPr id="64" name="Text 34"/>
          <p:cNvSpPr/>
          <p:nvPr/>
        </p:nvSpPr>
        <p:spPr>
          <a:xfrm>
            <a:off x="4451684" y="3182900"/>
            <a:ext cx="79408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4" b="1" dirty="0">
                <a:solidFill>
                  <a:srgbClr val="73776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Structured pack published</a:t>
            </a:r>
            <a:endParaRPr lang="en-US" sz="534" dirty="0"/>
          </a:p>
        </p:txBody>
      </p:sp>
      <p:sp>
        <p:nvSpPr>
          <p:cNvPr id="65" name="Text 35"/>
          <p:cNvSpPr/>
          <p:nvPr/>
        </p:nvSpPr>
        <p:spPr>
          <a:xfrm>
            <a:off x="4424340" y="3073522"/>
            <a:ext cx="872289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575A54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Shared review workspace</a:t>
            </a:r>
            <a:endParaRPr lang="en-US" sz="599" dirty="0"/>
          </a:p>
        </p:txBody>
      </p:sp>
      <p:pic>
        <p:nvPicPr>
          <p:cNvPr id="6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88426" y="1115656"/>
            <a:ext cx="32813" cy="2794608"/>
          </a:xfrm>
          <a:prstGeom prst="rect">
            <a:avLst/>
          </a:prstGeom>
        </p:spPr>
      </p:pic>
      <p:sp>
        <p:nvSpPr>
          <p:cNvPr id="67" name="Shape 36"/>
          <p:cNvSpPr/>
          <p:nvPr/>
        </p:nvSpPr>
        <p:spPr>
          <a:xfrm>
            <a:off x="2018024" y="3418062"/>
            <a:ext cx="967995" cy="399230"/>
          </a:xfrm>
          <a:prstGeom prst="rect">
            <a:avLst/>
          </a:prstGeom>
          <a:solidFill>
            <a:srgbClr val="FDFEFD"/>
          </a:solidFill>
          <a:ln/>
        </p:spPr>
      </p:sp>
      <p:pic>
        <p:nvPicPr>
          <p:cNvPr id="6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078182" y="3489158"/>
            <a:ext cx="169536" cy="240632"/>
          </a:xfrm>
          <a:prstGeom prst="rect">
            <a:avLst/>
          </a:prstGeom>
        </p:spPr>
      </p:pic>
      <p:sp>
        <p:nvSpPr>
          <p:cNvPr id="69" name="Text 37"/>
          <p:cNvSpPr/>
          <p:nvPr/>
        </p:nvSpPr>
        <p:spPr>
          <a:xfrm>
            <a:off x="2329751" y="3461813"/>
            <a:ext cx="571500" cy="322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16262"/>
                </a:solidFill>
                <a:latin typeface="Hammersmith One" pitchFamily="34" charset="0"/>
                <a:ea typeface="Hammersmith One" pitchFamily="34" charset="-122"/>
                <a:cs typeface="Hammersmith One" pitchFamily="34" charset="-120"/>
              </a:rPr>
              <a:t>Output:</a:t>
            </a:r>
            <a:endParaRPr lang="en-US" sz="500" dirty="0"/>
          </a:p>
          <a:p>
            <a:pPr algn="l" indent="0" marL="0">
              <a:buNone/>
            </a:pPr>
            <a:r>
              <a:rPr lang="en-US" sz="500" b="1" dirty="0">
                <a:solidFill>
                  <a:srgbClr val="616262"/>
                </a:solidFill>
                <a:latin typeface="Hammersmith One" pitchFamily="34" charset="0"/>
                <a:ea typeface="Hammersmith One" pitchFamily="34" charset="-122"/>
                <a:cs typeface="Hammersmith One" pitchFamily="34" charset="-120"/>
              </a:rPr>
              <a:t>Structured triage</a:t>
            </a:r>
            <a:endParaRPr lang="en-US" sz="500" dirty="0"/>
          </a:p>
          <a:p>
            <a:pPr algn="l" indent="0" marL="0">
              <a:buNone/>
            </a:pPr>
            <a:r>
              <a:rPr lang="en-US" sz="500" b="1" dirty="0">
                <a:solidFill>
                  <a:srgbClr val="616262"/>
                </a:solidFill>
                <a:latin typeface="Hammersmith One" pitchFamily="34" charset="0"/>
                <a:ea typeface="Hammersmith One" pitchFamily="34" charset="-122"/>
                <a:cs typeface="Hammersmith One" pitchFamily="34" charset="-120"/>
              </a:rPr>
              <a:t>profile</a:t>
            </a:r>
            <a:endParaRPr lang="en-US" sz="500" dirty="0"/>
          </a:p>
        </p:txBody>
      </p:sp>
      <p:sp>
        <p:nvSpPr>
          <p:cNvPr id="70" name="Shape 38"/>
          <p:cNvSpPr/>
          <p:nvPr/>
        </p:nvSpPr>
        <p:spPr>
          <a:xfrm>
            <a:off x="951589" y="3412593"/>
            <a:ext cx="918775" cy="404699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7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6278" y="3489158"/>
            <a:ext cx="164067" cy="240632"/>
          </a:xfrm>
          <a:prstGeom prst="rect">
            <a:avLst/>
          </a:prstGeom>
        </p:spPr>
      </p:pic>
      <p:sp>
        <p:nvSpPr>
          <p:cNvPr id="72" name="Text 39"/>
          <p:cNvSpPr/>
          <p:nvPr/>
        </p:nvSpPr>
        <p:spPr>
          <a:xfrm>
            <a:off x="1252378" y="3467282"/>
            <a:ext cx="559468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5F606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Output: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5F606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Raw intake pack</a:t>
            </a:r>
            <a:endParaRPr lang="en-US" sz="581" dirty="0"/>
          </a:p>
        </p:txBody>
      </p:sp>
      <p:sp>
        <p:nvSpPr>
          <p:cNvPr id="73" name="Text 40"/>
          <p:cNvSpPr/>
          <p:nvPr/>
        </p:nvSpPr>
        <p:spPr>
          <a:xfrm>
            <a:off x="393761" y="3423531"/>
            <a:ext cx="523374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1" b="1" dirty="0">
                <a:solidFill>
                  <a:srgbClr val="60606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4.Shared</a:t>
            </a:r>
            <a:endParaRPr lang="en-US" sz="611" dirty="0"/>
          </a:p>
          <a:p>
            <a:pPr algn="l" indent="0" marL="0">
              <a:buNone/>
            </a:pPr>
            <a:r>
              <a:rPr lang="en-US" sz="611" b="1" dirty="0">
                <a:solidFill>
                  <a:srgbClr val="60606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Review /</a:t>
            </a:r>
            <a:endParaRPr lang="en-US" sz="611" dirty="0"/>
          </a:p>
          <a:p>
            <a:pPr algn="l" indent="0" marL="0">
              <a:buNone/>
            </a:pPr>
            <a:r>
              <a:rPr lang="en-US" sz="611" b="1" dirty="0">
                <a:solidFill>
                  <a:srgbClr val="60606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Evidence Space</a:t>
            </a:r>
            <a:endParaRPr lang="en-US" sz="611" dirty="0"/>
          </a:p>
        </p:txBody>
      </p:sp>
      <p:pic>
        <p:nvPicPr>
          <p:cNvPr id="7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3909" y="3412593"/>
            <a:ext cx="251569" cy="267976"/>
          </a:xfrm>
          <a:prstGeom prst="rect">
            <a:avLst/>
          </a:prstGeom>
        </p:spPr>
      </p:pic>
      <p:sp>
        <p:nvSpPr>
          <p:cNvPr id="75" name="Shape 41"/>
          <p:cNvSpPr/>
          <p:nvPr/>
        </p:nvSpPr>
        <p:spPr>
          <a:xfrm>
            <a:off x="6486115" y="2739919"/>
            <a:ext cx="1110187" cy="169536"/>
          </a:xfrm>
          <a:prstGeom prst="rect">
            <a:avLst/>
          </a:prstGeom>
          <a:solidFill>
            <a:srgbClr val="EFF7E8"/>
          </a:solidFill>
          <a:ln/>
        </p:spPr>
      </p:sp>
      <p:sp>
        <p:nvSpPr>
          <p:cNvPr id="76" name="Text 42"/>
          <p:cNvSpPr/>
          <p:nvPr/>
        </p:nvSpPr>
        <p:spPr>
          <a:xfrm>
            <a:off x="6699402" y="2772732"/>
            <a:ext cx="721895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5" dirty="0">
                <a:solidFill>
                  <a:srgbClr val="6B6E67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Input: Risk team inputs</a:t>
            </a:r>
            <a:endParaRPr lang="en-US" sz="495" dirty="0"/>
          </a:p>
        </p:txBody>
      </p:sp>
      <p:sp>
        <p:nvSpPr>
          <p:cNvPr id="77" name="Shape 43"/>
          <p:cNvSpPr/>
          <p:nvPr/>
        </p:nvSpPr>
        <p:spPr>
          <a:xfrm>
            <a:off x="6486115" y="1864895"/>
            <a:ext cx="1110187" cy="869555"/>
          </a:xfrm>
          <a:prstGeom prst="rect">
            <a:avLst/>
          </a:prstGeom>
          <a:solidFill>
            <a:srgbClr val="014118"/>
          </a:solidFill>
          <a:ln/>
        </p:spPr>
      </p:sp>
      <p:pic>
        <p:nvPicPr>
          <p:cNvPr id="7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5335" y="2526632"/>
            <a:ext cx="27344" cy="27344"/>
          </a:xfrm>
          <a:prstGeom prst="rect">
            <a:avLst/>
          </a:prstGeom>
        </p:spPr>
      </p:pic>
      <p:pic>
        <p:nvPicPr>
          <p:cNvPr id="7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35335" y="2318813"/>
            <a:ext cx="27344" cy="27344"/>
          </a:xfrm>
          <a:prstGeom prst="rect">
            <a:avLst/>
          </a:prstGeom>
        </p:spPr>
      </p:pic>
      <p:pic>
        <p:nvPicPr>
          <p:cNvPr id="8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35335" y="2198498"/>
            <a:ext cx="27344" cy="27344"/>
          </a:xfrm>
          <a:prstGeom prst="rect">
            <a:avLst/>
          </a:prstGeom>
        </p:spPr>
      </p:pic>
      <p:pic>
        <p:nvPicPr>
          <p:cNvPr id="8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35335" y="2078182"/>
            <a:ext cx="27344" cy="27344"/>
          </a:xfrm>
          <a:prstGeom prst="rect">
            <a:avLst/>
          </a:prstGeom>
        </p:spPr>
      </p:pic>
      <p:pic>
        <p:nvPicPr>
          <p:cNvPr id="8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35335" y="1957866"/>
            <a:ext cx="32813" cy="32813"/>
          </a:xfrm>
          <a:prstGeom prst="rect">
            <a:avLst/>
          </a:prstGeom>
        </p:spPr>
      </p:pic>
      <p:sp>
        <p:nvSpPr>
          <p:cNvPr id="83" name="Text 44"/>
          <p:cNvSpPr/>
          <p:nvPr/>
        </p:nvSpPr>
        <p:spPr>
          <a:xfrm>
            <a:off x="6590024" y="2499287"/>
            <a:ext cx="884321" cy="1914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96B19E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Save final assessment and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96B19E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communicate outcome</a:t>
            </a:r>
            <a:endParaRPr lang="en-US" sz="594" dirty="0"/>
          </a:p>
        </p:txBody>
      </p:sp>
      <p:sp>
        <p:nvSpPr>
          <p:cNvPr id="84" name="Text 45"/>
          <p:cNvSpPr/>
          <p:nvPr/>
        </p:nvSpPr>
        <p:spPr>
          <a:xfrm>
            <a:off x="6595493" y="2275062"/>
            <a:ext cx="812132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9CB6A3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Record rationale, actions,</a:t>
            </a:r>
            <a:endParaRPr lang="en-US" sz="564" dirty="0"/>
          </a:p>
          <a:p>
            <a:pPr algn="l" indent="0" marL="0">
              <a:buNone/>
            </a:pPr>
            <a:r>
              <a:rPr lang="en-US" sz="564" b="1" dirty="0">
                <a:solidFill>
                  <a:srgbClr val="9CB6A3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and next steps</a:t>
            </a:r>
            <a:endParaRPr lang="en-US" sz="564" dirty="0"/>
          </a:p>
        </p:txBody>
      </p:sp>
      <p:sp>
        <p:nvSpPr>
          <p:cNvPr id="85" name="Text 46"/>
          <p:cNvSpPr/>
          <p:nvPr/>
        </p:nvSpPr>
        <p:spPr>
          <a:xfrm>
            <a:off x="6595493" y="2165684"/>
            <a:ext cx="956511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1" b="1" dirty="0">
                <a:solidFill>
                  <a:srgbClr val="93B09C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Determine overall risk outcome</a:t>
            </a:r>
            <a:endParaRPr lang="en-US" sz="521" dirty="0"/>
          </a:p>
        </p:txBody>
      </p:sp>
      <p:sp>
        <p:nvSpPr>
          <p:cNvPr id="86" name="Text 47"/>
          <p:cNvSpPr/>
          <p:nvPr/>
        </p:nvSpPr>
        <p:spPr>
          <a:xfrm>
            <a:off x="6595493" y="2045368"/>
            <a:ext cx="60157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b="1" dirty="0">
                <a:solidFill>
                  <a:srgbClr val="A0BAA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Resolve open items</a:t>
            </a:r>
            <a:endParaRPr lang="en-US" sz="543" dirty="0"/>
          </a:p>
        </p:txBody>
      </p:sp>
      <p:sp>
        <p:nvSpPr>
          <p:cNvPr id="87" name="Text 48"/>
          <p:cNvSpPr/>
          <p:nvPr/>
        </p:nvSpPr>
        <p:spPr>
          <a:xfrm>
            <a:off x="6595493" y="1925053"/>
            <a:ext cx="842211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b="1" dirty="0">
                <a:solidFill>
                  <a:srgbClr val="99B5A1"/>
                </a:solidFill>
                <a:latin typeface="Glory" pitchFamily="34" charset="0"/>
                <a:ea typeface="Glory" pitchFamily="34" charset="-122"/>
                <a:cs typeface="Glory" pitchFamily="34" charset="-120"/>
              </a:rPr>
              <a:t>Consolidate all 2LoD inputs</a:t>
            </a:r>
            <a:endParaRPr lang="en-US" sz="556" dirty="0"/>
          </a:p>
        </p:txBody>
      </p:sp>
      <p:sp>
        <p:nvSpPr>
          <p:cNvPr id="88" name="Shape 49"/>
          <p:cNvSpPr/>
          <p:nvPr/>
        </p:nvSpPr>
        <p:spPr>
          <a:xfrm>
            <a:off x="5354053" y="2269593"/>
            <a:ext cx="1028153" cy="716426"/>
          </a:xfrm>
          <a:prstGeom prst="rect">
            <a:avLst/>
          </a:prstGeom>
          <a:solidFill>
            <a:srgbClr val="EEF6E8"/>
          </a:solidFill>
          <a:ln/>
        </p:spPr>
      </p:sp>
      <p:pic>
        <p:nvPicPr>
          <p:cNvPr id="8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75928" y="2805545"/>
            <a:ext cx="973464" cy="32813"/>
          </a:xfrm>
          <a:prstGeom prst="rect">
            <a:avLst/>
          </a:prstGeom>
        </p:spPr>
      </p:pic>
      <p:pic>
        <p:nvPicPr>
          <p:cNvPr id="9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397804" y="2652416"/>
            <a:ext cx="21876" cy="21876"/>
          </a:xfrm>
          <a:prstGeom prst="rect">
            <a:avLst/>
          </a:prstGeom>
        </p:spPr>
      </p:pic>
      <p:pic>
        <p:nvPicPr>
          <p:cNvPr id="9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397804" y="2553976"/>
            <a:ext cx="21876" cy="21876"/>
          </a:xfrm>
          <a:prstGeom prst="rect">
            <a:avLst/>
          </a:prstGeom>
        </p:spPr>
      </p:pic>
      <p:pic>
        <p:nvPicPr>
          <p:cNvPr id="9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397804" y="2450067"/>
            <a:ext cx="21876" cy="27344"/>
          </a:xfrm>
          <a:prstGeom prst="rect">
            <a:avLst/>
          </a:prstGeom>
        </p:spPr>
      </p:pic>
      <p:pic>
        <p:nvPicPr>
          <p:cNvPr id="9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397804" y="2357096"/>
            <a:ext cx="21876" cy="21876"/>
          </a:xfrm>
          <a:prstGeom prst="rect">
            <a:avLst/>
          </a:prstGeom>
        </p:spPr>
      </p:pic>
      <p:sp>
        <p:nvSpPr>
          <p:cNvPr id="94" name="Text 50"/>
          <p:cNvSpPr/>
          <p:nvPr/>
        </p:nvSpPr>
        <p:spPr>
          <a:xfrm>
            <a:off x="5512651" y="2860234"/>
            <a:ext cx="782053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b="1" dirty="0">
                <a:solidFill>
                  <a:srgbClr val="73777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Input: Shared review pack</a:t>
            </a:r>
            <a:endParaRPr lang="en-US" sz="556" dirty="0"/>
          </a:p>
        </p:txBody>
      </p:sp>
      <p:sp>
        <p:nvSpPr>
          <p:cNvPr id="95" name="Text 51"/>
          <p:cNvSpPr/>
          <p:nvPr/>
        </p:nvSpPr>
        <p:spPr>
          <a:xfrm>
            <a:off x="5452493" y="2619603"/>
            <a:ext cx="824163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b="1" dirty="0">
                <a:solidFill>
                  <a:srgbClr val="70746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 comments, conditions,</a:t>
            </a:r>
            <a:endParaRPr lang="en-US" sz="508" dirty="0"/>
          </a:p>
          <a:p>
            <a:pPr algn="l" indent="0" marL="0">
              <a:buNone/>
            </a:pPr>
            <a:r>
              <a:rPr lang="en-US" sz="508" b="1" dirty="0">
                <a:solidFill>
                  <a:srgbClr val="70746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 concerns</a:t>
            </a:r>
            <a:endParaRPr lang="en-US" sz="508" dirty="0"/>
          </a:p>
        </p:txBody>
      </p:sp>
      <p:sp>
        <p:nvSpPr>
          <p:cNvPr id="96" name="Text 52"/>
          <p:cNvSpPr/>
          <p:nvPr/>
        </p:nvSpPr>
        <p:spPr>
          <a:xfrm>
            <a:off x="5457962" y="2521163"/>
            <a:ext cx="866274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dirty="0">
                <a:solidFill>
                  <a:srgbClr val="7C807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risk-area assessment</a:t>
            </a:r>
            <a:endParaRPr lang="en-US" sz="508" dirty="0"/>
          </a:p>
        </p:txBody>
      </p:sp>
      <p:sp>
        <p:nvSpPr>
          <p:cNvPr id="97" name="Text 53"/>
          <p:cNvSpPr/>
          <p:nvPr/>
        </p:nvSpPr>
        <p:spPr>
          <a:xfrm>
            <a:off x="5457962" y="2417254"/>
            <a:ext cx="98057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71766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Request more information if needed</a:t>
            </a:r>
            <a:endParaRPr lang="en-US" sz="495" dirty="0"/>
          </a:p>
        </p:txBody>
      </p:sp>
      <p:sp>
        <p:nvSpPr>
          <p:cNvPr id="98" name="Text 54"/>
          <p:cNvSpPr/>
          <p:nvPr/>
        </p:nvSpPr>
        <p:spPr>
          <a:xfrm>
            <a:off x="5457962" y="2318813"/>
            <a:ext cx="800100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6F736C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Review relevant information</a:t>
            </a:r>
            <a:endParaRPr lang="en-US" sz="525" dirty="0"/>
          </a:p>
        </p:txBody>
      </p:sp>
      <p:pic>
        <p:nvPicPr>
          <p:cNvPr id="99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14191" y="1689890"/>
            <a:ext cx="43751" cy="1318005"/>
          </a:xfrm>
          <a:prstGeom prst="rect">
            <a:avLst/>
          </a:prstGeom>
        </p:spPr>
      </p:pic>
      <p:sp>
        <p:nvSpPr>
          <p:cNvPr id="100" name="Shape 55"/>
          <p:cNvSpPr/>
          <p:nvPr/>
        </p:nvSpPr>
        <p:spPr>
          <a:xfrm>
            <a:off x="3095397" y="2690699"/>
            <a:ext cx="1022684" cy="175005"/>
          </a:xfrm>
          <a:prstGeom prst="rect">
            <a:avLst/>
          </a:prstGeom>
          <a:solidFill>
            <a:srgbClr val="EEF7E8"/>
          </a:solidFill>
          <a:ln/>
        </p:spPr>
      </p:sp>
      <p:sp>
        <p:nvSpPr>
          <p:cNvPr id="101" name="Text 56"/>
          <p:cNvSpPr/>
          <p:nvPr/>
        </p:nvSpPr>
        <p:spPr>
          <a:xfrm>
            <a:off x="3177431" y="2734450"/>
            <a:ext cx="938463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6D7069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Input: Structured triage profile</a:t>
            </a:r>
            <a:endParaRPr lang="en-US" sz="525" dirty="0"/>
          </a:p>
        </p:txBody>
      </p:sp>
      <p:sp>
        <p:nvSpPr>
          <p:cNvPr id="102" name="Shape 57"/>
          <p:cNvSpPr/>
          <p:nvPr/>
        </p:nvSpPr>
        <p:spPr>
          <a:xfrm>
            <a:off x="3095397" y="1864895"/>
            <a:ext cx="1017215" cy="825804"/>
          </a:xfrm>
          <a:prstGeom prst="rect">
            <a:avLst/>
          </a:prstGeom>
          <a:solidFill>
            <a:srgbClr val="014118"/>
          </a:solidFill>
          <a:ln/>
        </p:spPr>
      </p:sp>
      <p:pic>
        <p:nvPicPr>
          <p:cNvPr id="10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139148" y="2488349"/>
            <a:ext cx="27344" cy="32813"/>
          </a:xfrm>
          <a:prstGeom prst="rect">
            <a:avLst/>
          </a:prstGeom>
        </p:spPr>
      </p:pic>
      <p:pic>
        <p:nvPicPr>
          <p:cNvPr id="10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139148" y="2286000"/>
            <a:ext cx="27344" cy="27344"/>
          </a:xfrm>
          <a:prstGeom prst="rect">
            <a:avLst/>
          </a:prstGeom>
        </p:spPr>
      </p:pic>
      <p:pic>
        <p:nvPicPr>
          <p:cNvPr id="10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39148" y="2078182"/>
            <a:ext cx="27344" cy="27344"/>
          </a:xfrm>
          <a:prstGeom prst="rect">
            <a:avLst/>
          </a:prstGeom>
        </p:spPr>
      </p:pic>
      <p:pic>
        <p:nvPicPr>
          <p:cNvPr id="10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139148" y="1957866"/>
            <a:ext cx="27344" cy="27344"/>
          </a:xfrm>
          <a:prstGeom prst="rect">
            <a:avLst/>
          </a:prstGeom>
        </p:spPr>
      </p:pic>
      <p:sp>
        <p:nvSpPr>
          <p:cNvPr id="107" name="Text 58"/>
          <p:cNvSpPr/>
          <p:nvPr/>
        </p:nvSpPr>
        <p:spPr>
          <a:xfrm>
            <a:off x="3193837" y="2450067"/>
            <a:ext cx="764005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b="1" dirty="0">
                <a:solidFill>
                  <a:srgbClr val="92AD9A"/>
                </a:solidFill>
                <a:latin typeface="Rambla" pitchFamily="34" charset="0"/>
                <a:ea typeface="Rambla" pitchFamily="34" charset="-122"/>
                <a:cs typeface="Rambla" pitchFamily="34" charset="-120"/>
              </a:rPr>
              <a:t>Add review questions for</a:t>
            </a:r>
            <a:endParaRPr lang="en-US" sz="517" dirty="0"/>
          </a:p>
          <a:p>
            <a:pPr algn="l" indent="0" marL="0">
              <a:buNone/>
            </a:pPr>
            <a:r>
              <a:rPr lang="en-US" sz="517" b="1" dirty="0">
                <a:solidFill>
                  <a:srgbClr val="92AD9A"/>
                </a:solidFill>
                <a:latin typeface="Rambla" pitchFamily="34" charset="0"/>
                <a:ea typeface="Rambla" pitchFamily="34" charset="-122"/>
                <a:cs typeface="Rambla" pitchFamily="34" charset="-120"/>
              </a:rPr>
              <a:t>each risk team</a:t>
            </a:r>
            <a:endParaRPr lang="en-US" sz="517" dirty="0"/>
          </a:p>
        </p:txBody>
      </p:sp>
      <p:sp>
        <p:nvSpPr>
          <p:cNvPr id="108" name="Text 59"/>
          <p:cNvSpPr/>
          <p:nvPr/>
        </p:nvSpPr>
        <p:spPr>
          <a:xfrm>
            <a:off x="3199306" y="2242249"/>
            <a:ext cx="667753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95B19E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Highlight risk-relevant</a:t>
            </a:r>
            <a:endParaRPr lang="en-US" sz="599" dirty="0"/>
          </a:p>
          <a:p>
            <a:pPr algn="l" indent="0" marL="0">
              <a:buNone/>
            </a:pPr>
            <a:r>
              <a:rPr lang="en-US" sz="599" b="1" dirty="0">
                <a:solidFill>
                  <a:srgbClr val="95B19E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information by area</a:t>
            </a:r>
            <a:endParaRPr lang="en-US" sz="599" dirty="0"/>
          </a:p>
        </p:txBody>
      </p:sp>
      <p:sp>
        <p:nvSpPr>
          <p:cNvPr id="109" name="Text 60"/>
          <p:cNvSpPr/>
          <p:nvPr/>
        </p:nvSpPr>
        <p:spPr>
          <a:xfrm>
            <a:off x="3193837" y="2034431"/>
            <a:ext cx="980574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97B09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Summarise business purpose,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97B09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AI capability, data, users, controls</a:t>
            </a:r>
            <a:endParaRPr lang="en-US" sz="525" dirty="0"/>
          </a:p>
        </p:txBody>
      </p:sp>
      <p:sp>
        <p:nvSpPr>
          <p:cNvPr id="110" name="Text 61"/>
          <p:cNvSpPr/>
          <p:nvPr/>
        </p:nvSpPr>
        <p:spPr>
          <a:xfrm>
            <a:off x="3193837" y="1919584"/>
            <a:ext cx="890337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b="1" dirty="0">
                <a:solidFill>
                  <a:srgbClr val="9CB7A3"/>
                </a:solidFill>
                <a:latin typeface="Glory" pitchFamily="34" charset="0"/>
                <a:ea typeface="Glory" pitchFamily="34" charset="-122"/>
                <a:cs typeface="Glory" pitchFamily="34" charset="-120"/>
              </a:rPr>
              <a:t>Generate targeted review pack</a:t>
            </a:r>
            <a:endParaRPr lang="en-US" sz="517" dirty="0"/>
          </a:p>
        </p:txBody>
      </p:sp>
      <p:sp>
        <p:nvSpPr>
          <p:cNvPr id="111" name="Shape 62"/>
          <p:cNvSpPr/>
          <p:nvPr/>
        </p:nvSpPr>
        <p:spPr>
          <a:xfrm>
            <a:off x="2012555" y="2564914"/>
            <a:ext cx="978933" cy="180474"/>
          </a:xfrm>
          <a:prstGeom prst="rect">
            <a:avLst/>
          </a:prstGeom>
          <a:solidFill>
            <a:srgbClr val="EEF6E8"/>
          </a:solidFill>
          <a:ln/>
        </p:spPr>
      </p:sp>
      <p:sp>
        <p:nvSpPr>
          <p:cNvPr id="112" name="Text 63"/>
          <p:cNvSpPr/>
          <p:nvPr/>
        </p:nvSpPr>
        <p:spPr>
          <a:xfrm>
            <a:off x="2176622" y="2608665"/>
            <a:ext cx="721895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b="1" dirty="0">
                <a:solidFill>
                  <a:srgbClr val="6B6F67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Input: Raw intake pack</a:t>
            </a:r>
            <a:endParaRPr lang="en-US" sz="556" dirty="0"/>
          </a:p>
        </p:txBody>
      </p:sp>
      <p:sp>
        <p:nvSpPr>
          <p:cNvPr id="113" name="Shape 64"/>
          <p:cNvSpPr/>
          <p:nvPr/>
        </p:nvSpPr>
        <p:spPr>
          <a:xfrm>
            <a:off x="2012555" y="1864895"/>
            <a:ext cx="978933" cy="689081"/>
          </a:xfrm>
          <a:prstGeom prst="rect">
            <a:avLst/>
          </a:prstGeom>
          <a:solidFill>
            <a:srgbClr val="014118"/>
          </a:solidFill>
          <a:ln/>
        </p:spPr>
      </p:sp>
      <p:pic>
        <p:nvPicPr>
          <p:cNvPr id="114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056306" y="2340689"/>
            <a:ext cx="27344" cy="27344"/>
          </a:xfrm>
          <a:prstGeom prst="rect">
            <a:avLst/>
          </a:prstGeom>
        </p:spPr>
      </p:pic>
      <p:pic>
        <p:nvPicPr>
          <p:cNvPr id="115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061775" y="2214904"/>
            <a:ext cx="21876" cy="27344"/>
          </a:xfrm>
          <a:prstGeom prst="rect">
            <a:avLst/>
          </a:prstGeom>
        </p:spPr>
      </p:pic>
      <p:pic>
        <p:nvPicPr>
          <p:cNvPr id="116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056306" y="2083651"/>
            <a:ext cx="27344" cy="32813"/>
          </a:xfrm>
          <a:prstGeom prst="rect">
            <a:avLst/>
          </a:prstGeom>
        </p:spPr>
      </p:pic>
      <p:pic>
        <p:nvPicPr>
          <p:cNvPr id="117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056306" y="1957866"/>
            <a:ext cx="27344" cy="32813"/>
          </a:xfrm>
          <a:prstGeom prst="rect">
            <a:avLst/>
          </a:prstGeom>
        </p:spPr>
      </p:pic>
      <p:sp>
        <p:nvSpPr>
          <p:cNvPr id="118" name="Text 65"/>
          <p:cNvSpPr/>
          <p:nvPr/>
        </p:nvSpPr>
        <p:spPr>
          <a:xfrm>
            <a:off x="2116464" y="2296938"/>
            <a:ext cx="842211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1" b="1" dirty="0">
                <a:solidFill>
                  <a:srgbClr val="98B4A1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Prepare follow-up questions</a:t>
            </a:r>
            <a:endParaRPr lang="en-US" sz="521" dirty="0"/>
          </a:p>
          <a:p>
            <a:pPr algn="l" indent="0" marL="0">
              <a:buNone/>
            </a:pPr>
            <a:r>
              <a:rPr lang="en-US" sz="521" b="1" dirty="0">
                <a:solidFill>
                  <a:srgbClr val="98B4A1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if needed</a:t>
            </a:r>
            <a:endParaRPr lang="en-US" sz="521" dirty="0"/>
          </a:p>
        </p:txBody>
      </p:sp>
      <p:sp>
        <p:nvSpPr>
          <p:cNvPr id="119" name="Text 66"/>
          <p:cNvSpPr/>
          <p:nvPr/>
        </p:nvSpPr>
        <p:spPr>
          <a:xfrm>
            <a:off x="2116464" y="2182091"/>
            <a:ext cx="90838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4B09C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Identify relevant 2LoD risk areas</a:t>
            </a:r>
            <a:endParaRPr lang="en-US" sz="500" dirty="0"/>
          </a:p>
        </p:txBody>
      </p:sp>
      <p:sp>
        <p:nvSpPr>
          <p:cNvPr id="120" name="Text 67"/>
          <p:cNvSpPr/>
          <p:nvPr/>
        </p:nvSpPr>
        <p:spPr>
          <a:xfrm>
            <a:off x="2116464" y="2050837"/>
            <a:ext cx="932447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b="1" dirty="0">
                <a:solidFill>
                  <a:srgbClr val="95B19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Check information completeness</a:t>
            </a:r>
            <a:endParaRPr lang="en-US" sz="508" dirty="0"/>
          </a:p>
        </p:txBody>
      </p:sp>
      <p:sp>
        <p:nvSpPr>
          <p:cNvPr id="121" name="Text 68"/>
          <p:cNvSpPr/>
          <p:nvPr/>
        </p:nvSpPr>
        <p:spPr>
          <a:xfrm>
            <a:off x="2116464" y="1925053"/>
            <a:ext cx="908384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b="1" dirty="0">
                <a:solidFill>
                  <a:srgbClr val="9AB5A2"/>
                </a:solidFill>
                <a:latin typeface="Glory" pitchFamily="34" charset="0"/>
                <a:ea typeface="Glory" pitchFamily="34" charset="-122"/>
                <a:cs typeface="Glory" pitchFamily="34" charset="-120"/>
              </a:rPr>
              <a:t>Create standard use case profile</a:t>
            </a:r>
            <a:endParaRPr lang="en-US" sz="508" dirty="0"/>
          </a:p>
        </p:txBody>
      </p:sp>
      <p:sp>
        <p:nvSpPr>
          <p:cNvPr id="122" name="Text 69"/>
          <p:cNvSpPr/>
          <p:nvPr/>
        </p:nvSpPr>
        <p:spPr>
          <a:xfrm>
            <a:off x="393761" y="2712574"/>
            <a:ext cx="421105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6B815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3.Other</a:t>
            </a:r>
            <a:endParaRPr lang="en-US" sz="698" dirty="0"/>
          </a:p>
          <a:p>
            <a:pPr algn="l" indent="0" marL="0">
              <a:buNone/>
            </a:pPr>
            <a:r>
              <a:rPr lang="en-US" sz="698" b="1" dirty="0">
                <a:solidFill>
                  <a:srgbClr val="6B815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2LoD Risk</a:t>
            </a:r>
            <a:endParaRPr lang="en-US" sz="698" dirty="0"/>
          </a:p>
          <a:p>
            <a:pPr algn="l" indent="0" marL="0">
              <a:buNone/>
            </a:pPr>
            <a:r>
              <a:rPr lang="en-US" sz="698" b="1" dirty="0">
                <a:solidFill>
                  <a:srgbClr val="6B815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Teams</a:t>
            </a:r>
            <a:endParaRPr lang="en-US" sz="698" dirty="0"/>
          </a:p>
        </p:txBody>
      </p:sp>
      <p:pic>
        <p:nvPicPr>
          <p:cNvPr id="12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9378" y="2696167"/>
            <a:ext cx="246100" cy="262507"/>
          </a:xfrm>
          <a:prstGeom prst="rect">
            <a:avLst/>
          </a:prstGeom>
        </p:spPr>
      </p:pic>
      <p:sp>
        <p:nvSpPr>
          <p:cNvPr id="124" name="Text 70"/>
          <p:cNvSpPr/>
          <p:nvPr/>
        </p:nvSpPr>
        <p:spPr>
          <a:xfrm>
            <a:off x="393761" y="2045368"/>
            <a:ext cx="409074" cy="2515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5F756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Oversight</a:t>
            </a:r>
            <a:endParaRPr lang="en-US" sz="698" dirty="0"/>
          </a:p>
          <a:p>
            <a:pPr algn="l" indent="0" marL="0">
              <a:buNone/>
            </a:pPr>
            <a:r>
              <a:rPr lang="en-US" sz="698" b="1" dirty="0">
                <a:solidFill>
                  <a:srgbClr val="5F756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Team</a:t>
            </a:r>
            <a:endParaRPr lang="en-US" sz="698" dirty="0"/>
          </a:p>
        </p:txBody>
      </p:sp>
      <p:sp>
        <p:nvSpPr>
          <p:cNvPr id="125" name="Text 71"/>
          <p:cNvSpPr/>
          <p:nvPr/>
        </p:nvSpPr>
        <p:spPr>
          <a:xfrm>
            <a:off x="393761" y="1925053"/>
            <a:ext cx="391026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7" b="1" dirty="0">
                <a:solidFill>
                  <a:srgbClr val="607863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2. AI Risk</a:t>
            </a:r>
            <a:endParaRPr lang="en-US" sz="637" dirty="0"/>
          </a:p>
        </p:txBody>
      </p:sp>
      <p:pic>
        <p:nvPicPr>
          <p:cNvPr id="126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3909" y="1897708"/>
            <a:ext cx="251569" cy="262507"/>
          </a:xfrm>
          <a:prstGeom prst="rect">
            <a:avLst/>
          </a:prstGeom>
        </p:spPr>
      </p:pic>
      <p:sp>
        <p:nvSpPr>
          <p:cNvPr id="127" name="Shape 72"/>
          <p:cNvSpPr/>
          <p:nvPr/>
        </p:nvSpPr>
        <p:spPr>
          <a:xfrm>
            <a:off x="4243866" y="1252378"/>
            <a:ext cx="995340" cy="404699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128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304024" y="1361756"/>
            <a:ext cx="196880" cy="158598"/>
          </a:xfrm>
          <a:prstGeom prst="rect">
            <a:avLst/>
          </a:prstGeom>
        </p:spPr>
      </p:pic>
      <p:sp>
        <p:nvSpPr>
          <p:cNvPr id="129" name="Text 73"/>
          <p:cNvSpPr/>
          <p:nvPr/>
        </p:nvSpPr>
        <p:spPr>
          <a:xfrm>
            <a:off x="4555593" y="1290660"/>
            <a:ext cx="703847" cy="3281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b="1" dirty="0">
                <a:solidFill>
                  <a:srgbClr val="707071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Other 2LoD teams do</a:t>
            </a:r>
            <a:endParaRPr lang="en-US" sz="508" dirty="0"/>
          </a:p>
          <a:p>
            <a:pPr algn="l" indent="0" marL="0">
              <a:buNone/>
            </a:pPr>
            <a:r>
              <a:rPr lang="en-US" sz="508" b="1" dirty="0">
                <a:solidFill>
                  <a:srgbClr val="707071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NOT need direct access</a:t>
            </a:r>
            <a:endParaRPr lang="en-US" sz="508" dirty="0"/>
          </a:p>
          <a:p>
            <a:pPr algn="l" indent="0" marL="0">
              <a:buNone/>
            </a:pPr>
            <a:r>
              <a:rPr lang="en-US" sz="508" b="1" dirty="0">
                <a:solidFill>
                  <a:srgbClr val="707071"/>
                </a:solidFill>
                <a:latin typeface="Rosario" pitchFamily="34" charset="0"/>
                <a:ea typeface="Rosario" pitchFamily="34" charset="-122"/>
                <a:cs typeface="Rosario" pitchFamily="34" charset="-120"/>
              </a:rPr>
              <a:t>to the triaging tool</a:t>
            </a:r>
            <a:endParaRPr lang="en-US" sz="508" dirty="0"/>
          </a:p>
        </p:txBody>
      </p:sp>
      <p:sp>
        <p:nvSpPr>
          <p:cNvPr id="130" name="Shape 74"/>
          <p:cNvSpPr/>
          <p:nvPr/>
        </p:nvSpPr>
        <p:spPr>
          <a:xfrm>
            <a:off x="951589" y="1170344"/>
            <a:ext cx="962526" cy="656268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131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84402" y="1640670"/>
            <a:ext cx="885962" cy="27344"/>
          </a:xfrm>
          <a:prstGeom prst="rect">
            <a:avLst/>
          </a:prstGeom>
        </p:spPr>
      </p:pic>
      <p:pic>
        <p:nvPicPr>
          <p:cNvPr id="132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44560" y="1569574"/>
            <a:ext cx="21876" cy="21876"/>
          </a:xfrm>
          <a:prstGeom prst="rect">
            <a:avLst/>
          </a:prstGeom>
        </p:spPr>
      </p:pic>
      <p:pic>
        <p:nvPicPr>
          <p:cNvPr id="133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44560" y="1465665"/>
            <a:ext cx="21876" cy="21876"/>
          </a:xfrm>
          <a:prstGeom prst="rect">
            <a:avLst/>
          </a:prstGeom>
        </p:spPr>
      </p:pic>
      <p:pic>
        <p:nvPicPr>
          <p:cNvPr id="134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44560" y="1356287"/>
            <a:ext cx="21876" cy="21876"/>
          </a:xfrm>
          <a:prstGeom prst="rect">
            <a:avLst/>
          </a:prstGeom>
        </p:spPr>
      </p:pic>
      <p:pic>
        <p:nvPicPr>
          <p:cNvPr id="135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44560" y="1252378"/>
            <a:ext cx="21876" cy="21876"/>
          </a:xfrm>
          <a:prstGeom prst="rect">
            <a:avLst/>
          </a:prstGeom>
        </p:spPr>
      </p:pic>
      <p:sp>
        <p:nvSpPr>
          <p:cNvPr id="136" name="Text 75"/>
          <p:cNvSpPr/>
          <p:nvPr/>
        </p:nvSpPr>
        <p:spPr>
          <a:xfrm>
            <a:off x="1028153" y="1689890"/>
            <a:ext cx="890337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78797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Input: Use case information</a:t>
            </a:r>
            <a:endParaRPr lang="en-US" sz="525" dirty="0"/>
          </a:p>
        </p:txBody>
      </p:sp>
      <p:sp>
        <p:nvSpPr>
          <p:cNvPr id="137" name="Text 76"/>
          <p:cNvSpPr/>
          <p:nvPr/>
        </p:nvSpPr>
        <p:spPr>
          <a:xfrm>
            <a:off x="1110187" y="1536761"/>
            <a:ext cx="64368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b="1" dirty="0">
                <a:solidFill>
                  <a:srgbClr val="6B6B6C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Supporting evidence</a:t>
            </a:r>
            <a:endParaRPr lang="en-US" sz="508" dirty="0"/>
          </a:p>
        </p:txBody>
      </p:sp>
      <p:sp>
        <p:nvSpPr>
          <p:cNvPr id="138" name="Text 77"/>
          <p:cNvSpPr/>
          <p:nvPr/>
        </p:nvSpPr>
        <p:spPr>
          <a:xfrm>
            <a:off x="1110187" y="1427383"/>
            <a:ext cx="733926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70707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Existing documentation</a:t>
            </a:r>
            <a:endParaRPr lang="en-US" sz="525" dirty="0"/>
          </a:p>
        </p:txBody>
      </p:sp>
      <p:sp>
        <p:nvSpPr>
          <p:cNvPr id="139" name="Text 78"/>
          <p:cNvSpPr/>
          <p:nvPr/>
        </p:nvSpPr>
        <p:spPr>
          <a:xfrm>
            <a:off x="1110187" y="1323474"/>
            <a:ext cx="613611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77778"/>
                </a:solidFill>
                <a:latin typeface="Tilt Neon" pitchFamily="34" charset="0"/>
                <a:ea typeface="Tilt Neon" pitchFamily="34" charset="-122"/>
                <a:cs typeface="Tilt Neon" pitchFamily="34" charset="-120"/>
              </a:rPr>
              <a:t>Governance tracker</a:t>
            </a:r>
            <a:endParaRPr lang="en-US" sz="500" dirty="0"/>
          </a:p>
        </p:txBody>
      </p:sp>
      <p:sp>
        <p:nvSpPr>
          <p:cNvPr id="140" name="Text 79"/>
          <p:cNvSpPr/>
          <p:nvPr/>
        </p:nvSpPr>
        <p:spPr>
          <a:xfrm>
            <a:off x="1110187" y="1214096"/>
            <a:ext cx="75798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b="1" dirty="0">
                <a:solidFill>
                  <a:srgbClr val="6E6E6E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Intake form / submission</a:t>
            </a:r>
            <a:endParaRPr lang="en-US" sz="482" dirty="0"/>
          </a:p>
        </p:txBody>
      </p:sp>
      <p:sp>
        <p:nvSpPr>
          <p:cNvPr id="141" name="Text 80"/>
          <p:cNvSpPr/>
          <p:nvPr/>
        </p:nvSpPr>
        <p:spPr>
          <a:xfrm>
            <a:off x="393761" y="1361756"/>
            <a:ext cx="517358" cy="257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2" b="1" dirty="0">
                <a:solidFill>
                  <a:srgbClr val="64646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Owner/</a:t>
            </a:r>
            <a:endParaRPr lang="en-US" sz="702" dirty="0"/>
          </a:p>
          <a:p>
            <a:pPr algn="l" indent="0" marL="0">
              <a:buNone/>
            </a:pPr>
            <a:r>
              <a:rPr lang="en-US" sz="702" b="1" dirty="0">
                <a:solidFill>
                  <a:srgbClr val="64646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Source Inputs</a:t>
            </a:r>
            <a:endParaRPr lang="en-US" sz="702" dirty="0"/>
          </a:p>
        </p:txBody>
      </p:sp>
      <p:sp>
        <p:nvSpPr>
          <p:cNvPr id="142" name="Text 81"/>
          <p:cNvSpPr/>
          <p:nvPr/>
        </p:nvSpPr>
        <p:spPr>
          <a:xfrm>
            <a:off x="399230" y="1246909"/>
            <a:ext cx="451184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676767"/>
                </a:solidFill>
                <a:latin typeface="Glory" pitchFamily="34" charset="0"/>
                <a:ea typeface="Glory" pitchFamily="34" charset="-122"/>
                <a:cs typeface="Glory" pitchFamily="34" charset="-120"/>
              </a:rPr>
              <a:t>1. Use Case</a:t>
            </a:r>
            <a:endParaRPr lang="en-US" sz="698" dirty="0"/>
          </a:p>
        </p:txBody>
      </p:sp>
      <p:pic>
        <p:nvPicPr>
          <p:cNvPr id="14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3909" y="1230502"/>
            <a:ext cx="251569" cy="262507"/>
          </a:xfrm>
          <a:prstGeom prst="rect">
            <a:avLst/>
          </a:prstGeom>
        </p:spPr>
      </p:pic>
      <p:pic>
        <p:nvPicPr>
          <p:cNvPr id="144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156364" y="1115656"/>
            <a:ext cx="32813" cy="2800077"/>
          </a:xfrm>
          <a:prstGeom prst="rect">
            <a:avLst/>
          </a:prstGeom>
        </p:spPr>
      </p:pic>
      <p:pic>
        <p:nvPicPr>
          <p:cNvPr id="145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156364" y="1121124"/>
            <a:ext cx="27344" cy="2800077"/>
          </a:xfrm>
          <a:prstGeom prst="rect">
            <a:avLst/>
          </a:prstGeom>
        </p:spPr>
      </p:pic>
      <p:pic>
        <p:nvPicPr>
          <p:cNvPr id="146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0158" y="3357904"/>
            <a:ext cx="4112612" cy="21876"/>
          </a:xfrm>
          <a:prstGeom prst="rect">
            <a:avLst/>
          </a:prstGeom>
        </p:spPr>
      </p:pic>
      <p:pic>
        <p:nvPicPr>
          <p:cNvPr id="147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035239" y="1143000"/>
            <a:ext cx="27344" cy="2767263"/>
          </a:xfrm>
          <a:prstGeom prst="rect">
            <a:avLst/>
          </a:prstGeom>
        </p:spPr>
      </p:pic>
      <p:pic>
        <p:nvPicPr>
          <p:cNvPr id="148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946928" y="1115656"/>
            <a:ext cx="21876" cy="2800077"/>
          </a:xfrm>
          <a:prstGeom prst="rect">
            <a:avLst/>
          </a:prstGeom>
        </p:spPr>
      </p:pic>
      <p:pic>
        <p:nvPicPr>
          <p:cNvPr id="149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85962" y="1126593"/>
            <a:ext cx="27344" cy="2783670"/>
          </a:xfrm>
          <a:prstGeom prst="rect">
            <a:avLst/>
          </a:prstGeom>
        </p:spPr>
      </p:pic>
      <p:pic>
        <p:nvPicPr>
          <p:cNvPr id="150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880493" y="1421914"/>
            <a:ext cx="27344" cy="2466474"/>
          </a:xfrm>
          <a:prstGeom prst="rect">
            <a:avLst/>
          </a:prstGeom>
        </p:spPr>
      </p:pic>
      <p:pic>
        <p:nvPicPr>
          <p:cNvPr id="151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158" y="2608665"/>
            <a:ext cx="831273" cy="27344"/>
          </a:xfrm>
          <a:prstGeom prst="rect">
            <a:avLst/>
          </a:prstGeom>
        </p:spPr>
      </p:pic>
      <p:pic>
        <p:nvPicPr>
          <p:cNvPr id="152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0158" y="1804737"/>
            <a:ext cx="842211" cy="27344"/>
          </a:xfrm>
          <a:prstGeom prst="rect">
            <a:avLst/>
          </a:prstGeom>
        </p:spPr>
      </p:pic>
      <p:sp>
        <p:nvSpPr>
          <p:cNvPr id="153" name="Shape 82"/>
          <p:cNvSpPr/>
          <p:nvPr/>
        </p:nvSpPr>
        <p:spPr>
          <a:xfrm>
            <a:off x="7798651" y="656268"/>
            <a:ext cx="1290660" cy="224225"/>
          </a:xfrm>
          <a:prstGeom prst="rect">
            <a:avLst/>
          </a:prstGeom>
          <a:solidFill>
            <a:srgbClr val="013E18"/>
          </a:solidFill>
          <a:ln/>
        </p:spPr>
      </p:sp>
      <p:sp>
        <p:nvSpPr>
          <p:cNvPr id="154" name="Text 83"/>
          <p:cNvSpPr/>
          <p:nvPr/>
        </p:nvSpPr>
        <p:spPr>
          <a:xfrm>
            <a:off x="7908029" y="705488"/>
            <a:ext cx="1179095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4" b="1" dirty="0">
                <a:solidFill>
                  <a:srgbClr val="B2C7B8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What the MVP includes</a:t>
            </a:r>
            <a:endParaRPr lang="en-US" sz="934" dirty="0"/>
          </a:p>
        </p:txBody>
      </p:sp>
      <p:sp>
        <p:nvSpPr>
          <p:cNvPr id="155" name="Text 84"/>
          <p:cNvSpPr/>
          <p:nvPr/>
        </p:nvSpPr>
        <p:spPr>
          <a:xfrm>
            <a:off x="1290660" y="869555"/>
            <a:ext cx="306258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5D5D5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Collect</a:t>
            </a:r>
            <a:endParaRPr lang="en-US" sz="685" dirty="0"/>
          </a:p>
        </p:txBody>
      </p:sp>
      <p:sp>
        <p:nvSpPr>
          <p:cNvPr id="156" name="Shape 85"/>
          <p:cNvSpPr/>
          <p:nvPr/>
        </p:nvSpPr>
        <p:spPr>
          <a:xfrm>
            <a:off x="6896282" y="612517"/>
            <a:ext cx="202349" cy="224225"/>
          </a:xfrm>
          <a:prstGeom prst="rect">
            <a:avLst/>
          </a:prstGeom>
          <a:solidFill>
            <a:srgbClr val="003F1C"/>
          </a:solidFill>
          <a:ln/>
        </p:spPr>
      </p:sp>
      <p:sp>
        <p:nvSpPr>
          <p:cNvPr id="157" name="Text 86"/>
          <p:cNvSpPr/>
          <p:nvPr/>
        </p:nvSpPr>
        <p:spPr>
          <a:xfrm>
            <a:off x="6945502" y="656268"/>
            <a:ext cx="109378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3" b="1" dirty="0">
                <a:solidFill>
                  <a:srgbClr val="C8D7CC"/>
                </a:solidFill>
                <a:latin typeface="Freeman" pitchFamily="34" charset="0"/>
                <a:ea typeface="Freeman" pitchFamily="34" charset="-122"/>
                <a:cs typeface="Freeman" pitchFamily="34" charset="-120"/>
              </a:rPr>
              <a:t>6</a:t>
            </a:r>
            <a:endParaRPr lang="en-US" sz="1033" dirty="0"/>
          </a:p>
        </p:txBody>
      </p:sp>
      <p:pic>
        <p:nvPicPr>
          <p:cNvPr id="158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65010" y="710957"/>
            <a:ext cx="754708" cy="49220"/>
          </a:xfrm>
          <a:prstGeom prst="rect">
            <a:avLst/>
          </a:prstGeom>
        </p:spPr>
      </p:pic>
      <p:sp>
        <p:nvSpPr>
          <p:cNvPr id="159" name="Shape 87"/>
          <p:cNvSpPr/>
          <p:nvPr/>
        </p:nvSpPr>
        <p:spPr>
          <a:xfrm>
            <a:off x="5786096" y="617986"/>
            <a:ext cx="202349" cy="218756"/>
          </a:xfrm>
          <a:prstGeom prst="rect">
            <a:avLst/>
          </a:prstGeom>
          <a:solidFill>
            <a:srgbClr val="00421D"/>
          </a:solidFill>
          <a:ln/>
        </p:spPr>
      </p:sp>
      <p:sp>
        <p:nvSpPr>
          <p:cNvPr id="160" name="Text 88"/>
          <p:cNvSpPr/>
          <p:nvPr/>
        </p:nvSpPr>
        <p:spPr>
          <a:xfrm>
            <a:off x="5835316" y="656268"/>
            <a:ext cx="109378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9" b="1" dirty="0">
                <a:solidFill>
                  <a:srgbClr val="C7D7CB"/>
                </a:solidFill>
                <a:latin typeface="Freeman" pitchFamily="34" charset="0"/>
                <a:ea typeface="Freeman" pitchFamily="34" charset="-122"/>
                <a:cs typeface="Freeman" pitchFamily="34" charset="-120"/>
              </a:rPr>
              <a:t>5</a:t>
            </a:r>
            <a:endParaRPr lang="en-US" sz="999" dirty="0"/>
          </a:p>
        </p:txBody>
      </p:sp>
      <p:pic>
        <p:nvPicPr>
          <p:cNvPr id="161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922010" y="710957"/>
            <a:ext cx="771115" cy="49220"/>
          </a:xfrm>
          <a:prstGeom prst="rect">
            <a:avLst/>
          </a:prstGeom>
        </p:spPr>
      </p:pic>
      <p:sp>
        <p:nvSpPr>
          <p:cNvPr id="162" name="Shape 89"/>
          <p:cNvSpPr/>
          <p:nvPr/>
        </p:nvSpPr>
        <p:spPr>
          <a:xfrm>
            <a:off x="4637627" y="617986"/>
            <a:ext cx="202349" cy="218756"/>
          </a:xfrm>
          <a:prstGeom prst="rect">
            <a:avLst/>
          </a:prstGeom>
          <a:solidFill>
            <a:srgbClr val="00411D"/>
          </a:solidFill>
          <a:ln/>
        </p:spPr>
      </p:sp>
      <p:sp>
        <p:nvSpPr>
          <p:cNvPr id="163" name="Text 90"/>
          <p:cNvSpPr/>
          <p:nvPr/>
        </p:nvSpPr>
        <p:spPr>
          <a:xfrm>
            <a:off x="4686847" y="661737"/>
            <a:ext cx="109378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5" b="1" dirty="0">
                <a:solidFill>
                  <a:srgbClr val="C3D4C8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4</a:t>
            </a:r>
            <a:endParaRPr lang="en-US" sz="1025" dirty="0"/>
          </a:p>
        </p:txBody>
      </p:sp>
      <p:pic>
        <p:nvPicPr>
          <p:cNvPr id="164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3817292" y="710957"/>
            <a:ext cx="738301" cy="49220"/>
          </a:xfrm>
          <a:prstGeom prst="rect">
            <a:avLst/>
          </a:prstGeom>
        </p:spPr>
      </p:pic>
      <p:sp>
        <p:nvSpPr>
          <p:cNvPr id="165" name="Shape 91"/>
          <p:cNvSpPr/>
          <p:nvPr/>
        </p:nvSpPr>
        <p:spPr>
          <a:xfrm>
            <a:off x="3538378" y="617986"/>
            <a:ext cx="202349" cy="218756"/>
          </a:xfrm>
          <a:prstGeom prst="rect">
            <a:avLst/>
          </a:prstGeom>
          <a:solidFill>
            <a:srgbClr val="00421D"/>
          </a:solidFill>
          <a:ln/>
        </p:spPr>
      </p:sp>
      <p:sp>
        <p:nvSpPr>
          <p:cNvPr id="166" name="Text 92"/>
          <p:cNvSpPr/>
          <p:nvPr/>
        </p:nvSpPr>
        <p:spPr>
          <a:xfrm>
            <a:off x="3587598" y="661737"/>
            <a:ext cx="109378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C2D2C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80" dirty="0"/>
          </a:p>
        </p:txBody>
      </p:sp>
      <p:pic>
        <p:nvPicPr>
          <p:cNvPr id="167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707105" y="710957"/>
            <a:ext cx="754708" cy="54689"/>
          </a:xfrm>
          <a:prstGeom prst="rect">
            <a:avLst/>
          </a:prstGeom>
        </p:spPr>
      </p:pic>
      <p:pic>
        <p:nvPicPr>
          <p:cNvPr id="168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428191" y="617986"/>
            <a:ext cx="196880" cy="218756"/>
          </a:xfrm>
          <a:prstGeom prst="rect">
            <a:avLst/>
          </a:prstGeom>
        </p:spPr>
      </p:pic>
      <p:pic>
        <p:nvPicPr>
          <p:cNvPr id="16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602388" y="710957"/>
            <a:ext cx="749239" cy="49220"/>
          </a:xfrm>
          <a:prstGeom prst="rect">
            <a:avLst/>
          </a:prstGeom>
        </p:spPr>
      </p:pic>
      <p:sp>
        <p:nvSpPr>
          <p:cNvPr id="170" name="Shape 93"/>
          <p:cNvSpPr/>
          <p:nvPr/>
        </p:nvSpPr>
        <p:spPr>
          <a:xfrm>
            <a:off x="1323474" y="617986"/>
            <a:ext cx="196880" cy="218756"/>
          </a:xfrm>
          <a:prstGeom prst="rect">
            <a:avLst/>
          </a:prstGeom>
          <a:solidFill>
            <a:srgbClr val="00401C"/>
          </a:solidFill>
          <a:ln/>
        </p:spPr>
      </p:sp>
      <p:sp>
        <p:nvSpPr>
          <p:cNvPr id="171" name="Text 94"/>
          <p:cNvSpPr/>
          <p:nvPr/>
        </p:nvSpPr>
        <p:spPr>
          <a:xfrm>
            <a:off x="1378163" y="661737"/>
            <a:ext cx="92971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2" b="1" dirty="0">
                <a:solidFill>
                  <a:srgbClr val="D2DFD5"/>
                </a:solidFill>
                <a:latin typeface="Ranchers" pitchFamily="34" charset="0"/>
                <a:ea typeface="Ranchers" pitchFamily="34" charset="-122"/>
                <a:cs typeface="Ranchers" pitchFamily="34" charset="-120"/>
              </a:rPr>
              <a:t>1</a:t>
            </a:r>
            <a:endParaRPr lang="en-US" sz="922" dirty="0"/>
          </a:p>
        </p:txBody>
      </p:sp>
      <p:sp>
        <p:nvSpPr>
          <p:cNvPr id="172" name="Text 95"/>
          <p:cNvSpPr/>
          <p:nvPr/>
        </p:nvSpPr>
        <p:spPr>
          <a:xfrm>
            <a:off x="7541612" y="92971"/>
            <a:ext cx="1720516" cy="3828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6A6A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 principle: do not deploy the full tool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6A6A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 all 2LoD teams; use the tool as an</a:t>
            </a:r>
            <a:endParaRPr lang="en-US" sz="715" dirty="0"/>
          </a:p>
          <a:p>
            <a:pPr algn="l" indent="0" marL="0">
              <a:buNone/>
            </a:pPr>
            <a:r>
              <a:rPr lang="en-US" sz="715" dirty="0">
                <a:solidFill>
                  <a:srgbClr val="6A6A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AIRO workflow hub.</a:t>
            </a:r>
            <a:endParaRPr lang="en-US" sz="715" dirty="0"/>
          </a:p>
        </p:txBody>
      </p:sp>
      <p:sp>
        <p:nvSpPr>
          <p:cNvPr id="173" name="Text 96"/>
          <p:cNvSpPr/>
          <p:nvPr/>
        </p:nvSpPr>
        <p:spPr>
          <a:xfrm>
            <a:off x="125785" y="360947"/>
            <a:ext cx="7056521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4" dirty="0">
                <a:solidFill>
                  <a:srgbClr val="8D8D8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practical design where Al Risk Oversight uses the tool internally, while other 2LoD teams review a shared pack and provide assessments.</a:t>
            </a:r>
            <a:endParaRPr lang="en-US" sz="874" dirty="0"/>
          </a:p>
        </p:txBody>
      </p:sp>
      <p:pic>
        <p:nvPicPr>
          <p:cNvPr id="174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7311919" y="109378"/>
            <a:ext cx="142191" cy="147660"/>
          </a:xfrm>
          <a:prstGeom prst="rect">
            <a:avLst/>
          </a:prstGeom>
        </p:spPr>
      </p:pic>
      <p:sp>
        <p:nvSpPr>
          <p:cNvPr id="175" name="Text 97"/>
          <p:cNvSpPr/>
          <p:nvPr/>
        </p:nvSpPr>
        <p:spPr>
          <a:xfrm>
            <a:off x="2477411" y="661737"/>
            <a:ext cx="109378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C3D3C7"/>
                </a:solidFill>
                <a:latin typeface="Pragati Narrow" pitchFamily="34" charset="0"/>
                <a:ea typeface="Pragati Narrow" pitchFamily="34" charset="-122"/>
                <a:cs typeface="Pragati Narrow" pitchFamily="34" charset="-120"/>
              </a:rPr>
              <a:t>2</a:t>
            </a:r>
            <a:endParaRPr lang="en-US" sz="1240" dirty="0"/>
          </a:p>
        </p:txBody>
      </p:sp>
      <p:sp>
        <p:nvSpPr>
          <p:cNvPr id="176" name="Text 98"/>
          <p:cNvSpPr/>
          <p:nvPr/>
        </p:nvSpPr>
        <p:spPr>
          <a:xfrm>
            <a:off x="125785" y="38282"/>
            <a:ext cx="5317958" cy="3117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14" b="1" dirty="0">
                <a:solidFill>
                  <a:srgbClr val="204C2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Risk Triaging Tool – Practical MVP Design</a:t>
            </a:r>
            <a:endParaRPr lang="en-US" sz="2114" dirty="0"/>
          </a:p>
        </p:txBody>
      </p:sp>
      <p:sp>
        <p:nvSpPr>
          <p:cNvPr id="177" name="Shape 99"/>
          <p:cNvSpPr/>
          <p:nvPr/>
        </p:nvSpPr>
        <p:spPr>
          <a:xfrm>
            <a:off x="7787713" y="885962"/>
            <a:ext cx="1296129" cy="3040708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78" name="Text 100"/>
          <p:cNvSpPr/>
          <p:nvPr/>
        </p:nvSpPr>
        <p:spPr>
          <a:xfrm>
            <a:off x="8247100" y="3494627"/>
            <a:ext cx="794084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61616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Evidence trail and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61616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final outcome record</a:t>
            </a:r>
            <a:endParaRPr lang="en-US" sz="685" dirty="0"/>
          </a:p>
        </p:txBody>
      </p:sp>
      <p:pic>
        <p:nvPicPr>
          <p:cNvPr id="179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897091" y="3472751"/>
            <a:ext cx="235163" cy="289852"/>
          </a:xfrm>
          <a:prstGeom prst="rect">
            <a:avLst/>
          </a:prstGeom>
        </p:spPr>
      </p:pic>
      <p:pic>
        <p:nvPicPr>
          <p:cNvPr id="180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842402" y="3303215"/>
            <a:ext cx="1175813" cy="27344"/>
          </a:xfrm>
          <a:prstGeom prst="rect">
            <a:avLst/>
          </a:prstGeom>
        </p:spPr>
      </p:pic>
      <p:sp>
        <p:nvSpPr>
          <p:cNvPr id="181" name="Text 101"/>
          <p:cNvSpPr/>
          <p:nvPr/>
        </p:nvSpPr>
        <p:spPr>
          <a:xfrm>
            <a:off x="8247100" y="2898517"/>
            <a:ext cx="782053" cy="2406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6B6B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Assessment capture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6B6B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and consolidation</a:t>
            </a:r>
            <a:endParaRPr lang="en-US" sz="685" dirty="0"/>
          </a:p>
        </p:txBody>
      </p:sp>
      <p:pic>
        <p:nvPicPr>
          <p:cNvPr id="18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7902560" y="2854766"/>
            <a:ext cx="218756" cy="311727"/>
          </a:xfrm>
          <a:prstGeom prst="rect">
            <a:avLst/>
          </a:prstGeom>
        </p:spPr>
      </p:pic>
      <p:pic>
        <p:nvPicPr>
          <p:cNvPr id="183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836933" y="2696167"/>
            <a:ext cx="1181282" cy="32813"/>
          </a:xfrm>
          <a:prstGeom prst="rect">
            <a:avLst/>
          </a:prstGeom>
        </p:spPr>
      </p:pic>
      <p:sp>
        <p:nvSpPr>
          <p:cNvPr id="184" name="Text 102"/>
          <p:cNvSpPr/>
          <p:nvPr/>
        </p:nvSpPr>
        <p:spPr>
          <a:xfrm>
            <a:off x="8247100" y="2225842"/>
            <a:ext cx="577516" cy="3554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6A6A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Shared review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6A6A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mechanism for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6A6A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2LoD teams</a:t>
            </a:r>
            <a:endParaRPr lang="en-US" sz="685" dirty="0"/>
          </a:p>
        </p:txBody>
      </p:sp>
      <p:pic>
        <p:nvPicPr>
          <p:cNvPr id="185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7875215" y="2280531"/>
            <a:ext cx="278914" cy="240632"/>
          </a:xfrm>
          <a:prstGeom prst="rect">
            <a:avLst/>
          </a:prstGeom>
        </p:spPr>
      </p:pic>
      <p:pic>
        <p:nvPicPr>
          <p:cNvPr id="186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842402" y="2094589"/>
            <a:ext cx="1175813" cy="32813"/>
          </a:xfrm>
          <a:prstGeom prst="rect">
            <a:avLst/>
          </a:prstGeom>
        </p:spPr>
      </p:pic>
      <p:sp>
        <p:nvSpPr>
          <p:cNvPr id="187" name="Text 103"/>
          <p:cNvSpPr/>
          <p:nvPr/>
        </p:nvSpPr>
        <p:spPr>
          <a:xfrm>
            <a:off x="8247100" y="1684421"/>
            <a:ext cx="770021" cy="2515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2" b="1" dirty="0">
                <a:solidFill>
                  <a:srgbClr val="6A6A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Pack generation</a:t>
            </a:r>
            <a:endParaRPr lang="en-US" sz="702" dirty="0"/>
          </a:p>
          <a:p>
            <a:pPr algn="l" indent="0" marL="0">
              <a:buNone/>
            </a:pPr>
            <a:r>
              <a:rPr lang="en-US" sz="702" b="1" dirty="0">
                <a:solidFill>
                  <a:srgbClr val="6A6A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and routing support</a:t>
            </a:r>
            <a:endParaRPr lang="en-US" sz="702" dirty="0"/>
          </a:p>
        </p:txBody>
      </p:sp>
      <p:pic>
        <p:nvPicPr>
          <p:cNvPr id="188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897091" y="1657077"/>
            <a:ext cx="240632" cy="273445"/>
          </a:xfrm>
          <a:prstGeom prst="rect">
            <a:avLst/>
          </a:prstGeom>
        </p:spPr>
      </p:pic>
      <p:pic>
        <p:nvPicPr>
          <p:cNvPr id="189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7836933" y="1493010"/>
            <a:ext cx="1181282" cy="27344"/>
          </a:xfrm>
          <a:prstGeom prst="rect">
            <a:avLst/>
          </a:prstGeom>
        </p:spPr>
      </p:pic>
      <p:sp>
        <p:nvSpPr>
          <p:cNvPr id="190" name="Text 104"/>
          <p:cNvSpPr/>
          <p:nvPr/>
        </p:nvSpPr>
        <p:spPr>
          <a:xfrm>
            <a:off x="8247100" y="1082842"/>
            <a:ext cx="782053" cy="257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3" b="1" dirty="0">
                <a:solidFill>
                  <a:srgbClr val="5C5C5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AIRO internal</a:t>
            </a:r>
            <a:endParaRPr lang="en-US" sz="693" dirty="0"/>
          </a:p>
          <a:p>
            <a:pPr algn="l" indent="0" marL="0">
              <a:buNone/>
            </a:pPr>
            <a:r>
              <a:rPr lang="en-US" sz="693" b="1" dirty="0">
                <a:solidFill>
                  <a:srgbClr val="5C5C5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triage workflow hub</a:t>
            </a:r>
            <a:endParaRPr lang="en-US" sz="693" dirty="0"/>
          </a:p>
        </p:txBody>
      </p:sp>
      <p:pic>
        <p:nvPicPr>
          <p:cNvPr id="191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897091" y="1055498"/>
            <a:ext cx="235163" cy="306258"/>
          </a:xfrm>
          <a:prstGeom prst="rect">
            <a:avLst/>
          </a:prstGeom>
        </p:spPr>
      </p:pic>
      <p:sp>
        <p:nvSpPr>
          <p:cNvPr id="192" name="Text 105"/>
          <p:cNvSpPr/>
          <p:nvPr/>
        </p:nvSpPr>
        <p:spPr>
          <a:xfrm>
            <a:off x="1143000" y="984402"/>
            <a:ext cx="625642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3" b="1" dirty="0">
                <a:solidFill>
                  <a:srgbClr val="606061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use case inputs</a:t>
            </a:r>
            <a:endParaRPr lang="en-US" sz="663" dirty="0"/>
          </a:p>
        </p:txBody>
      </p:sp>
      <p:sp>
        <p:nvSpPr>
          <p:cNvPr id="193" name="Text 106"/>
          <p:cNvSpPr/>
          <p:nvPr/>
        </p:nvSpPr>
        <p:spPr>
          <a:xfrm>
            <a:off x="6566234" y="864086"/>
            <a:ext cx="884321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5" b="1" dirty="0">
                <a:solidFill>
                  <a:srgbClr val="5A5A5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Consolidate outcome</a:t>
            </a:r>
            <a:endParaRPr lang="en-US" sz="685" dirty="0"/>
          </a:p>
          <a:p>
            <a:pPr algn="ctr" indent="0" marL="0">
              <a:buNone/>
            </a:pPr>
            <a:r>
              <a:rPr lang="en-US" sz="685" b="1" dirty="0">
                <a:solidFill>
                  <a:srgbClr val="5A5A5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&amp; save evidence</a:t>
            </a:r>
            <a:endParaRPr lang="en-US" sz="685" dirty="0"/>
          </a:p>
        </p:txBody>
      </p:sp>
      <p:sp>
        <p:nvSpPr>
          <p:cNvPr id="194" name="Text 107"/>
          <p:cNvSpPr/>
          <p:nvPr/>
        </p:nvSpPr>
        <p:spPr>
          <a:xfrm>
            <a:off x="5527964" y="869555"/>
            <a:ext cx="745958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5" b="1" dirty="0">
                <a:solidFill>
                  <a:srgbClr val="5A5B5B"/>
                </a:solidFill>
                <a:latin typeface="Anaheim" pitchFamily="34" charset="0"/>
                <a:ea typeface="Anaheim" pitchFamily="34" charset="-122"/>
                <a:cs typeface="Anaheim" pitchFamily="34" charset="-120"/>
              </a:rPr>
              <a:t>Capture risk team</a:t>
            </a:r>
            <a:endParaRPr lang="en-US" sz="685" dirty="0"/>
          </a:p>
          <a:p>
            <a:pPr algn="ctr" indent="0" marL="0">
              <a:buNone/>
            </a:pPr>
            <a:r>
              <a:rPr lang="en-US" sz="685" b="1" dirty="0">
                <a:solidFill>
                  <a:srgbClr val="5A5B5B"/>
                </a:solidFill>
                <a:latin typeface="Anaheim" pitchFamily="34" charset="0"/>
                <a:ea typeface="Anaheim" pitchFamily="34" charset="-122"/>
                <a:cs typeface="Anaheim" pitchFamily="34" charset="-120"/>
              </a:rPr>
              <a:t>assessments</a:t>
            </a:r>
            <a:endParaRPr lang="en-US" sz="685" dirty="0"/>
          </a:p>
        </p:txBody>
      </p:sp>
      <p:sp>
        <p:nvSpPr>
          <p:cNvPr id="195" name="Text 108"/>
          <p:cNvSpPr/>
          <p:nvPr/>
        </p:nvSpPr>
        <p:spPr>
          <a:xfrm>
            <a:off x="4445942" y="869555"/>
            <a:ext cx="607595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5" b="1" dirty="0">
                <a:solidFill>
                  <a:srgbClr val="5A5A5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Share pack for</a:t>
            </a:r>
            <a:endParaRPr lang="en-US" sz="715" dirty="0"/>
          </a:p>
          <a:p>
            <a:pPr algn="ctr" indent="0" marL="0">
              <a:buNone/>
            </a:pPr>
            <a:r>
              <a:rPr lang="en-US" sz="715" b="1" dirty="0">
                <a:solidFill>
                  <a:srgbClr val="5A5A5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2LoD review</a:t>
            </a:r>
            <a:endParaRPr lang="en-US" sz="715" dirty="0"/>
          </a:p>
        </p:txBody>
      </p:sp>
      <p:sp>
        <p:nvSpPr>
          <p:cNvPr id="196" name="Text 109"/>
          <p:cNvSpPr/>
          <p:nvPr/>
        </p:nvSpPr>
        <p:spPr>
          <a:xfrm>
            <a:off x="3406304" y="875024"/>
            <a:ext cx="499311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9" dirty="0">
                <a:solidFill>
                  <a:srgbClr val="5B5B5B"/>
                </a:solidFill>
                <a:latin typeface="Hammersmith One" pitchFamily="34" charset="0"/>
                <a:ea typeface="Hammersmith One" pitchFamily="34" charset="-122"/>
                <a:cs typeface="Hammersmith One" pitchFamily="34" charset="-120"/>
              </a:rPr>
              <a:t>Generate</a:t>
            </a:r>
            <a:endParaRPr lang="en-US" sz="629" dirty="0"/>
          </a:p>
          <a:p>
            <a:pPr algn="ctr" indent="0" marL="0">
              <a:buNone/>
            </a:pPr>
            <a:r>
              <a:rPr lang="en-US" sz="629" dirty="0">
                <a:solidFill>
                  <a:srgbClr val="5B5B5B"/>
                </a:solidFill>
                <a:latin typeface="Hammersmith One" pitchFamily="34" charset="0"/>
                <a:ea typeface="Hammersmith One" pitchFamily="34" charset="-122"/>
                <a:cs typeface="Hammersmith One" pitchFamily="34" charset="-120"/>
              </a:rPr>
              <a:t>review pack</a:t>
            </a:r>
            <a:endParaRPr lang="en-US" sz="629" dirty="0"/>
          </a:p>
        </p:txBody>
      </p:sp>
      <p:sp>
        <p:nvSpPr>
          <p:cNvPr id="197" name="Text 110"/>
          <p:cNvSpPr/>
          <p:nvPr/>
        </p:nvSpPr>
        <p:spPr>
          <a:xfrm>
            <a:off x="2285453" y="869555"/>
            <a:ext cx="493295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5" b="1" dirty="0">
                <a:solidFill>
                  <a:srgbClr val="5B5B5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Structure &amp;</a:t>
            </a:r>
            <a:endParaRPr lang="en-US" sz="745" dirty="0"/>
          </a:p>
          <a:p>
            <a:pPr algn="ctr" indent="0" marL="0">
              <a:buNone/>
            </a:pPr>
            <a:r>
              <a:rPr lang="en-US" sz="745" b="1" dirty="0">
                <a:solidFill>
                  <a:srgbClr val="5B5B5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triage</a:t>
            </a:r>
            <a:endParaRPr lang="en-US" sz="745" dirty="0"/>
          </a:p>
        </p:txBody>
      </p:sp>
      <p:pic>
        <p:nvPicPr>
          <p:cNvPr id="198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5140766"/>
            <a:ext cx="9144000" cy="5469"/>
          </a:xfrm>
          <a:prstGeom prst="rect">
            <a:avLst/>
          </a:prstGeom>
        </p:spPr>
      </p:pic>
      <p:pic>
        <p:nvPicPr>
          <p:cNvPr id="19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0" y="0"/>
            <a:ext cx="9144000" cy="5469"/>
          </a:xfrm>
          <a:prstGeom prst="rect">
            <a:avLst/>
          </a:prstGeom>
        </p:spPr>
      </p:pic>
      <p:pic>
        <p:nvPicPr>
          <p:cNvPr id="200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138531" y="0"/>
            <a:ext cx="5469" cy="5146234"/>
          </a:xfrm>
          <a:prstGeom prst="rect">
            <a:avLst/>
          </a:prstGeom>
        </p:spPr>
      </p:pic>
      <p:pic>
        <p:nvPicPr>
          <p:cNvPr id="201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0" y="0"/>
            <a:ext cx="5469" cy="51462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2026-06-29T18:27:52Z</dcterms:created>
  <dcterms:modified xsi:type="dcterms:W3CDTF">2026-06-29T18:27:52Z</dcterms:modified>
</cp:coreProperties>
</file>