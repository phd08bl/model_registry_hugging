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5925800" cy="8963025"/>
  <p:notesSz cx="8963025" cy="15925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jpe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jpeg"/><Relationship Id="rId36" Type="http://schemas.openxmlformats.org/officeDocument/2006/relationships/image" Target="../media/image-1-36.jpe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slideLayout" Target="../slideLayouts/slideLayout1.xml"/><Relationship Id="rId4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jpe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jpe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jpe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jpe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slideLayout" Target="../slideLayouts/slideLayout1.xml"/><Relationship Id="rId3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jpe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jpe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image" Target="../media/image-4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image" Target="../media/image-5-31.png"/><Relationship Id="rId32" Type="http://schemas.openxmlformats.org/officeDocument/2006/relationships/image" Target="../media/image-5-32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jpe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jpe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jpe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jpeg"/><Relationship Id="rId25" Type="http://schemas.openxmlformats.org/officeDocument/2006/relationships/image" Target="../media/image-6-25.png"/><Relationship Id="rId26" Type="http://schemas.openxmlformats.org/officeDocument/2006/relationships/image" Target="../media/image-6-26.png"/><Relationship Id="rId27" Type="http://schemas.openxmlformats.org/officeDocument/2006/relationships/image" Target="../media/image-6-27.png"/><Relationship Id="rId28" Type="http://schemas.openxmlformats.org/officeDocument/2006/relationships/image" Target="../media/image-6-28.png"/><Relationship Id="rId29" Type="http://schemas.openxmlformats.org/officeDocument/2006/relationships/image" Target="../media/image-6-29.png"/><Relationship Id="rId30" Type="http://schemas.openxmlformats.org/officeDocument/2006/relationships/image" Target="../media/image-6-30.png"/><Relationship Id="rId31" Type="http://schemas.openxmlformats.org/officeDocument/2006/relationships/image" Target="../media/image-6-31.jpeg"/><Relationship Id="rId32" Type="http://schemas.openxmlformats.org/officeDocument/2006/relationships/image" Target="../media/image-6-32.png"/><Relationship Id="rId33" Type="http://schemas.openxmlformats.org/officeDocument/2006/relationships/image" Target="../media/image-6-33.jpeg"/><Relationship Id="rId34" Type="http://schemas.openxmlformats.org/officeDocument/2006/relationships/image" Target="../media/image-6-34.png"/><Relationship Id="rId35" Type="http://schemas.openxmlformats.org/officeDocument/2006/relationships/image" Target="../media/image-6-35.png"/><Relationship Id="rId36" Type="http://schemas.openxmlformats.org/officeDocument/2006/relationships/image" Target="../media/image-6-36.png"/><Relationship Id="rId37" Type="http://schemas.openxmlformats.org/officeDocument/2006/relationships/image" Target="../media/image-6-37.png"/><Relationship Id="rId38" Type="http://schemas.openxmlformats.org/officeDocument/2006/relationships/image" Target="../media/image-6-38.jpeg"/><Relationship Id="rId39" Type="http://schemas.openxmlformats.org/officeDocument/2006/relationships/image" Target="../media/image-6-39.png"/><Relationship Id="rId40" Type="http://schemas.openxmlformats.org/officeDocument/2006/relationships/image" Target="../media/image-6-40.png"/><Relationship Id="rId41" Type="http://schemas.openxmlformats.org/officeDocument/2006/relationships/image" Target="../media/image-6-41.jpeg"/><Relationship Id="rId42" Type="http://schemas.openxmlformats.org/officeDocument/2006/relationships/image" Target="../media/image-6-42.png"/><Relationship Id="rId43" Type="http://schemas.openxmlformats.org/officeDocument/2006/relationships/image" Target="../media/image-6-43.png"/><Relationship Id="rId44" Type="http://schemas.openxmlformats.org/officeDocument/2006/relationships/image" Target="../media/image-6-44.png"/><Relationship Id="rId45" Type="http://schemas.openxmlformats.org/officeDocument/2006/relationships/image" Target="../media/image-6-45.png"/><Relationship Id="rId46" Type="http://schemas.openxmlformats.org/officeDocument/2006/relationships/image" Target="../media/image-6-46.png"/><Relationship Id="rId47" Type="http://schemas.openxmlformats.org/officeDocument/2006/relationships/image" Target="../media/image-6-47.png"/><Relationship Id="rId48" Type="http://schemas.openxmlformats.org/officeDocument/2006/relationships/image" Target="../media/image-6-48.png"/><Relationship Id="rId49" Type="http://schemas.openxmlformats.org/officeDocument/2006/relationships/image" Target="../media/image-6-49.png"/><Relationship Id="rId50" Type="http://schemas.openxmlformats.org/officeDocument/2006/relationships/image" Target="../media/image-6-50.jpeg"/><Relationship Id="rId51" Type="http://schemas.openxmlformats.org/officeDocument/2006/relationships/image" Target="../media/image-6-51.png"/><Relationship Id="rId52" Type="http://schemas.openxmlformats.org/officeDocument/2006/relationships/image" Target="../media/image-6-52.png"/><Relationship Id="rId53" Type="http://schemas.openxmlformats.org/officeDocument/2006/relationships/slideLayout" Target="../slideLayouts/slideLayout1.xml"/><Relationship Id="rId5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jpe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jpe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image" Target="../media/image-7-26.png"/><Relationship Id="rId27" Type="http://schemas.openxmlformats.org/officeDocument/2006/relationships/image" Target="../media/image-7-27.png"/><Relationship Id="rId28" Type="http://schemas.openxmlformats.org/officeDocument/2006/relationships/image" Target="../media/image-7-28.png"/><Relationship Id="rId29" Type="http://schemas.openxmlformats.org/officeDocument/2006/relationships/image" Target="../media/image-7-29.png"/><Relationship Id="rId30" Type="http://schemas.openxmlformats.org/officeDocument/2006/relationships/image" Target="../media/image-7-30.png"/><Relationship Id="rId31" Type="http://schemas.openxmlformats.org/officeDocument/2006/relationships/image" Target="../media/image-7-31.png"/><Relationship Id="rId32" Type="http://schemas.openxmlformats.org/officeDocument/2006/relationships/image" Target="../media/image-7-32.png"/><Relationship Id="rId33" Type="http://schemas.openxmlformats.org/officeDocument/2006/relationships/image" Target="../media/image-7-33.png"/><Relationship Id="rId34" Type="http://schemas.openxmlformats.org/officeDocument/2006/relationships/image" Target="../media/image-7-34.png"/><Relationship Id="rId35" Type="http://schemas.openxmlformats.org/officeDocument/2006/relationships/image" Target="../media/image-7-35.png"/><Relationship Id="rId36" Type="http://schemas.openxmlformats.org/officeDocument/2006/relationships/image" Target="../media/image-7-36.png"/><Relationship Id="rId37" Type="http://schemas.openxmlformats.org/officeDocument/2006/relationships/slideLayout" Target="../slideLayouts/slideLayout1.xml"/><Relationship Id="rId3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7724775"/>
            <a:ext cx="15068550" cy="647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50" y="7896225"/>
            <a:ext cx="28575" cy="3143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" y="7772400"/>
            <a:ext cx="552450" cy="55245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971675" y="7886700"/>
            <a:ext cx="1272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5"/>
              </a:lnSpc>
              <a:buNone/>
            </a:pPr>
            <a:r>
              <a:rPr lang="en-US" sz="1594" b="1" dirty="0">
                <a:solidFill>
                  <a:srgbClr val="BDCB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monthly leadership control point for priority, ownership, sequencing, material dependencies and evidence-based progression.</a:t>
            </a:r>
            <a:endParaRPr lang="en-US" sz="1594" dirty="0"/>
          </a:p>
        </p:txBody>
      </p:sp>
      <p:sp>
        <p:nvSpPr>
          <p:cNvPr id="7" name="Shape 1"/>
          <p:cNvSpPr/>
          <p:nvPr/>
        </p:nvSpPr>
        <p:spPr>
          <a:xfrm>
            <a:off x="428625" y="6981825"/>
            <a:ext cx="15078075" cy="657225"/>
          </a:xfrm>
          <a:prstGeom prst="roundRect">
            <a:avLst>
              <a:gd name="adj" fmla="val 8696"/>
            </a:avLst>
          </a:prstGeom>
          <a:solidFill>
            <a:srgbClr val="FDF6E5"/>
          </a:solidFill>
          <a:ln w="9525">
            <a:solidFill>
              <a:srgbClr val="FCE3AC"/>
            </a:solidFill>
            <a:prstDash val="solid"/>
          </a:ln>
        </p:spPr>
      </p:sp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7350" y="7162800"/>
            <a:ext cx="28575" cy="314325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7038975"/>
            <a:ext cx="552450" cy="55245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971675" y="7162800"/>
            <a:ext cx="127063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14"/>
              </a:lnSpc>
              <a:buNone/>
            </a:pPr>
            <a:r>
              <a:rPr lang="en-US" sz="1523" b="1" dirty="0">
                <a:solidFill>
                  <a:srgbClr val="9A5F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steer prioritises outcomes and Discovery capacity — it does not approve a technology solution before the process is understood.</a:t>
            </a:r>
            <a:endParaRPr lang="en-US" sz="1523" dirty="0"/>
          </a:p>
        </p:txBody>
      </p:sp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68600" y="8058150"/>
            <a:ext cx="152400" cy="200025"/>
          </a:xfrm>
          <a:prstGeom prst="rect">
            <a:avLst/>
          </a:prstGeom>
        </p:spPr>
      </p:pic>
      <p:pic>
        <p:nvPicPr>
          <p:cNvPr id="1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54275" y="8086725"/>
            <a:ext cx="657225" cy="809625"/>
          </a:xfrm>
          <a:prstGeom prst="rect">
            <a:avLst/>
          </a:prstGeom>
        </p:spPr>
      </p:pic>
      <p:pic>
        <p:nvPicPr>
          <p:cNvPr id="1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92375" y="8515350"/>
            <a:ext cx="609600" cy="438150"/>
          </a:xfrm>
          <a:prstGeom prst="rect">
            <a:avLst/>
          </a:prstGeom>
        </p:spPr>
      </p:pic>
      <p:sp>
        <p:nvSpPr>
          <p:cNvPr id="14" name="Shape 3"/>
          <p:cNvSpPr/>
          <p:nvPr/>
        </p:nvSpPr>
        <p:spPr>
          <a:xfrm>
            <a:off x="400050" y="8562975"/>
            <a:ext cx="15078075" cy="19050"/>
          </a:xfrm>
          <a:prstGeom prst="rect">
            <a:avLst/>
          </a:prstGeom>
          <a:solidFill>
            <a:srgbClr val="F1FDF5"/>
          </a:solidFill>
          <a:ln/>
        </p:spPr>
      </p:sp>
      <p:pic>
        <p:nvPicPr>
          <p:cNvPr id="1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96700" y="4381500"/>
            <a:ext cx="304800" cy="276225"/>
          </a:xfrm>
          <a:prstGeom prst="rect">
            <a:avLst/>
          </a:prstGeom>
        </p:spPr>
      </p:pic>
      <p:pic>
        <p:nvPicPr>
          <p:cNvPr id="1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68175" y="2543175"/>
            <a:ext cx="3457575" cy="4276725"/>
          </a:xfrm>
          <a:prstGeom prst="rect">
            <a:avLst/>
          </a:prstGeom>
        </p:spPr>
      </p:pic>
      <p:pic>
        <p:nvPicPr>
          <p:cNvPr id="1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63450" y="6324600"/>
            <a:ext cx="95250" cy="95250"/>
          </a:xfrm>
          <a:prstGeom prst="rect">
            <a:avLst/>
          </a:prstGeom>
        </p:spPr>
      </p:pic>
      <p:pic>
        <p:nvPicPr>
          <p:cNvPr id="1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363450" y="5981700"/>
            <a:ext cx="95250" cy="95250"/>
          </a:xfrm>
          <a:prstGeom prst="rect">
            <a:avLst/>
          </a:prstGeom>
        </p:spPr>
      </p:pic>
      <p:pic>
        <p:nvPicPr>
          <p:cNvPr id="1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363450" y="5638800"/>
            <a:ext cx="95250" cy="95250"/>
          </a:xfrm>
          <a:prstGeom prst="rect">
            <a:avLst/>
          </a:prstGeom>
        </p:spPr>
      </p:pic>
      <p:pic>
        <p:nvPicPr>
          <p:cNvPr id="2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363450" y="5295900"/>
            <a:ext cx="95250" cy="95250"/>
          </a:xfrm>
          <a:prstGeom prst="rect">
            <a:avLst/>
          </a:prstGeom>
        </p:spPr>
      </p:pic>
      <p:sp>
        <p:nvSpPr>
          <p:cNvPr id="21" name="Shape 4"/>
          <p:cNvSpPr/>
          <p:nvPr/>
        </p:nvSpPr>
        <p:spPr>
          <a:xfrm>
            <a:off x="12268200" y="4562475"/>
            <a:ext cx="3076575" cy="504825"/>
          </a:xfrm>
          <a:prstGeom prst="roundRect">
            <a:avLst>
              <a:gd name="adj" fmla="val 28302"/>
            </a:avLst>
          </a:prstGeom>
          <a:solidFill>
            <a:srgbClr val="E7F5E7"/>
          </a:solidFill>
          <a:ln w="9525">
            <a:solidFill>
              <a:srgbClr val="E9F5EA"/>
            </a:solidFill>
            <a:prstDash val="solid"/>
          </a:ln>
        </p:spPr>
      </p:sp>
      <p:sp>
        <p:nvSpPr>
          <p:cNvPr id="22" name="Text 5"/>
          <p:cNvSpPr/>
          <p:nvPr/>
        </p:nvSpPr>
        <p:spPr>
          <a:xfrm>
            <a:off x="12620625" y="4686300"/>
            <a:ext cx="23907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81"/>
              </a:lnSpc>
              <a:buNone/>
            </a:pPr>
            <a:r>
              <a:rPr lang="en-US" sz="1481" b="1" dirty="0">
                <a:solidFill>
                  <a:srgbClr val="3664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leaves the meeting?</a:t>
            </a:r>
            <a:endParaRPr lang="en-US" sz="1481" dirty="0"/>
          </a:p>
        </p:txBody>
      </p:sp>
      <p:pic>
        <p:nvPicPr>
          <p:cNvPr id="2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401800" y="2809875"/>
            <a:ext cx="885825" cy="1114425"/>
          </a:xfrm>
          <a:prstGeom prst="rect">
            <a:avLst/>
          </a:prstGeom>
        </p:spPr>
      </p:pic>
      <p:pic>
        <p:nvPicPr>
          <p:cNvPr id="2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363450" y="2695575"/>
            <a:ext cx="1104900" cy="1104900"/>
          </a:xfrm>
          <a:prstGeom prst="rect">
            <a:avLst/>
          </a:prstGeom>
        </p:spPr>
      </p:pic>
      <p:sp>
        <p:nvSpPr>
          <p:cNvPr id="25" name="Text 6"/>
          <p:cNvSpPr/>
          <p:nvPr/>
        </p:nvSpPr>
        <p:spPr>
          <a:xfrm>
            <a:off x="12620625" y="6238875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448" dirty="0">
                <a:solidFill>
                  <a:srgbClr val="7A7E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Return-to-Steer date</a:t>
            </a:r>
            <a:endParaRPr lang="en-US" sz="1448" dirty="0"/>
          </a:p>
        </p:txBody>
      </p:sp>
      <p:sp>
        <p:nvSpPr>
          <p:cNvPr id="26" name="Text 7"/>
          <p:cNvSpPr/>
          <p:nvPr/>
        </p:nvSpPr>
        <p:spPr>
          <a:xfrm>
            <a:off x="12620625" y="5895975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485" dirty="0">
                <a:solidFill>
                  <a:srgbClr val="7A7E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evidence / milestone</a:t>
            </a:r>
            <a:endParaRPr lang="en-US" sz="1485" dirty="0"/>
          </a:p>
        </p:txBody>
      </p:sp>
      <p:sp>
        <p:nvSpPr>
          <p:cNvPr id="27" name="Text 8"/>
          <p:cNvSpPr/>
          <p:nvPr/>
        </p:nvSpPr>
        <p:spPr>
          <a:xfrm>
            <a:off x="12611100" y="5553075"/>
            <a:ext cx="17335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538" dirty="0">
                <a:solidFill>
                  <a:srgbClr val="7579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Accountable owner</a:t>
            </a:r>
            <a:endParaRPr lang="en-US" sz="1538" dirty="0"/>
          </a:p>
        </p:txBody>
      </p:sp>
      <p:sp>
        <p:nvSpPr>
          <p:cNvPr id="28" name="Text 9"/>
          <p:cNvSpPr/>
          <p:nvPr/>
        </p:nvSpPr>
        <p:spPr>
          <a:xfrm>
            <a:off x="12611100" y="5200650"/>
            <a:ext cx="19526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dirty="0">
                <a:solidFill>
                  <a:srgbClr val="62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Agreed priority / route</a:t>
            </a:r>
            <a:endParaRPr lang="en-US" sz="1440" dirty="0"/>
          </a:p>
        </p:txBody>
      </p:sp>
      <p:sp>
        <p:nvSpPr>
          <p:cNvPr id="29" name="Text 10"/>
          <p:cNvSpPr/>
          <p:nvPr/>
        </p:nvSpPr>
        <p:spPr>
          <a:xfrm>
            <a:off x="12363450" y="3848100"/>
            <a:ext cx="22955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88"/>
              </a:lnSpc>
              <a:buNone/>
            </a:pPr>
            <a:r>
              <a:rPr lang="en-US" sz="1995" b="1" dirty="0">
                <a:solidFill>
                  <a:srgbClr val="305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Portfolio</a:t>
            </a:r>
            <a:endParaRPr lang="en-US" sz="1995" dirty="0"/>
          </a:p>
          <a:p>
            <a:pPr algn="l" indent="0" marL="0">
              <a:lnSpc>
                <a:spcPts val="2288"/>
              </a:lnSpc>
              <a:buNone/>
            </a:pPr>
            <a:r>
              <a:rPr lang="en-US" sz="1995" b="1" dirty="0">
                <a:solidFill>
                  <a:srgbClr val="305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</a:t>
            </a:r>
            <a:endParaRPr lang="en-US" sz="1995" dirty="0"/>
          </a:p>
        </p:txBody>
      </p:sp>
      <p:pic>
        <p:nvPicPr>
          <p:cNvPr id="3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10500" y="4381500"/>
            <a:ext cx="295275" cy="276225"/>
          </a:xfrm>
          <a:prstGeom prst="rect">
            <a:avLst/>
          </a:prstGeom>
        </p:spPr>
      </p:pic>
      <p:sp>
        <p:nvSpPr>
          <p:cNvPr id="31" name="Shape 11"/>
          <p:cNvSpPr/>
          <p:nvPr/>
        </p:nvSpPr>
        <p:spPr>
          <a:xfrm>
            <a:off x="8181975" y="2543175"/>
            <a:ext cx="3457575" cy="4276725"/>
          </a:xfrm>
          <a:prstGeom prst="roundRect">
            <a:avLst>
              <a:gd name="adj" fmla="val 4408"/>
            </a:avLst>
          </a:prstGeom>
          <a:solidFill>
            <a:srgbClr val="FDFDFD"/>
          </a:solidFill>
          <a:ln w="9525">
            <a:solidFill>
              <a:srgbClr val="F8FBF9"/>
            </a:solidFill>
            <a:prstDash val="solid"/>
          </a:ln>
        </p:spPr>
      </p:sp>
      <p:pic>
        <p:nvPicPr>
          <p:cNvPr id="3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77250" y="5829300"/>
            <a:ext cx="104775" cy="104775"/>
          </a:xfrm>
          <a:prstGeom prst="rect">
            <a:avLst/>
          </a:prstGeom>
        </p:spPr>
      </p:pic>
      <p:pic>
        <p:nvPicPr>
          <p:cNvPr id="3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77250" y="5505450"/>
            <a:ext cx="104775" cy="95250"/>
          </a:xfrm>
          <a:prstGeom prst="rect">
            <a:avLst/>
          </a:prstGeom>
        </p:spPr>
      </p:pic>
      <p:sp>
        <p:nvSpPr>
          <p:cNvPr id="34" name="Shape 12"/>
          <p:cNvSpPr/>
          <p:nvPr/>
        </p:nvSpPr>
        <p:spPr>
          <a:xfrm>
            <a:off x="8382000" y="4562475"/>
            <a:ext cx="3076575" cy="676275"/>
          </a:xfrm>
          <a:prstGeom prst="roundRect">
            <a:avLst>
              <a:gd name="adj" fmla="val 21127"/>
            </a:avLst>
          </a:prstGeom>
          <a:solidFill>
            <a:srgbClr val="E6F5E7"/>
          </a:solidFill>
          <a:ln/>
        </p:spPr>
      </p:sp>
      <p:sp>
        <p:nvSpPr>
          <p:cNvPr id="35" name="Text 13"/>
          <p:cNvSpPr/>
          <p:nvPr/>
        </p:nvSpPr>
        <p:spPr>
          <a:xfrm>
            <a:off x="8601075" y="4619625"/>
            <a:ext cx="27051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2"/>
              </a:lnSpc>
              <a:buNone/>
            </a:pPr>
            <a:r>
              <a:rPr lang="en-US" sz="1515" b="1" dirty="0">
                <a:solidFill>
                  <a:srgbClr val="3A66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happen to each</a:t>
            </a:r>
            <a:endParaRPr lang="en-US" sz="1515" dirty="0"/>
          </a:p>
          <a:p>
            <a:pPr algn="l" indent="0" marL="0">
              <a:lnSpc>
                <a:spcPts val="2042"/>
              </a:lnSpc>
              <a:buNone/>
            </a:pPr>
            <a:r>
              <a:rPr lang="en-US" sz="1515" b="1" dirty="0">
                <a:solidFill>
                  <a:srgbClr val="3A66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candidate?</a:t>
            </a:r>
            <a:endParaRPr lang="en-US" sz="1515" dirty="0"/>
          </a:p>
        </p:txBody>
      </p:sp>
      <p:pic>
        <p:nvPicPr>
          <p:cNvPr id="3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34650" y="2838450"/>
            <a:ext cx="866775" cy="1066800"/>
          </a:xfrm>
          <a:prstGeom prst="rect">
            <a:avLst/>
          </a:prstGeom>
        </p:spPr>
      </p:pic>
      <p:pic>
        <p:nvPicPr>
          <p:cNvPr id="37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67725" y="2676525"/>
            <a:ext cx="1133475" cy="1133475"/>
          </a:xfrm>
          <a:prstGeom prst="rect">
            <a:avLst/>
          </a:prstGeom>
        </p:spPr>
      </p:pic>
      <p:sp>
        <p:nvSpPr>
          <p:cNvPr id="38" name="Text 14"/>
          <p:cNvSpPr/>
          <p:nvPr/>
        </p:nvSpPr>
        <p:spPr>
          <a:xfrm>
            <a:off x="8753475" y="5715000"/>
            <a:ext cx="18859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75" dirty="0">
                <a:solidFill>
                  <a:srgbClr val="7A7E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2: Mobilise</a:t>
            </a:r>
            <a:endParaRPr lang="en-US" sz="1575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75" dirty="0">
                <a:solidFill>
                  <a:srgbClr val="7A7E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Discovery</a:t>
            </a:r>
            <a:endParaRPr lang="en-US" sz="1575" dirty="0"/>
          </a:p>
        </p:txBody>
      </p:sp>
      <p:sp>
        <p:nvSpPr>
          <p:cNvPr id="39" name="Text 15"/>
          <p:cNvSpPr/>
          <p:nvPr/>
        </p:nvSpPr>
        <p:spPr>
          <a:xfrm>
            <a:off x="8753475" y="5410200"/>
            <a:ext cx="24669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541" dirty="0">
                <a:solidFill>
                  <a:srgbClr val="5C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1: Priority &amp; Route</a:t>
            </a:r>
            <a:endParaRPr lang="en-US" sz="1541" dirty="0"/>
          </a:p>
        </p:txBody>
      </p:sp>
      <p:sp>
        <p:nvSpPr>
          <p:cNvPr id="40" name="Text 16"/>
          <p:cNvSpPr/>
          <p:nvPr/>
        </p:nvSpPr>
        <p:spPr>
          <a:xfrm>
            <a:off x="8505825" y="3819525"/>
            <a:ext cx="189547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092" b="1" dirty="0">
                <a:solidFill>
                  <a:srgbClr val="254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Stage 2</a:t>
            </a:r>
            <a:endParaRPr lang="en-US" sz="2092" dirty="0"/>
          </a:p>
          <a:p>
            <a:pPr algn="l" indent="0" marL="0">
              <a:lnSpc>
                <a:spcPts val="2138"/>
              </a:lnSpc>
              <a:buNone/>
            </a:pPr>
            <a:r>
              <a:rPr lang="en-US" sz="2092" b="1" dirty="0">
                <a:solidFill>
                  <a:srgbClr val="254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Decisions</a:t>
            </a:r>
            <a:endParaRPr lang="en-US" sz="2092" dirty="0"/>
          </a:p>
        </p:txBody>
      </p:sp>
      <p:pic>
        <p:nvPicPr>
          <p:cNvPr id="41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33825" y="4381500"/>
            <a:ext cx="304800" cy="276225"/>
          </a:xfrm>
          <a:prstGeom prst="rect">
            <a:avLst/>
          </a:prstGeom>
        </p:spPr>
      </p:pic>
      <p:sp>
        <p:nvSpPr>
          <p:cNvPr id="42" name="Shape 17"/>
          <p:cNvSpPr/>
          <p:nvPr/>
        </p:nvSpPr>
        <p:spPr>
          <a:xfrm>
            <a:off x="4305300" y="2543175"/>
            <a:ext cx="3448050" cy="4267200"/>
          </a:xfrm>
          <a:prstGeom prst="roundRect">
            <a:avLst>
              <a:gd name="adj" fmla="val 4144"/>
            </a:avLst>
          </a:prstGeom>
          <a:solidFill>
            <a:srgbClr val="FDFDFD"/>
          </a:solidFill>
          <a:ln/>
        </p:spPr>
      </p:sp>
      <p:pic>
        <p:nvPicPr>
          <p:cNvPr id="4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10100" y="6286500"/>
            <a:ext cx="95250" cy="95250"/>
          </a:xfrm>
          <a:prstGeom prst="rect">
            <a:avLst/>
          </a:prstGeom>
        </p:spPr>
      </p:pic>
      <p:pic>
        <p:nvPicPr>
          <p:cNvPr id="4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610100" y="5715000"/>
            <a:ext cx="95250" cy="95250"/>
          </a:xfrm>
          <a:prstGeom prst="rect">
            <a:avLst/>
          </a:prstGeom>
        </p:spPr>
      </p:pic>
      <p:pic>
        <p:nvPicPr>
          <p:cNvPr id="45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610100" y="5429250"/>
            <a:ext cx="95250" cy="95250"/>
          </a:xfrm>
          <a:prstGeom prst="rect">
            <a:avLst/>
          </a:prstGeom>
        </p:spPr>
      </p:pic>
      <p:sp>
        <p:nvSpPr>
          <p:cNvPr id="46" name="Shape 18"/>
          <p:cNvSpPr/>
          <p:nvPr/>
        </p:nvSpPr>
        <p:spPr>
          <a:xfrm>
            <a:off x="4514850" y="4562475"/>
            <a:ext cx="3057525" cy="676275"/>
          </a:xfrm>
          <a:prstGeom prst="roundRect">
            <a:avLst>
              <a:gd name="adj" fmla="val 18310"/>
            </a:avLst>
          </a:prstGeom>
          <a:solidFill>
            <a:srgbClr val="E5F4E7"/>
          </a:solidFill>
          <a:ln/>
        </p:spPr>
      </p:sp>
      <p:sp>
        <p:nvSpPr>
          <p:cNvPr id="47" name="Text 19"/>
          <p:cNvSpPr/>
          <p:nvPr/>
        </p:nvSpPr>
        <p:spPr>
          <a:xfrm>
            <a:off x="4733925" y="4629150"/>
            <a:ext cx="27051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495" b="1" dirty="0">
                <a:solidFill>
                  <a:srgbClr val="3864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new process outcomes</a:t>
            </a:r>
            <a:endParaRPr lang="en-US" sz="1495" dirty="0"/>
          </a:p>
          <a:p>
            <a:pPr algn="l" indent="0" marL="0">
              <a:lnSpc>
                <a:spcPts val="1941"/>
              </a:lnSpc>
              <a:buNone/>
            </a:pPr>
            <a:r>
              <a:rPr lang="en-US" sz="1495" b="1" dirty="0">
                <a:solidFill>
                  <a:srgbClr val="3864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consideration?</a:t>
            </a:r>
            <a:endParaRPr lang="en-US" sz="1495" dirty="0"/>
          </a:p>
        </p:txBody>
      </p:sp>
      <p:pic>
        <p:nvPicPr>
          <p:cNvPr id="4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629400" y="2800350"/>
            <a:ext cx="885825" cy="1114425"/>
          </a:xfrm>
          <a:prstGeom prst="rect">
            <a:avLst/>
          </a:prstGeom>
        </p:spPr>
      </p:pic>
      <p:pic>
        <p:nvPicPr>
          <p:cNvPr id="4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591050" y="2676525"/>
            <a:ext cx="1114425" cy="1114425"/>
          </a:xfrm>
          <a:prstGeom prst="rect">
            <a:avLst/>
          </a:prstGeom>
        </p:spPr>
      </p:pic>
      <p:sp>
        <p:nvSpPr>
          <p:cNvPr id="50" name="Text 20"/>
          <p:cNvSpPr/>
          <p:nvPr/>
        </p:nvSpPr>
        <p:spPr>
          <a:xfrm>
            <a:off x="4867275" y="6181725"/>
            <a:ext cx="19145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68" dirty="0">
                <a:solidFill>
                  <a:srgbClr val="7C8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initiatives or</a:t>
            </a:r>
            <a:endParaRPr lang="en-US" sz="1568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568" dirty="0">
                <a:solidFill>
                  <a:srgbClr val="7C8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capabilities</a:t>
            </a:r>
            <a:endParaRPr lang="en-US" sz="1568" dirty="0"/>
          </a:p>
        </p:txBody>
      </p:sp>
      <p:sp>
        <p:nvSpPr>
          <p:cNvPr id="51" name="Text 21"/>
          <p:cNvSpPr/>
          <p:nvPr/>
        </p:nvSpPr>
        <p:spPr>
          <a:xfrm>
            <a:off x="4867275" y="5610225"/>
            <a:ext cx="18954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7B7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/ outcome /</a:t>
            </a:r>
            <a:endParaRPr lang="en-US" sz="150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7B7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</a:t>
            </a:r>
            <a:endParaRPr lang="en-US" sz="1500" dirty="0"/>
          </a:p>
        </p:txBody>
      </p:sp>
      <p:sp>
        <p:nvSpPr>
          <p:cNvPr id="52" name="Text 22"/>
          <p:cNvSpPr/>
          <p:nvPr/>
        </p:nvSpPr>
        <p:spPr>
          <a:xfrm>
            <a:off x="4867275" y="5343525"/>
            <a:ext cx="2171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470" dirty="0">
                <a:solidFill>
                  <a:srgbClr val="6267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 candidate briefs</a:t>
            </a:r>
            <a:endParaRPr lang="en-US" sz="1470" dirty="0"/>
          </a:p>
        </p:txBody>
      </p:sp>
      <p:sp>
        <p:nvSpPr>
          <p:cNvPr id="53" name="Text 23"/>
          <p:cNvSpPr/>
          <p:nvPr/>
        </p:nvSpPr>
        <p:spPr>
          <a:xfrm>
            <a:off x="4610100" y="3819525"/>
            <a:ext cx="17526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2092" b="1" dirty="0">
                <a:solidFill>
                  <a:srgbClr val="274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New</a:t>
            </a:r>
            <a:endParaRPr lang="en-US" sz="2092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2092" b="1" dirty="0">
                <a:solidFill>
                  <a:srgbClr val="274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</a:t>
            </a:r>
            <a:endParaRPr lang="en-US" sz="2092" dirty="0"/>
          </a:p>
        </p:txBody>
      </p:sp>
      <p:sp>
        <p:nvSpPr>
          <p:cNvPr id="54" name="Shape 24"/>
          <p:cNvSpPr/>
          <p:nvPr/>
        </p:nvSpPr>
        <p:spPr>
          <a:xfrm>
            <a:off x="428625" y="2543175"/>
            <a:ext cx="3448050" cy="4267200"/>
          </a:xfrm>
          <a:prstGeom prst="roundRect">
            <a:avLst>
              <a:gd name="adj" fmla="val 2762"/>
            </a:avLst>
          </a:prstGeom>
          <a:solidFill>
            <a:srgbClr val="FDFDFD"/>
          </a:solidFill>
          <a:ln/>
        </p:spPr>
      </p:sp>
      <p:pic>
        <p:nvPicPr>
          <p:cNvPr id="55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4850" y="6410325"/>
            <a:ext cx="95250" cy="104775"/>
          </a:xfrm>
          <a:prstGeom prst="rect">
            <a:avLst/>
          </a:prstGeom>
        </p:spPr>
      </p:pic>
      <p:pic>
        <p:nvPicPr>
          <p:cNvPr id="56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04850" y="6105525"/>
            <a:ext cx="95250" cy="95250"/>
          </a:xfrm>
          <a:prstGeom prst="rect">
            <a:avLst/>
          </a:prstGeom>
        </p:spPr>
      </p:pic>
      <p:pic>
        <p:nvPicPr>
          <p:cNvPr id="57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04850" y="5800725"/>
            <a:ext cx="95250" cy="104775"/>
          </a:xfrm>
          <a:prstGeom prst="rect">
            <a:avLst/>
          </a:prstGeom>
        </p:spPr>
      </p:pic>
      <p:pic>
        <p:nvPicPr>
          <p:cNvPr id="58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04850" y="5286375"/>
            <a:ext cx="95250" cy="95250"/>
          </a:xfrm>
          <a:prstGeom prst="rect">
            <a:avLst/>
          </a:prstGeom>
        </p:spPr>
      </p:pic>
      <p:sp>
        <p:nvSpPr>
          <p:cNvPr id="59" name="Shape 25"/>
          <p:cNvSpPr/>
          <p:nvPr/>
        </p:nvSpPr>
        <p:spPr>
          <a:xfrm>
            <a:off x="619125" y="4562475"/>
            <a:ext cx="3067050" cy="504825"/>
          </a:xfrm>
          <a:prstGeom prst="roundRect">
            <a:avLst>
              <a:gd name="adj" fmla="val 22642"/>
            </a:avLst>
          </a:prstGeom>
          <a:solidFill>
            <a:srgbClr val="E6F4E7"/>
          </a:solidFill>
          <a:ln/>
        </p:spPr>
      </p:sp>
      <p:sp>
        <p:nvSpPr>
          <p:cNvPr id="60" name="Text 26"/>
          <p:cNvSpPr/>
          <p:nvPr/>
        </p:nvSpPr>
        <p:spPr>
          <a:xfrm>
            <a:off x="885825" y="4686300"/>
            <a:ext cx="25146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2"/>
              </a:lnSpc>
              <a:buNone/>
            </a:pPr>
            <a:r>
              <a:rPr lang="en-US" sz="1484" b="1" dirty="0">
                <a:solidFill>
                  <a:srgbClr val="376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already underway?</a:t>
            </a:r>
            <a:endParaRPr lang="en-US" sz="1484" dirty="0"/>
          </a:p>
        </p:txBody>
      </p:sp>
      <p:pic>
        <p:nvPicPr>
          <p:cNvPr id="61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752725" y="2800350"/>
            <a:ext cx="885825" cy="1114425"/>
          </a:xfrm>
          <a:prstGeom prst="rect">
            <a:avLst/>
          </a:prstGeom>
        </p:spPr>
      </p:pic>
      <p:pic>
        <p:nvPicPr>
          <p:cNvPr id="62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04850" y="2676525"/>
            <a:ext cx="1114425" cy="1114425"/>
          </a:xfrm>
          <a:prstGeom prst="rect">
            <a:avLst/>
          </a:prstGeom>
        </p:spPr>
      </p:pic>
      <p:sp>
        <p:nvSpPr>
          <p:cNvPr id="63" name="Text 27"/>
          <p:cNvSpPr/>
          <p:nvPr/>
        </p:nvSpPr>
        <p:spPr>
          <a:xfrm>
            <a:off x="971550" y="6324600"/>
            <a:ext cx="2476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463" dirty="0">
                <a:solidFill>
                  <a:srgbClr val="6A6E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Items returning for decision</a:t>
            </a:r>
            <a:endParaRPr lang="en-US" sz="1463" dirty="0"/>
          </a:p>
        </p:txBody>
      </p:sp>
      <p:sp>
        <p:nvSpPr>
          <p:cNvPr id="64" name="Text 28"/>
          <p:cNvSpPr/>
          <p:nvPr/>
        </p:nvSpPr>
        <p:spPr>
          <a:xfrm>
            <a:off x="952500" y="6019800"/>
            <a:ext cx="2495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477" dirty="0">
                <a:solidFill>
                  <a:srgbClr val="5F6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and dependencies</a:t>
            </a:r>
            <a:endParaRPr lang="en-US" sz="1477" dirty="0"/>
          </a:p>
        </p:txBody>
      </p:sp>
      <p:sp>
        <p:nvSpPr>
          <p:cNvPr id="65" name="Text 29"/>
          <p:cNvSpPr/>
          <p:nvPr/>
        </p:nvSpPr>
        <p:spPr>
          <a:xfrm>
            <a:off x="962025" y="5724525"/>
            <a:ext cx="23145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38" dirty="0">
                <a:solidFill>
                  <a:srgbClr val="797D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progress / issues</a:t>
            </a:r>
            <a:endParaRPr lang="en-US" sz="1538" dirty="0"/>
          </a:p>
        </p:txBody>
      </p:sp>
      <p:sp>
        <p:nvSpPr>
          <p:cNvPr id="66" name="Text 30"/>
          <p:cNvSpPr/>
          <p:nvPr/>
        </p:nvSpPr>
        <p:spPr>
          <a:xfrm>
            <a:off x="942975" y="5172075"/>
            <a:ext cx="2514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463" dirty="0">
                <a:solidFill>
                  <a:srgbClr val="797D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initiatives and current</a:t>
            </a:r>
            <a:endParaRPr lang="en-US" sz="1463" dirty="0"/>
          </a:p>
          <a:p>
            <a:pPr algn="l" indent="0" marL="0">
              <a:lnSpc>
                <a:spcPts val="1913"/>
              </a:lnSpc>
              <a:buNone/>
            </a:pPr>
            <a:r>
              <a:rPr lang="en-US" sz="1463" dirty="0">
                <a:solidFill>
                  <a:srgbClr val="797D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</a:t>
            </a:r>
            <a:endParaRPr lang="en-US" sz="1463" dirty="0"/>
          </a:p>
        </p:txBody>
      </p:sp>
      <p:sp>
        <p:nvSpPr>
          <p:cNvPr id="67" name="Text 31"/>
          <p:cNvSpPr/>
          <p:nvPr/>
        </p:nvSpPr>
        <p:spPr>
          <a:xfrm>
            <a:off x="742950" y="3848100"/>
            <a:ext cx="21526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950" b="1" dirty="0">
                <a:solidFill>
                  <a:srgbClr val="2E50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Current</a:t>
            </a:r>
            <a:endParaRPr lang="en-US" sz="1950" dirty="0"/>
          </a:p>
          <a:p>
            <a:pPr algn="l" indent="0" marL="0">
              <a:lnSpc>
                <a:spcPts val="2475"/>
              </a:lnSpc>
              <a:buNone/>
            </a:pPr>
            <a:r>
              <a:rPr lang="en-US" sz="1950" b="1" dirty="0">
                <a:solidFill>
                  <a:srgbClr val="2E50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</a:t>
            </a:r>
            <a:endParaRPr lang="en-US" sz="1950" dirty="0"/>
          </a:p>
        </p:txBody>
      </p:sp>
      <p:sp>
        <p:nvSpPr>
          <p:cNvPr id="68" name="Shape 32"/>
          <p:cNvSpPr/>
          <p:nvPr/>
        </p:nvSpPr>
        <p:spPr>
          <a:xfrm>
            <a:off x="12477750" y="314325"/>
            <a:ext cx="2790825" cy="485775"/>
          </a:xfrm>
          <a:prstGeom prst="roundRect">
            <a:avLst>
              <a:gd name="adj" fmla="val 45098"/>
            </a:avLst>
          </a:prstGeom>
          <a:solidFill>
            <a:srgbClr val="D3E8D9"/>
          </a:solidFill>
          <a:ln w="9525">
            <a:solidFill>
              <a:srgbClr val="D8EADE"/>
            </a:solidFill>
            <a:prstDash val="solid"/>
          </a:ln>
        </p:spPr>
      </p:sp>
      <p:pic>
        <p:nvPicPr>
          <p:cNvPr id="69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3468350" y="466725"/>
            <a:ext cx="19050" cy="200025"/>
          </a:xfrm>
          <a:prstGeom prst="rect">
            <a:avLst/>
          </a:prstGeom>
        </p:spPr>
      </p:pic>
      <p:sp>
        <p:nvSpPr>
          <p:cNvPr id="70" name="Text 33"/>
          <p:cNvSpPr/>
          <p:nvPr/>
        </p:nvSpPr>
        <p:spPr>
          <a:xfrm>
            <a:off x="12782550" y="428625"/>
            <a:ext cx="22098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68" b="1" dirty="0">
                <a:solidFill>
                  <a:srgbClr val="4B7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2</a:t>
            </a:r>
            <a:pPr algn="l" indent="0" marL="0">
              <a:lnSpc>
                <a:spcPts val="1650"/>
              </a:lnSpc>
              <a:buNone/>
            </a:pPr>
            <a:r>
              <a:rPr lang="en-US" sz="1568" b="1" dirty="0">
                <a:solidFill>
                  <a:srgbClr val="2E5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Monthly Steer</a:t>
            </a:r>
            <a:endParaRPr lang="en-US" sz="1568" dirty="0"/>
          </a:p>
        </p:txBody>
      </p:sp>
      <p:sp>
        <p:nvSpPr>
          <p:cNvPr id="71" name="Text 34"/>
          <p:cNvSpPr/>
          <p:nvPr/>
        </p:nvSpPr>
        <p:spPr>
          <a:xfrm>
            <a:off x="514350" y="314325"/>
            <a:ext cx="1018222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936"/>
              </a:lnSpc>
              <a:buNone/>
            </a:pPr>
            <a:r>
              <a:rPr lang="en-US" sz="4008" b="1" dirty="0">
                <a:solidFill>
                  <a:srgbClr val="183E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MRO FDE / Tech &amp; Tooling Steer</a:t>
            </a:r>
            <a:endParaRPr lang="en-US" sz="4008" dirty="0"/>
          </a:p>
        </p:txBody>
      </p:sp>
      <p:sp>
        <p:nvSpPr>
          <p:cNvPr id="72" name="Shape 35"/>
          <p:cNvSpPr/>
          <p:nvPr/>
        </p:nvSpPr>
        <p:spPr>
          <a:xfrm>
            <a:off x="361950" y="1143000"/>
            <a:ext cx="15163800" cy="1219200"/>
          </a:xfrm>
          <a:prstGeom prst="rect">
            <a:avLst/>
          </a:prstGeom>
          <a:solidFill>
            <a:srgbClr val="FDFDFD"/>
          </a:solidFill>
          <a:ln w="9525">
            <a:solidFill>
              <a:srgbClr val="E2EFE6"/>
            </a:solidFill>
            <a:prstDash val="solid"/>
          </a:ln>
        </p:spPr>
      </p:sp>
      <p:pic>
        <p:nvPicPr>
          <p:cNvPr id="73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105025" y="1419225"/>
            <a:ext cx="19050" cy="676275"/>
          </a:xfrm>
          <a:prstGeom prst="rect">
            <a:avLst/>
          </a:prstGeom>
        </p:spPr>
      </p:pic>
      <p:pic>
        <p:nvPicPr>
          <p:cNvPr id="74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62000" y="1276350"/>
            <a:ext cx="952500" cy="971550"/>
          </a:xfrm>
          <a:prstGeom prst="rect">
            <a:avLst/>
          </a:prstGeom>
        </p:spPr>
      </p:pic>
      <p:sp>
        <p:nvSpPr>
          <p:cNvPr id="75" name="Text 36"/>
          <p:cNvSpPr/>
          <p:nvPr/>
        </p:nvSpPr>
        <p:spPr>
          <a:xfrm>
            <a:off x="2505075" y="1381125"/>
            <a:ext cx="11696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56"/>
              </a:lnSpc>
              <a:buNone/>
            </a:pPr>
            <a:r>
              <a:rPr lang="en-US" sz="2100" b="1" dirty="0">
                <a:solidFill>
                  <a:srgbClr val="3453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MRO process outcomes, mobilise focused FDE Discovery, and oversee material</a:t>
            </a:r>
            <a:endParaRPr lang="en-US" sz="2100" dirty="0"/>
          </a:p>
          <a:p>
            <a:pPr algn="l" indent="0" marL="0">
              <a:lnSpc>
                <a:spcPts val="2756"/>
              </a:lnSpc>
              <a:buNone/>
            </a:pPr>
            <a:r>
              <a:rPr lang="en-US" sz="2100" b="1" dirty="0">
                <a:solidFill>
                  <a:srgbClr val="3453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decisions across the active Tech &amp; Tooling portfolio.</a:t>
            </a:r>
            <a:endParaRPr lang="en-US" sz="2100" dirty="0"/>
          </a:p>
        </p:txBody>
      </p:sp>
      <p:pic>
        <p:nvPicPr>
          <p:cNvPr id="76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5373350" y="180975"/>
            <a:ext cx="514350" cy="1428750"/>
          </a:xfrm>
          <a:prstGeom prst="rect">
            <a:avLst/>
          </a:prstGeom>
        </p:spPr>
      </p:pic>
      <p:sp>
        <p:nvSpPr>
          <p:cNvPr id="77" name="Text 37"/>
          <p:cNvSpPr/>
          <p:nvPr/>
        </p:nvSpPr>
        <p:spPr>
          <a:xfrm>
            <a:off x="14801850" y="8629650"/>
            <a:ext cx="76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16"/>
              </a:lnSpc>
              <a:buNone/>
            </a:pPr>
            <a:r>
              <a:rPr lang="en-US" sz="1047" dirty="0">
                <a:solidFill>
                  <a:srgbClr val="6386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47" dirty="0"/>
          </a:p>
        </p:txBody>
      </p:sp>
      <p:sp>
        <p:nvSpPr>
          <p:cNvPr id="78" name="Text 38"/>
          <p:cNvSpPr/>
          <p:nvPr/>
        </p:nvSpPr>
        <p:spPr>
          <a:xfrm>
            <a:off x="466725" y="8620125"/>
            <a:ext cx="2667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1103" dirty="0">
                <a:solidFill>
                  <a:srgbClr val="6B8C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MRO FDE / Tech &amp; Tooling Monthly Steer</a:t>
            </a:r>
            <a:endParaRPr lang="en-US" sz="110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1150" y="8391525"/>
            <a:ext cx="78295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4"/>
              </a:lnSpc>
              <a:buNone/>
            </a:pPr>
            <a:r>
              <a:rPr lang="en-US" sz="1621" b="1" dirty="0">
                <a:solidFill>
                  <a:srgbClr val="C6D3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steer should consider current commitments before adding new priorities.</a:t>
            </a:r>
            <a:endParaRPr lang="en-US" sz="1621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775" y="8343900"/>
            <a:ext cx="19050" cy="485775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8401050"/>
            <a:ext cx="428625" cy="41910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11182350" y="2314575"/>
            <a:ext cx="4438650" cy="5743575"/>
          </a:xfrm>
          <a:prstGeom prst="roundRect">
            <a:avLst>
              <a:gd name="adj" fmla="val 2790"/>
            </a:avLst>
          </a:prstGeom>
          <a:solidFill>
            <a:srgbClr val="FCFDFC"/>
          </a:solidFill>
          <a:ln/>
        </p:spPr>
      </p:sp>
      <p:sp>
        <p:nvSpPr>
          <p:cNvPr id="7" name="Text 2"/>
          <p:cNvSpPr/>
          <p:nvPr/>
        </p:nvSpPr>
        <p:spPr>
          <a:xfrm>
            <a:off x="12639675" y="7239000"/>
            <a:ext cx="20859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36"/>
              </a:lnSpc>
              <a:buNone/>
            </a:pPr>
            <a:r>
              <a:rPr lang="en-US" sz="1462" dirty="0">
                <a:solidFill>
                  <a:srgbClr val="718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scope, timing or</a:t>
            </a:r>
            <a:endParaRPr lang="en-US" sz="1462" dirty="0"/>
          </a:p>
          <a:p>
            <a:pPr algn="l" indent="0" marL="0">
              <a:lnSpc>
                <a:spcPts val="1836"/>
              </a:lnSpc>
              <a:buNone/>
            </a:pPr>
            <a:r>
              <a:rPr lang="en-US" sz="1462" dirty="0">
                <a:solidFill>
                  <a:srgbClr val="718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changes</a:t>
            </a:r>
            <a:endParaRPr lang="en-US" sz="1462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1075" y="7353300"/>
            <a:ext cx="76200" cy="762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2639675" y="7000875"/>
            <a:ext cx="1276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5"/>
              </a:lnSpc>
              <a:buNone/>
            </a:pPr>
            <a:r>
              <a:rPr lang="en-US" sz="1460" dirty="0">
                <a:solidFill>
                  <a:srgbClr val="7382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items</a:t>
            </a:r>
            <a:endParaRPr lang="en-US" sz="146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11075" y="7086600"/>
            <a:ext cx="76200" cy="762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2649200" y="672465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6"/>
              </a:lnSpc>
              <a:buNone/>
            </a:pPr>
            <a:r>
              <a:rPr lang="en-US" sz="1389" dirty="0">
                <a:solidFill>
                  <a:srgbClr val="6E7D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Required items</a:t>
            </a:r>
            <a:endParaRPr lang="en-US" sz="1389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11075" y="6819900"/>
            <a:ext cx="76200" cy="762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2363450" y="6362700"/>
            <a:ext cx="20193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40"/>
              </a:lnSpc>
              <a:buNone/>
            </a:pPr>
            <a:r>
              <a:rPr lang="en-US" sz="1569" b="1" dirty="0">
                <a:solidFill>
                  <a:srgbClr val="3C53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attention</a:t>
            </a:r>
            <a:endParaRPr lang="en-US" sz="1569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63325" y="6334125"/>
            <a:ext cx="704850" cy="704850"/>
          </a:xfrm>
          <a:prstGeom prst="rect">
            <a:avLst/>
          </a:prstGeom>
        </p:spPr>
      </p:pic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34750" y="6153150"/>
            <a:ext cx="4124325" cy="66675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12649200" y="5695950"/>
            <a:ext cx="18573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2"/>
              </a:lnSpc>
              <a:buNone/>
            </a:pPr>
            <a:r>
              <a:rPr lang="en-US" sz="1404" dirty="0">
                <a:solidFill>
                  <a:srgbClr val="6F7E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owner / SMEs</a:t>
            </a:r>
            <a:endParaRPr lang="en-US" sz="1404" dirty="0"/>
          </a:p>
        </p:txBody>
      </p:sp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01550" y="5791200"/>
            <a:ext cx="76200" cy="66675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12649200" y="5438775"/>
            <a:ext cx="10953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1"/>
              </a:lnSpc>
              <a:buNone/>
            </a:pPr>
            <a:r>
              <a:rPr lang="en-US" sz="1381" dirty="0">
                <a:solidFill>
                  <a:srgbClr val="6B7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/ access</a:t>
            </a:r>
            <a:endParaRPr lang="en-US" sz="1381" dirty="0"/>
          </a:p>
        </p:txBody>
      </p:sp>
      <p:pic>
        <p:nvPicPr>
          <p:cNvPr id="1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01550" y="5524500"/>
            <a:ext cx="76200" cy="76200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12649200" y="5181600"/>
            <a:ext cx="7239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65"/>
              </a:lnSpc>
              <a:buNone/>
            </a:pPr>
            <a:r>
              <a:rPr lang="en-US" sz="1486" dirty="0">
                <a:solidFill>
                  <a:srgbClr val="707F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</a:t>
            </a:r>
            <a:endParaRPr lang="en-US" sz="1486" dirty="0"/>
          </a:p>
        </p:txBody>
      </p:sp>
      <p:pic>
        <p:nvPicPr>
          <p:cNvPr id="2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01550" y="5276850"/>
            <a:ext cx="76200" cy="66675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12353925" y="4819650"/>
            <a:ext cx="22098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38"/>
              </a:lnSpc>
              <a:buNone/>
            </a:pPr>
            <a:r>
              <a:rPr lang="en-US" sz="1574" b="1" dirty="0">
                <a:solidFill>
                  <a:srgbClr val="374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dependencies</a:t>
            </a:r>
            <a:endParaRPr lang="en-US" sz="1574" dirty="0"/>
          </a:p>
        </p:txBody>
      </p:sp>
      <p:pic>
        <p:nvPicPr>
          <p:cNvPr id="2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372850" y="4810125"/>
            <a:ext cx="685800" cy="704850"/>
          </a:xfrm>
          <a:prstGeom prst="rect">
            <a:avLst/>
          </a:prstGeom>
        </p:spPr>
      </p:pic>
      <p:pic>
        <p:nvPicPr>
          <p:cNvPr id="2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34750" y="4600575"/>
            <a:ext cx="4124325" cy="85725"/>
          </a:xfrm>
          <a:prstGeom prst="rect">
            <a:avLst/>
          </a:prstGeom>
        </p:spPr>
      </p:pic>
      <p:pic>
        <p:nvPicPr>
          <p:cNvPr id="2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401550" y="4305300"/>
            <a:ext cx="66675" cy="76200"/>
          </a:xfrm>
          <a:prstGeom prst="rect">
            <a:avLst/>
          </a:prstGeom>
        </p:spPr>
      </p:pic>
      <p:pic>
        <p:nvPicPr>
          <p:cNvPr id="2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401550" y="4048125"/>
            <a:ext cx="66675" cy="76200"/>
          </a:xfrm>
          <a:prstGeom prst="rect">
            <a:avLst/>
          </a:prstGeom>
        </p:spPr>
      </p:pic>
      <p:pic>
        <p:nvPicPr>
          <p:cNvPr id="2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401550" y="3790950"/>
            <a:ext cx="66675" cy="76200"/>
          </a:xfrm>
          <a:prstGeom prst="rect">
            <a:avLst/>
          </a:prstGeom>
        </p:spPr>
      </p:pic>
      <p:pic>
        <p:nvPicPr>
          <p:cNvPr id="2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53800" y="3343275"/>
            <a:ext cx="714375" cy="714375"/>
          </a:xfrm>
          <a:prstGeom prst="rect">
            <a:avLst/>
          </a:prstGeom>
        </p:spPr>
      </p:pic>
      <p:pic>
        <p:nvPicPr>
          <p:cNvPr id="2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44275" y="3171825"/>
            <a:ext cx="4114800" cy="66675"/>
          </a:xfrm>
          <a:prstGeom prst="rect">
            <a:avLst/>
          </a:prstGeom>
        </p:spPr>
      </p:pic>
      <p:pic>
        <p:nvPicPr>
          <p:cNvPr id="3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372850" y="2466975"/>
            <a:ext cx="647700" cy="666750"/>
          </a:xfrm>
          <a:prstGeom prst="rect">
            <a:avLst/>
          </a:prstGeom>
        </p:spPr>
      </p:pic>
      <p:sp>
        <p:nvSpPr>
          <p:cNvPr id="31" name="Text 10"/>
          <p:cNvSpPr/>
          <p:nvPr/>
        </p:nvSpPr>
        <p:spPr>
          <a:xfrm>
            <a:off x="12630150" y="4219575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1344" dirty="0">
                <a:solidFill>
                  <a:srgbClr val="6E7D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SME capacity</a:t>
            </a:r>
            <a:endParaRPr lang="en-US" sz="1344" dirty="0"/>
          </a:p>
        </p:txBody>
      </p:sp>
      <p:sp>
        <p:nvSpPr>
          <p:cNvPr id="32" name="Text 11"/>
          <p:cNvSpPr/>
          <p:nvPr/>
        </p:nvSpPr>
        <p:spPr>
          <a:xfrm>
            <a:off x="12639675" y="3971925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404" dirty="0">
                <a:solidFill>
                  <a:srgbClr val="6878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capacity</a:t>
            </a:r>
            <a:endParaRPr lang="en-US" sz="1404" dirty="0"/>
          </a:p>
        </p:txBody>
      </p:sp>
      <p:sp>
        <p:nvSpPr>
          <p:cNvPr id="33" name="Text 12"/>
          <p:cNvSpPr/>
          <p:nvPr/>
        </p:nvSpPr>
        <p:spPr>
          <a:xfrm>
            <a:off x="12639675" y="3705225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4"/>
              </a:lnSpc>
              <a:buNone/>
            </a:pPr>
            <a:r>
              <a:rPr lang="en-US" sz="1345" dirty="0">
                <a:solidFill>
                  <a:srgbClr val="758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FDE capacity</a:t>
            </a:r>
            <a:endParaRPr lang="en-US" sz="1345" dirty="0"/>
          </a:p>
        </p:txBody>
      </p:sp>
      <p:sp>
        <p:nvSpPr>
          <p:cNvPr id="34" name="Text 13"/>
          <p:cNvSpPr/>
          <p:nvPr/>
        </p:nvSpPr>
        <p:spPr>
          <a:xfrm>
            <a:off x="12344400" y="3381375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564" b="1" dirty="0">
                <a:solidFill>
                  <a:srgbClr val="3B5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</a:t>
            </a:r>
            <a:endParaRPr lang="en-US" sz="1564" dirty="0"/>
          </a:p>
        </p:txBody>
      </p:sp>
      <p:sp>
        <p:nvSpPr>
          <p:cNvPr id="35" name="Text 14"/>
          <p:cNvSpPr/>
          <p:nvPr/>
        </p:nvSpPr>
        <p:spPr>
          <a:xfrm>
            <a:off x="12211050" y="2628900"/>
            <a:ext cx="3267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3"/>
              </a:lnSpc>
              <a:buNone/>
            </a:pPr>
            <a:r>
              <a:rPr lang="en-US" sz="1762" b="1" dirty="0">
                <a:solidFill>
                  <a:srgbClr val="2D4C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Focus This Month</a:t>
            </a:r>
            <a:endParaRPr lang="en-US" sz="1762" dirty="0"/>
          </a:p>
        </p:txBody>
      </p:sp>
      <p:sp>
        <p:nvSpPr>
          <p:cNvPr id="36" name="Shape 15"/>
          <p:cNvSpPr/>
          <p:nvPr/>
        </p:nvSpPr>
        <p:spPr>
          <a:xfrm>
            <a:off x="333375" y="7258050"/>
            <a:ext cx="10715625" cy="819150"/>
          </a:xfrm>
          <a:prstGeom prst="roundRect">
            <a:avLst>
              <a:gd name="adj" fmla="val 9593"/>
            </a:avLst>
          </a:prstGeom>
          <a:solidFill>
            <a:srgbClr val="FBFDFC"/>
          </a:solidFill>
          <a:ln w="9525">
            <a:solidFill>
              <a:srgbClr val="E0F0E6"/>
            </a:solidFill>
            <a:prstDash val="solid"/>
          </a:ln>
        </p:spPr>
      </p:sp>
      <p:pic>
        <p:nvPicPr>
          <p:cNvPr id="3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52550" y="7448550"/>
            <a:ext cx="19050" cy="495300"/>
          </a:xfrm>
          <a:prstGeom prst="rect">
            <a:avLst/>
          </a:prstGeom>
        </p:spPr>
      </p:pic>
      <p:pic>
        <p:nvPicPr>
          <p:cNvPr id="3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7391400"/>
            <a:ext cx="609600" cy="619125"/>
          </a:xfrm>
          <a:prstGeom prst="rect">
            <a:avLst/>
          </a:prstGeom>
        </p:spPr>
      </p:pic>
      <p:sp>
        <p:nvSpPr>
          <p:cNvPr id="39" name="Text 16"/>
          <p:cNvSpPr/>
          <p:nvPr/>
        </p:nvSpPr>
        <p:spPr>
          <a:xfrm>
            <a:off x="1628775" y="7562850"/>
            <a:ext cx="92583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13"/>
              </a:lnSpc>
              <a:buNone/>
            </a:pPr>
            <a:r>
              <a:rPr lang="en-US" sz="1348" dirty="0">
                <a:solidFill>
                  <a:srgbClr val="6A7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Current commitments and capacity provide the context for deciding whether new Discovery should start now.</a:t>
            </a:r>
            <a:endParaRPr lang="en-US" sz="1348" dirty="0"/>
          </a:p>
        </p:txBody>
      </p:sp>
      <p:pic>
        <p:nvPicPr>
          <p:cNvPr id="40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04800" y="2286000"/>
            <a:ext cx="10763250" cy="4819650"/>
          </a:xfrm>
          <a:prstGeom prst="rect">
            <a:avLst/>
          </a:prstGeom>
        </p:spPr>
      </p:pic>
      <p:sp>
        <p:nvSpPr>
          <p:cNvPr id="41" name="Shape 17"/>
          <p:cNvSpPr/>
          <p:nvPr/>
        </p:nvSpPr>
        <p:spPr>
          <a:xfrm>
            <a:off x="6391275" y="6591300"/>
            <a:ext cx="1171575" cy="361950"/>
          </a:xfrm>
          <a:prstGeom prst="roundRect">
            <a:avLst>
              <a:gd name="adj" fmla="val 42105"/>
            </a:avLst>
          </a:prstGeom>
          <a:solidFill>
            <a:srgbClr val="E8EAEB"/>
          </a:solidFill>
          <a:ln/>
        </p:spPr>
      </p:sp>
      <p:pic>
        <p:nvPicPr>
          <p:cNvPr id="42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43675" y="6705600"/>
            <a:ext cx="133350" cy="133350"/>
          </a:xfrm>
          <a:prstGeom prst="rect">
            <a:avLst/>
          </a:prstGeom>
        </p:spPr>
      </p:pic>
      <p:sp>
        <p:nvSpPr>
          <p:cNvPr id="43" name="Text 18"/>
          <p:cNvSpPr/>
          <p:nvPr/>
        </p:nvSpPr>
        <p:spPr>
          <a:xfrm>
            <a:off x="6772275" y="6667500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7"/>
              </a:lnSpc>
              <a:buNone/>
            </a:pPr>
            <a:r>
              <a:rPr lang="en-US" sz="1249" dirty="0">
                <a:solidFill>
                  <a:srgbClr val="667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Hold</a:t>
            </a:r>
            <a:endParaRPr lang="en-US" sz="1249" dirty="0"/>
          </a:p>
        </p:txBody>
      </p:sp>
      <p:sp>
        <p:nvSpPr>
          <p:cNvPr id="44" name="Shape 19"/>
          <p:cNvSpPr/>
          <p:nvPr/>
        </p:nvSpPr>
        <p:spPr>
          <a:xfrm>
            <a:off x="4305300" y="6581775"/>
            <a:ext cx="1857375" cy="381000"/>
          </a:xfrm>
          <a:prstGeom prst="roundRect">
            <a:avLst>
              <a:gd name="adj" fmla="val 52500"/>
            </a:avLst>
          </a:prstGeom>
          <a:solidFill>
            <a:srgbClr val="FCDBDB"/>
          </a:solidFill>
          <a:ln w="9525">
            <a:solidFill>
              <a:srgbClr val="FDEAE9"/>
            </a:solidFill>
            <a:prstDash val="solid"/>
          </a:ln>
        </p:spPr>
      </p:sp>
      <p:pic>
        <p:nvPicPr>
          <p:cNvPr id="4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467225" y="6705600"/>
            <a:ext cx="133350" cy="133350"/>
          </a:xfrm>
          <a:prstGeom prst="rect">
            <a:avLst/>
          </a:prstGeom>
        </p:spPr>
      </p:pic>
      <p:sp>
        <p:nvSpPr>
          <p:cNvPr id="46" name="Text 20"/>
          <p:cNvSpPr/>
          <p:nvPr/>
        </p:nvSpPr>
        <p:spPr>
          <a:xfrm>
            <a:off x="4714875" y="6667500"/>
            <a:ext cx="12858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10" dirty="0">
                <a:solidFill>
                  <a:srgbClr val="A0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Required</a:t>
            </a:r>
            <a:endParaRPr lang="en-US" sz="1110" dirty="0"/>
          </a:p>
        </p:txBody>
      </p:sp>
      <p:sp>
        <p:nvSpPr>
          <p:cNvPr id="47" name="Shape 21"/>
          <p:cNvSpPr/>
          <p:nvPr/>
        </p:nvSpPr>
        <p:spPr>
          <a:xfrm>
            <a:off x="2867025" y="6581775"/>
            <a:ext cx="1200150" cy="371475"/>
          </a:xfrm>
          <a:prstGeom prst="roundRect">
            <a:avLst>
              <a:gd name="adj" fmla="val 46154"/>
            </a:avLst>
          </a:prstGeom>
          <a:solidFill>
            <a:srgbClr val="FCECBD"/>
          </a:solidFill>
          <a:ln w="9525">
            <a:solidFill>
              <a:srgbClr val="FDEFC7"/>
            </a:solidFill>
            <a:prstDash val="solid"/>
          </a:ln>
        </p:spPr>
      </p:sp>
      <p:pic>
        <p:nvPicPr>
          <p:cNvPr id="48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009900" y="6696075"/>
            <a:ext cx="133350" cy="142875"/>
          </a:xfrm>
          <a:prstGeom prst="rect">
            <a:avLst/>
          </a:prstGeom>
        </p:spPr>
      </p:pic>
      <p:sp>
        <p:nvSpPr>
          <p:cNvPr id="49" name="Text 22"/>
          <p:cNvSpPr/>
          <p:nvPr/>
        </p:nvSpPr>
        <p:spPr>
          <a:xfrm>
            <a:off x="3238500" y="6667500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1260" dirty="0">
                <a:solidFill>
                  <a:srgbClr val="8E67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</a:t>
            </a:r>
            <a:endParaRPr lang="en-US" sz="1260" dirty="0"/>
          </a:p>
        </p:txBody>
      </p:sp>
      <p:sp>
        <p:nvSpPr>
          <p:cNvPr id="50" name="Shape 23"/>
          <p:cNvSpPr/>
          <p:nvPr/>
        </p:nvSpPr>
        <p:spPr>
          <a:xfrm>
            <a:off x="1524000" y="6581775"/>
            <a:ext cx="1123950" cy="371475"/>
          </a:xfrm>
          <a:prstGeom prst="roundRect">
            <a:avLst>
              <a:gd name="adj" fmla="val 41026"/>
            </a:avLst>
          </a:prstGeom>
          <a:solidFill>
            <a:srgbClr val="DAF0DF"/>
          </a:solidFill>
          <a:ln w="9525">
            <a:solidFill>
              <a:srgbClr val="E5F3E8"/>
            </a:solidFill>
            <a:prstDash val="solid"/>
          </a:ln>
        </p:spPr>
      </p:sp>
      <p:pic>
        <p:nvPicPr>
          <p:cNvPr id="51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666875" y="6696075"/>
            <a:ext cx="133350" cy="142875"/>
          </a:xfrm>
          <a:prstGeom prst="rect">
            <a:avLst/>
          </a:prstGeom>
        </p:spPr>
      </p:pic>
      <p:sp>
        <p:nvSpPr>
          <p:cNvPr id="52" name="Text 24"/>
          <p:cNvSpPr/>
          <p:nvPr/>
        </p:nvSpPr>
        <p:spPr>
          <a:xfrm>
            <a:off x="1885950" y="6667500"/>
            <a:ext cx="628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84"/>
              </a:lnSpc>
              <a:buNone/>
            </a:pPr>
            <a:r>
              <a:rPr lang="en-US" sz="1162" dirty="0">
                <a:solidFill>
                  <a:srgbClr val="5C8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1162" dirty="0"/>
          </a:p>
        </p:txBody>
      </p:sp>
      <p:sp>
        <p:nvSpPr>
          <p:cNvPr id="53" name="Text 25"/>
          <p:cNvSpPr/>
          <p:nvPr/>
        </p:nvSpPr>
        <p:spPr>
          <a:xfrm>
            <a:off x="514350" y="6657975"/>
            <a:ext cx="8572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54"/>
              </a:lnSpc>
              <a:buNone/>
            </a:pPr>
            <a:r>
              <a:rPr lang="en-US" sz="1228" b="1" dirty="0">
                <a:solidFill>
                  <a:srgbClr val="6A79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key:</a:t>
            </a:r>
            <a:endParaRPr lang="en-US" sz="1228" dirty="0"/>
          </a:p>
        </p:txBody>
      </p:sp>
      <p:pic>
        <p:nvPicPr>
          <p:cNvPr id="54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66725" y="6419850"/>
            <a:ext cx="10439400" cy="66675"/>
          </a:xfrm>
          <a:prstGeom prst="rect">
            <a:avLst/>
          </a:prstGeom>
        </p:spPr>
      </p:pic>
      <p:pic>
        <p:nvPicPr>
          <p:cNvPr id="55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90525" y="3200400"/>
            <a:ext cx="10601325" cy="3143250"/>
          </a:xfrm>
          <a:prstGeom prst="rect">
            <a:avLst/>
          </a:prstGeom>
        </p:spPr>
      </p:pic>
      <p:sp>
        <p:nvSpPr>
          <p:cNvPr id="56" name="Shape 26"/>
          <p:cNvSpPr/>
          <p:nvPr/>
        </p:nvSpPr>
        <p:spPr>
          <a:xfrm>
            <a:off x="6086475" y="5676900"/>
            <a:ext cx="1181100" cy="409575"/>
          </a:xfrm>
          <a:prstGeom prst="roundRect">
            <a:avLst>
              <a:gd name="adj" fmla="val 44186"/>
            </a:avLst>
          </a:prstGeom>
          <a:solidFill>
            <a:srgbClr val="E8EBEC"/>
          </a:solidFill>
          <a:ln/>
        </p:spPr>
      </p:sp>
      <p:pic>
        <p:nvPicPr>
          <p:cNvPr id="57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219825" y="5800725"/>
            <a:ext cx="152400" cy="152400"/>
          </a:xfrm>
          <a:prstGeom prst="rect">
            <a:avLst/>
          </a:prstGeom>
        </p:spPr>
      </p:pic>
      <p:sp>
        <p:nvSpPr>
          <p:cNvPr id="58" name="Text 27"/>
          <p:cNvSpPr/>
          <p:nvPr/>
        </p:nvSpPr>
        <p:spPr>
          <a:xfrm>
            <a:off x="6467475" y="5772150"/>
            <a:ext cx="61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99"/>
              </a:lnSpc>
              <a:buNone/>
            </a:pPr>
            <a:r>
              <a:rPr lang="en-US" sz="1214" b="1" dirty="0">
                <a:solidFill>
                  <a:srgbClr val="627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Hold</a:t>
            </a:r>
            <a:endParaRPr lang="en-US" sz="1214" dirty="0"/>
          </a:p>
        </p:txBody>
      </p:sp>
      <p:sp>
        <p:nvSpPr>
          <p:cNvPr id="59" name="Text 28"/>
          <p:cNvSpPr/>
          <p:nvPr/>
        </p:nvSpPr>
        <p:spPr>
          <a:xfrm>
            <a:off x="4381500" y="5762625"/>
            <a:ext cx="3619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1383" dirty="0">
                <a:solidFill>
                  <a:srgbClr val="5F7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TBD</a:t>
            </a:r>
            <a:endParaRPr lang="en-US" sz="1383" dirty="0"/>
          </a:p>
        </p:txBody>
      </p:sp>
      <p:sp>
        <p:nvSpPr>
          <p:cNvPr id="60" name="Text 29"/>
          <p:cNvSpPr/>
          <p:nvPr/>
        </p:nvSpPr>
        <p:spPr>
          <a:xfrm>
            <a:off x="2305050" y="5753100"/>
            <a:ext cx="3619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1383" dirty="0">
                <a:solidFill>
                  <a:srgbClr val="6576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TBD</a:t>
            </a:r>
            <a:endParaRPr lang="en-US" sz="1383" dirty="0"/>
          </a:p>
        </p:txBody>
      </p:sp>
      <p:sp>
        <p:nvSpPr>
          <p:cNvPr id="61" name="Text 30"/>
          <p:cNvSpPr/>
          <p:nvPr/>
        </p:nvSpPr>
        <p:spPr>
          <a:xfrm>
            <a:off x="666750" y="5638800"/>
            <a:ext cx="1104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77"/>
              </a:lnSpc>
              <a:buNone/>
            </a:pPr>
            <a:r>
              <a:rPr lang="en-US" sz="1458" b="1" dirty="0">
                <a:solidFill>
                  <a:srgbClr val="5767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active</a:t>
            </a:r>
            <a:endParaRPr lang="en-US" sz="1458" dirty="0"/>
          </a:p>
          <a:p>
            <a:pPr algn="l" indent="0" marL="0">
              <a:lnSpc>
                <a:spcPts val="1777"/>
              </a:lnSpc>
              <a:buNone/>
            </a:pPr>
            <a:r>
              <a:rPr lang="en-US" sz="1458" b="1" dirty="0">
                <a:solidFill>
                  <a:srgbClr val="5767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initiative</a:t>
            </a:r>
            <a:endParaRPr lang="en-US" sz="1458" dirty="0"/>
          </a:p>
        </p:txBody>
      </p:sp>
      <p:sp>
        <p:nvSpPr>
          <p:cNvPr id="62" name="Shape 31"/>
          <p:cNvSpPr/>
          <p:nvPr/>
        </p:nvSpPr>
        <p:spPr>
          <a:xfrm>
            <a:off x="6076950" y="4857750"/>
            <a:ext cx="1209675" cy="428625"/>
          </a:xfrm>
          <a:prstGeom prst="roundRect">
            <a:avLst>
              <a:gd name="adj" fmla="val 46667"/>
            </a:avLst>
          </a:prstGeom>
          <a:solidFill>
            <a:srgbClr val="FCE8AF"/>
          </a:solidFill>
          <a:ln w="9525">
            <a:solidFill>
              <a:srgbClr val="FDEFC9"/>
            </a:solidFill>
            <a:prstDash val="solid"/>
          </a:ln>
        </p:spPr>
      </p:sp>
      <p:pic>
        <p:nvPicPr>
          <p:cNvPr id="63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219825" y="4991100"/>
            <a:ext cx="152400" cy="152400"/>
          </a:xfrm>
          <a:prstGeom prst="rect">
            <a:avLst/>
          </a:prstGeom>
        </p:spPr>
      </p:pic>
      <p:sp>
        <p:nvSpPr>
          <p:cNvPr id="64" name="Text 32"/>
          <p:cNvSpPr/>
          <p:nvPr/>
        </p:nvSpPr>
        <p:spPr>
          <a:xfrm>
            <a:off x="6448425" y="4962525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170" b="1" dirty="0">
                <a:solidFill>
                  <a:srgbClr val="916C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</a:t>
            </a:r>
            <a:endParaRPr lang="en-US" sz="1170" dirty="0"/>
          </a:p>
        </p:txBody>
      </p:sp>
      <p:sp>
        <p:nvSpPr>
          <p:cNvPr id="65" name="Text 33"/>
          <p:cNvSpPr/>
          <p:nvPr/>
        </p:nvSpPr>
        <p:spPr>
          <a:xfrm>
            <a:off x="4391025" y="4953000"/>
            <a:ext cx="9239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1530" dirty="0">
                <a:solidFill>
                  <a:srgbClr val="6F7E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confirm</a:t>
            </a:r>
            <a:endParaRPr lang="en-US" sz="1530" dirty="0"/>
          </a:p>
        </p:txBody>
      </p:sp>
      <p:sp>
        <p:nvSpPr>
          <p:cNvPr id="66" name="Text 34"/>
          <p:cNvSpPr/>
          <p:nvPr/>
        </p:nvSpPr>
        <p:spPr>
          <a:xfrm>
            <a:off x="2305050" y="4838700"/>
            <a:ext cx="1790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431" dirty="0">
                <a:solidFill>
                  <a:srgbClr val="5A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classification</a:t>
            </a:r>
            <a:endParaRPr lang="en-US" sz="1431" dirty="0"/>
          </a:p>
          <a:p>
            <a:pPr algn="l" indent="0" marL="0">
              <a:lnSpc>
                <a:spcPts val="1590"/>
              </a:lnSpc>
              <a:buNone/>
            </a:pPr>
            <a:r>
              <a:rPr lang="en-US" sz="1431" dirty="0">
                <a:solidFill>
                  <a:srgbClr val="5A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431" dirty="0"/>
          </a:p>
        </p:txBody>
      </p:sp>
      <p:sp>
        <p:nvSpPr>
          <p:cNvPr id="67" name="Text 35"/>
          <p:cNvSpPr/>
          <p:nvPr/>
        </p:nvSpPr>
        <p:spPr>
          <a:xfrm>
            <a:off x="666750" y="4943475"/>
            <a:ext cx="12477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6"/>
              </a:lnSpc>
              <a:buNone/>
            </a:pPr>
            <a:r>
              <a:rPr lang="en-US" sz="1312" b="1" dirty="0">
                <a:solidFill>
                  <a:srgbClr val="586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MRC Assistant</a:t>
            </a:r>
            <a:endParaRPr lang="en-US" sz="1312" dirty="0"/>
          </a:p>
        </p:txBody>
      </p:sp>
      <p:sp>
        <p:nvSpPr>
          <p:cNvPr id="68" name="Text 36"/>
          <p:cNvSpPr/>
          <p:nvPr/>
        </p:nvSpPr>
        <p:spPr>
          <a:xfrm>
            <a:off x="9791700" y="4086225"/>
            <a:ext cx="857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402" dirty="0">
                <a:solidFill>
                  <a:srgbClr val="65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steer</a:t>
            </a:r>
            <a:endParaRPr lang="en-US" sz="1402" dirty="0"/>
          </a:p>
        </p:txBody>
      </p:sp>
      <p:sp>
        <p:nvSpPr>
          <p:cNvPr id="69" name="Shape 37"/>
          <p:cNvSpPr/>
          <p:nvPr/>
        </p:nvSpPr>
        <p:spPr>
          <a:xfrm>
            <a:off x="6076950" y="4067175"/>
            <a:ext cx="1190625" cy="409575"/>
          </a:xfrm>
          <a:prstGeom prst="roundRect">
            <a:avLst>
              <a:gd name="adj" fmla="val 44186"/>
            </a:avLst>
          </a:prstGeom>
          <a:solidFill>
            <a:srgbClr val="D3ECD9"/>
          </a:solidFill>
          <a:ln w="9525">
            <a:solidFill>
              <a:srgbClr val="E2F2E5"/>
            </a:solidFill>
            <a:prstDash val="solid"/>
          </a:ln>
        </p:spPr>
      </p:sp>
      <p:pic>
        <p:nvPicPr>
          <p:cNvPr id="70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200775" y="4200525"/>
            <a:ext cx="152400" cy="142875"/>
          </a:xfrm>
          <a:prstGeom prst="rect">
            <a:avLst/>
          </a:prstGeom>
        </p:spPr>
      </p:pic>
      <p:sp>
        <p:nvSpPr>
          <p:cNvPr id="71" name="Text 38"/>
          <p:cNvSpPr/>
          <p:nvPr/>
        </p:nvSpPr>
        <p:spPr>
          <a:xfrm>
            <a:off x="6438900" y="4171950"/>
            <a:ext cx="657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17"/>
              </a:lnSpc>
              <a:buNone/>
            </a:pPr>
            <a:r>
              <a:rPr lang="en-US" sz="1162" b="1" dirty="0">
                <a:solidFill>
                  <a:srgbClr val="507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1162" dirty="0"/>
          </a:p>
        </p:txBody>
      </p:sp>
      <p:sp>
        <p:nvSpPr>
          <p:cNvPr id="72" name="Text 39"/>
          <p:cNvSpPr/>
          <p:nvPr/>
        </p:nvSpPr>
        <p:spPr>
          <a:xfrm>
            <a:off x="4381500" y="4010025"/>
            <a:ext cx="9810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88"/>
              </a:lnSpc>
              <a:buNone/>
            </a:pPr>
            <a:r>
              <a:rPr lang="en-US" sz="1448" dirty="0">
                <a:solidFill>
                  <a:srgbClr val="596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5 —</a:t>
            </a:r>
            <a:endParaRPr lang="en-US" sz="1448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48" dirty="0">
                <a:solidFill>
                  <a:srgbClr val="596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</a:t>
            </a:r>
            <a:endParaRPr lang="en-US" sz="1448" dirty="0"/>
          </a:p>
        </p:txBody>
      </p:sp>
      <p:sp>
        <p:nvSpPr>
          <p:cNvPr id="73" name="Text 40"/>
          <p:cNvSpPr/>
          <p:nvPr/>
        </p:nvSpPr>
        <p:spPr>
          <a:xfrm>
            <a:off x="2305050" y="4010025"/>
            <a:ext cx="15430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11"/>
              </a:lnSpc>
              <a:buNone/>
            </a:pPr>
            <a:r>
              <a:rPr lang="en-US" sz="1453" dirty="0">
                <a:solidFill>
                  <a:srgbClr val="6F7E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validation</a:t>
            </a:r>
            <a:endParaRPr lang="en-US" sz="1453" dirty="0"/>
          </a:p>
          <a:p>
            <a:pPr algn="l" indent="0" marL="0">
              <a:lnSpc>
                <a:spcPts val="1711"/>
              </a:lnSpc>
              <a:buNone/>
            </a:pPr>
            <a:r>
              <a:rPr lang="en-US" sz="1453" dirty="0">
                <a:solidFill>
                  <a:srgbClr val="6F7E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review</a:t>
            </a:r>
            <a:endParaRPr lang="en-US" sz="1453" dirty="0"/>
          </a:p>
        </p:txBody>
      </p:sp>
      <p:sp>
        <p:nvSpPr>
          <p:cNvPr id="74" name="Text 41"/>
          <p:cNvSpPr/>
          <p:nvPr/>
        </p:nvSpPr>
        <p:spPr>
          <a:xfrm>
            <a:off x="657225" y="4000500"/>
            <a:ext cx="1162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19"/>
              </a:lnSpc>
              <a:buNone/>
            </a:pPr>
            <a:r>
              <a:rPr lang="en-US" sz="1409" b="1" dirty="0">
                <a:solidFill>
                  <a:srgbClr val="506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Review</a:t>
            </a:r>
            <a:endParaRPr lang="en-US" sz="1409" dirty="0"/>
          </a:p>
          <a:p>
            <a:pPr algn="l" indent="0" marL="0">
              <a:lnSpc>
                <a:spcPts val="1719"/>
              </a:lnSpc>
              <a:buNone/>
            </a:pPr>
            <a:r>
              <a:rPr lang="en-US" sz="1409" b="1" dirty="0">
                <a:solidFill>
                  <a:srgbClr val="506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Assistant</a:t>
            </a:r>
            <a:endParaRPr lang="en-US" sz="1409" dirty="0"/>
          </a:p>
        </p:txBody>
      </p:sp>
      <p:sp>
        <p:nvSpPr>
          <p:cNvPr id="75" name="Text 42"/>
          <p:cNvSpPr/>
          <p:nvPr/>
        </p:nvSpPr>
        <p:spPr>
          <a:xfrm>
            <a:off x="2305050" y="3429000"/>
            <a:ext cx="781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1377" b="1" dirty="0">
                <a:solidFill>
                  <a:srgbClr val="4C66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377" dirty="0"/>
          </a:p>
        </p:txBody>
      </p:sp>
      <p:sp>
        <p:nvSpPr>
          <p:cNvPr id="76" name="Text 43"/>
          <p:cNvSpPr/>
          <p:nvPr/>
        </p:nvSpPr>
        <p:spPr>
          <a:xfrm>
            <a:off x="676275" y="3419475"/>
            <a:ext cx="7905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1489" b="1" dirty="0">
                <a:solidFill>
                  <a:srgbClr val="4F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Initiative</a:t>
            </a:r>
            <a:endParaRPr lang="en-US" sz="1489" dirty="0"/>
          </a:p>
        </p:txBody>
      </p:sp>
      <p:pic>
        <p:nvPicPr>
          <p:cNvPr id="77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85775" y="2438400"/>
            <a:ext cx="647700" cy="657225"/>
          </a:xfrm>
          <a:prstGeom prst="rect">
            <a:avLst/>
          </a:prstGeom>
        </p:spPr>
      </p:pic>
      <p:sp>
        <p:nvSpPr>
          <p:cNvPr id="78" name="Text 44"/>
          <p:cNvSpPr/>
          <p:nvPr/>
        </p:nvSpPr>
        <p:spPr>
          <a:xfrm>
            <a:off x="9772650" y="5762625"/>
            <a:ext cx="3714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67"/>
              </a:lnSpc>
              <a:buNone/>
            </a:pPr>
            <a:r>
              <a:rPr lang="en-US" sz="1419" dirty="0">
                <a:solidFill>
                  <a:srgbClr val="6F7D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TBD</a:t>
            </a:r>
            <a:endParaRPr lang="en-US" sz="1419" dirty="0"/>
          </a:p>
        </p:txBody>
      </p:sp>
      <p:sp>
        <p:nvSpPr>
          <p:cNvPr id="79" name="Text 45"/>
          <p:cNvSpPr/>
          <p:nvPr/>
        </p:nvSpPr>
        <p:spPr>
          <a:xfrm>
            <a:off x="7620000" y="5772150"/>
            <a:ext cx="361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27"/>
              </a:lnSpc>
              <a:buNone/>
            </a:pPr>
            <a:r>
              <a:rPr lang="en-US" sz="1383" dirty="0">
                <a:solidFill>
                  <a:srgbClr val="6F7E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TBD</a:t>
            </a:r>
            <a:endParaRPr lang="en-US" sz="1383" dirty="0"/>
          </a:p>
        </p:txBody>
      </p:sp>
      <p:sp>
        <p:nvSpPr>
          <p:cNvPr id="80" name="Text 46"/>
          <p:cNvSpPr/>
          <p:nvPr/>
        </p:nvSpPr>
        <p:spPr>
          <a:xfrm>
            <a:off x="9791700" y="4962525"/>
            <a:ext cx="857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433" dirty="0">
                <a:solidFill>
                  <a:srgbClr val="687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steer</a:t>
            </a:r>
            <a:endParaRPr lang="en-US" sz="1433" dirty="0"/>
          </a:p>
        </p:txBody>
      </p:sp>
      <p:sp>
        <p:nvSpPr>
          <p:cNvPr id="81" name="Text 47"/>
          <p:cNvSpPr/>
          <p:nvPr/>
        </p:nvSpPr>
        <p:spPr>
          <a:xfrm>
            <a:off x="7620000" y="4838700"/>
            <a:ext cx="129540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11"/>
              </a:lnSpc>
              <a:buNone/>
            </a:pPr>
            <a:r>
              <a:rPr lang="en-US" sz="1453" dirty="0">
                <a:solidFill>
                  <a:srgbClr val="57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stage /</a:t>
            </a:r>
            <a:endParaRPr lang="en-US" sz="1453" dirty="0"/>
          </a:p>
          <a:p>
            <a:pPr algn="l" indent="0" marL="0">
              <a:lnSpc>
                <a:spcPts val="1711"/>
              </a:lnSpc>
              <a:buNone/>
            </a:pPr>
            <a:r>
              <a:rPr lang="en-US" sz="1453" dirty="0">
                <a:solidFill>
                  <a:srgbClr val="57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milestone</a:t>
            </a:r>
            <a:endParaRPr lang="en-US" sz="1453" dirty="0"/>
          </a:p>
        </p:txBody>
      </p:sp>
      <p:sp>
        <p:nvSpPr>
          <p:cNvPr id="82" name="Text 48"/>
          <p:cNvSpPr/>
          <p:nvPr/>
        </p:nvSpPr>
        <p:spPr>
          <a:xfrm>
            <a:off x="7620000" y="4010025"/>
            <a:ext cx="158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32"/>
              </a:lnSpc>
              <a:buNone/>
            </a:pPr>
            <a:r>
              <a:rPr lang="en-US" sz="1459" dirty="0">
                <a:solidFill>
                  <a:srgbClr val="6878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 / vertical-slice</a:t>
            </a:r>
            <a:endParaRPr lang="en-US" sz="1459" dirty="0"/>
          </a:p>
          <a:p>
            <a:pPr algn="l" indent="0" marL="0">
              <a:lnSpc>
                <a:spcPts val="1732"/>
              </a:lnSpc>
              <a:buNone/>
            </a:pPr>
            <a:r>
              <a:rPr lang="en-US" sz="1459" dirty="0">
                <a:solidFill>
                  <a:srgbClr val="6878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1459" dirty="0"/>
          </a:p>
        </p:txBody>
      </p:sp>
      <p:sp>
        <p:nvSpPr>
          <p:cNvPr id="83" name="Text 49"/>
          <p:cNvSpPr/>
          <p:nvPr/>
        </p:nvSpPr>
        <p:spPr>
          <a:xfrm>
            <a:off x="9772650" y="3314700"/>
            <a:ext cx="82867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2"/>
              </a:lnSpc>
              <a:buNone/>
            </a:pPr>
            <a:r>
              <a:rPr lang="en-US" sz="1425" b="1" dirty="0">
                <a:solidFill>
                  <a:srgbClr val="4963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to</a:t>
            </a:r>
            <a:endParaRPr lang="en-US" sz="1425" dirty="0"/>
          </a:p>
          <a:p>
            <a:pPr algn="l" indent="0" marL="0">
              <a:lnSpc>
                <a:spcPts val="1542"/>
              </a:lnSpc>
              <a:buNone/>
            </a:pPr>
            <a:r>
              <a:rPr lang="en-US" sz="1425" b="1" dirty="0">
                <a:solidFill>
                  <a:srgbClr val="4963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Steer</a:t>
            </a:r>
            <a:endParaRPr lang="en-US" sz="1425" dirty="0"/>
          </a:p>
        </p:txBody>
      </p:sp>
      <p:sp>
        <p:nvSpPr>
          <p:cNvPr id="84" name="Text 50"/>
          <p:cNvSpPr/>
          <p:nvPr/>
        </p:nvSpPr>
        <p:spPr>
          <a:xfrm>
            <a:off x="7620000" y="3295650"/>
            <a:ext cx="13811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427" b="1" dirty="0">
                <a:solidFill>
                  <a:srgbClr val="4B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Evidence /</a:t>
            </a:r>
            <a:endParaRPr lang="en-US" sz="1427" dirty="0"/>
          </a:p>
          <a:p>
            <a:pPr algn="l" indent="0" marL="0">
              <a:lnSpc>
                <a:spcPts val="1627"/>
              </a:lnSpc>
              <a:buNone/>
            </a:pPr>
            <a:r>
              <a:rPr lang="en-US" sz="1427" b="1" dirty="0">
                <a:solidFill>
                  <a:srgbClr val="4B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427" dirty="0"/>
          </a:p>
        </p:txBody>
      </p:sp>
      <p:sp>
        <p:nvSpPr>
          <p:cNvPr id="85" name="Text 51"/>
          <p:cNvSpPr/>
          <p:nvPr/>
        </p:nvSpPr>
        <p:spPr>
          <a:xfrm>
            <a:off x="6086475" y="3429000"/>
            <a:ext cx="542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1357" b="1" dirty="0">
                <a:solidFill>
                  <a:srgbClr val="4D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357" dirty="0"/>
          </a:p>
        </p:txBody>
      </p:sp>
      <p:sp>
        <p:nvSpPr>
          <p:cNvPr id="86" name="Text 52"/>
          <p:cNvSpPr/>
          <p:nvPr/>
        </p:nvSpPr>
        <p:spPr>
          <a:xfrm>
            <a:off x="4381500" y="3419475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5"/>
              </a:lnSpc>
              <a:buNone/>
            </a:pPr>
            <a:r>
              <a:rPr lang="en-US" sz="1342" dirty="0">
                <a:solidFill>
                  <a:srgbClr val="4C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Current Stage</a:t>
            </a:r>
            <a:endParaRPr lang="en-US" sz="1342" dirty="0"/>
          </a:p>
        </p:txBody>
      </p:sp>
      <p:sp>
        <p:nvSpPr>
          <p:cNvPr id="87" name="Text 53"/>
          <p:cNvSpPr/>
          <p:nvPr/>
        </p:nvSpPr>
        <p:spPr>
          <a:xfrm>
            <a:off x="1343025" y="2590800"/>
            <a:ext cx="21717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1"/>
              </a:lnSpc>
              <a:buNone/>
            </a:pPr>
            <a:r>
              <a:rPr lang="en-US" sz="2237" b="1" dirty="0">
                <a:solidFill>
                  <a:srgbClr val="264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Portfolio</a:t>
            </a:r>
            <a:endParaRPr lang="en-US" sz="2237" dirty="0"/>
          </a:p>
        </p:txBody>
      </p:sp>
      <p:pic>
        <p:nvPicPr>
          <p:cNvPr id="88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0" y="171450"/>
            <a:ext cx="666750" cy="1104900"/>
          </a:xfrm>
          <a:prstGeom prst="rect">
            <a:avLst/>
          </a:prstGeom>
        </p:spPr>
      </p:pic>
      <p:sp>
        <p:nvSpPr>
          <p:cNvPr id="89" name="Shape 54"/>
          <p:cNvSpPr/>
          <p:nvPr/>
        </p:nvSpPr>
        <p:spPr>
          <a:xfrm>
            <a:off x="342900" y="1190625"/>
            <a:ext cx="15268575" cy="962025"/>
          </a:xfrm>
          <a:prstGeom prst="roundRect">
            <a:avLst>
              <a:gd name="adj" fmla="val 14851"/>
            </a:avLst>
          </a:prstGeom>
          <a:solidFill>
            <a:srgbClr val="FCFDFD"/>
          </a:solidFill>
          <a:ln/>
        </p:spPr>
      </p:sp>
      <p:pic>
        <p:nvPicPr>
          <p:cNvPr id="9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590675" y="1352550"/>
            <a:ext cx="19050" cy="647700"/>
          </a:xfrm>
          <a:prstGeom prst="rect">
            <a:avLst/>
          </a:prstGeom>
        </p:spPr>
      </p:pic>
      <p:pic>
        <p:nvPicPr>
          <p:cNvPr id="91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19125" y="1323975"/>
            <a:ext cx="704850" cy="704850"/>
          </a:xfrm>
          <a:prstGeom prst="rect">
            <a:avLst/>
          </a:prstGeom>
        </p:spPr>
      </p:pic>
      <p:sp>
        <p:nvSpPr>
          <p:cNvPr id="92" name="Text 55"/>
          <p:cNvSpPr/>
          <p:nvPr/>
        </p:nvSpPr>
        <p:spPr>
          <a:xfrm>
            <a:off x="1905000" y="1485900"/>
            <a:ext cx="1288732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38"/>
              </a:lnSpc>
              <a:buNone/>
            </a:pPr>
            <a:r>
              <a:rPr lang="en-US" sz="2072" b="1" dirty="0">
                <a:solidFill>
                  <a:srgbClr val="3B53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existing commitments and material constraints before deciding what new work should start.</a:t>
            </a:r>
            <a:endParaRPr lang="en-US" sz="2072" dirty="0"/>
          </a:p>
        </p:txBody>
      </p:sp>
      <p:sp>
        <p:nvSpPr>
          <p:cNvPr id="93" name="Shape 56"/>
          <p:cNvSpPr/>
          <p:nvPr/>
        </p:nvSpPr>
        <p:spPr>
          <a:xfrm>
            <a:off x="13039725" y="247650"/>
            <a:ext cx="2638425" cy="514350"/>
          </a:xfrm>
          <a:prstGeom prst="roundRect">
            <a:avLst>
              <a:gd name="adj" fmla="val 48148"/>
            </a:avLst>
          </a:prstGeom>
          <a:solidFill>
            <a:srgbClr val="C8E6CF"/>
          </a:solidFill>
          <a:ln w="9525">
            <a:solidFill>
              <a:srgbClr val="D4ECDA"/>
            </a:solidFill>
            <a:prstDash val="solid"/>
          </a:ln>
        </p:spPr>
      </p:sp>
      <p:pic>
        <p:nvPicPr>
          <p:cNvPr id="94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4001750" y="409575"/>
            <a:ext cx="19050" cy="209550"/>
          </a:xfrm>
          <a:prstGeom prst="rect">
            <a:avLst/>
          </a:prstGeom>
        </p:spPr>
      </p:pic>
      <p:sp>
        <p:nvSpPr>
          <p:cNvPr id="95" name="Text 57"/>
          <p:cNvSpPr/>
          <p:nvPr/>
        </p:nvSpPr>
        <p:spPr>
          <a:xfrm>
            <a:off x="14144625" y="381000"/>
            <a:ext cx="12668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73"/>
              </a:lnSpc>
              <a:buNone/>
            </a:pPr>
            <a:r>
              <a:rPr lang="en-US" sz="1458" b="1" dirty="0">
                <a:solidFill>
                  <a:srgbClr val="2D5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Steer</a:t>
            </a:r>
            <a:endParaRPr lang="en-US" sz="1458" dirty="0"/>
          </a:p>
        </p:txBody>
      </p:sp>
      <p:sp>
        <p:nvSpPr>
          <p:cNvPr id="96" name="Text 58"/>
          <p:cNvSpPr/>
          <p:nvPr/>
        </p:nvSpPr>
        <p:spPr>
          <a:xfrm>
            <a:off x="13335000" y="38100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568" b="1" dirty="0">
                <a:solidFill>
                  <a:srgbClr val="3F64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2</a:t>
            </a:r>
            <a:endParaRPr lang="en-US" sz="1568" dirty="0"/>
          </a:p>
        </p:txBody>
      </p:sp>
      <p:sp>
        <p:nvSpPr>
          <p:cNvPr id="97" name="Text 59"/>
          <p:cNvSpPr/>
          <p:nvPr/>
        </p:nvSpPr>
        <p:spPr>
          <a:xfrm>
            <a:off x="685800" y="352425"/>
            <a:ext cx="11649075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095" b="1" dirty="0">
                <a:solidFill>
                  <a:srgbClr val="193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Active Portfolio &amp; Capacity Context</a:t>
            </a:r>
            <a:endParaRPr lang="en-US" sz="4095" dirty="0"/>
          </a:p>
        </p:txBody>
      </p:sp>
      <p:pic>
        <p:nvPicPr>
          <p:cNvPr id="9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5640050" y="942975"/>
            <a:ext cx="276225" cy="7905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925800" cy="8963025"/>
          </a:xfrm>
          <a:prstGeom prst="rect">
            <a:avLst/>
          </a:prstGeom>
          <a:solidFill>
            <a:srgbClr val="E8F3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191375"/>
            <a:ext cx="15925800" cy="1752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23850" y="7229475"/>
            <a:ext cx="15278100" cy="742950"/>
          </a:xfrm>
          <a:prstGeom prst="roundRect">
            <a:avLst>
              <a:gd name="adj" fmla="val 11538"/>
            </a:avLst>
          </a:prstGeom>
          <a:solidFill>
            <a:srgbClr val="FBFCFB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7239000"/>
            <a:ext cx="695325" cy="685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43075" y="7410450"/>
            <a:ext cx="61722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58"/>
              </a:lnSpc>
              <a:buNone/>
            </a:pPr>
            <a:r>
              <a:rPr lang="en-US" sz="1875" b="1" dirty="0">
                <a:solidFill>
                  <a:srgbClr val="325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candidates need individual discussion today?</a:t>
            </a:r>
            <a:endParaRPr lang="en-US" sz="1875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77200"/>
            <a:ext cx="15925800" cy="72390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8229600"/>
            <a:ext cx="361950" cy="44767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419225" y="8305800"/>
            <a:ext cx="8629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4"/>
              </a:lnSpc>
              <a:buNone/>
            </a:pPr>
            <a:r>
              <a:rPr lang="en-US" sz="1699" b="1" dirty="0">
                <a:solidFill>
                  <a:srgbClr val="C5D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 creates comparable process/outcome briefs — not technology approvals.</a:t>
            </a:r>
            <a:endParaRPr lang="en-US" sz="1699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30275" y="7258050"/>
            <a:ext cx="2076450" cy="1562100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650" y="2514600"/>
            <a:ext cx="15420975" cy="4543425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13230225" y="6315075"/>
            <a:ext cx="2190750" cy="523875"/>
          </a:xfrm>
          <a:prstGeom prst="roundRect">
            <a:avLst>
              <a:gd name="adj" fmla="val 45455"/>
            </a:avLst>
          </a:prstGeom>
          <a:solidFill>
            <a:srgbClr val="E0E5E9"/>
          </a:solidFill>
          <a:ln/>
        </p:spPr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63575" y="6410325"/>
            <a:ext cx="323850" cy="32385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13877925" y="6457950"/>
            <a:ext cx="419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98"/>
              </a:lnSpc>
              <a:buNone/>
            </a:pPr>
            <a:r>
              <a:rPr lang="en-US" sz="1557" b="1" dirty="0">
                <a:solidFill>
                  <a:srgbClr val="4963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1557" dirty="0"/>
          </a:p>
        </p:txBody>
      </p:sp>
      <p:sp>
        <p:nvSpPr>
          <p:cNvPr id="15" name="Text 6"/>
          <p:cNvSpPr/>
          <p:nvPr/>
        </p:nvSpPr>
        <p:spPr>
          <a:xfrm>
            <a:off x="10677525" y="6429375"/>
            <a:ext cx="4095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17"/>
              </a:lnSpc>
              <a:buNone/>
            </a:pPr>
            <a:r>
              <a:rPr lang="en-US" sz="1564" dirty="0">
                <a:solidFill>
                  <a:srgbClr val="404C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TBD</a:t>
            </a:r>
            <a:endParaRPr lang="en-US" sz="1564" dirty="0"/>
          </a:p>
        </p:txBody>
      </p:sp>
      <p:sp>
        <p:nvSpPr>
          <p:cNvPr id="16" name="Text 7"/>
          <p:cNvSpPr/>
          <p:nvPr/>
        </p:nvSpPr>
        <p:spPr>
          <a:xfrm>
            <a:off x="8220075" y="6429375"/>
            <a:ext cx="400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1527" dirty="0">
                <a:solidFill>
                  <a:srgbClr val="525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TBD</a:t>
            </a:r>
            <a:endParaRPr lang="en-US" sz="1527" dirty="0"/>
          </a:p>
        </p:txBody>
      </p:sp>
      <p:sp>
        <p:nvSpPr>
          <p:cNvPr id="17" name="Text 8"/>
          <p:cNvSpPr/>
          <p:nvPr/>
        </p:nvSpPr>
        <p:spPr>
          <a:xfrm>
            <a:off x="5210175" y="6429375"/>
            <a:ext cx="400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4"/>
              </a:lnSpc>
              <a:buNone/>
            </a:pPr>
            <a:r>
              <a:rPr lang="en-US" sz="1528" dirty="0">
                <a:solidFill>
                  <a:srgbClr val="5562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TBD</a:t>
            </a:r>
            <a:endParaRPr lang="en-US" sz="1528" dirty="0"/>
          </a:p>
        </p:txBody>
      </p:sp>
      <p:sp>
        <p:nvSpPr>
          <p:cNvPr id="18" name="Text 9"/>
          <p:cNvSpPr/>
          <p:nvPr/>
        </p:nvSpPr>
        <p:spPr>
          <a:xfrm>
            <a:off x="3219450" y="6400800"/>
            <a:ext cx="895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545" dirty="0">
                <a:solidFill>
                  <a:srgbClr val="5260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IVT</a:t>
            </a:r>
            <a:endParaRPr lang="en-US" sz="1545" dirty="0"/>
          </a:p>
        </p:txBody>
      </p:sp>
      <p:sp>
        <p:nvSpPr>
          <p:cNvPr id="19" name="Text 10"/>
          <p:cNvSpPr/>
          <p:nvPr/>
        </p:nvSpPr>
        <p:spPr>
          <a:xfrm>
            <a:off x="571500" y="6448425"/>
            <a:ext cx="12192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620" b="1" dirty="0">
                <a:solidFill>
                  <a:srgbClr val="4966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4</a:t>
            </a:r>
            <a:endParaRPr lang="en-US" sz="1620" dirty="0"/>
          </a:p>
        </p:txBody>
      </p:sp>
      <p:sp>
        <p:nvSpPr>
          <p:cNvPr id="20" name="Shape 11"/>
          <p:cNvSpPr/>
          <p:nvPr/>
        </p:nvSpPr>
        <p:spPr>
          <a:xfrm>
            <a:off x="13230225" y="5543550"/>
            <a:ext cx="2190750" cy="514350"/>
          </a:xfrm>
          <a:prstGeom prst="roundRect">
            <a:avLst>
              <a:gd name="adj" fmla="val 42593"/>
            </a:avLst>
          </a:prstGeom>
          <a:solidFill>
            <a:srgbClr val="E0E5E9"/>
          </a:solidFill>
          <a:ln/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63575" y="5638800"/>
            <a:ext cx="323850" cy="32385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3877925" y="5686425"/>
            <a:ext cx="4095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61"/>
              </a:lnSpc>
              <a:buNone/>
            </a:pPr>
            <a:r>
              <a:rPr lang="en-US" sz="1509" b="1" dirty="0">
                <a:solidFill>
                  <a:srgbClr val="4660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1509" dirty="0"/>
          </a:p>
        </p:txBody>
      </p:sp>
      <p:sp>
        <p:nvSpPr>
          <p:cNvPr id="23" name="Text 13"/>
          <p:cNvSpPr/>
          <p:nvPr/>
        </p:nvSpPr>
        <p:spPr>
          <a:xfrm>
            <a:off x="10677525" y="5657850"/>
            <a:ext cx="400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1528" dirty="0">
                <a:solidFill>
                  <a:srgbClr val="4552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TBD</a:t>
            </a:r>
            <a:endParaRPr lang="en-US" sz="1528" dirty="0"/>
          </a:p>
        </p:txBody>
      </p:sp>
      <p:sp>
        <p:nvSpPr>
          <p:cNvPr id="24" name="Text 14"/>
          <p:cNvSpPr/>
          <p:nvPr/>
        </p:nvSpPr>
        <p:spPr>
          <a:xfrm>
            <a:off x="8220075" y="5657850"/>
            <a:ext cx="400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1528" dirty="0">
                <a:solidFill>
                  <a:srgbClr val="424F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TBD</a:t>
            </a:r>
            <a:endParaRPr lang="en-US" sz="1528" dirty="0"/>
          </a:p>
        </p:txBody>
      </p:sp>
      <p:sp>
        <p:nvSpPr>
          <p:cNvPr id="25" name="Text 15"/>
          <p:cNvSpPr/>
          <p:nvPr/>
        </p:nvSpPr>
        <p:spPr>
          <a:xfrm>
            <a:off x="5200650" y="5657850"/>
            <a:ext cx="400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4"/>
              </a:lnSpc>
              <a:buNone/>
            </a:pPr>
            <a:r>
              <a:rPr lang="en-US" sz="1528" dirty="0">
                <a:solidFill>
                  <a:srgbClr val="4955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TBD</a:t>
            </a:r>
            <a:endParaRPr lang="en-US" sz="1528" dirty="0"/>
          </a:p>
        </p:txBody>
      </p:sp>
      <p:sp>
        <p:nvSpPr>
          <p:cNvPr id="26" name="Text 16"/>
          <p:cNvSpPr/>
          <p:nvPr/>
        </p:nvSpPr>
        <p:spPr>
          <a:xfrm>
            <a:off x="3219450" y="5638800"/>
            <a:ext cx="8858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7"/>
              </a:lnSpc>
              <a:buNone/>
            </a:pPr>
            <a:r>
              <a:rPr lang="en-US" sz="1489" b="1" dirty="0">
                <a:solidFill>
                  <a:srgbClr val="4552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IVT</a:t>
            </a:r>
            <a:endParaRPr lang="en-US" sz="1489" dirty="0"/>
          </a:p>
        </p:txBody>
      </p:sp>
      <p:sp>
        <p:nvSpPr>
          <p:cNvPr id="27" name="Text 17"/>
          <p:cNvSpPr/>
          <p:nvPr/>
        </p:nvSpPr>
        <p:spPr>
          <a:xfrm>
            <a:off x="571500" y="5676900"/>
            <a:ext cx="12192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620" b="1" dirty="0">
                <a:solidFill>
                  <a:srgbClr val="4B68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3</a:t>
            </a:r>
            <a:endParaRPr lang="en-US" sz="1620" dirty="0"/>
          </a:p>
        </p:txBody>
      </p:sp>
      <p:sp>
        <p:nvSpPr>
          <p:cNvPr id="28" name="Shape 18"/>
          <p:cNvSpPr/>
          <p:nvPr/>
        </p:nvSpPr>
        <p:spPr>
          <a:xfrm>
            <a:off x="13230225" y="4495800"/>
            <a:ext cx="2247900" cy="695325"/>
          </a:xfrm>
          <a:prstGeom prst="roundRect">
            <a:avLst>
              <a:gd name="adj" fmla="val 45205"/>
            </a:avLst>
          </a:prstGeom>
          <a:solidFill>
            <a:srgbClr val="FCECB3"/>
          </a:solidFill>
          <a:ln w="9525">
            <a:solidFill>
              <a:srgbClr val="FCEEBC"/>
            </a:solidFill>
            <a:prstDash val="solid"/>
          </a:ln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73100" y="4695825"/>
            <a:ext cx="304800" cy="276225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13868400" y="4591050"/>
            <a:ext cx="14954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69"/>
              </a:lnSpc>
              <a:buNone/>
            </a:pPr>
            <a:r>
              <a:rPr lang="en-US" sz="1298" b="1" dirty="0">
                <a:solidFill>
                  <a:srgbClr val="403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capability</a:t>
            </a:r>
            <a:endParaRPr lang="en-US" sz="1298" dirty="0"/>
          </a:p>
          <a:p>
            <a:pPr algn="l" indent="0" marL="0">
              <a:lnSpc>
                <a:spcPts val="1469"/>
              </a:lnSpc>
              <a:buNone/>
            </a:pPr>
            <a:r>
              <a:rPr lang="en-US" sz="1298" b="1" dirty="0">
                <a:solidFill>
                  <a:srgbClr val="403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overlap</a:t>
            </a:r>
            <a:endParaRPr lang="en-US" sz="1298" dirty="0"/>
          </a:p>
        </p:txBody>
      </p:sp>
      <p:sp>
        <p:nvSpPr>
          <p:cNvPr id="31" name="Text 20"/>
          <p:cNvSpPr/>
          <p:nvPr/>
        </p:nvSpPr>
        <p:spPr>
          <a:xfrm>
            <a:off x="10677525" y="4610100"/>
            <a:ext cx="20478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68"/>
              </a:lnSpc>
              <a:buNone/>
            </a:pPr>
            <a:r>
              <a:rPr lang="en-US" sz="1568" dirty="0">
                <a:solidFill>
                  <a:srgbClr val="4D5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MRM Policy Chatbot +</a:t>
            </a:r>
            <a:endParaRPr lang="en-US" sz="1568" dirty="0"/>
          </a:p>
          <a:p>
            <a:pPr algn="l" indent="0" marL="0">
              <a:lnSpc>
                <a:spcPts val="1868"/>
              </a:lnSpc>
              <a:buNone/>
            </a:pPr>
            <a:r>
              <a:rPr lang="en-US" sz="1568" dirty="0">
                <a:solidFill>
                  <a:srgbClr val="4D5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tactical tool</a:t>
            </a:r>
            <a:endParaRPr lang="en-US" sz="1568" dirty="0"/>
          </a:p>
        </p:txBody>
      </p:sp>
      <p:sp>
        <p:nvSpPr>
          <p:cNvPr id="32" name="Text 21"/>
          <p:cNvSpPr/>
          <p:nvPr/>
        </p:nvSpPr>
        <p:spPr>
          <a:xfrm>
            <a:off x="8220075" y="4591050"/>
            <a:ext cx="1943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58"/>
              </a:lnSpc>
              <a:buNone/>
            </a:pPr>
            <a:r>
              <a:rPr lang="en-US" sz="1561" dirty="0">
                <a:solidFill>
                  <a:srgbClr val="535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confirm;</a:t>
            </a:r>
            <a:endParaRPr lang="en-US" sz="1561" dirty="0"/>
          </a:p>
          <a:p>
            <a:pPr algn="l" indent="0" marL="0">
              <a:lnSpc>
                <a:spcPts val="1758"/>
              </a:lnSpc>
              <a:buNone/>
            </a:pPr>
            <a:r>
              <a:rPr lang="en-US" sz="1561" dirty="0">
                <a:solidFill>
                  <a:srgbClr val="535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Edidiong / Guy SMEs</a:t>
            </a:r>
            <a:endParaRPr lang="en-US" sz="1561" dirty="0"/>
          </a:p>
        </p:txBody>
      </p:sp>
      <p:sp>
        <p:nvSpPr>
          <p:cNvPr id="33" name="Text 22"/>
          <p:cNvSpPr/>
          <p:nvPr/>
        </p:nvSpPr>
        <p:spPr>
          <a:xfrm>
            <a:off x="5219700" y="4486275"/>
            <a:ext cx="20955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4"/>
              </a:lnSpc>
              <a:buNone/>
            </a:pPr>
            <a:r>
              <a:rPr lang="en-US" sz="1582" dirty="0">
                <a:solidFill>
                  <a:srgbClr val="566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policy access;</a:t>
            </a:r>
            <a:endParaRPr lang="en-US" sz="1582" dirty="0"/>
          </a:p>
          <a:p>
            <a:pPr algn="l" indent="0" marL="0">
              <a:lnSpc>
                <a:spcPts val="1914"/>
              </a:lnSpc>
              <a:buNone/>
            </a:pPr>
            <a:r>
              <a:rPr lang="en-US" sz="1582" dirty="0">
                <a:solidFill>
                  <a:srgbClr val="566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repetitive SME</a:t>
            </a:r>
            <a:endParaRPr lang="en-US" sz="1582" dirty="0"/>
          </a:p>
          <a:p>
            <a:pPr algn="l" indent="0" marL="0">
              <a:lnSpc>
                <a:spcPts val="1914"/>
              </a:lnSpc>
              <a:buNone/>
            </a:pPr>
            <a:r>
              <a:rPr lang="en-US" sz="1582" dirty="0">
                <a:solidFill>
                  <a:srgbClr val="566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1582" dirty="0"/>
          </a:p>
        </p:txBody>
      </p:sp>
      <p:sp>
        <p:nvSpPr>
          <p:cNvPr id="34" name="Text 23"/>
          <p:cNvSpPr/>
          <p:nvPr/>
        </p:nvSpPr>
        <p:spPr>
          <a:xfrm>
            <a:off x="3228975" y="4733925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5"/>
              </a:lnSpc>
              <a:buNone/>
            </a:pPr>
            <a:r>
              <a:rPr lang="en-US" sz="1591" dirty="0">
                <a:solidFill>
                  <a:srgbClr val="4351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Matt / CBPM IVT</a:t>
            </a:r>
            <a:endParaRPr lang="en-US" sz="1591" dirty="0"/>
          </a:p>
        </p:txBody>
      </p:sp>
      <p:sp>
        <p:nvSpPr>
          <p:cNvPr id="35" name="Text 24"/>
          <p:cNvSpPr/>
          <p:nvPr/>
        </p:nvSpPr>
        <p:spPr>
          <a:xfrm>
            <a:off x="571500" y="4591050"/>
            <a:ext cx="18859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17"/>
              </a:lnSpc>
              <a:buNone/>
            </a:pPr>
            <a:r>
              <a:rPr lang="en-US" sz="1656" b="1" dirty="0">
                <a:solidFill>
                  <a:srgbClr val="3051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Policy &amp;</a:t>
            </a:r>
            <a:endParaRPr lang="en-US" sz="1656" dirty="0"/>
          </a:p>
          <a:p>
            <a:pPr algn="l" indent="0" marL="0">
              <a:lnSpc>
                <a:spcPts val="2117"/>
              </a:lnSpc>
              <a:buNone/>
            </a:pPr>
            <a:r>
              <a:rPr lang="en-US" sz="1656" b="1" dirty="0">
                <a:solidFill>
                  <a:srgbClr val="3051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Guidance Support</a:t>
            </a:r>
            <a:endParaRPr lang="en-US" sz="1656" dirty="0"/>
          </a:p>
        </p:txBody>
      </p:sp>
      <p:sp>
        <p:nvSpPr>
          <p:cNvPr id="36" name="Shape 25"/>
          <p:cNvSpPr/>
          <p:nvPr/>
        </p:nvSpPr>
        <p:spPr>
          <a:xfrm>
            <a:off x="13230225" y="3552825"/>
            <a:ext cx="2190750" cy="523875"/>
          </a:xfrm>
          <a:prstGeom prst="roundRect">
            <a:avLst>
              <a:gd name="adj" fmla="val 45455"/>
            </a:avLst>
          </a:prstGeom>
          <a:solidFill>
            <a:srgbClr val="D8EDDA"/>
          </a:solidFill>
          <a:ln/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63575" y="3648075"/>
            <a:ext cx="323850" cy="32385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13887450" y="3686175"/>
            <a:ext cx="13430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1388" b="1" dirty="0">
                <a:solidFill>
                  <a:srgbClr val="385E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for Steer</a:t>
            </a:r>
            <a:endParaRPr lang="en-US" sz="1388" dirty="0"/>
          </a:p>
        </p:txBody>
      </p:sp>
      <p:sp>
        <p:nvSpPr>
          <p:cNvPr id="39" name="Text 27"/>
          <p:cNvSpPr/>
          <p:nvPr/>
        </p:nvSpPr>
        <p:spPr>
          <a:xfrm>
            <a:off x="10677525" y="3571875"/>
            <a:ext cx="19812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575" dirty="0">
                <a:solidFill>
                  <a:srgbClr val="556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 and report</a:t>
            </a:r>
            <a:endParaRPr lang="en-US" sz="1575" dirty="0"/>
          </a:p>
          <a:p>
            <a:pPr algn="l" indent="0" marL="0">
              <a:lnSpc>
                <a:spcPts val="2063"/>
              </a:lnSpc>
              <a:buNone/>
            </a:pPr>
            <a:r>
              <a:rPr lang="en-US" sz="1575" dirty="0">
                <a:solidFill>
                  <a:srgbClr val="556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guidance</a:t>
            </a:r>
            <a:endParaRPr lang="en-US" sz="1575" dirty="0"/>
          </a:p>
        </p:txBody>
      </p:sp>
      <p:sp>
        <p:nvSpPr>
          <p:cNvPr id="40" name="Text 28"/>
          <p:cNvSpPr/>
          <p:nvPr/>
        </p:nvSpPr>
        <p:spPr>
          <a:xfrm>
            <a:off x="8220075" y="3543300"/>
            <a:ext cx="15335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59"/>
              </a:lnSpc>
              <a:buNone/>
            </a:pPr>
            <a:r>
              <a:rPr lang="en-US" sz="1584" dirty="0">
                <a:solidFill>
                  <a:srgbClr val="4D5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confirm;</a:t>
            </a:r>
            <a:endParaRPr lang="en-US" sz="1584" dirty="0"/>
          </a:p>
          <a:p>
            <a:pPr algn="l" indent="0" marL="0">
              <a:lnSpc>
                <a:spcPts val="1859"/>
              </a:lnSpc>
              <a:buNone/>
            </a:pPr>
            <a:r>
              <a:rPr lang="en-US" sz="1584" dirty="0">
                <a:solidFill>
                  <a:srgbClr val="4D5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Cheng proposed</a:t>
            </a:r>
            <a:endParaRPr lang="en-US" sz="1584" dirty="0"/>
          </a:p>
        </p:txBody>
      </p:sp>
      <p:sp>
        <p:nvSpPr>
          <p:cNvPr id="41" name="Text 29"/>
          <p:cNvSpPr/>
          <p:nvPr/>
        </p:nvSpPr>
        <p:spPr>
          <a:xfrm>
            <a:off x="5181600" y="3448050"/>
            <a:ext cx="23050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90" dirty="0">
                <a:solidFill>
                  <a:srgbClr val="5D68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drafting effort;</a:t>
            </a:r>
            <a:endParaRPr lang="en-US" sz="1590" dirty="0"/>
          </a:p>
          <a:p>
            <a:pPr algn="l" indent="0" marL="0">
              <a:lnSpc>
                <a:spcPts val="1969"/>
              </a:lnSpc>
              <a:buNone/>
            </a:pPr>
            <a:r>
              <a:rPr lang="en-US" sz="1590" dirty="0">
                <a:solidFill>
                  <a:srgbClr val="5D68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consistency and</a:t>
            </a:r>
            <a:endParaRPr lang="en-US" sz="1590" dirty="0"/>
          </a:p>
          <a:p>
            <a:pPr algn="l" indent="0" marL="0">
              <a:lnSpc>
                <a:spcPts val="1969"/>
              </a:lnSpc>
              <a:buNone/>
            </a:pPr>
            <a:r>
              <a:rPr lang="en-US" sz="1590" dirty="0">
                <a:solidFill>
                  <a:srgbClr val="5D68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guidance use</a:t>
            </a:r>
            <a:endParaRPr lang="en-US" sz="1590" dirty="0"/>
          </a:p>
        </p:txBody>
      </p:sp>
      <p:sp>
        <p:nvSpPr>
          <p:cNvPr id="42" name="Text 30"/>
          <p:cNvSpPr/>
          <p:nvPr/>
        </p:nvSpPr>
        <p:spPr>
          <a:xfrm>
            <a:off x="3228975" y="3629025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1591" dirty="0">
                <a:solidFill>
                  <a:srgbClr val="4C5A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Matt / CBPM IVT</a:t>
            </a:r>
            <a:endParaRPr lang="en-US" sz="1591" dirty="0"/>
          </a:p>
        </p:txBody>
      </p:sp>
      <p:sp>
        <p:nvSpPr>
          <p:cNvPr id="43" name="Text 31"/>
          <p:cNvSpPr/>
          <p:nvPr/>
        </p:nvSpPr>
        <p:spPr>
          <a:xfrm>
            <a:off x="571500" y="3524250"/>
            <a:ext cx="2114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6"/>
              </a:lnSpc>
              <a:buNone/>
            </a:pPr>
            <a:r>
              <a:rPr lang="en-US" sz="1690" b="1" dirty="0">
                <a:solidFill>
                  <a:srgbClr val="3959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 Report Drafting &amp;</a:t>
            </a:r>
            <a:endParaRPr lang="en-US" sz="1690" dirty="0"/>
          </a:p>
          <a:p>
            <a:pPr algn="l" indent="0" marL="0">
              <a:lnSpc>
                <a:spcPts val="2026"/>
              </a:lnSpc>
              <a:buNone/>
            </a:pPr>
            <a:r>
              <a:rPr lang="en-US" sz="1690" b="1" dirty="0">
                <a:solidFill>
                  <a:srgbClr val="3959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Review</a:t>
            </a:r>
            <a:endParaRPr lang="en-US" sz="1690" dirty="0"/>
          </a:p>
        </p:txBody>
      </p:sp>
      <p:sp>
        <p:nvSpPr>
          <p:cNvPr id="44" name="Text 32"/>
          <p:cNvSpPr/>
          <p:nvPr/>
        </p:nvSpPr>
        <p:spPr>
          <a:xfrm>
            <a:off x="10687050" y="2743200"/>
            <a:ext cx="15049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80"/>
              </a:lnSpc>
              <a:buNone/>
            </a:pPr>
            <a:r>
              <a:rPr lang="en-US" sz="1594" b="1" dirty="0">
                <a:solidFill>
                  <a:srgbClr val="3457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Work /</a:t>
            </a:r>
            <a:endParaRPr lang="en-US" sz="1594" dirty="0"/>
          </a:p>
          <a:p>
            <a:pPr algn="l" indent="0" marL="0">
              <a:lnSpc>
                <a:spcPts val="1780"/>
              </a:lnSpc>
              <a:buNone/>
            </a:pPr>
            <a:r>
              <a:rPr lang="en-US" sz="1594" b="1" dirty="0">
                <a:solidFill>
                  <a:srgbClr val="3457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</a:t>
            </a:r>
            <a:endParaRPr lang="en-US" sz="1594" dirty="0"/>
          </a:p>
        </p:txBody>
      </p:sp>
      <p:sp>
        <p:nvSpPr>
          <p:cNvPr id="45" name="Text 33"/>
          <p:cNvSpPr/>
          <p:nvPr/>
        </p:nvSpPr>
        <p:spPr>
          <a:xfrm>
            <a:off x="8210550" y="2733675"/>
            <a:ext cx="1714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1"/>
              </a:lnSpc>
              <a:buNone/>
            </a:pPr>
            <a:r>
              <a:rPr lang="en-US" sz="1492" b="1" dirty="0">
                <a:solidFill>
                  <a:srgbClr val="3357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Process</a:t>
            </a:r>
            <a:endParaRPr lang="en-US" sz="1492" dirty="0"/>
          </a:p>
          <a:p>
            <a:pPr algn="l" indent="0" marL="0">
              <a:lnSpc>
                <a:spcPts val="1601"/>
              </a:lnSpc>
              <a:buNone/>
            </a:pPr>
            <a:r>
              <a:rPr lang="en-US" sz="1492" b="1" dirty="0">
                <a:solidFill>
                  <a:srgbClr val="3357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1492" dirty="0"/>
          </a:p>
        </p:txBody>
      </p:sp>
      <p:sp>
        <p:nvSpPr>
          <p:cNvPr id="46" name="Text 34"/>
          <p:cNvSpPr/>
          <p:nvPr/>
        </p:nvSpPr>
        <p:spPr>
          <a:xfrm>
            <a:off x="3200400" y="2895600"/>
            <a:ext cx="1352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6"/>
              </a:lnSpc>
              <a:buNone/>
            </a:pPr>
            <a:r>
              <a:rPr lang="en-US" sz="1528" b="1" dirty="0">
                <a:solidFill>
                  <a:srgbClr val="3055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/ Team</a:t>
            </a:r>
            <a:endParaRPr lang="en-US" sz="1528" dirty="0"/>
          </a:p>
        </p:txBody>
      </p:sp>
      <p:sp>
        <p:nvSpPr>
          <p:cNvPr id="47" name="Text 35"/>
          <p:cNvSpPr/>
          <p:nvPr/>
        </p:nvSpPr>
        <p:spPr>
          <a:xfrm>
            <a:off x="561975" y="2733675"/>
            <a:ext cx="19431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9"/>
              </a:lnSpc>
              <a:buNone/>
            </a:pPr>
            <a:r>
              <a:rPr lang="en-US" sz="1543" b="1" dirty="0">
                <a:solidFill>
                  <a:srgbClr val="486A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Process /</a:t>
            </a:r>
            <a:endParaRPr lang="en-US" sz="1543" dirty="0"/>
          </a:p>
          <a:p>
            <a:pPr algn="l" indent="0" marL="0">
              <a:lnSpc>
                <a:spcPts val="1919"/>
              </a:lnSpc>
              <a:buNone/>
            </a:pPr>
            <a:r>
              <a:rPr lang="en-US" sz="1543" b="1" dirty="0">
                <a:solidFill>
                  <a:srgbClr val="486A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543" dirty="0"/>
          </a:p>
        </p:txBody>
      </p:sp>
      <p:sp>
        <p:nvSpPr>
          <p:cNvPr id="48" name="Text 36"/>
          <p:cNvSpPr/>
          <p:nvPr/>
        </p:nvSpPr>
        <p:spPr>
          <a:xfrm>
            <a:off x="13306425" y="2895600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38"/>
              </a:lnSpc>
              <a:buNone/>
            </a:pPr>
            <a:r>
              <a:rPr lang="en-US" sz="1573" b="1" dirty="0">
                <a:solidFill>
                  <a:srgbClr val="3A5C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 Intake View</a:t>
            </a:r>
            <a:endParaRPr lang="en-US" sz="1573" dirty="0"/>
          </a:p>
        </p:txBody>
      </p:sp>
      <p:sp>
        <p:nvSpPr>
          <p:cNvPr id="49" name="Text 37"/>
          <p:cNvSpPr/>
          <p:nvPr/>
        </p:nvSpPr>
        <p:spPr>
          <a:xfrm>
            <a:off x="5153025" y="2895600"/>
            <a:ext cx="25050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1460" b="1" dirty="0">
                <a:solidFill>
                  <a:srgbClr val="365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/ Desired Outcome</a:t>
            </a:r>
            <a:endParaRPr lang="en-US" sz="1460" dirty="0"/>
          </a:p>
        </p:txBody>
      </p:sp>
      <p:sp>
        <p:nvSpPr>
          <p:cNvPr id="50" name="Shape 38"/>
          <p:cNvSpPr/>
          <p:nvPr/>
        </p:nvSpPr>
        <p:spPr>
          <a:xfrm>
            <a:off x="247650" y="1390650"/>
            <a:ext cx="15430500" cy="1047750"/>
          </a:xfrm>
          <a:prstGeom prst="rect">
            <a:avLst/>
          </a:prstGeom>
          <a:solidFill>
            <a:srgbClr val="FCFCFB"/>
          </a:solidFill>
          <a:ln w="9525">
            <a:solidFill>
              <a:srgbClr val="DFEAE2"/>
            </a:solidFill>
            <a:prstDash val="solid"/>
          </a:ln>
        </p:spPr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1495425"/>
            <a:ext cx="895350" cy="885825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1905000" y="1695450"/>
            <a:ext cx="133445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04"/>
              </a:lnSpc>
              <a:buNone/>
            </a:pPr>
            <a:r>
              <a:rPr lang="en-US" sz="2058" b="1" dirty="0">
                <a:solidFill>
                  <a:srgbClr val="3B5E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candidates have passed lightweight intake and are ready for Leadership consideration or routing.</a:t>
            </a:r>
            <a:endParaRPr lang="en-US" sz="2058" dirty="0"/>
          </a:p>
        </p:txBody>
      </p:sp>
      <p:sp>
        <p:nvSpPr>
          <p:cNvPr id="53" name="Shape 40"/>
          <p:cNvSpPr/>
          <p:nvPr/>
        </p:nvSpPr>
        <p:spPr>
          <a:xfrm>
            <a:off x="12830175" y="428625"/>
            <a:ext cx="2771775" cy="514350"/>
          </a:xfrm>
          <a:prstGeom prst="roundRect">
            <a:avLst>
              <a:gd name="adj" fmla="val 42593"/>
            </a:avLst>
          </a:prstGeom>
          <a:solidFill>
            <a:srgbClr val="CAE3CE"/>
          </a:solidFill>
          <a:ln/>
        </p:spPr>
      </p:sp>
      <p:sp>
        <p:nvSpPr>
          <p:cNvPr id="54" name="Text 41"/>
          <p:cNvSpPr/>
          <p:nvPr/>
        </p:nvSpPr>
        <p:spPr>
          <a:xfrm>
            <a:off x="13049250" y="542925"/>
            <a:ext cx="2324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73"/>
              </a:lnSpc>
              <a:buNone/>
            </a:pPr>
            <a:r>
              <a:rPr lang="en-US" sz="1736" b="1" dirty="0">
                <a:solidFill>
                  <a:srgbClr val="2B5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2 | Monthly Steer</a:t>
            </a:r>
            <a:endParaRPr lang="en-US" sz="1736" dirty="0"/>
          </a:p>
        </p:txBody>
      </p:sp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85725"/>
            <a:ext cx="781050" cy="1228725"/>
          </a:xfrm>
          <a:prstGeom prst="rect">
            <a:avLst/>
          </a:prstGeom>
        </p:spPr>
      </p:pic>
      <p:sp>
        <p:nvSpPr>
          <p:cNvPr id="56" name="Text 42"/>
          <p:cNvSpPr/>
          <p:nvPr/>
        </p:nvSpPr>
        <p:spPr>
          <a:xfrm>
            <a:off x="990600" y="485775"/>
            <a:ext cx="113252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997" b="1" dirty="0">
                <a:solidFill>
                  <a:srgbClr val="1740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Candidate Backlog — Stage 1 Outcomes</a:t>
            </a:r>
            <a:endParaRPr lang="en-US" sz="399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25800" cy="840105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34375"/>
            <a:ext cx="15925800" cy="6286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420975" y="8553450"/>
            <a:ext cx="1143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1200" dirty="0">
                <a:solidFill>
                  <a:srgbClr val="9DB2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7125" y="8515350"/>
            <a:ext cx="19050" cy="2667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2344400" y="8534400"/>
            <a:ext cx="2495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1030" dirty="0">
                <a:solidFill>
                  <a:srgbClr val="87A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MRO FDE / Tech &amp; Tooling Monthly Steer</a:t>
            </a:r>
            <a:endParaRPr lang="en-US" sz="1030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6750" y="8505825"/>
            <a:ext cx="28575" cy="28575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971550" y="8534400"/>
            <a:ext cx="94678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33" dirty="0">
                <a:solidFill>
                  <a:srgbClr val="8AA5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the proposed AI assistant as a solution hypothesis; Discovery first validates the reporting process, requirements and opportunities.</a:t>
            </a:r>
            <a:endParaRPr lang="en-US" sz="1133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575" y="8496300"/>
            <a:ext cx="390525" cy="295275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8029575" y="4962525"/>
            <a:ext cx="7543800" cy="2295525"/>
          </a:xfrm>
          <a:prstGeom prst="roundRect">
            <a:avLst>
              <a:gd name="adj" fmla="val 11618"/>
            </a:avLst>
          </a:prstGeom>
          <a:solidFill>
            <a:srgbClr val="FDFDFD"/>
          </a:solidFill>
          <a:ln/>
        </p:spPr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3575" y="6629400"/>
            <a:ext cx="95250" cy="95250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3575" y="6305550"/>
            <a:ext cx="95250" cy="95250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3575" y="5981700"/>
            <a:ext cx="95250" cy="95250"/>
          </a:xfrm>
          <a:prstGeom prst="rect">
            <a:avLst/>
          </a:prstGeom>
        </p:spPr>
      </p:pic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3575" y="5657850"/>
            <a:ext cx="95250" cy="95250"/>
          </a:xfrm>
          <a:prstGeom prst="rect">
            <a:avLst/>
          </a:prstGeom>
        </p:spPr>
      </p:pic>
      <p:pic>
        <p:nvPicPr>
          <p:cNvPr id="1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5800" y="5181600"/>
            <a:ext cx="923925" cy="923925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>
            <a:off x="9867900" y="6505575"/>
            <a:ext cx="472440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90" dirty="0">
                <a:solidFill>
                  <a:srgbClr val="5B5E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FDE consideration: assess MRO / M365 capability</a:t>
            </a:r>
            <a:endParaRPr lang="en-US" sz="159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90" dirty="0">
                <a:solidFill>
                  <a:srgbClr val="5B5E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new build</a:t>
            </a:r>
            <a:endParaRPr lang="en-US" sz="1590" dirty="0"/>
          </a:p>
        </p:txBody>
      </p:sp>
      <p:sp>
        <p:nvSpPr>
          <p:cNvPr id="17" name="Text 5"/>
          <p:cNvSpPr/>
          <p:nvPr/>
        </p:nvSpPr>
        <p:spPr>
          <a:xfrm>
            <a:off x="9867900" y="6210300"/>
            <a:ext cx="31908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81"/>
              </a:lnSpc>
              <a:buNone/>
            </a:pPr>
            <a:r>
              <a:rPr lang="en-US" sz="1636" dirty="0">
                <a:solidFill>
                  <a:srgbClr val="626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related reporting material</a:t>
            </a:r>
            <a:endParaRPr lang="en-US" sz="1636" dirty="0"/>
          </a:p>
        </p:txBody>
      </p:sp>
      <p:sp>
        <p:nvSpPr>
          <p:cNvPr id="18" name="Text 6"/>
          <p:cNvSpPr/>
          <p:nvPr/>
        </p:nvSpPr>
        <p:spPr>
          <a:xfrm>
            <a:off x="9867900" y="5895975"/>
            <a:ext cx="2495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83" dirty="0">
                <a:solidFill>
                  <a:srgbClr val="595C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 report-writing guidance</a:t>
            </a:r>
            <a:endParaRPr lang="en-US" sz="1583" dirty="0"/>
          </a:p>
        </p:txBody>
      </p:sp>
      <p:sp>
        <p:nvSpPr>
          <p:cNvPr id="19" name="Text 7"/>
          <p:cNvSpPr/>
          <p:nvPr/>
        </p:nvSpPr>
        <p:spPr>
          <a:xfrm>
            <a:off x="9867900" y="5562600"/>
            <a:ext cx="19907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52" dirty="0">
                <a:solidFill>
                  <a:srgbClr val="5D6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IV templates</a:t>
            </a:r>
            <a:endParaRPr lang="en-US" sz="1552" dirty="0"/>
          </a:p>
        </p:txBody>
      </p:sp>
      <p:sp>
        <p:nvSpPr>
          <p:cNvPr id="20" name="Text 8"/>
          <p:cNvSpPr/>
          <p:nvPr/>
        </p:nvSpPr>
        <p:spPr>
          <a:xfrm>
            <a:off x="9544050" y="5143500"/>
            <a:ext cx="34861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13" b="1" dirty="0">
                <a:solidFill>
                  <a:srgbClr val="2B3D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Capability Identified</a:t>
            </a:r>
            <a:endParaRPr lang="en-US" sz="1913" dirty="0"/>
          </a:p>
        </p:txBody>
      </p:sp>
      <p:sp>
        <p:nvSpPr>
          <p:cNvPr id="21" name="Shape 9"/>
          <p:cNvSpPr/>
          <p:nvPr/>
        </p:nvSpPr>
        <p:spPr>
          <a:xfrm>
            <a:off x="419100" y="7448550"/>
            <a:ext cx="15144750" cy="847725"/>
          </a:xfrm>
          <a:prstGeom prst="roundRect">
            <a:avLst>
              <a:gd name="adj" fmla="val 6742"/>
            </a:avLst>
          </a:prstGeom>
          <a:solidFill>
            <a:srgbClr val="E3F5E7"/>
          </a:solidFill>
          <a:ln w="9525">
            <a:solidFill>
              <a:srgbClr val="D7EEE2"/>
            </a:solidFill>
            <a:prstDash val="solid"/>
          </a:ln>
        </p:spPr>
      </p:sp>
      <p:pic>
        <p:nvPicPr>
          <p:cNvPr id="2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225" y="7524750"/>
            <a:ext cx="685800" cy="695325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1619250" y="7591425"/>
            <a:ext cx="1193482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33" b="1" dirty="0">
                <a:solidFill>
                  <a:srgbClr val="344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FDE Intake View:</a:t>
            </a:r>
            <a:pPr algn="l" indent="0" marL="0">
              <a:lnSpc>
                <a:spcPts val="2550"/>
              </a:lnSpc>
              <a:buNone/>
            </a:pPr>
            <a:r>
              <a:rPr lang="en-US" sz="1627" dirty="0">
                <a:solidFill>
                  <a:srgbClr val="4C61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Ready for Stage 2 prioritisation. If prioritised, Discovery should understand where report-writing effort,</a:t>
            </a:r>
            <a:endParaRPr lang="en-US" sz="1627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627" dirty="0">
                <a:solidFill>
                  <a:srgbClr val="4C61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inconsistency and guidance-use issues arise before confirming the appropriate intervention.</a:t>
            </a:r>
            <a:endParaRPr lang="en-US" sz="1627" dirty="0"/>
          </a:p>
        </p:txBody>
      </p:sp>
      <p:pic>
        <p:nvPicPr>
          <p:cNvPr id="2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944725" y="6715125"/>
            <a:ext cx="838200" cy="1123950"/>
          </a:xfrm>
          <a:prstGeom prst="rect">
            <a:avLst/>
          </a:prstGeom>
        </p:spPr>
      </p:pic>
      <p:sp>
        <p:nvSpPr>
          <p:cNvPr id="25" name="Shape 11"/>
          <p:cNvSpPr/>
          <p:nvPr/>
        </p:nvSpPr>
        <p:spPr>
          <a:xfrm>
            <a:off x="361950" y="4953000"/>
            <a:ext cx="7543800" cy="2295525"/>
          </a:xfrm>
          <a:prstGeom prst="roundRect">
            <a:avLst>
              <a:gd name="adj" fmla="val 12033"/>
            </a:avLst>
          </a:prstGeom>
          <a:solidFill>
            <a:srgbClr val="FDFDFD"/>
          </a:solidFill>
          <a:ln w="9525">
            <a:solidFill>
              <a:srgbClr val="FAFDFB"/>
            </a:solidFill>
            <a:prstDash val="solid"/>
          </a:ln>
        </p:spPr>
      </p:sp>
      <p:pic>
        <p:nvPicPr>
          <p:cNvPr id="2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95475" y="6896100"/>
            <a:ext cx="85725" cy="95250"/>
          </a:xfrm>
          <a:prstGeom prst="rect">
            <a:avLst/>
          </a:prstGeom>
        </p:spPr>
      </p:pic>
      <p:pic>
        <p:nvPicPr>
          <p:cNvPr id="2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95475" y="6581775"/>
            <a:ext cx="85725" cy="95250"/>
          </a:xfrm>
          <a:prstGeom prst="rect">
            <a:avLst/>
          </a:prstGeom>
        </p:spPr>
      </p:pic>
      <p:pic>
        <p:nvPicPr>
          <p:cNvPr id="2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95475" y="6276975"/>
            <a:ext cx="85725" cy="85725"/>
          </a:xfrm>
          <a:prstGeom prst="rect">
            <a:avLst/>
          </a:prstGeom>
        </p:spPr>
      </p:pic>
      <p:pic>
        <p:nvPicPr>
          <p:cNvPr id="2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95475" y="5953125"/>
            <a:ext cx="85725" cy="95250"/>
          </a:xfrm>
          <a:prstGeom prst="rect">
            <a:avLst/>
          </a:prstGeom>
        </p:spPr>
      </p:pic>
      <p:pic>
        <p:nvPicPr>
          <p:cNvPr id="3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95475" y="5638800"/>
            <a:ext cx="85725" cy="95250"/>
          </a:xfrm>
          <a:prstGeom prst="rect">
            <a:avLst/>
          </a:prstGeom>
        </p:spPr>
      </p:pic>
      <p:pic>
        <p:nvPicPr>
          <p:cNvPr id="3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" y="5162550"/>
            <a:ext cx="904875" cy="914400"/>
          </a:xfrm>
          <a:prstGeom prst="rect">
            <a:avLst/>
          </a:prstGeom>
        </p:spPr>
      </p:pic>
      <p:sp>
        <p:nvSpPr>
          <p:cNvPr id="32" name="Text 12"/>
          <p:cNvSpPr/>
          <p:nvPr/>
        </p:nvSpPr>
        <p:spPr>
          <a:xfrm>
            <a:off x="2200275" y="6800850"/>
            <a:ext cx="2819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35"/>
              </a:lnSpc>
              <a:buNone/>
            </a:pPr>
            <a:r>
              <a:rPr lang="en-US" sz="1513" dirty="0">
                <a:solidFill>
                  <a:srgbClr val="4F5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Users: IV authors and reviewers</a:t>
            </a:r>
            <a:endParaRPr lang="en-US" sz="1513" dirty="0"/>
          </a:p>
        </p:txBody>
      </p:sp>
      <p:sp>
        <p:nvSpPr>
          <p:cNvPr id="33" name="Text 13"/>
          <p:cNvSpPr/>
          <p:nvPr/>
        </p:nvSpPr>
        <p:spPr>
          <a:xfrm>
            <a:off x="2200275" y="6496050"/>
            <a:ext cx="39814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525" dirty="0">
                <a:solidFill>
                  <a:srgbClr val="575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Process Owner: to confirm in Stage 2</a:t>
            </a:r>
            <a:endParaRPr lang="en-US" sz="1525" dirty="0"/>
          </a:p>
        </p:txBody>
      </p:sp>
      <p:sp>
        <p:nvSpPr>
          <p:cNvPr id="34" name="Text 14"/>
          <p:cNvSpPr/>
          <p:nvPr/>
        </p:nvSpPr>
        <p:spPr>
          <a:xfrm>
            <a:off x="2190750" y="6181725"/>
            <a:ext cx="3619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6"/>
              </a:lnSpc>
              <a:buNone/>
            </a:pPr>
            <a:r>
              <a:rPr lang="en-US" sz="1589" dirty="0">
                <a:solidFill>
                  <a:srgbClr val="595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Julian suggested as supporting framing</a:t>
            </a:r>
            <a:endParaRPr lang="en-US" sz="1589" dirty="0"/>
          </a:p>
        </p:txBody>
      </p:sp>
      <p:sp>
        <p:nvSpPr>
          <p:cNvPr id="35" name="Text 15"/>
          <p:cNvSpPr/>
          <p:nvPr/>
        </p:nvSpPr>
        <p:spPr>
          <a:xfrm>
            <a:off x="2200275" y="5857875"/>
            <a:ext cx="3505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8" dirty="0">
                <a:solidFill>
                  <a:srgbClr val="5B5F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Owner / SME: Cheng Cheng</a:t>
            </a:r>
            <a:endParaRPr lang="en-US" sz="1508" dirty="0"/>
          </a:p>
        </p:txBody>
      </p:sp>
      <p:sp>
        <p:nvSpPr>
          <p:cNvPr id="36" name="Text 16"/>
          <p:cNvSpPr/>
          <p:nvPr/>
        </p:nvSpPr>
        <p:spPr>
          <a:xfrm>
            <a:off x="2200275" y="5543550"/>
            <a:ext cx="2419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98" dirty="0">
                <a:solidFill>
                  <a:srgbClr val="595C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Matt / CBPM IVT</a:t>
            </a:r>
            <a:endParaRPr lang="en-US" sz="1598" dirty="0"/>
          </a:p>
        </p:txBody>
      </p:sp>
      <p:sp>
        <p:nvSpPr>
          <p:cNvPr id="37" name="Text 17"/>
          <p:cNvSpPr/>
          <p:nvPr/>
        </p:nvSpPr>
        <p:spPr>
          <a:xfrm>
            <a:off x="1866900" y="5114925"/>
            <a:ext cx="2781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2066" b="1" dirty="0">
                <a:solidFill>
                  <a:srgbClr val="2E43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/ SMEs / Users</a:t>
            </a:r>
            <a:endParaRPr lang="en-US" sz="2066" dirty="0"/>
          </a:p>
        </p:txBody>
      </p:sp>
      <p:sp>
        <p:nvSpPr>
          <p:cNvPr id="38" name="Shape 18"/>
          <p:cNvSpPr/>
          <p:nvPr/>
        </p:nvSpPr>
        <p:spPr>
          <a:xfrm>
            <a:off x="8001000" y="2133600"/>
            <a:ext cx="7581900" cy="2695575"/>
          </a:xfrm>
          <a:prstGeom prst="roundRect">
            <a:avLst>
              <a:gd name="adj" fmla="val 10247"/>
            </a:avLst>
          </a:prstGeom>
          <a:solidFill>
            <a:srgbClr val="FDFDFD"/>
          </a:solidFill>
          <a:ln w="9525">
            <a:solidFill>
              <a:srgbClr val="F2F9F5"/>
            </a:solidFill>
            <a:prstDash val="solid"/>
          </a:ln>
        </p:spPr>
      </p:sp>
      <p:sp>
        <p:nvSpPr>
          <p:cNvPr id="39" name="Shape 19"/>
          <p:cNvSpPr/>
          <p:nvPr/>
        </p:nvSpPr>
        <p:spPr>
          <a:xfrm>
            <a:off x="9420225" y="4210050"/>
            <a:ext cx="4638675" cy="495300"/>
          </a:xfrm>
          <a:prstGeom prst="roundRect">
            <a:avLst>
              <a:gd name="adj" fmla="val 48077"/>
            </a:avLst>
          </a:prstGeom>
          <a:solidFill>
            <a:srgbClr val="DFF4E4"/>
          </a:solidFill>
          <a:ln w="9525">
            <a:solidFill>
              <a:srgbClr val="EDF8EF"/>
            </a:solidFill>
            <a:prstDash val="solid"/>
          </a:ln>
        </p:spPr>
      </p:sp>
      <p:sp>
        <p:nvSpPr>
          <p:cNvPr id="40" name="Text 20"/>
          <p:cNvSpPr/>
          <p:nvPr/>
        </p:nvSpPr>
        <p:spPr>
          <a:xfrm>
            <a:off x="9715500" y="4333875"/>
            <a:ext cx="40100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34"/>
              </a:lnSpc>
              <a:buNone/>
            </a:pPr>
            <a:r>
              <a:rPr lang="en-US" sz="1596" dirty="0">
                <a:solidFill>
                  <a:srgbClr val="3F64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 hypothesis — not yet agreed route</a:t>
            </a:r>
            <a:endParaRPr lang="en-US" sz="1596" dirty="0"/>
          </a:p>
        </p:txBody>
      </p:sp>
      <p:pic>
        <p:nvPicPr>
          <p:cNvPr id="4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553575" y="3933825"/>
            <a:ext cx="95250" cy="95250"/>
          </a:xfrm>
          <a:prstGeom prst="rect">
            <a:avLst/>
          </a:prstGeom>
        </p:spPr>
      </p:pic>
      <p:pic>
        <p:nvPicPr>
          <p:cNvPr id="4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53575" y="3638550"/>
            <a:ext cx="85725" cy="95250"/>
          </a:xfrm>
          <a:prstGeom prst="rect">
            <a:avLst/>
          </a:prstGeom>
        </p:spPr>
      </p:pic>
      <p:pic>
        <p:nvPicPr>
          <p:cNvPr id="43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553575" y="3352800"/>
            <a:ext cx="95250" cy="95250"/>
          </a:xfrm>
          <a:prstGeom prst="rect">
            <a:avLst/>
          </a:prstGeom>
        </p:spPr>
      </p:pic>
      <p:pic>
        <p:nvPicPr>
          <p:cNvPr id="4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553575" y="2809875"/>
            <a:ext cx="85725" cy="95250"/>
          </a:xfrm>
          <a:prstGeom prst="rect">
            <a:avLst/>
          </a:prstGeom>
        </p:spPr>
      </p:pic>
      <p:pic>
        <p:nvPicPr>
          <p:cNvPr id="4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15325" y="2362200"/>
            <a:ext cx="904875" cy="904875"/>
          </a:xfrm>
          <a:prstGeom prst="rect">
            <a:avLst/>
          </a:prstGeom>
        </p:spPr>
      </p:pic>
      <p:sp>
        <p:nvSpPr>
          <p:cNvPr id="46" name="Text 21"/>
          <p:cNvSpPr/>
          <p:nvPr/>
        </p:nvSpPr>
        <p:spPr>
          <a:xfrm>
            <a:off x="9858375" y="3838575"/>
            <a:ext cx="4048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7"/>
              </a:lnSpc>
              <a:buNone/>
            </a:pPr>
            <a:r>
              <a:rPr lang="en-US" sz="1636" dirty="0">
                <a:solidFill>
                  <a:srgbClr val="5D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Highlight outstanding gaps to the IV author</a:t>
            </a:r>
            <a:endParaRPr lang="en-US" sz="1636" dirty="0"/>
          </a:p>
        </p:txBody>
      </p:sp>
      <p:sp>
        <p:nvSpPr>
          <p:cNvPr id="47" name="Text 22"/>
          <p:cNvSpPr/>
          <p:nvPr/>
        </p:nvSpPr>
        <p:spPr>
          <a:xfrm>
            <a:off x="9848850" y="3552825"/>
            <a:ext cx="36576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45" dirty="0">
                <a:solidFill>
                  <a:srgbClr val="5A5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ambition: 60–80% complete</a:t>
            </a:r>
            <a:endParaRPr lang="en-US" sz="1545" dirty="0"/>
          </a:p>
        </p:txBody>
      </p:sp>
      <p:sp>
        <p:nvSpPr>
          <p:cNvPr id="48" name="Text 23"/>
          <p:cNvSpPr/>
          <p:nvPr/>
        </p:nvSpPr>
        <p:spPr>
          <a:xfrm>
            <a:off x="9858375" y="3257550"/>
            <a:ext cx="44577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13" dirty="0">
                <a:solidFill>
                  <a:srgbClr val="5A5C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substantially complete IV report draft</a:t>
            </a:r>
            <a:endParaRPr lang="en-US" sz="1613" dirty="0"/>
          </a:p>
        </p:txBody>
      </p:sp>
      <p:sp>
        <p:nvSpPr>
          <p:cNvPr id="49" name="Text 24"/>
          <p:cNvSpPr/>
          <p:nvPr/>
        </p:nvSpPr>
        <p:spPr>
          <a:xfrm>
            <a:off x="9829800" y="2695575"/>
            <a:ext cx="53625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590" dirty="0">
                <a:solidFill>
                  <a:srgbClr val="626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use of Q&amp;I logs, annotated MDDs, emails and</a:t>
            </a:r>
            <a:endParaRPr lang="en-US" sz="1590" dirty="0"/>
          </a:p>
          <a:p>
            <a:pPr algn="l" indent="0" marL="0">
              <a:lnSpc>
                <a:spcPts val="2063"/>
              </a:lnSpc>
              <a:buNone/>
            </a:pPr>
            <a:r>
              <a:rPr lang="en-US" sz="1590" dirty="0">
                <a:solidFill>
                  <a:srgbClr val="626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messages</a:t>
            </a:r>
            <a:endParaRPr lang="en-US" sz="1590" dirty="0"/>
          </a:p>
        </p:txBody>
      </p:sp>
      <p:sp>
        <p:nvSpPr>
          <p:cNvPr id="50" name="Text 25"/>
          <p:cNvSpPr/>
          <p:nvPr/>
        </p:nvSpPr>
        <p:spPr>
          <a:xfrm>
            <a:off x="9544050" y="2305050"/>
            <a:ext cx="4581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908" b="1" dirty="0">
                <a:solidFill>
                  <a:srgbClr val="304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Outcome / Solution Concept</a:t>
            </a:r>
            <a:endParaRPr lang="en-US" sz="1908" dirty="0"/>
          </a:p>
        </p:txBody>
      </p:sp>
      <p:sp>
        <p:nvSpPr>
          <p:cNvPr id="51" name="Shape 26"/>
          <p:cNvSpPr/>
          <p:nvPr/>
        </p:nvSpPr>
        <p:spPr>
          <a:xfrm>
            <a:off x="361950" y="2143125"/>
            <a:ext cx="7543800" cy="2686050"/>
          </a:xfrm>
          <a:prstGeom prst="roundRect">
            <a:avLst>
              <a:gd name="adj" fmla="val 9220"/>
            </a:avLst>
          </a:prstGeom>
          <a:solidFill>
            <a:srgbClr val="FDFDFE"/>
          </a:solidFill>
          <a:ln/>
        </p:spPr>
      </p:sp>
      <p:pic>
        <p:nvPicPr>
          <p:cNvPr id="52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866900" y="3790950"/>
            <a:ext cx="85725" cy="95250"/>
          </a:xfrm>
          <a:prstGeom prst="rect">
            <a:avLst/>
          </a:prstGeom>
        </p:spPr>
      </p:pic>
      <p:pic>
        <p:nvPicPr>
          <p:cNvPr id="53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866900" y="3467100"/>
            <a:ext cx="95250" cy="95250"/>
          </a:xfrm>
          <a:prstGeom prst="rect">
            <a:avLst/>
          </a:prstGeom>
        </p:spPr>
      </p:pic>
      <p:pic>
        <p:nvPicPr>
          <p:cNvPr id="54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866900" y="3152775"/>
            <a:ext cx="85725" cy="95250"/>
          </a:xfrm>
          <a:prstGeom prst="rect">
            <a:avLst/>
          </a:prstGeom>
        </p:spPr>
      </p:pic>
      <p:pic>
        <p:nvPicPr>
          <p:cNvPr id="55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866900" y="2838450"/>
            <a:ext cx="95250" cy="85725"/>
          </a:xfrm>
          <a:prstGeom prst="rect">
            <a:avLst/>
          </a:prstGeom>
        </p:spPr>
      </p:pic>
      <p:pic>
        <p:nvPicPr>
          <p:cNvPr id="56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7700" y="2371725"/>
            <a:ext cx="904875" cy="904875"/>
          </a:xfrm>
          <a:prstGeom prst="rect">
            <a:avLst/>
          </a:prstGeom>
        </p:spPr>
      </p:pic>
      <p:sp>
        <p:nvSpPr>
          <p:cNvPr id="57" name="Text 27"/>
          <p:cNvSpPr/>
          <p:nvPr/>
        </p:nvSpPr>
        <p:spPr>
          <a:xfrm>
            <a:off x="2143125" y="3667125"/>
            <a:ext cx="51244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35" dirty="0">
                <a:solidFill>
                  <a:srgbClr val="626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Guidance updates may not consistently inform report</a:t>
            </a:r>
            <a:endParaRPr lang="en-US" sz="1635" dirty="0"/>
          </a:p>
          <a:p>
            <a:pPr algn="l" indent="0" marL="0">
              <a:lnSpc>
                <a:spcPts val="2063"/>
              </a:lnSpc>
              <a:buNone/>
            </a:pPr>
            <a:r>
              <a:rPr lang="en-US" sz="1635" dirty="0">
                <a:solidFill>
                  <a:srgbClr val="626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writing</a:t>
            </a:r>
            <a:endParaRPr lang="en-US" sz="1635" dirty="0"/>
          </a:p>
        </p:txBody>
      </p:sp>
      <p:sp>
        <p:nvSpPr>
          <p:cNvPr id="58" name="Text 28"/>
          <p:cNvSpPr/>
          <p:nvPr/>
        </p:nvSpPr>
        <p:spPr>
          <a:xfrm>
            <a:off x="2152650" y="3371850"/>
            <a:ext cx="38290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1"/>
              </a:lnSpc>
              <a:buNone/>
            </a:pPr>
            <a:r>
              <a:rPr lang="en-US" sz="1639" dirty="0">
                <a:solidFill>
                  <a:srgbClr val="5D5E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Latest template may not always be used</a:t>
            </a:r>
            <a:endParaRPr lang="en-US" sz="1639" dirty="0"/>
          </a:p>
        </p:txBody>
      </p:sp>
      <p:sp>
        <p:nvSpPr>
          <p:cNvPr id="59" name="Text 29"/>
          <p:cNvSpPr/>
          <p:nvPr/>
        </p:nvSpPr>
        <p:spPr>
          <a:xfrm>
            <a:off x="2152650" y="3048000"/>
            <a:ext cx="31527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45" dirty="0">
                <a:solidFill>
                  <a:srgbClr val="5658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of inconsistency across MRO</a:t>
            </a:r>
            <a:endParaRPr lang="en-US" sz="1545" dirty="0"/>
          </a:p>
        </p:txBody>
      </p:sp>
      <p:sp>
        <p:nvSpPr>
          <p:cNvPr id="60" name="Text 30"/>
          <p:cNvSpPr/>
          <p:nvPr/>
        </p:nvSpPr>
        <p:spPr>
          <a:xfrm>
            <a:off x="2152650" y="2733675"/>
            <a:ext cx="51054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620" dirty="0">
                <a:solidFill>
                  <a:srgbClr val="5B5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Drafting an IV report takes significant time and effort</a:t>
            </a:r>
            <a:endParaRPr lang="en-US" sz="1620" dirty="0"/>
          </a:p>
        </p:txBody>
      </p:sp>
      <p:sp>
        <p:nvSpPr>
          <p:cNvPr id="61" name="Text 31"/>
          <p:cNvSpPr/>
          <p:nvPr/>
        </p:nvSpPr>
        <p:spPr>
          <a:xfrm>
            <a:off x="1847850" y="2333625"/>
            <a:ext cx="31146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973" b="1" dirty="0">
                <a:solidFill>
                  <a:srgbClr val="28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Process Problem</a:t>
            </a:r>
            <a:endParaRPr lang="en-US" sz="1973" dirty="0"/>
          </a:p>
        </p:txBody>
      </p:sp>
      <p:sp>
        <p:nvSpPr>
          <p:cNvPr id="62" name="Shape 32"/>
          <p:cNvSpPr/>
          <p:nvPr/>
        </p:nvSpPr>
        <p:spPr>
          <a:xfrm>
            <a:off x="12925425" y="285750"/>
            <a:ext cx="2657475" cy="495300"/>
          </a:xfrm>
          <a:prstGeom prst="roundRect">
            <a:avLst>
              <a:gd name="adj" fmla="val 42308"/>
            </a:avLst>
          </a:prstGeom>
          <a:solidFill>
            <a:srgbClr val="C3DFC9"/>
          </a:solidFill>
          <a:ln/>
        </p:spPr>
      </p:sp>
      <p:sp>
        <p:nvSpPr>
          <p:cNvPr id="63" name="Text 33"/>
          <p:cNvSpPr/>
          <p:nvPr/>
        </p:nvSpPr>
        <p:spPr>
          <a:xfrm>
            <a:off x="13163550" y="409575"/>
            <a:ext cx="222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33" b="1" dirty="0">
                <a:solidFill>
                  <a:srgbClr val="365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2 | Monthly Steer</a:t>
            </a:r>
            <a:endParaRPr lang="en-US" sz="1433" dirty="0"/>
          </a:p>
        </p:txBody>
      </p:sp>
      <p:sp>
        <p:nvSpPr>
          <p:cNvPr id="64" name="Text 34"/>
          <p:cNvSpPr/>
          <p:nvPr/>
        </p:nvSpPr>
        <p:spPr>
          <a:xfrm>
            <a:off x="771525" y="276225"/>
            <a:ext cx="1177290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420" b="1" dirty="0">
                <a:solidFill>
                  <a:srgbClr val="1934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Brief — IV Report Drafting &amp; Quality Review</a:t>
            </a:r>
            <a:endParaRPr lang="en-US" sz="3420" dirty="0"/>
          </a:p>
        </p:txBody>
      </p:sp>
      <p:sp>
        <p:nvSpPr>
          <p:cNvPr id="65" name="Shape 35"/>
          <p:cNvSpPr/>
          <p:nvPr/>
        </p:nvSpPr>
        <p:spPr>
          <a:xfrm>
            <a:off x="381000" y="1038225"/>
            <a:ext cx="15182850" cy="952500"/>
          </a:xfrm>
          <a:prstGeom prst="roundRect">
            <a:avLst>
              <a:gd name="adj" fmla="val 23000"/>
            </a:avLst>
          </a:prstGeom>
          <a:solidFill>
            <a:srgbClr val="FDFEFE"/>
          </a:solidFill>
          <a:ln/>
        </p:spPr>
      </p:sp>
      <p:pic>
        <p:nvPicPr>
          <p:cNvPr id="66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66775" y="1085850"/>
            <a:ext cx="885825" cy="857250"/>
          </a:xfrm>
          <a:prstGeom prst="rect">
            <a:avLst/>
          </a:prstGeom>
        </p:spPr>
      </p:pic>
      <p:sp>
        <p:nvSpPr>
          <p:cNvPr id="67" name="Text 36"/>
          <p:cNvSpPr/>
          <p:nvPr/>
        </p:nvSpPr>
        <p:spPr>
          <a:xfrm>
            <a:off x="2047875" y="1285875"/>
            <a:ext cx="921067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38"/>
              </a:lnSpc>
              <a:buNone/>
            </a:pPr>
            <a:r>
              <a:rPr lang="en-US" sz="2531" b="1" dirty="0">
                <a:solidFill>
                  <a:srgbClr val="243D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case:</a:t>
            </a:r>
            <a:pPr algn="l" indent="0" marL="0">
              <a:lnSpc>
                <a:spcPts val="2538"/>
              </a:lnSpc>
              <a:buNone/>
            </a:pPr>
            <a:r>
              <a:rPr lang="en-US" sz="2531" dirty="0">
                <a:solidFill>
                  <a:srgbClr val="354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Support the drafting and quality review of IV reports.</a:t>
            </a:r>
            <a:endParaRPr lang="en-US" sz="2531" dirty="0"/>
          </a:p>
        </p:txBody>
      </p:sp>
      <p:pic>
        <p:nvPicPr>
          <p:cNvPr id="68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0" y="76200"/>
            <a:ext cx="704850" cy="1162050"/>
          </a:xfrm>
          <a:prstGeom prst="rect">
            <a:avLst/>
          </a:prstGeom>
        </p:spPr>
      </p:pic>
      <p:pic>
        <p:nvPicPr>
          <p:cNvPr id="69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0" y="438150"/>
            <a:ext cx="76200" cy="523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25800" cy="856297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96300"/>
            <a:ext cx="15925800" cy="46672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0925" y="8582025"/>
            <a:ext cx="333375" cy="3333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933575" y="8620125"/>
            <a:ext cx="88677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58"/>
              </a:lnSpc>
              <a:buNone/>
            </a:pPr>
            <a:r>
              <a:rPr lang="en-US" sz="1492" dirty="0">
                <a:solidFill>
                  <a:srgbClr val="A4BA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1 should leave the case with a clear route, accountable Process Owner and Discovery timing.</a:t>
            </a:r>
            <a:endParaRPr lang="en-US" sz="1492" dirty="0"/>
          </a:p>
        </p:txBody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950" y="8620125"/>
            <a:ext cx="28575" cy="257175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8629650"/>
            <a:ext cx="438150" cy="25717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5144750" y="8648700"/>
            <a:ext cx="114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1477" dirty="0">
                <a:solidFill>
                  <a:srgbClr val="3B64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77" dirty="0"/>
          </a:p>
        </p:txBody>
      </p:sp>
      <p:sp>
        <p:nvSpPr>
          <p:cNvPr id="9" name="Shape 2"/>
          <p:cNvSpPr/>
          <p:nvPr/>
        </p:nvSpPr>
        <p:spPr>
          <a:xfrm>
            <a:off x="8001000" y="2314575"/>
            <a:ext cx="7496175" cy="6115050"/>
          </a:xfrm>
          <a:prstGeom prst="roundRect">
            <a:avLst>
              <a:gd name="adj" fmla="val 3271"/>
            </a:avLst>
          </a:prstGeom>
          <a:solidFill>
            <a:srgbClr val="FDFDFD"/>
          </a:solidFill>
          <a:ln/>
        </p:spPr>
      </p:sp>
      <p:sp>
        <p:nvSpPr>
          <p:cNvPr id="10" name="Shape 3"/>
          <p:cNvSpPr/>
          <p:nvPr/>
        </p:nvSpPr>
        <p:spPr>
          <a:xfrm>
            <a:off x="8286750" y="7505700"/>
            <a:ext cx="6981825" cy="771525"/>
          </a:xfrm>
          <a:prstGeom prst="roundRect">
            <a:avLst>
              <a:gd name="adj" fmla="val 11111"/>
            </a:avLst>
          </a:prstGeom>
          <a:solidFill>
            <a:srgbClr val="E8F6EB"/>
          </a:solidFill>
          <a:ln/>
        </p:spPr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6775" y="7677150"/>
            <a:ext cx="400050" cy="390525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9134475" y="7629525"/>
            <a:ext cx="54006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63"/>
              </a:lnSpc>
              <a:buNone/>
            </a:pPr>
            <a:r>
              <a:rPr lang="en-US" sz="1320" i="1" dirty="0">
                <a:solidFill>
                  <a:srgbClr val="4561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SLT is prioritising the IV reporting outcome and deciding its route —</a:t>
            </a:r>
            <a:endParaRPr lang="en-US" sz="1320" dirty="0"/>
          </a:p>
          <a:p>
            <a:pPr algn="l" indent="0" marL="0">
              <a:lnSpc>
                <a:spcPts val="1763"/>
              </a:lnSpc>
              <a:buNone/>
            </a:pPr>
            <a:r>
              <a:rPr lang="en-US" sz="1320" i="1" dirty="0">
                <a:solidFill>
                  <a:srgbClr val="4561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approving an AI drafting tool.</a:t>
            </a:r>
            <a:endParaRPr lang="en-US" sz="1320" dirty="0"/>
          </a:p>
        </p:txBody>
      </p:sp>
      <p:sp>
        <p:nvSpPr>
          <p:cNvPr id="13" name="Text 5"/>
          <p:cNvSpPr/>
          <p:nvPr/>
        </p:nvSpPr>
        <p:spPr>
          <a:xfrm>
            <a:off x="8620125" y="7724775"/>
            <a:ext cx="152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2317" b="1" dirty="0">
                <a:solidFill>
                  <a:srgbClr val="C5D6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2317" dirty="0"/>
          </a:p>
        </p:txBody>
      </p:sp>
      <p:sp>
        <p:nvSpPr>
          <p:cNvPr id="14" name="Shape 6"/>
          <p:cNvSpPr/>
          <p:nvPr/>
        </p:nvSpPr>
        <p:spPr>
          <a:xfrm>
            <a:off x="10353675" y="6619875"/>
            <a:ext cx="4895850" cy="695325"/>
          </a:xfrm>
          <a:prstGeom prst="roundRect">
            <a:avLst>
              <a:gd name="adj" fmla="val 4795"/>
            </a:avLst>
          </a:prstGeom>
          <a:solidFill>
            <a:srgbClr val="FEFDFE"/>
          </a:solidFill>
          <a:ln w="9525">
            <a:solidFill>
              <a:srgbClr val="E0E6EA"/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10353675" y="6162675"/>
            <a:ext cx="4905375" cy="371475"/>
          </a:xfrm>
          <a:prstGeom prst="roundRect">
            <a:avLst>
              <a:gd name="adj" fmla="val 15385"/>
            </a:avLst>
          </a:prstGeom>
          <a:solidFill>
            <a:srgbClr val="FEFDFE"/>
          </a:solidFill>
          <a:ln w="9525">
            <a:solidFill>
              <a:srgbClr val="E0E5E8"/>
            </a:solidFill>
            <a:prstDash val="solid"/>
          </a:ln>
        </p:spPr>
      </p:sp>
      <p:sp>
        <p:nvSpPr>
          <p:cNvPr id="16" name="Shape 8"/>
          <p:cNvSpPr/>
          <p:nvPr/>
        </p:nvSpPr>
        <p:spPr>
          <a:xfrm>
            <a:off x="10353675" y="5705475"/>
            <a:ext cx="4895850" cy="371475"/>
          </a:xfrm>
          <a:prstGeom prst="roundRect">
            <a:avLst>
              <a:gd name="adj" fmla="val 15385"/>
            </a:avLst>
          </a:prstGeom>
          <a:solidFill>
            <a:srgbClr val="FEFEFE"/>
          </a:solidFill>
          <a:ln w="9525">
            <a:solidFill>
              <a:srgbClr val="DCE2E6"/>
            </a:solidFill>
            <a:prstDash val="solid"/>
          </a:ln>
        </p:spPr>
      </p:sp>
      <p:sp>
        <p:nvSpPr>
          <p:cNvPr id="17" name="Shape 9"/>
          <p:cNvSpPr/>
          <p:nvPr/>
        </p:nvSpPr>
        <p:spPr>
          <a:xfrm>
            <a:off x="10334625" y="5257800"/>
            <a:ext cx="4905375" cy="361950"/>
          </a:xfrm>
          <a:prstGeom prst="roundRect">
            <a:avLst>
              <a:gd name="adj" fmla="val 10526"/>
            </a:avLst>
          </a:prstGeom>
          <a:solidFill>
            <a:srgbClr val="FEFDFE"/>
          </a:solidFill>
          <a:ln w="9525">
            <a:solidFill>
              <a:srgbClr val="DEE4E8"/>
            </a:solidFill>
            <a:prstDash val="solid"/>
          </a:ln>
        </p:spPr>
      </p:sp>
      <p:sp>
        <p:nvSpPr>
          <p:cNvPr id="18" name="Shape 10"/>
          <p:cNvSpPr/>
          <p:nvPr/>
        </p:nvSpPr>
        <p:spPr>
          <a:xfrm>
            <a:off x="10334625" y="4800600"/>
            <a:ext cx="4905375" cy="371475"/>
          </a:xfrm>
          <a:prstGeom prst="roundRect">
            <a:avLst>
              <a:gd name="adj" fmla="val 17949"/>
            </a:avLst>
          </a:prstGeom>
          <a:solidFill>
            <a:srgbClr val="FEFDFE"/>
          </a:solidFill>
          <a:ln w="9525">
            <a:solidFill>
              <a:srgbClr val="DFE4E8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8296275" y="668655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425" b="1" dirty="0">
                <a:solidFill>
                  <a:srgbClr val="51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 / Notes</a:t>
            </a:r>
            <a:endParaRPr lang="en-US" sz="1425" dirty="0"/>
          </a:p>
        </p:txBody>
      </p:sp>
      <p:sp>
        <p:nvSpPr>
          <p:cNvPr id="20" name="Text 12"/>
          <p:cNvSpPr/>
          <p:nvPr/>
        </p:nvSpPr>
        <p:spPr>
          <a:xfrm>
            <a:off x="8296275" y="6229350"/>
            <a:ext cx="1524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399" b="1" dirty="0">
                <a:solidFill>
                  <a:srgbClr val="547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Timing</a:t>
            </a:r>
            <a:endParaRPr lang="en-US" sz="1399" dirty="0"/>
          </a:p>
        </p:txBody>
      </p:sp>
      <p:sp>
        <p:nvSpPr>
          <p:cNvPr id="21" name="Text 13"/>
          <p:cNvSpPr/>
          <p:nvPr/>
        </p:nvSpPr>
        <p:spPr>
          <a:xfrm>
            <a:off x="8296275" y="5762625"/>
            <a:ext cx="14287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3"/>
              </a:lnSpc>
              <a:buNone/>
            </a:pPr>
            <a:r>
              <a:rPr lang="en-US" sz="1433" b="1" dirty="0">
                <a:solidFill>
                  <a:srgbClr val="5A77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Relative Priority</a:t>
            </a:r>
            <a:endParaRPr lang="en-US" sz="1433" dirty="0"/>
          </a:p>
        </p:txBody>
      </p:sp>
      <p:sp>
        <p:nvSpPr>
          <p:cNvPr id="22" name="Text 14"/>
          <p:cNvSpPr/>
          <p:nvPr/>
        </p:nvSpPr>
        <p:spPr>
          <a:xfrm>
            <a:off x="8296275" y="5314950"/>
            <a:ext cx="13239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2"/>
              </a:lnSpc>
              <a:buNone/>
            </a:pPr>
            <a:r>
              <a:rPr lang="en-US" sz="1389" b="1" dirty="0">
                <a:solidFill>
                  <a:srgbClr val="527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Owner</a:t>
            </a:r>
            <a:endParaRPr lang="en-US" sz="1389" dirty="0"/>
          </a:p>
        </p:txBody>
      </p:sp>
      <p:sp>
        <p:nvSpPr>
          <p:cNvPr id="23" name="Text 15"/>
          <p:cNvSpPr/>
          <p:nvPr/>
        </p:nvSpPr>
        <p:spPr>
          <a:xfrm>
            <a:off x="8296275" y="4857750"/>
            <a:ext cx="17240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362" b="1" dirty="0">
                <a:solidFill>
                  <a:srgbClr val="51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Sponsor</a:t>
            </a:r>
            <a:endParaRPr lang="en-US" sz="1362" dirty="0"/>
          </a:p>
        </p:txBody>
      </p:sp>
      <p:sp>
        <p:nvSpPr>
          <p:cNvPr id="24" name="Shape 16"/>
          <p:cNvSpPr/>
          <p:nvPr/>
        </p:nvSpPr>
        <p:spPr>
          <a:xfrm>
            <a:off x="8248650" y="3076575"/>
            <a:ext cx="7010400" cy="1609725"/>
          </a:xfrm>
          <a:prstGeom prst="roundRect">
            <a:avLst>
              <a:gd name="adj" fmla="val 7249"/>
            </a:avLst>
          </a:prstGeom>
          <a:solidFill>
            <a:srgbClr val="F7FBF8"/>
          </a:solidFill>
          <a:ln w="19050">
            <a:solidFill>
              <a:srgbClr val="EFF5F2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39575" y="4267200"/>
            <a:ext cx="238125" cy="238125"/>
          </a:xfrm>
          <a:prstGeom prst="rect">
            <a:avLst/>
          </a:prstGeom>
        </p:spPr>
      </p:pic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6350" y="4257675"/>
            <a:ext cx="228600" cy="228600"/>
          </a:xfrm>
          <a:prstGeom prst="rect">
            <a:avLst/>
          </a:prstGeom>
        </p:spPr>
      </p:pic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39575" y="3924300"/>
            <a:ext cx="228600" cy="228600"/>
          </a:xfrm>
          <a:prstGeom prst="rect">
            <a:avLst/>
          </a:prstGeom>
        </p:spPr>
      </p:pic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96350" y="3914775"/>
            <a:ext cx="238125" cy="247650"/>
          </a:xfrm>
          <a:prstGeom prst="rect">
            <a:avLst/>
          </a:prstGeom>
        </p:spPr>
      </p:pic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39575" y="3581400"/>
            <a:ext cx="228600" cy="238125"/>
          </a:xfrm>
          <a:prstGeom prst="rect">
            <a:avLst/>
          </a:prstGeom>
        </p:spPr>
      </p:pic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96350" y="3590925"/>
            <a:ext cx="238125" cy="238125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12268200" y="4286250"/>
            <a:ext cx="657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69"/>
              </a:lnSpc>
              <a:buNone/>
            </a:pPr>
            <a:r>
              <a:rPr lang="en-US" sz="1505" dirty="0">
                <a:solidFill>
                  <a:srgbClr val="657F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Decline</a:t>
            </a:r>
            <a:endParaRPr lang="en-US" sz="1505" dirty="0"/>
          </a:p>
        </p:txBody>
      </p:sp>
      <p:sp>
        <p:nvSpPr>
          <p:cNvPr id="32" name="Text 18"/>
          <p:cNvSpPr/>
          <p:nvPr/>
        </p:nvSpPr>
        <p:spPr>
          <a:xfrm>
            <a:off x="9315450" y="4276725"/>
            <a:ext cx="781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63"/>
              </a:lnSpc>
              <a:buNone/>
            </a:pPr>
            <a:r>
              <a:rPr lang="en-US" sz="1490" dirty="0">
                <a:solidFill>
                  <a:srgbClr val="617D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</a:t>
            </a:r>
            <a:endParaRPr lang="en-US" sz="1490" dirty="0"/>
          </a:p>
        </p:txBody>
      </p:sp>
      <p:sp>
        <p:nvSpPr>
          <p:cNvPr id="33" name="Text 19"/>
          <p:cNvSpPr/>
          <p:nvPr/>
        </p:nvSpPr>
        <p:spPr>
          <a:xfrm>
            <a:off x="12268200" y="3933825"/>
            <a:ext cx="1438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1443" dirty="0">
                <a:solidFill>
                  <a:srgbClr val="647E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Elsewhere</a:t>
            </a:r>
            <a:endParaRPr lang="en-US" sz="1443" dirty="0"/>
          </a:p>
        </p:txBody>
      </p:sp>
      <p:sp>
        <p:nvSpPr>
          <p:cNvPr id="34" name="Text 20"/>
          <p:cNvSpPr/>
          <p:nvPr/>
        </p:nvSpPr>
        <p:spPr>
          <a:xfrm>
            <a:off x="9324975" y="3933825"/>
            <a:ext cx="4095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515" dirty="0">
                <a:solidFill>
                  <a:srgbClr val="6680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</a:t>
            </a:r>
            <a:endParaRPr lang="en-US" sz="1515" dirty="0"/>
          </a:p>
        </p:txBody>
      </p:sp>
      <p:sp>
        <p:nvSpPr>
          <p:cNvPr id="35" name="Text 21"/>
          <p:cNvSpPr/>
          <p:nvPr/>
        </p:nvSpPr>
        <p:spPr>
          <a:xfrm>
            <a:off x="12268200" y="3581400"/>
            <a:ext cx="2219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463" dirty="0">
                <a:solidFill>
                  <a:srgbClr val="516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to Existing Initiative</a:t>
            </a:r>
            <a:endParaRPr lang="en-US" sz="1463" dirty="0"/>
          </a:p>
        </p:txBody>
      </p:sp>
      <p:sp>
        <p:nvSpPr>
          <p:cNvPr id="36" name="Text 22"/>
          <p:cNvSpPr/>
          <p:nvPr/>
        </p:nvSpPr>
        <p:spPr>
          <a:xfrm>
            <a:off x="9324975" y="3600450"/>
            <a:ext cx="8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493" dirty="0">
                <a:solidFill>
                  <a:srgbClr val="5E7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</a:t>
            </a:r>
            <a:endParaRPr lang="en-US" sz="1493" dirty="0"/>
          </a:p>
        </p:txBody>
      </p:sp>
      <p:sp>
        <p:nvSpPr>
          <p:cNvPr id="37" name="Text 23"/>
          <p:cNvSpPr/>
          <p:nvPr/>
        </p:nvSpPr>
        <p:spPr>
          <a:xfrm>
            <a:off x="8543925" y="3200400"/>
            <a:ext cx="914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676" b="1" dirty="0">
                <a:solidFill>
                  <a:srgbClr val="4066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676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5800" y="2381250"/>
            <a:ext cx="619125" cy="619125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9144000" y="2495550"/>
            <a:ext cx="29527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2259" b="1" dirty="0">
                <a:solidFill>
                  <a:srgbClr val="2649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SLT Decision Record</a:t>
            </a:r>
            <a:endParaRPr lang="en-US" sz="2259" dirty="0"/>
          </a:p>
        </p:txBody>
      </p:sp>
      <p:sp>
        <p:nvSpPr>
          <p:cNvPr id="40" name="Shape 25"/>
          <p:cNvSpPr/>
          <p:nvPr/>
        </p:nvSpPr>
        <p:spPr>
          <a:xfrm>
            <a:off x="438150" y="2295525"/>
            <a:ext cx="7477125" cy="6134100"/>
          </a:xfrm>
          <a:prstGeom prst="roundRect">
            <a:avLst>
              <a:gd name="adj" fmla="val 3261"/>
            </a:avLst>
          </a:prstGeom>
          <a:solidFill>
            <a:srgbClr val="FDFDFD"/>
          </a:solidFill>
          <a:ln w="9525">
            <a:solidFill>
              <a:srgbClr val="E7F3EA"/>
            </a:solidFill>
            <a:prstDash val="solid"/>
          </a:ln>
        </p:spPr>
      </p:sp>
      <p:sp>
        <p:nvSpPr>
          <p:cNvPr id="41" name="Shape 26"/>
          <p:cNvSpPr/>
          <p:nvPr/>
        </p:nvSpPr>
        <p:spPr>
          <a:xfrm>
            <a:off x="685800" y="7343775"/>
            <a:ext cx="6962775" cy="1047750"/>
          </a:xfrm>
          <a:prstGeom prst="roundRect">
            <a:avLst>
              <a:gd name="adj" fmla="val 13636"/>
            </a:avLst>
          </a:prstGeom>
          <a:solidFill>
            <a:srgbClr val="F8FBF9"/>
          </a:solidFill>
          <a:ln w="19050">
            <a:solidFill>
              <a:srgbClr val="EFF6F2"/>
            </a:solidFill>
            <a:prstDash val="solid"/>
          </a:ln>
        </p:spPr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19300" y="8201025"/>
            <a:ext cx="66675" cy="76200"/>
          </a:xfrm>
          <a:prstGeom prst="rect">
            <a:avLst/>
          </a:prstGeom>
        </p:spPr>
      </p:pic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19300" y="7991475"/>
            <a:ext cx="66675" cy="76200"/>
          </a:xfrm>
          <a:prstGeom prst="rect">
            <a:avLst/>
          </a:prstGeom>
        </p:spPr>
      </p:pic>
      <p:pic>
        <p:nvPicPr>
          <p:cNvPr id="4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19300" y="7762875"/>
            <a:ext cx="66675" cy="76200"/>
          </a:xfrm>
          <a:prstGeom prst="rect">
            <a:avLst/>
          </a:prstGeom>
        </p:spPr>
      </p:pic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5350" y="7439025"/>
            <a:ext cx="752475" cy="752475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2257425" y="8124825"/>
            <a:ext cx="36385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27" dirty="0">
                <a:solidFill>
                  <a:srgbClr val="6C8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Improvement opportunity remains unrealised</a:t>
            </a:r>
            <a:endParaRPr lang="en-US" sz="1327" dirty="0"/>
          </a:p>
        </p:txBody>
      </p:sp>
      <p:sp>
        <p:nvSpPr>
          <p:cNvPr id="47" name="Text 28"/>
          <p:cNvSpPr/>
          <p:nvPr/>
        </p:nvSpPr>
        <p:spPr>
          <a:xfrm>
            <a:off x="2247900" y="7905750"/>
            <a:ext cx="37623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98" dirty="0">
                <a:solidFill>
                  <a:srgbClr val="728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Consistency / guidance-use issues may persist</a:t>
            </a:r>
            <a:endParaRPr lang="en-US" sz="1298" dirty="0"/>
          </a:p>
        </p:txBody>
      </p:sp>
      <p:sp>
        <p:nvSpPr>
          <p:cNvPr id="48" name="Text 29"/>
          <p:cNvSpPr/>
          <p:nvPr/>
        </p:nvSpPr>
        <p:spPr>
          <a:xfrm>
            <a:off x="2257425" y="7686675"/>
            <a:ext cx="2638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350" dirty="0">
                <a:solidFill>
                  <a:srgbClr val="748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drafting effort continues</a:t>
            </a:r>
            <a:endParaRPr lang="en-US" sz="1350" dirty="0"/>
          </a:p>
        </p:txBody>
      </p:sp>
      <p:sp>
        <p:nvSpPr>
          <p:cNvPr id="49" name="Text 30"/>
          <p:cNvSpPr/>
          <p:nvPr/>
        </p:nvSpPr>
        <p:spPr>
          <a:xfrm>
            <a:off x="2009775" y="7419975"/>
            <a:ext cx="24669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42" b="1" dirty="0">
                <a:solidFill>
                  <a:srgbClr val="2850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No-action consequence</a:t>
            </a:r>
            <a:endParaRPr lang="en-US" sz="1642" dirty="0"/>
          </a:p>
        </p:txBody>
      </p:sp>
      <p:sp>
        <p:nvSpPr>
          <p:cNvPr id="50" name="Shape 31"/>
          <p:cNvSpPr/>
          <p:nvPr/>
        </p:nvSpPr>
        <p:spPr>
          <a:xfrm>
            <a:off x="685800" y="6153150"/>
            <a:ext cx="6962775" cy="1085850"/>
          </a:xfrm>
          <a:prstGeom prst="roundRect">
            <a:avLst>
              <a:gd name="adj" fmla="val 8772"/>
            </a:avLst>
          </a:prstGeom>
          <a:solidFill>
            <a:srgbClr val="FBFCFB"/>
          </a:solidFill>
          <a:ln w="9525">
            <a:solidFill>
              <a:srgbClr val="EBF2EF"/>
            </a:solidFill>
            <a:prstDash val="solid"/>
          </a:ln>
        </p:spPr>
      </p:sp>
      <p:pic>
        <p:nvPicPr>
          <p:cNvPr id="5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19300" y="7038975"/>
            <a:ext cx="76200" cy="66675"/>
          </a:xfrm>
          <a:prstGeom prst="rect">
            <a:avLst/>
          </a:prstGeom>
        </p:spPr>
      </p:pic>
      <p:pic>
        <p:nvPicPr>
          <p:cNvPr id="5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19300" y="6819900"/>
            <a:ext cx="76200" cy="76200"/>
          </a:xfrm>
          <a:prstGeom prst="rect">
            <a:avLst/>
          </a:prstGeom>
        </p:spPr>
      </p:pic>
      <p:pic>
        <p:nvPicPr>
          <p:cNvPr id="5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019300" y="6610350"/>
            <a:ext cx="76200" cy="66675"/>
          </a:xfrm>
          <a:prstGeom prst="rect">
            <a:avLst/>
          </a:prstGeom>
        </p:spPr>
      </p:pic>
      <p:pic>
        <p:nvPicPr>
          <p:cNvPr id="5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5350" y="6238875"/>
            <a:ext cx="752475" cy="752475"/>
          </a:xfrm>
          <a:prstGeom prst="rect">
            <a:avLst/>
          </a:prstGeom>
        </p:spPr>
      </p:pic>
      <p:sp>
        <p:nvSpPr>
          <p:cNvPr id="55" name="Text 32"/>
          <p:cNvSpPr/>
          <p:nvPr/>
        </p:nvSpPr>
        <p:spPr>
          <a:xfrm>
            <a:off x="2257425" y="6962775"/>
            <a:ext cx="2781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76"/>
              </a:lnSpc>
              <a:buNone/>
            </a:pPr>
            <a:r>
              <a:rPr lang="en-US" sz="1380" dirty="0">
                <a:solidFill>
                  <a:srgbClr val="7A82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MRO / M365 capabilities to assess</a:t>
            </a:r>
            <a:endParaRPr lang="en-US" sz="1380" dirty="0"/>
          </a:p>
        </p:txBody>
      </p:sp>
      <p:sp>
        <p:nvSpPr>
          <p:cNvPr id="56" name="Text 33"/>
          <p:cNvSpPr/>
          <p:nvPr/>
        </p:nvSpPr>
        <p:spPr>
          <a:xfrm>
            <a:off x="2257425" y="6743700"/>
            <a:ext cx="19621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1419" dirty="0">
                <a:solidFill>
                  <a:srgbClr val="757D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Report-writing guidance</a:t>
            </a:r>
            <a:endParaRPr lang="en-US" sz="1419" dirty="0"/>
          </a:p>
        </p:txBody>
      </p:sp>
      <p:sp>
        <p:nvSpPr>
          <p:cNvPr id="57" name="Text 34"/>
          <p:cNvSpPr/>
          <p:nvPr/>
        </p:nvSpPr>
        <p:spPr>
          <a:xfrm>
            <a:off x="2257425" y="6534150"/>
            <a:ext cx="1028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365" dirty="0">
                <a:solidFill>
                  <a:srgbClr val="798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 templates</a:t>
            </a:r>
            <a:endParaRPr lang="en-US" sz="1365" dirty="0"/>
          </a:p>
        </p:txBody>
      </p:sp>
      <p:sp>
        <p:nvSpPr>
          <p:cNvPr id="58" name="Text 35"/>
          <p:cNvSpPr/>
          <p:nvPr/>
        </p:nvSpPr>
        <p:spPr>
          <a:xfrm>
            <a:off x="2009775" y="6238875"/>
            <a:ext cx="28289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88" b="1" dirty="0">
                <a:solidFill>
                  <a:srgbClr val="2C5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Work / Capability</a:t>
            </a:r>
            <a:endParaRPr lang="en-US" sz="1688" dirty="0"/>
          </a:p>
        </p:txBody>
      </p:sp>
      <p:sp>
        <p:nvSpPr>
          <p:cNvPr id="59" name="Shape 36"/>
          <p:cNvSpPr/>
          <p:nvPr/>
        </p:nvSpPr>
        <p:spPr>
          <a:xfrm>
            <a:off x="685800" y="4371975"/>
            <a:ext cx="6962775" cy="1657350"/>
          </a:xfrm>
          <a:prstGeom prst="roundRect">
            <a:avLst>
              <a:gd name="adj" fmla="val 8621"/>
            </a:avLst>
          </a:prstGeom>
          <a:solidFill>
            <a:srgbClr val="FBFCFB"/>
          </a:solidFill>
          <a:ln w="19050">
            <a:solidFill>
              <a:srgbClr val="EDF3F0"/>
            </a:solidFill>
            <a:prstDash val="solid"/>
          </a:ln>
        </p:spPr>
      </p:sp>
      <p:pic>
        <p:nvPicPr>
          <p:cNvPr id="60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19300" y="5753100"/>
            <a:ext cx="66675" cy="76200"/>
          </a:xfrm>
          <a:prstGeom prst="rect">
            <a:avLst/>
          </a:prstGeom>
        </p:spPr>
      </p:pic>
      <p:pic>
        <p:nvPicPr>
          <p:cNvPr id="61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019300" y="5524500"/>
            <a:ext cx="76200" cy="76200"/>
          </a:xfrm>
          <a:prstGeom prst="rect">
            <a:avLst/>
          </a:prstGeom>
        </p:spPr>
      </p:pic>
      <p:pic>
        <p:nvPicPr>
          <p:cNvPr id="62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019300" y="5295900"/>
            <a:ext cx="66675" cy="76200"/>
          </a:xfrm>
          <a:prstGeom prst="rect">
            <a:avLst/>
          </a:prstGeom>
        </p:spPr>
      </p:pic>
      <p:pic>
        <p:nvPicPr>
          <p:cNvPr id="63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019300" y="5067300"/>
            <a:ext cx="66675" cy="66675"/>
          </a:xfrm>
          <a:prstGeom prst="rect">
            <a:avLst/>
          </a:prstGeom>
        </p:spPr>
      </p:pic>
      <p:pic>
        <p:nvPicPr>
          <p:cNvPr id="64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019300" y="4838700"/>
            <a:ext cx="66675" cy="76200"/>
          </a:xfrm>
          <a:prstGeom prst="rect">
            <a:avLst/>
          </a:prstGeom>
        </p:spPr>
      </p:pic>
      <p:pic>
        <p:nvPicPr>
          <p:cNvPr id="65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04875" y="4476750"/>
            <a:ext cx="752475" cy="752475"/>
          </a:xfrm>
          <a:prstGeom prst="rect">
            <a:avLst/>
          </a:prstGeom>
        </p:spPr>
      </p:pic>
      <p:sp>
        <p:nvSpPr>
          <p:cNvPr id="66" name="Text 37"/>
          <p:cNvSpPr/>
          <p:nvPr/>
        </p:nvSpPr>
        <p:spPr>
          <a:xfrm>
            <a:off x="2247900" y="5667375"/>
            <a:ext cx="29146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84"/>
              </a:lnSpc>
              <a:buNone/>
            </a:pPr>
            <a:r>
              <a:rPr lang="en-US" sz="1387" dirty="0">
                <a:solidFill>
                  <a:srgbClr val="7D86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Wider IVT applicability — to validate</a:t>
            </a:r>
            <a:endParaRPr lang="en-US" sz="1387" dirty="0"/>
          </a:p>
        </p:txBody>
      </p:sp>
      <p:sp>
        <p:nvSpPr>
          <p:cNvPr id="67" name="Text 38"/>
          <p:cNvSpPr/>
          <p:nvPr/>
        </p:nvSpPr>
        <p:spPr>
          <a:xfrm>
            <a:off x="2257425" y="5438775"/>
            <a:ext cx="28289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45" dirty="0">
                <a:solidFill>
                  <a:srgbClr val="7683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delivery agility</a:t>
            </a:r>
            <a:endParaRPr lang="en-US" sz="1545" dirty="0"/>
          </a:p>
        </p:txBody>
      </p:sp>
      <p:sp>
        <p:nvSpPr>
          <p:cNvPr id="68" name="Text 39"/>
          <p:cNvSpPr/>
          <p:nvPr/>
        </p:nvSpPr>
        <p:spPr>
          <a:xfrm>
            <a:off x="2247900" y="5219700"/>
            <a:ext cx="25622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335" dirty="0">
                <a:solidFill>
                  <a:srgbClr val="7A82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Guidance / template adherence</a:t>
            </a:r>
            <a:endParaRPr lang="en-US" sz="1335" dirty="0"/>
          </a:p>
        </p:txBody>
      </p:sp>
      <p:sp>
        <p:nvSpPr>
          <p:cNvPr id="69" name="Text 40"/>
          <p:cNvSpPr/>
          <p:nvPr/>
        </p:nvSpPr>
        <p:spPr>
          <a:xfrm>
            <a:off x="2257425" y="4981575"/>
            <a:ext cx="28765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20" dirty="0">
                <a:solidFill>
                  <a:srgbClr val="7C84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inconsistency across MRO</a:t>
            </a:r>
            <a:endParaRPr lang="en-US" sz="1320" dirty="0"/>
          </a:p>
        </p:txBody>
      </p:sp>
      <p:sp>
        <p:nvSpPr>
          <p:cNvPr id="70" name="Text 41"/>
          <p:cNvSpPr/>
          <p:nvPr/>
        </p:nvSpPr>
        <p:spPr>
          <a:xfrm>
            <a:off x="2247900" y="4752975"/>
            <a:ext cx="2066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3"/>
              </a:lnSpc>
              <a:buNone/>
            </a:pPr>
            <a:r>
              <a:rPr lang="en-US" sz="1462" dirty="0">
                <a:solidFill>
                  <a:srgbClr val="78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Significant drafting effort</a:t>
            </a:r>
            <a:endParaRPr lang="en-US" sz="1462" dirty="0"/>
          </a:p>
        </p:txBody>
      </p:sp>
      <p:sp>
        <p:nvSpPr>
          <p:cNvPr id="71" name="Text 42"/>
          <p:cNvSpPr/>
          <p:nvPr/>
        </p:nvSpPr>
        <p:spPr>
          <a:xfrm>
            <a:off x="2000250" y="4467225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36"/>
              </a:lnSpc>
              <a:buNone/>
            </a:pPr>
            <a:r>
              <a:rPr lang="en-US" sz="1762" b="1" dirty="0">
                <a:solidFill>
                  <a:srgbClr val="2D5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762" dirty="0"/>
          </a:p>
        </p:txBody>
      </p:sp>
      <p:sp>
        <p:nvSpPr>
          <p:cNvPr id="72" name="Shape 43"/>
          <p:cNvSpPr/>
          <p:nvPr/>
        </p:nvSpPr>
        <p:spPr>
          <a:xfrm>
            <a:off x="685800" y="3076575"/>
            <a:ext cx="6972300" cy="1190625"/>
          </a:xfrm>
          <a:prstGeom prst="roundRect">
            <a:avLst>
              <a:gd name="adj" fmla="val 9600"/>
            </a:avLst>
          </a:prstGeom>
          <a:solidFill>
            <a:srgbClr val="FCFDFC"/>
          </a:solidFill>
          <a:ln w="19050">
            <a:solidFill>
              <a:srgbClr val="ECF2F0"/>
            </a:solidFill>
            <a:prstDash val="solid"/>
          </a:ln>
        </p:spPr>
      </p:sp>
      <p:pic>
        <p:nvPicPr>
          <p:cNvPr id="73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14400" y="3190875"/>
            <a:ext cx="733425" cy="723900"/>
          </a:xfrm>
          <a:prstGeom prst="rect">
            <a:avLst/>
          </a:prstGeom>
        </p:spPr>
      </p:pic>
      <p:sp>
        <p:nvSpPr>
          <p:cNvPr id="74" name="Text 44"/>
          <p:cNvSpPr/>
          <p:nvPr/>
        </p:nvSpPr>
        <p:spPr>
          <a:xfrm>
            <a:off x="2000250" y="3924300"/>
            <a:ext cx="41624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6"/>
              </a:lnSpc>
              <a:buNone/>
            </a:pPr>
            <a:r>
              <a:rPr lang="en-US" sz="1235" dirty="0">
                <a:solidFill>
                  <a:srgbClr val="9FA9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Proposed AI assistance remains a solution hypothesis.</a:t>
            </a:r>
            <a:endParaRPr lang="en-US" sz="1235" dirty="0"/>
          </a:p>
        </p:txBody>
      </p:sp>
      <p:sp>
        <p:nvSpPr>
          <p:cNvPr id="75" name="Text 45"/>
          <p:cNvSpPr/>
          <p:nvPr/>
        </p:nvSpPr>
        <p:spPr>
          <a:xfrm>
            <a:off x="2000250" y="3400425"/>
            <a:ext cx="4619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38"/>
              </a:lnSpc>
              <a:buNone/>
            </a:pPr>
            <a:r>
              <a:rPr lang="en-US" sz="1418" dirty="0">
                <a:solidFill>
                  <a:srgbClr val="666E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IV report drafting and quality-review efficiency,</a:t>
            </a:r>
            <a:endParaRPr lang="en-US" sz="1418" dirty="0"/>
          </a:p>
          <a:p>
            <a:pPr algn="l" indent="0" marL="0">
              <a:lnSpc>
                <a:spcPts val="1838"/>
              </a:lnSpc>
              <a:buNone/>
            </a:pPr>
            <a:r>
              <a:rPr lang="en-US" sz="1418" dirty="0">
                <a:solidFill>
                  <a:srgbClr val="666E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consistency and use of current guidance.</a:t>
            </a:r>
            <a:endParaRPr lang="en-US" sz="1418" dirty="0"/>
          </a:p>
        </p:txBody>
      </p:sp>
      <p:sp>
        <p:nvSpPr>
          <p:cNvPr id="76" name="Text 46"/>
          <p:cNvSpPr/>
          <p:nvPr/>
        </p:nvSpPr>
        <p:spPr>
          <a:xfrm>
            <a:off x="2000250" y="3171825"/>
            <a:ext cx="952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69"/>
              </a:lnSpc>
              <a:buNone/>
            </a:pPr>
            <a:r>
              <a:rPr lang="en-US" sz="1679" b="1" dirty="0">
                <a:solidFill>
                  <a:srgbClr val="3A5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679" dirty="0"/>
          </a:p>
        </p:txBody>
      </p:sp>
      <p:pic>
        <p:nvPicPr>
          <p:cNvPr id="77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62000" y="2381250"/>
            <a:ext cx="619125" cy="619125"/>
          </a:xfrm>
          <a:prstGeom prst="rect">
            <a:avLst/>
          </a:prstGeom>
        </p:spPr>
      </p:pic>
      <p:sp>
        <p:nvSpPr>
          <p:cNvPr id="78" name="Text 47"/>
          <p:cNvSpPr/>
          <p:nvPr/>
        </p:nvSpPr>
        <p:spPr>
          <a:xfrm>
            <a:off x="1628775" y="2505075"/>
            <a:ext cx="36195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89"/>
              </a:lnSpc>
              <a:buNone/>
            </a:pPr>
            <a:r>
              <a:rPr lang="en-US" sz="2403" b="1" dirty="0">
                <a:solidFill>
                  <a:srgbClr val="2443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Assessment</a:t>
            </a:r>
            <a:endParaRPr lang="en-US" sz="2403" dirty="0"/>
          </a:p>
        </p:txBody>
      </p:sp>
      <p:pic>
        <p:nvPicPr>
          <p:cNvPr id="79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830175" y="323850"/>
            <a:ext cx="2524125" cy="495300"/>
          </a:xfrm>
          <a:prstGeom prst="rect">
            <a:avLst/>
          </a:prstGeom>
        </p:spPr>
      </p:pic>
      <p:sp>
        <p:nvSpPr>
          <p:cNvPr id="80" name="Text 48"/>
          <p:cNvSpPr/>
          <p:nvPr/>
        </p:nvSpPr>
        <p:spPr>
          <a:xfrm>
            <a:off x="13077825" y="438150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485" b="1" dirty="0">
                <a:solidFill>
                  <a:srgbClr val="355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2</a:t>
            </a:r>
            <a:pPr algn="l" indent="0" marL="0">
              <a:lnSpc>
                <a:spcPts val="1575"/>
              </a:lnSpc>
              <a:buNone/>
            </a:pPr>
            <a:r>
              <a:rPr lang="en-US" sz="1485" b="1" dirty="0">
                <a:solidFill>
                  <a:srgbClr val="274C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Monthly Steer</a:t>
            </a:r>
            <a:endParaRPr lang="en-US" sz="1485" dirty="0"/>
          </a:p>
        </p:txBody>
      </p:sp>
      <p:sp>
        <p:nvSpPr>
          <p:cNvPr id="81" name="Text 49"/>
          <p:cNvSpPr/>
          <p:nvPr/>
        </p:nvSpPr>
        <p:spPr>
          <a:xfrm>
            <a:off x="1285875" y="371475"/>
            <a:ext cx="110585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531"/>
              </a:lnSpc>
              <a:buNone/>
            </a:pPr>
            <a:r>
              <a:rPr lang="en-US" sz="3619" b="1" dirty="0">
                <a:solidFill>
                  <a:srgbClr val="1C41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1 — IV Report Drafting: Priority &amp; Route</a:t>
            </a:r>
            <a:endParaRPr lang="en-US" sz="3619" dirty="0"/>
          </a:p>
        </p:txBody>
      </p:sp>
      <p:sp>
        <p:nvSpPr>
          <p:cNvPr id="82" name="Shape 50"/>
          <p:cNvSpPr/>
          <p:nvPr/>
        </p:nvSpPr>
        <p:spPr>
          <a:xfrm>
            <a:off x="390525" y="1190625"/>
            <a:ext cx="15144750" cy="971550"/>
          </a:xfrm>
          <a:prstGeom prst="roundRect">
            <a:avLst>
              <a:gd name="adj" fmla="val 5882"/>
            </a:avLst>
          </a:prstGeom>
          <a:solidFill>
            <a:srgbClr val="FDFEFD"/>
          </a:solidFill>
          <a:ln w="19050">
            <a:solidFill>
              <a:srgbClr val="E0EEE4"/>
            </a:solidFill>
            <a:prstDash val="solid"/>
          </a:ln>
        </p:spPr>
      </p:sp>
      <p:pic>
        <p:nvPicPr>
          <p:cNvPr id="83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200150" y="1295400"/>
            <a:ext cx="762000" cy="771525"/>
          </a:xfrm>
          <a:prstGeom prst="rect">
            <a:avLst/>
          </a:prstGeom>
        </p:spPr>
      </p:pic>
      <p:sp>
        <p:nvSpPr>
          <p:cNvPr id="84" name="Text 51"/>
          <p:cNvSpPr/>
          <p:nvPr/>
        </p:nvSpPr>
        <p:spPr>
          <a:xfrm>
            <a:off x="2276475" y="1590675"/>
            <a:ext cx="7334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62"/>
              </a:lnSpc>
              <a:buNone/>
            </a:pPr>
            <a:r>
              <a:rPr lang="en-US" sz="2512" b="1" dirty="0">
                <a:solidFill>
                  <a:srgbClr val="254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MRO do with this candidate now?</a:t>
            </a:r>
            <a:endParaRPr lang="en-US" sz="2512" dirty="0"/>
          </a:p>
        </p:txBody>
      </p:sp>
      <p:sp>
        <p:nvSpPr>
          <p:cNvPr id="85" name="Text 52"/>
          <p:cNvSpPr/>
          <p:nvPr/>
        </p:nvSpPr>
        <p:spPr>
          <a:xfrm>
            <a:off x="2276475" y="1343025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8"/>
              </a:lnSpc>
              <a:buNone/>
            </a:pPr>
            <a:r>
              <a:rPr lang="en-US" sz="1488" b="1" dirty="0">
                <a:solidFill>
                  <a:srgbClr val="A1C1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MESSAGE</a:t>
            </a:r>
            <a:endParaRPr lang="en-US" sz="1488" dirty="0"/>
          </a:p>
        </p:txBody>
      </p:sp>
      <p:pic>
        <p:nvPicPr>
          <p:cNvPr id="86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0" y="190500"/>
            <a:ext cx="1057275" cy="15716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25800" cy="228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5050"/>
            <a:ext cx="15925800" cy="218122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58250"/>
            <a:ext cx="15925800" cy="1047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267700"/>
            <a:ext cx="15925800" cy="6858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54275" y="8524875"/>
            <a:ext cx="247650" cy="2952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87450" y="8629650"/>
            <a:ext cx="1266825" cy="4762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8439150"/>
            <a:ext cx="19050" cy="3810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575" y="8477250"/>
            <a:ext cx="409575" cy="34290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1781175" y="8477250"/>
            <a:ext cx="101822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440" dirty="0">
                <a:solidFill>
                  <a:srgbClr val="A8BB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one practical wave; allow Wave 1 to progress when sufficiently evidenced, while its learning informs later waves.</a:t>
            </a:r>
            <a:endParaRPr lang="en-US" sz="1440" dirty="0"/>
          </a:p>
        </p:txBody>
      </p:sp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0525" y="6267450"/>
            <a:ext cx="15173325" cy="1895475"/>
          </a:xfrm>
          <a:prstGeom prst="rect">
            <a:avLst/>
          </a:prstGeom>
        </p:spPr>
      </p:pic>
      <p:pic>
        <p:nvPicPr>
          <p:cNvPr id="1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91575" y="7467600"/>
            <a:ext cx="342900" cy="342900"/>
          </a:xfrm>
          <a:prstGeom prst="rect">
            <a:avLst/>
          </a:prstGeom>
        </p:spPr>
      </p:pic>
      <p:pic>
        <p:nvPicPr>
          <p:cNvPr id="1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1050" y="7324725"/>
            <a:ext cx="9525" cy="581025"/>
          </a:xfrm>
          <a:prstGeom prst="rect">
            <a:avLst/>
          </a:prstGeom>
        </p:spPr>
      </p:pic>
      <p:sp>
        <p:nvSpPr>
          <p:cNvPr id="14" name="Shape 1"/>
          <p:cNvSpPr/>
          <p:nvPr/>
        </p:nvSpPr>
        <p:spPr>
          <a:xfrm>
            <a:off x="4505325" y="7324725"/>
            <a:ext cx="3495675" cy="600075"/>
          </a:xfrm>
          <a:prstGeom prst="roundRect">
            <a:avLst>
              <a:gd name="adj" fmla="val 46032"/>
            </a:avLst>
          </a:prstGeom>
          <a:solidFill>
            <a:srgbClr val="DDF0E2"/>
          </a:solidFill>
          <a:ln/>
        </p:spPr>
      </p:sp>
      <p:pic>
        <p:nvPicPr>
          <p:cNvPr id="1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43450" y="7467600"/>
            <a:ext cx="247650" cy="304800"/>
          </a:xfrm>
          <a:prstGeom prst="rect">
            <a:avLst/>
          </a:prstGeom>
        </p:spPr>
      </p:pic>
      <p:sp>
        <p:nvSpPr>
          <p:cNvPr id="16" name="Text 2"/>
          <p:cNvSpPr/>
          <p:nvPr/>
        </p:nvSpPr>
        <p:spPr>
          <a:xfrm>
            <a:off x="5238750" y="7505700"/>
            <a:ext cx="2476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17"/>
              </a:lnSpc>
              <a:buNone/>
            </a:pPr>
            <a:r>
              <a:rPr lang="en-US" sz="1260" b="1" dirty="0">
                <a:solidFill>
                  <a:srgbClr val="37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Wave 3 — Markets IV Reporting</a:t>
            </a:r>
            <a:endParaRPr lang="en-US" sz="1260" dirty="0"/>
          </a:p>
        </p:txBody>
      </p:sp>
      <p:sp>
        <p:nvSpPr>
          <p:cNvPr id="17" name="Shape 3"/>
          <p:cNvSpPr/>
          <p:nvPr/>
        </p:nvSpPr>
        <p:spPr>
          <a:xfrm>
            <a:off x="733425" y="7324725"/>
            <a:ext cx="3552825" cy="600075"/>
          </a:xfrm>
          <a:prstGeom prst="roundRect">
            <a:avLst>
              <a:gd name="adj" fmla="val 46032"/>
            </a:avLst>
          </a:prstGeom>
          <a:solidFill>
            <a:srgbClr val="DDF0E2"/>
          </a:solidFill>
          <a:ln/>
        </p:spPr>
      </p:sp>
      <p:pic>
        <p:nvPicPr>
          <p:cNvPr id="1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0125" y="7467600"/>
            <a:ext cx="247650" cy="304800"/>
          </a:xfrm>
          <a:prstGeom prst="rect">
            <a:avLst/>
          </a:prstGeom>
        </p:spPr>
      </p:pic>
      <p:sp>
        <p:nvSpPr>
          <p:cNvPr id="19" name="Text 4"/>
          <p:cNvSpPr/>
          <p:nvPr/>
        </p:nvSpPr>
        <p:spPr>
          <a:xfrm>
            <a:off x="1524000" y="7505700"/>
            <a:ext cx="2324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97"/>
              </a:lnSpc>
              <a:buNone/>
            </a:pPr>
            <a:r>
              <a:rPr lang="en-US" sz="1273" b="1" dirty="0">
                <a:solidFill>
                  <a:srgbClr val="365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Wave 2 — Retail IV Reporting</a:t>
            </a:r>
            <a:endParaRPr lang="en-US" sz="1273" dirty="0"/>
          </a:p>
        </p:txBody>
      </p:sp>
      <p:sp>
        <p:nvSpPr>
          <p:cNvPr id="20" name="Shape 5"/>
          <p:cNvSpPr/>
          <p:nvPr/>
        </p:nvSpPr>
        <p:spPr>
          <a:xfrm>
            <a:off x="695325" y="7172325"/>
            <a:ext cx="14106525" cy="9525"/>
          </a:xfrm>
          <a:prstGeom prst="rect">
            <a:avLst/>
          </a:prstGeom>
          <a:solidFill>
            <a:srgbClr val="FCFCFB"/>
          </a:solidFill>
          <a:ln/>
        </p:spPr>
      </p:sp>
      <p:pic>
        <p:nvPicPr>
          <p:cNvPr id="2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2475" y="6477000"/>
            <a:ext cx="657225" cy="657225"/>
          </a:xfrm>
          <a:prstGeom prst="rect">
            <a:avLst/>
          </a:prstGeom>
        </p:spPr>
      </p:pic>
      <p:sp>
        <p:nvSpPr>
          <p:cNvPr id="22" name="Text 6"/>
          <p:cNvSpPr/>
          <p:nvPr/>
        </p:nvSpPr>
        <p:spPr>
          <a:xfrm>
            <a:off x="9344025" y="7515225"/>
            <a:ext cx="3048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1318" dirty="0">
                <a:solidFill>
                  <a:srgbClr val="78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agreed ≠ all waves start now.</a:t>
            </a:r>
            <a:endParaRPr lang="en-US" sz="1318" dirty="0"/>
          </a:p>
        </p:txBody>
      </p:sp>
      <p:sp>
        <p:nvSpPr>
          <p:cNvPr id="23" name="Text 7"/>
          <p:cNvSpPr/>
          <p:nvPr/>
        </p:nvSpPr>
        <p:spPr>
          <a:xfrm>
            <a:off x="1562100" y="6619875"/>
            <a:ext cx="524827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6"/>
              </a:lnSpc>
              <a:buNone/>
            </a:pPr>
            <a:r>
              <a:rPr lang="en-US" sz="1820" b="1" dirty="0">
                <a:solidFill>
                  <a:srgbClr val="314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Sequenced Future Waves — Not Yet Mobilised</a:t>
            </a:r>
            <a:endParaRPr lang="en-US" sz="1820" dirty="0"/>
          </a:p>
        </p:txBody>
      </p:sp>
      <p:pic>
        <p:nvPicPr>
          <p:cNvPr id="2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133350"/>
            <a:ext cx="15925800" cy="6076950"/>
          </a:xfrm>
          <a:prstGeom prst="rect">
            <a:avLst/>
          </a:prstGeom>
        </p:spPr>
      </p:pic>
      <p:sp>
        <p:nvSpPr>
          <p:cNvPr id="25" name="Shape 8"/>
          <p:cNvSpPr/>
          <p:nvPr/>
        </p:nvSpPr>
        <p:spPr>
          <a:xfrm>
            <a:off x="11696700" y="2276475"/>
            <a:ext cx="3819525" cy="3819525"/>
          </a:xfrm>
          <a:prstGeom prst="roundRect">
            <a:avLst>
              <a:gd name="adj" fmla="val 4738"/>
            </a:avLst>
          </a:prstGeom>
          <a:solidFill>
            <a:srgbClr val="FBFDFB"/>
          </a:solidFill>
          <a:ln w="9525">
            <a:solidFill>
              <a:srgbClr val="EEF7EF"/>
            </a:solidFill>
            <a:prstDash val="solid"/>
          </a:ln>
        </p:spPr>
      </p:sp>
      <p:sp>
        <p:nvSpPr>
          <p:cNvPr id="26" name="Shape 9"/>
          <p:cNvSpPr/>
          <p:nvPr/>
        </p:nvSpPr>
        <p:spPr>
          <a:xfrm>
            <a:off x="14001750" y="5514975"/>
            <a:ext cx="1314450" cy="323850"/>
          </a:xfrm>
          <a:prstGeom prst="roundRect">
            <a:avLst>
              <a:gd name="adj" fmla="val 17647"/>
            </a:avLst>
          </a:prstGeom>
          <a:solidFill>
            <a:srgbClr val="EEF4F1"/>
          </a:solidFill>
          <a:ln/>
        </p:spPr>
      </p:sp>
      <p:pic>
        <p:nvPicPr>
          <p:cNvPr id="2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154150" y="5676900"/>
            <a:ext cx="152400" cy="19050"/>
          </a:xfrm>
          <a:prstGeom prst="rect">
            <a:avLst/>
          </a:prstGeom>
        </p:spPr>
      </p:pic>
      <p:pic>
        <p:nvPicPr>
          <p:cNvPr id="2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982450" y="5572125"/>
            <a:ext cx="200025" cy="228600"/>
          </a:xfrm>
          <a:prstGeom prst="rect">
            <a:avLst/>
          </a:prstGeom>
        </p:spPr>
      </p:pic>
      <p:sp>
        <p:nvSpPr>
          <p:cNvPr id="29" name="Shape 10"/>
          <p:cNvSpPr/>
          <p:nvPr/>
        </p:nvSpPr>
        <p:spPr>
          <a:xfrm>
            <a:off x="13992225" y="5143500"/>
            <a:ext cx="1323975" cy="304800"/>
          </a:xfrm>
          <a:prstGeom prst="roundRect">
            <a:avLst>
              <a:gd name="adj" fmla="val 21875"/>
            </a:avLst>
          </a:prstGeom>
          <a:solidFill>
            <a:srgbClr val="EEF4F1"/>
          </a:solidFill>
          <a:ln/>
        </p:spPr>
      </p:sp>
      <p:pic>
        <p:nvPicPr>
          <p:cNvPr id="3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163675" y="5305425"/>
            <a:ext cx="133350" cy="9525"/>
          </a:xfrm>
          <a:prstGeom prst="rect">
            <a:avLst/>
          </a:prstGeom>
        </p:spPr>
      </p:pic>
      <p:pic>
        <p:nvPicPr>
          <p:cNvPr id="3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972925" y="5200650"/>
            <a:ext cx="219075" cy="228600"/>
          </a:xfrm>
          <a:prstGeom prst="rect">
            <a:avLst/>
          </a:prstGeom>
        </p:spPr>
      </p:pic>
      <p:sp>
        <p:nvSpPr>
          <p:cNvPr id="32" name="Shape 11"/>
          <p:cNvSpPr/>
          <p:nvPr/>
        </p:nvSpPr>
        <p:spPr>
          <a:xfrm>
            <a:off x="13992225" y="4772025"/>
            <a:ext cx="1323975" cy="304800"/>
          </a:xfrm>
          <a:prstGeom prst="roundRect">
            <a:avLst>
              <a:gd name="adj" fmla="val 18750"/>
            </a:avLst>
          </a:prstGeom>
          <a:solidFill>
            <a:srgbClr val="EEF3F1"/>
          </a:solidFill>
          <a:ln/>
        </p:spPr>
      </p:sp>
      <p:pic>
        <p:nvPicPr>
          <p:cNvPr id="3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144625" y="4914900"/>
            <a:ext cx="161925" cy="47625"/>
          </a:xfrm>
          <a:prstGeom prst="rect">
            <a:avLst/>
          </a:prstGeom>
        </p:spPr>
      </p:pic>
      <p:pic>
        <p:nvPicPr>
          <p:cNvPr id="3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972925" y="4829175"/>
            <a:ext cx="219075" cy="219075"/>
          </a:xfrm>
          <a:prstGeom prst="rect">
            <a:avLst/>
          </a:prstGeom>
        </p:spPr>
      </p:pic>
      <p:sp>
        <p:nvSpPr>
          <p:cNvPr id="35" name="Shape 12"/>
          <p:cNvSpPr/>
          <p:nvPr/>
        </p:nvSpPr>
        <p:spPr>
          <a:xfrm>
            <a:off x="14001750" y="4400550"/>
            <a:ext cx="1314450" cy="314325"/>
          </a:xfrm>
          <a:prstGeom prst="roundRect">
            <a:avLst>
              <a:gd name="adj" fmla="val 12121"/>
            </a:avLst>
          </a:prstGeom>
          <a:solidFill>
            <a:srgbClr val="EEF3F1"/>
          </a:solidFill>
          <a:ln/>
        </p:spPr>
      </p:sp>
      <p:pic>
        <p:nvPicPr>
          <p:cNvPr id="36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135100" y="4533900"/>
            <a:ext cx="171450" cy="57150"/>
          </a:xfrm>
          <a:prstGeom prst="rect">
            <a:avLst/>
          </a:prstGeom>
        </p:spPr>
      </p:pic>
      <p:pic>
        <p:nvPicPr>
          <p:cNvPr id="3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963400" y="4476750"/>
            <a:ext cx="238125" cy="171450"/>
          </a:xfrm>
          <a:prstGeom prst="rect">
            <a:avLst/>
          </a:prstGeom>
        </p:spPr>
      </p:pic>
      <p:sp>
        <p:nvSpPr>
          <p:cNvPr id="38" name="Shape 13"/>
          <p:cNvSpPr/>
          <p:nvPr/>
        </p:nvSpPr>
        <p:spPr>
          <a:xfrm>
            <a:off x="13992225" y="4038600"/>
            <a:ext cx="1314450" cy="295275"/>
          </a:xfrm>
          <a:prstGeom prst="roundRect">
            <a:avLst>
              <a:gd name="adj" fmla="val 12903"/>
            </a:avLst>
          </a:prstGeom>
          <a:solidFill>
            <a:srgbClr val="EEF3F1"/>
          </a:solidFill>
          <a:ln/>
        </p:spPr>
      </p:sp>
      <p:pic>
        <p:nvPicPr>
          <p:cNvPr id="39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163675" y="4191000"/>
            <a:ext cx="133350" cy="9525"/>
          </a:xfrm>
          <a:prstGeom prst="rect">
            <a:avLst/>
          </a:prstGeom>
        </p:spPr>
      </p:pic>
      <p:pic>
        <p:nvPicPr>
          <p:cNvPr id="40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2001500" y="4105275"/>
            <a:ext cx="152400" cy="180975"/>
          </a:xfrm>
          <a:prstGeom prst="rect">
            <a:avLst/>
          </a:prstGeom>
        </p:spPr>
      </p:pic>
      <p:sp>
        <p:nvSpPr>
          <p:cNvPr id="41" name="Shape 14"/>
          <p:cNvSpPr/>
          <p:nvPr/>
        </p:nvSpPr>
        <p:spPr>
          <a:xfrm>
            <a:off x="13992225" y="3667125"/>
            <a:ext cx="1323975" cy="304800"/>
          </a:xfrm>
          <a:prstGeom prst="roundRect">
            <a:avLst>
              <a:gd name="adj" fmla="val 21875"/>
            </a:avLst>
          </a:prstGeom>
          <a:solidFill>
            <a:srgbClr val="EEF3F1"/>
          </a:solidFill>
          <a:ln w="9525">
            <a:solidFill>
              <a:srgbClr val="F2F6F4"/>
            </a:solidFill>
            <a:prstDash val="solid"/>
          </a:ln>
        </p:spPr>
      </p:sp>
      <p:pic>
        <p:nvPicPr>
          <p:cNvPr id="42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097000" y="3714750"/>
            <a:ext cx="238125" cy="171450"/>
          </a:xfrm>
          <a:prstGeom prst="rect">
            <a:avLst/>
          </a:prstGeom>
        </p:spPr>
      </p:pic>
      <p:pic>
        <p:nvPicPr>
          <p:cNvPr id="43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4154150" y="3819525"/>
            <a:ext cx="152400" cy="19050"/>
          </a:xfrm>
          <a:prstGeom prst="rect">
            <a:avLst/>
          </a:prstGeom>
        </p:spPr>
      </p:pic>
      <p:pic>
        <p:nvPicPr>
          <p:cNvPr id="44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963400" y="3752850"/>
            <a:ext cx="219075" cy="152400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3992225" y="3305175"/>
            <a:ext cx="1314450" cy="314325"/>
          </a:xfrm>
          <a:prstGeom prst="roundRect">
            <a:avLst>
              <a:gd name="adj" fmla="val 21212"/>
            </a:avLst>
          </a:prstGeom>
          <a:solidFill>
            <a:srgbClr val="EEF4F2"/>
          </a:solidFill>
          <a:ln w="9525">
            <a:solidFill>
              <a:srgbClr val="F6F9F7"/>
            </a:solidFill>
            <a:prstDash val="solid"/>
          </a:ln>
        </p:spPr>
      </p:sp>
      <p:pic>
        <p:nvPicPr>
          <p:cNvPr id="46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4154150" y="3467100"/>
            <a:ext cx="152400" cy="9525"/>
          </a:xfrm>
          <a:prstGeom prst="rect">
            <a:avLst/>
          </a:prstGeom>
        </p:spPr>
      </p:pic>
      <p:pic>
        <p:nvPicPr>
          <p:cNvPr id="47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001500" y="3381375"/>
            <a:ext cx="152400" cy="180975"/>
          </a:xfrm>
          <a:prstGeom prst="rect">
            <a:avLst/>
          </a:prstGeom>
        </p:spPr>
      </p:pic>
      <p:pic>
        <p:nvPicPr>
          <p:cNvPr id="48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2877800" y="3181350"/>
            <a:ext cx="2438400" cy="76200"/>
          </a:xfrm>
          <a:prstGeom prst="rect">
            <a:avLst/>
          </a:prstGeom>
        </p:spPr>
      </p:pic>
      <p:pic>
        <p:nvPicPr>
          <p:cNvPr id="49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972925" y="2457450"/>
            <a:ext cx="704850" cy="695325"/>
          </a:xfrm>
          <a:prstGeom prst="rect">
            <a:avLst/>
          </a:prstGeom>
        </p:spPr>
      </p:pic>
      <p:sp>
        <p:nvSpPr>
          <p:cNvPr id="50" name="Text 16"/>
          <p:cNvSpPr/>
          <p:nvPr/>
        </p:nvSpPr>
        <p:spPr>
          <a:xfrm>
            <a:off x="12334875" y="5572125"/>
            <a:ext cx="12668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1299" dirty="0">
                <a:solidFill>
                  <a:srgbClr val="7A7E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Return</a:t>
            </a:r>
            <a:endParaRPr lang="en-US" sz="1299" dirty="0"/>
          </a:p>
        </p:txBody>
      </p:sp>
      <p:sp>
        <p:nvSpPr>
          <p:cNvPr id="51" name="Text 17"/>
          <p:cNvSpPr/>
          <p:nvPr/>
        </p:nvSpPr>
        <p:spPr>
          <a:xfrm>
            <a:off x="12334875" y="5200650"/>
            <a:ext cx="1524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1277" dirty="0">
                <a:solidFill>
                  <a:srgbClr val="787B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Return-to-Steer date</a:t>
            </a:r>
            <a:endParaRPr lang="en-US" sz="1277" dirty="0"/>
          </a:p>
        </p:txBody>
      </p:sp>
      <p:sp>
        <p:nvSpPr>
          <p:cNvPr id="52" name="Text 18"/>
          <p:cNvSpPr/>
          <p:nvPr/>
        </p:nvSpPr>
        <p:spPr>
          <a:xfrm>
            <a:off x="12325350" y="4829175"/>
            <a:ext cx="6858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68"/>
              </a:lnSpc>
              <a:buNone/>
            </a:pPr>
            <a:r>
              <a:rPr lang="en-US" sz="1361" dirty="0">
                <a:solidFill>
                  <a:srgbClr val="7578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Timebox</a:t>
            </a:r>
            <a:endParaRPr lang="en-US" sz="1361" dirty="0"/>
          </a:p>
        </p:txBody>
      </p:sp>
      <p:sp>
        <p:nvSpPr>
          <p:cNvPr id="53" name="Text 19"/>
          <p:cNvSpPr/>
          <p:nvPr/>
        </p:nvSpPr>
        <p:spPr>
          <a:xfrm>
            <a:off x="12315825" y="4448175"/>
            <a:ext cx="15430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48"/>
              </a:lnSpc>
              <a:buNone/>
            </a:pPr>
            <a:r>
              <a:rPr lang="en-US" sz="1291" dirty="0">
                <a:solidFill>
                  <a:srgbClr val="7A7E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/ Platform input</a:t>
            </a:r>
            <a:endParaRPr lang="en-US" sz="1291" dirty="0"/>
          </a:p>
        </p:txBody>
      </p:sp>
      <p:sp>
        <p:nvSpPr>
          <p:cNvPr id="54" name="Text 20"/>
          <p:cNvSpPr/>
          <p:nvPr/>
        </p:nvSpPr>
        <p:spPr>
          <a:xfrm>
            <a:off x="12325350" y="4086225"/>
            <a:ext cx="6858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1164" dirty="0">
                <a:solidFill>
                  <a:srgbClr val="707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FDE Lead</a:t>
            </a:r>
            <a:endParaRPr lang="en-US" sz="1164" dirty="0"/>
          </a:p>
        </p:txBody>
      </p:sp>
      <p:sp>
        <p:nvSpPr>
          <p:cNvPr id="55" name="Text 21"/>
          <p:cNvSpPr/>
          <p:nvPr/>
        </p:nvSpPr>
        <p:spPr>
          <a:xfrm>
            <a:off x="12325350" y="3714750"/>
            <a:ext cx="9810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4"/>
              </a:lnSpc>
              <a:buNone/>
            </a:pPr>
            <a:r>
              <a:rPr lang="en-US" sz="1226" dirty="0">
                <a:solidFill>
                  <a:srgbClr val="8083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/ SMEs</a:t>
            </a:r>
            <a:endParaRPr lang="en-US" sz="1226" dirty="0"/>
          </a:p>
        </p:txBody>
      </p:sp>
      <p:sp>
        <p:nvSpPr>
          <p:cNvPr id="56" name="Text 22"/>
          <p:cNvSpPr/>
          <p:nvPr/>
        </p:nvSpPr>
        <p:spPr>
          <a:xfrm>
            <a:off x="12325350" y="3362325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85"/>
              </a:lnSpc>
              <a:buNone/>
            </a:pPr>
            <a:r>
              <a:rPr lang="en-US" sz="1224" dirty="0">
                <a:solidFill>
                  <a:srgbClr val="7B7E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Owner</a:t>
            </a:r>
            <a:endParaRPr lang="en-US" sz="1224" dirty="0"/>
          </a:p>
        </p:txBody>
      </p:sp>
      <p:sp>
        <p:nvSpPr>
          <p:cNvPr id="57" name="Text 23"/>
          <p:cNvSpPr/>
          <p:nvPr/>
        </p:nvSpPr>
        <p:spPr>
          <a:xfrm>
            <a:off x="12906375" y="2667000"/>
            <a:ext cx="24098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690" b="1" dirty="0">
                <a:solidFill>
                  <a:srgbClr val="2E4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Mobilisation</a:t>
            </a:r>
            <a:endParaRPr lang="en-US" sz="1690" dirty="0"/>
          </a:p>
        </p:txBody>
      </p:sp>
      <p:sp>
        <p:nvSpPr>
          <p:cNvPr id="58" name="Shape 24"/>
          <p:cNvSpPr/>
          <p:nvPr/>
        </p:nvSpPr>
        <p:spPr>
          <a:xfrm>
            <a:off x="8001000" y="2295525"/>
            <a:ext cx="3524250" cy="3790950"/>
          </a:xfrm>
          <a:prstGeom prst="roundRect">
            <a:avLst>
              <a:gd name="adj" fmla="val 3514"/>
            </a:avLst>
          </a:prstGeom>
          <a:solidFill>
            <a:srgbClr val="FBFDFC"/>
          </a:solidFill>
          <a:ln/>
        </p:spPr>
      </p:sp>
      <p:pic>
        <p:nvPicPr>
          <p:cNvPr id="59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229600" y="3209925"/>
            <a:ext cx="3057525" cy="85725"/>
          </a:xfrm>
          <a:prstGeom prst="rect">
            <a:avLst/>
          </a:prstGeom>
        </p:spPr>
      </p:pic>
      <p:pic>
        <p:nvPicPr>
          <p:cNvPr id="6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220075" y="2476500"/>
            <a:ext cx="638175" cy="647700"/>
          </a:xfrm>
          <a:prstGeom prst="rect">
            <a:avLst/>
          </a:prstGeom>
        </p:spPr>
      </p:pic>
      <p:sp>
        <p:nvSpPr>
          <p:cNvPr id="61" name="Text 25"/>
          <p:cNvSpPr/>
          <p:nvPr/>
        </p:nvSpPr>
        <p:spPr>
          <a:xfrm>
            <a:off x="8258175" y="3324225"/>
            <a:ext cx="3152775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6"/>
              </a:lnSpc>
              <a:buNone/>
            </a:pPr>
            <a:r>
              <a:rPr lang="en-US" sz="1557" dirty="0">
                <a:solidFill>
                  <a:srgbClr val="595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does material drafting</a:t>
            </a:r>
            <a:endParaRPr lang="en-US" sz="1557" dirty="0"/>
          </a:p>
          <a:p>
            <a:pPr algn="l" indent="0" marL="0">
              <a:lnSpc>
                <a:spcPts val="1876"/>
              </a:lnSpc>
              <a:buNone/>
            </a:pPr>
            <a:r>
              <a:rPr lang="en-US" sz="1557" dirty="0">
                <a:solidFill>
                  <a:srgbClr val="595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review effort arise, what</a:t>
            </a:r>
            <a:endParaRPr lang="en-US" sz="1557" dirty="0"/>
          </a:p>
          <a:p>
            <a:pPr algn="l" indent="0" marL="0">
              <a:lnSpc>
                <a:spcPts val="1876"/>
              </a:lnSpc>
              <a:buNone/>
            </a:pPr>
            <a:r>
              <a:rPr lang="en-US" sz="1557" dirty="0">
                <a:solidFill>
                  <a:srgbClr val="595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and professional</a:t>
            </a:r>
            <a:endParaRPr lang="en-US" sz="1557" dirty="0"/>
          </a:p>
          <a:p>
            <a:pPr algn="l" indent="0" marL="0">
              <a:lnSpc>
                <a:spcPts val="1876"/>
              </a:lnSpc>
              <a:buNone/>
            </a:pPr>
            <a:r>
              <a:rPr lang="en-US" sz="1557" dirty="0">
                <a:solidFill>
                  <a:srgbClr val="595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judgement are required, and which</a:t>
            </a:r>
            <a:endParaRPr lang="en-US" sz="1557" dirty="0"/>
          </a:p>
          <a:p>
            <a:pPr algn="l" indent="0" marL="0">
              <a:lnSpc>
                <a:spcPts val="1876"/>
              </a:lnSpc>
              <a:buNone/>
            </a:pPr>
            <a:r>
              <a:rPr lang="en-US" sz="1557" dirty="0">
                <a:solidFill>
                  <a:srgbClr val="595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parts of the reporting workflow</a:t>
            </a:r>
            <a:endParaRPr lang="en-US" sz="1557" dirty="0"/>
          </a:p>
          <a:p>
            <a:pPr algn="l" indent="0" marL="0">
              <a:lnSpc>
                <a:spcPts val="1876"/>
              </a:lnSpc>
              <a:buNone/>
            </a:pPr>
            <a:r>
              <a:rPr lang="en-US" sz="1557" dirty="0">
                <a:solidFill>
                  <a:srgbClr val="595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could be simplified or technology-</a:t>
            </a:r>
            <a:endParaRPr lang="en-US" sz="1557" dirty="0"/>
          </a:p>
          <a:p>
            <a:pPr algn="l" indent="0" marL="0">
              <a:lnSpc>
                <a:spcPts val="1876"/>
              </a:lnSpc>
              <a:buNone/>
            </a:pPr>
            <a:r>
              <a:rPr lang="en-US" sz="1557" dirty="0">
                <a:solidFill>
                  <a:srgbClr val="595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enabled without weakening</a:t>
            </a:r>
            <a:endParaRPr lang="en-US" sz="1557" dirty="0"/>
          </a:p>
          <a:p>
            <a:pPr algn="l" indent="0" marL="0">
              <a:lnSpc>
                <a:spcPts val="1876"/>
              </a:lnSpc>
              <a:buNone/>
            </a:pPr>
            <a:r>
              <a:rPr lang="en-US" sz="1557" dirty="0">
                <a:solidFill>
                  <a:srgbClr val="595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 accountability?</a:t>
            </a:r>
            <a:endParaRPr lang="en-US" sz="1557" dirty="0"/>
          </a:p>
        </p:txBody>
      </p:sp>
      <p:sp>
        <p:nvSpPr>
          <p:cNvPr id="62" name="Text 26"/>
          <p:cNvSpPr/>
          <p:nvPr/>
        </p:nvSpPr>
        <p:spPr>
          <a:xfrm>
            <a:off x="9048750" y="2676525"/>
            <a:ext cx="20669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681" b="1" dirty="0">
                <a:solidFill>
                  <a:srgbClr val="334D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Question</a:t>
            </a:r>
            <a:endParaRPr lang="en-US" sz="1681" dirty="0"/>
          </a:p>
        </p:txBody>
      </p:sp>
      <p:pic>
        <p:nvPicPr>
          <p:cNvPr id="63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1496675" y="3914775"/>
            <a:ext cx="228600" cy="285750"/>
          </a:xfrm>
          <a:prstGeom prst="rect">
            <a:avLst/>
          </a:prstGeom>
        </p:spPr>
      </p:pic>
      <p:pic>
        <p:nvPicPr>
          <p:cNvPr id="64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38150" y="2276475"/>
            <a:ext cx="3667125" cy="3810000"/>
          </a:xfrm>
          <a:prstGeom prst="rect">
            <a:avLst/>
          </a:prstGeom>
        </p:spPr>
      </p:pic>
      <p:sp>
        <p:nvSpPr>
          <p:cNvPr id="65" name="Shape 27"/>
          <p:cNvSpPr/>
          <p:nvPr/>
        </p:nvSpPr>
        <p:spPr>
          <a:xfrm>
            <a:off x="695325" y="5238750"/>
            <a:ext cx="3190875" cy="600075"/>
          </a:xfrm>
          <a:prstGeom prst="roundRect">
            <a:avLst>
              <a:gd name="adj" fmla="val 44444"/>
            </a:avLst>
          </a:prstGeom>
          <a:solidFill>
            <a:srgbClr val="D7F0DB"/>
          </a:solidFill>
          <a:ln w="9525">
            <a:solidFill>
              <a:srgbClr val="D9EFDE"/>
            </a:solidFill>
            <a:prstDash val="solid"/>
          </a:ln>
        </p:spPr>
      </p:sp>
      <p:pic>
        <p:nvPicPr>
          <p:cNvPr id="66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95350" y="5372100"/>
            <a:ext cx="323850" cy="323850"/>
          </a:xfrm>
          <a:prstGeom prst="rect">
            <a:avLst/>
          </a:prstGeom>
        </p:spPr>
      </p:pic>
      <p:sp>
        <p:nvSpPr>
          <p:cNvPr id="67" name="Text 28"/>
          <p:cNvSpPr/>
          <p:nvPr/>
        </p:nvSpPr>
        <p:spPr>
          <a:xfrm>
            <a:off x="1381125" y="5419725"/>
            <a:ext cx="23336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1312" b="1" dirty="0">
                <a:solidFill>
                  <a:srgbClr val="2F5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Prioritised — Discovery now</a:t>
            </a:r>
            <a:endParaRPr lang="en-US" sz="1312" dirty="0"/>
          </a:p>
        </p:txBody>
      </p:sp>
      <p:pic>
        <p:nvPicPr>
          <p:cNvPr id="68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95325" y="3295650"/>
            <a:ext cx="3181350" cy="85725"/>
          </a:xfrm>
          <a:prstGeom prst="rect">
            <a:avLst/>
          </a:prstGeom>
        </p:spPr>
      </p:pic>
      <p:pic>
        <p:nvPicPr>
          <p:cNvPr id="69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85800" y="2466975"/>
            <a:ext cx="657225" cy="657225"/>
          </a:xfrm>
          <a:prstGeom prst="rect">
            <a:avLst/>
          </a:prstGeom>
        </p:spPr>
      </p:pic>
      <p:sp>
        <p:nvSpPr>
          <p:cNvPr id="70" name="Text 29"/>
          <p:cNvSpPr/>
          <p:nvPr/>
        </p:nvSpPr>
        <p:spPr>
          <a:xfrm>
            <a:off x="723900" y="3495675"/>
            <a:ext cx="30575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57"/>
              </a:lnSpc>
              <a:buNone/>
            </a:pPr>
            <a:r>
              <a:rPr lang="en-US" sz="1708" dirty="0">
                <a:solidFill>
                  <a:srgbClr val="565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IV report drafting</a:t>
            </a:r>
            <a:endParaRPr lang="en-US" sz="1708" dirty="0"/>
          </a:p>
          <a:p>
            <a:pPr algn="l" indent="0" marL="0">
              <a:lnSpc>
                <a:spcPts val="2357"/>
              </a:lnSpc>
              <a:buNone/>
            </a:pPr>
            <a:r>
              <a:rPr lang="en-US" sz="1708" dirty="0">
                <a:solidFill>
                  <a:srgbClr val="565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quality-review efficiency,</a:t>
            </a:r>
            <a:endParaRPr lang="en-US" sz="1708" dirty="0"/>
          </a:p>
          <a:p>
            <a:pPr algn="l" indent="0" marL="0">
              <a:lnSpc>
                <a:spcPts val="2357"/>
              </a:lnSpc>
              <a:buNone/>
            </a:pPr>
            <a:r>
              <a:rPr lang="en-US" sz="1708" dirty="0">
                <a:solidFill>
                  <a:srgbClr val="565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consistency and guidance use.</a:t>
            </a:r>
            <a:endParaRPr lang="en-US" sz="1708" dirty="0"/>
          </a:p>
        </p:txBody>
      </p:sp>
      <p:sp>
        <p:nvSpPr>
          <p:cNvPr id="71" name="Text 30"/>
          <p:cNvSpPr/>
          <p:nvPr/>
        </p:nvSpPr>
        <p:spPr>
          <a:xfrm>
            <a:off x="1514475" y="2657475"/>
            <a:ext cx="217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1735" b="1" dirty="0">
                <a:solidFill>
                  <a:srgbClr val="2B5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Prioritised Outcome</a:t>
            </a:r>
            <a:endParaRPr lang="en-US" sz="1735" dirty="0"/>
          </a:p>
        </p:txBody>
      </p:sp>
      <p:sp>
        <p:nvSpPr>
          <p:cNvPr id="72" name="Shape 31"/>
          <p:cNvSpPr/>
          <p:nvPr/>
        </p:nvSpPr>
        <p:spPr>
          <a:xfrm>
            <a:off x="4286250" y="2286000"/>
            <a:ext cx="3533775" cy="3810000"/>
          </a:xfrm>
          <a:prstGeom prst="roundRect">
            <a:avLst>
              <a:gd name="adj" fmla="val 5121"/>
            </a:avLst>
          </a:prstGeom>
          <a:solidFill>
            <a:srgbClr val="FBFCFB"/>
          </a:solidFill>
          <a:ln w="9525">
            <a:solidFill>
              <a:srgbClr val="ECF6EE"/>
            </a:solidFill>
            <a:prstDash val="solid"/>
          </a:ln>
        </p:spPr>
      </p:sp>
      <p:sp>
        <p:nvSpPr>
          <p:cNvPr id="73" name="Shape 32"/>
          <p:cNvSpPr/>
          <p:nvPr/>
        </p:nvSpPr>
        <p:spPr>
          <a:xfrm>
            <a:off x="4533900" y="5238750"/>
            <a:ext cx="3067050" cy="609600"/>
          </a:xfrm>
          <a:prstGeom prst="roundRect">
            <a:avLst>
              <a:gd name="adj" fmla="val 46875"/>
            </a:avLst>
          </a:prstGeom>
          <a:solidFill>
            <a:srgbClr val="D6F0DB"/>
          </a:solidFill>
          <a:ln w="9525">
            <a:solidFill>
              <a:srgbClr val="DEF1E2"/>
            </a:solidFill>
            <a:prstDash val="solid"/>
          </a:ln>
        </p:spPr>
      </p:sp>
      <p:pic>
        <p:nvPicPr>
          <p:cNvPr id="74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772025" y="5391150"/>
            <a:ext cx="304800" cy="314325"/>
          </a:xfrm>
          <a:prstGeom prst="rect">
            <a:avLst/>
          </a:prstGeom>
        </p:spPr>
      </p:pic>
      <p:sp>
        <p:nvSpPr>
          <p:cNvPr id="75" name="Text 33"/>
          <p:cNvSpPr/>
          <p:nvPr/>
        </p:nvSpPr>
        <p:spPr>
          <a:xfrm>
            <a:off x="5248275" y="5419725"/>
            <a:ext cx="21050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5"/>
              </a:lnSpc>
              <a:buNone/>
            </a:pPr>
            <a:r>
              <a:rPr lang="en-US" sz="1415" b="1" dirty="0">
                <a:solidFill>
                  <a:srgbClr val="2E59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Wave 1 — Mobilise now</a:t>
            </a:r>
            <a:endParaRPr lang="en-US" sz="1415" dirty="0"/>
          </a:p>
        </p:txBody>
      </p:sp>
      <p:pic>
        <p:nvPicPr>
          <p:cNvPr id="76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533900" y="3305175"/>
            <a:ext cx="3048000" cy="85725"/>
          </a:xfrm>
          <a:prstGeom prst="rect">
            <a:avLst/>
          </a:prstGeom>
        </p:spPr>
      </p:pic>
      <p:pic>
        <p:nvPicPr>
          <p:cNvPr id="77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505325" y="2476500"/>
            <a:ext cx="657225" cy="647700"/>
          </a:xfrm>
          <a:prstGeom prst="rect">
            <a:avLst/>
          </a:prstGeom>
        </p:spPr>
      </p:pic>
      <p:sp>
        <p:nvSpPr>
          <p:cNvPr id="78" name="Text 34"/>
          <p:cNvSpPr/>
          <p:nvPr/>
        </p:nvSpPr>
        <p:spPr>
          <a:xfrm>
            <a:off x="4581525" y="3505200"/>
            <a:ext cx="266700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20"/>
              </a:lnSpc>
              <a:buNone/>
            </a:pPr>
            <a:r>
              <a:rPr lang="en-US" sz="1690" dirty="0">
                <a:solidFill>
                  <a:srgbClr val="5055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Banking &amp;</a:t>
            </a:r>
            <a:endParaRPr lang="en-US" sz="1690" dirty="0"/>
          </a:p>
          <a:p>
            <a:pPr algn="l" indent="0" marL="0">
              <a:lnSpc>
                <a:spcPts val="2120"/>
              </a:lnSpc>
              <a:buNone/>
            </a:pPr>
            <a:r>
              <a:rPr lang="en-US" sz="1690" dirty="0">
                <a:solidFill>
                  <a:srgbClr val="5055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Modelling (CBPM)</a:t>
            </a:r>
            <a:endParaRPr lang="en-US" sz="1690" dirty="0"/>
          </a:p>
          <a:p>
            <a:pPr algn="l" indent="0" marL="0">
              <a:lnSpc>
                <a:spcPts val="2120"/>
              </a:lnSpc>
              <a:buNone/>
            </a:pPr>
            <a:r>
              <a:rPr lang="en-US" sz="1690" dirty="0">
                <a:solidFill>
                  <a:srgbClr val="5055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 Reporting</a:t>
            </a:r>
            <a:endParaRPr lang="en-US" sz="1690" dirty="0"/>
          </a:p>
        </p:txBody>
      </p:sp>
      <p:sp>
        <p:nvSpPr>
          <p:cNvPr id="79" name="Text 35"/>
          <p:cNvSpPr/>
          <p:nvPr/>
        </p:nvSpPr>
        <p:spPr>
          <a:xfrm>
            <a:off x="5372100" y="2533650"/>
            <a:ext cx="21526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645" b="1" dirty="0">
                <a:solidFill>
                  <a:srgbClr val="334F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Discovery —</a:t>
            </a:r>
            <a:endParaRPr lang="en-US" sz="1645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645" b="1" dirty="0">
                <a:solidFill>
                  <a:srgbClr val="334F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Wave</a:t>
            </a:r>
            <a:endParaRPr lang="en-US" sz="1645" dirty="0"/>
          </a:p>
        </p:txBody>
      </p:sp>
      <p:pic>
        <p:nvPicPr>
          <p:cNvPr id="80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781925" y="3914775"/>
            <a:ext cx="238125" cy="276225"/>
          </a:xfrm>
          <a:prstGeom prst="rect">
            <a:avLst/>
          </a:prstGeom>
        </p:spPr>
      </p:pic>
      <p:pic>
        <p:nvPicPr>
          <p:cNvPr id="81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086225" y="3914775"/>
            <a:ext cx="238125" cy="276225"/>
          </a:xfrm>
          <a:prstGeom prst="rect">
            <a:avLst/>
          </a:prstGeom>
        </p:spPr>
      </p:pic>
      <p:pic>
        <p:nvPicPr>
          <p:cNvPr id="82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5582900" y="914400"/>
            <a:ext cx="342900" cy="1028700"/>
          </a:xfrm>
          <a:prstGeom prst="rect">
            <a:avLst/>
          </a:prstGeom>
        </p:spPr>
      </p:pic>
      <p:sp>
        <p:nvSpPr>
          <p:cNvPr id="83" name="Shape 36"/>
          <p:cNvSpPr/>
          <p:nvPr/>
        </p:nvSpPr>
        <p:spPr>
          <a:xfrm>
            <a:off x="476250" y="1162050"/>
            <a:ext cx="15059025" cy="923925"/>
          </a:xfrm>
          <a:prstGeom prst="roundRect">
            <a:avLst>
              <a:gd name="adj" fmla="val 6186"/>
            </a:avLst>
          </a:prstGeom>
          <a:solidFill>
            <a:srgbClr val="EDF7F0"/>
          </a:solidFill>
          <a:ln w="19050">
            <a:solidFill>
              <a:srgbClr val="D8E9DD"/>
            </a:solidFill>
            <a:prstDash val="solid"/>
          </a:ln>
        </p:spPr>
      </p:sp>
      <p:pic>
        <p:nvPicPr>
          <p:cNvPr id="84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0496550" y="1343025"/>
            <a:ext cx="561975" cy="571500"/>
          </a:xfrm>
          <a:prstGeom prst="rect">
            <a:avLst/>
          </a:prstGeom>
        </p:spPr>
      </p:pic>
      <p:pic>
        <p:nvPicPr>
          <p:cNvPr id="85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210800" y="1295400"/>
            <a:ext cx="19050" cy="666750"/>
          </a:xfrm>
          <a:prstGeom prst="rect">
            <a:avLst/>
          </a:prstGeom>
        </p:spPr>
      </p:pic>
      <p:pic>
        <p:nvPicPr>
          <p:cNvPr id="86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81050" y="1266825"/>
            <a:ext cx="742950" cy="733425"/>
          </a:xfrm>
          <a:prstGeom prst="rect">
            <a:avLst/>
          </a:prstGeom>
        </p:spPr>
      </p:pic>
      <p:sp>
        <p:nvSpPr>
          <p:cNvPr id="87" name="Text 37"/>
          <p:cNvSpPr/>
          <p:nvPr/>
        </p:nvSpPr>
        <p:spPr>
          <a:xfrm>
            <a:off x="11258550" y="1371600"/>
            <a:ext cx="31908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05" dirty="0">
                <a:solidFill>
                  <a:srgbClr val="5667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Only completed where</a:t>
            </a:r>
            <a:pPr algn="l" indent="0" marL="0">
              <a:lnSpc>
                <a:spcPts val="1958"/>
              </a:lnSpc>
              <a:buNone/>
            </a:pPr>
            <a:endParaRPr lang="en-US" sz="1405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405" dirty="0">
                <a:solidFill>
                  <a:srgbClr val="4554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 1: Discovery Timing = Now</a:t>
            </a:r>
            <a:endParaRPr lang="en-US" sz="1405" dirty="0"/>
          </a:p>
        </p:txBody>
      </p:sp>
      <p:sp>
        <p:nvSpPr>
          <p:cNvPr id="88" name="Text 38"/>
          <p:cNvSpPr/>
          <p:nvPr/>
        </p:nvSpPr>
        <p:spPr>
          <a:xfrm>
            <a:off x="1819275" y="1314450"/>
            <a:ext cx="77533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735" b="1" dirty="0">
                <a:solidFill>
                  <a:srgbClr val="2B4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candidates approved to start Discovery now:</a:t>
            </a:r>
            <a:pPr algn="l" indent="0" marL="0">
              <a:lnSpc>
                <a:spcPts val="2351"/>
              </a:lnSpc>
              <a:buNone/>
            </a:pPr>
            <a:endParaRPr lang="en-US" sz="1735" dirty="0"/>
          </a:p>
          <a:p>
            <a:pPr algn="l" indent="0" marL="0">
              <a:lnSpc>
                <a:spcPts val="2351"/>
              </a:lnSpc>
              <a:buNone/>
            </a:pPr>
            <a:r>
              <a:rPr lang="en-US" sz="1735" dirty="0">
                <a:solidFill>
                  <a:srgbClr val="5564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should FDE start, what must it learn, and when should findings return?</a:t>
            </a:r>
            <a:endParaRPr lang="en-US" sz="1735" dirty="0"/>
          </a:p>
        </p:txBody>
      </p:sp>
      <p:pic>
        <p:nvPicPr>
          <p:cNvPr id="89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42975" y="895350"/>
            <a:ext cx="895350" cy="28575"/>
          </a:xfrm>
          <a:prstGeom prst="rect">
            <a:avLst/>
          </a:prstGeom>
        </p:spPr>
      </p:pic>
      <p:sp>
        <p:nvSpPr>
          <p:cNvPr id="90" name="Shape 39"/>
          <p:cNvSpPr/>
          <p:nvPr/>
        </p:nvSpPr>
        <p:spPr>
          <a:xfrm>
            <a:off x="12392025" y="247650"/>
            <a:ext cx="3181350" cy="552450"/>
          </a:xfrm>
          <a:prstGeom prst="roundRect">
            <a:avLst>
              <a:gd name="adj" fmla="val 25862"/>
            </a:avLst>
          </a:prstGeom>
          <a:solidFill>
            <a:srgbClr val="D8F1DD"/>
          </a:solidFill>
          <a:ln w="9525">
            <a:solidFill>
              <a:srgbClr val="E2F5E6"/>
            </a:solidFill>
            <a:prstDash val="solid"/>
          </a:ln>
        </p:spPr>
      </p:sp>
      <p:sp>
        <p:nvSpPr>
          <p:cNvPr id="91" name="Text 40"/>
          <p:cNvSpPr/>
          <p:nvPr/>
        </p:nvSpPr>
        <p:spPr>
          <a:xfrm>
            <a:off x="14001750" y="409575"/>
            <a:ext cx="13716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25" b="1" dirty="0">
                <a:solidFill>
                  <a:srgbClr val="345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Steer</a:t>
            </a:r>
            <a:endParaRPr lang="en-US" sz="1425" dirty="0"/>
          </a:p>
        </p:txBody>
      </p:sp>
      <p:pic>
        <p:nvPicPr>
          <p:cNvPr id="92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3858875" y="438150"/>
            <a:ext cx="9525" cy="219075"/>
          </a:xfrm>
          <a:prstGeom prst="rect">
            <a:avLst/>
          </a:prstGeom>
        </p:spPr>
      </p:pic>
      <p:sp>
        <p:nvSpPr>
          <p:cNvPr id="93" name="Text 41"/>
          <p:cNvSpPr/>
          <p:nvPr/>
        </p:nvSpPr>
        <p:spPr>
          <a:xfrm>
            <a:off x="13154025" y="409575"/>
            <a:ext cx="590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598" b="1" dirty="0">
                <a:solidFill>
                  <a:srgbClr val="476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2</a:t>
            </a:r>
            <a:endParaRPr lang="en-US" sz="1598" dirty="0"/>
          </a:p>
        </p:txBody>
      </p:sp>
      <p:pic>
        <p:nvPicPr>
          <p:cNvPr id="94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2630150" y="361950"/>
            <a:ext cx="314325" cy="323850"/>
          </a:xfrm>
          <a:prstGeom prst="rect">
            <a:avLst/>
          </a:prstGeom>
        </p:spPr>
      </p:pic>
      <p:sp>
        <p:nvSpPr>
          <p:cNvPr id="95" name="Text 42"/>
          <p:cNvSpPr/>
          <p:nvPr/>
        </p:nvSpPr>
        <p:spPr>
          <a:xfrm>
            <a:off x="942975" y="247650"/>
            <a:ext cx="9810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04"/>
              </a:lnSpc>
              <a:buNone/>
            </a:pPr>
            <a:r>
              <a:rPr lang="en-US" sz="3645" b="1" dirty="0">
                <a:solidFill>
                  <a:srgbClr val="1C48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2 — Mobilise Approved Discovery</a:t>
            </a:r>
            <a:endParaRPr lang="en-US" sz="3645" dirty="0"/>
          </a:p>
        </p:txBody>
      </p:sp>
      <p:pic>
        <p:nvPicPr>
          <p:cNvPr id="96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0" y="257175"/>
            <a:ext cx="619125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925800" cy="8963025"/>
          </a:xfrm>
          <a:prstGeom prst="rect">
            <a:avLst/>
          </a:prstGeom>
          <a:solidFill>
            <a:srgbClr val="EBF6E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943975"/>
            <a:ext cx="15925800" cy="1905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025"/>
            <a:ext cx="47625" cy="352425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150"/>
            <a:ext cx="1562100" cy="1362075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29575"/>
            <a:ext cx="15925800" cy="923925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82800" y="8077200"/>
            <a:ext cx="1028700" cy="876300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8162925"/>
            <a:ext cx="523875" cy="68580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857375" y="8324850"/>
            <a:ext cx="122110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82"/>
              </a:lnSpc>
              <a:buNone/>
            </a:pPr>
            <a:r>
              <a:rPr lang="en-US" sz="1665" b="1" dirty="0">
                <a:solidFill>
                  <a:srgbClr val="C6D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monthly steer leaves the portfolio with clear priorities, owners, sequencing and evidence-based next steps.</a:t>
            </a:r>
            <a:endParaRPr lang="en-US" sz="1665" dirty="0"/>
          </a:p>
        </p:txBody>
      </p:sp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66950"/>
            <a:ext cx="15925800" cy="5638800"/>
          </a:xfrm>
          <a:prstGeom prst="rect">
            <a:avLst/>
          </a:prstGeom>
        </p:spPr>
      </p:pic>
      <p:sp>
        <p:nvSpPr>
          <p:cNvPr id="11" name="Shape 2"/>
          <p:cNvSpPr/>
          <p:nvPr/>
        </p:nvSpPr>
        <p:spPr>
          <a:xfrm>
            <a:off x="11239500" y="2324100"/>
            <a:ext cx="4438650" cy="5543550"/>
          </a:xfrm>
          <a:prstGeom prst="roundRect">
            <a:avLst>
              <a:gd name="adj" fmla="val 2790"/>
            </a:avLst>
          </a:prstGeom>
          <a:solidFill>
            <a:srgbClr val="FBFDFB"/>
          </a:solidFill>
          <a:ln w="9525">
            <a:solidFill>
              <a:srgbClr val="F6FAF6"/>
            </a:solidFill>
            <a:prstDash val="solid"/>
          </a:ln>
        </p:spPr>
      </p:sp>
      <p:sp>
        <p:nvSpPr>
          <p:cNvPr id="12" name="Shape 3"/>
          <p:cNvSpPr/>
          <p:nvPr/>
        </p:nvSpPr>
        <p:spPr>
          <a:xfrm>
            <a:off x="11410950" y="6134100"/>
            <a:ext cx="4133850" cy="1514475"/>
          </a:xfrm>
          <a:prstGeom prst="roundRect">
            <a:avLst>
              <a:gd name="adj" fmla="val 13679"/>
            </a:avLst>
          </a:prstGeom>
          <a:solidFill>
            <a:srgbClr val="ECEEEF"/>
          </a:solidFill>
          <a:ln w="28575">
            <a:solidFill>
              <a:srgbClr val="F6F7F6"/>
            </a:solidFill>
            <a:prstDash val="solid"/>
          </a:ln>
        </p:spPr>
      </p:sp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92350" y="6638925"/>
            <a:ext cx="590550" cy="1038225"/>
          </a:xfrm>
          <a:prstGeom prst="rect">
            <a:avLst/>
          </a:prstGeom>
        </p:spPr>
      </p:pic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53950" y="7200900"/>
            <a:ext cx="76200" cy="76200"/>
          </a:xfrm>
          <a:prstGeom prst="rect">
            <a:avLst/>
          </a:prstGeom>
        </p:spPr>
      </p:pic>
      <p:pic>
        <p:nvPicPr>
          <p:cNvPr id="1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53950" y="6915150"/>
            <a:ext cx="76200" cy="85725"/>
          </a:xfrm>
          <a:prstGeom prst="rect">
            <a:avLst/>
          </a:prstGeom>
        </p:spPr>
      </p:pic>
      <p:pic>
        <p:nvPicPr>
          <p:cNvPr id="1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20500" y="6305550"/>
            <a:ext cx="685800" cy="695325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12801600" y="7115175"/>
            <a:ext cx="21240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8" b="1" dirty="0">
                <a:solidFill>
                  <a:srgbClr val="6C70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Items returning next month</a:t>
            </a:r>
            <a:endParaRPr lang="en-US" sz="1158" dirty="0"/>
          </a:p>
        </p:txBody>
      </p:sp>
      <p:sp>
        <p:nvSpPr>
          <p:cNvPr id="18" name="Text 5"/>
          <p:cNvSpPr/>
          <p:nvPr/>
        </p:nvSpPr>
        <p:spPr>
          <a:xfrm>
            <a:off x="12792075" y="6829425"/>
            <a:ext cx="20859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377" dirty="0">
                <a:solidFill>
                  <a:srgbClr val="676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Unresolved dependencies</a:t>
            </a:r>
            <a:endParaRPr lang="en-US" sz="1377" dirty="0"/>
          </a:p>
        </p:txBody>
      </p:sp>
      <p:sp>
        <p:nvSpPr>
          <p:cNvPr id="19" name="Text 6"/>
          <p:cNvSpPr/>
          <p:nvPr/>
        </p:nvSpPr>
        <p:spPr>
          <a:xfrm>
            <a:off x="12553950" y="6381750"/>
            <a:ext cx="2152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2"/>
              </a:lnSpc>
              <a:buNone/>
            </a:pPr>
            <a:r>
              <a:rPr lang="en-US" sz="1645" b="1" dirty="0">
                <a:solidFill>
                  <a:srgbClr val="3C4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Attention</a:t>
            </a:r>
            <a:endParaRPr lang="en-US" sz="1645" dirty="0"/>
          </a:p>
        </p:txBody>
      </p:sp>
      <p:sp>
        <p:nvSpPr>
          <p:cNvPr id="20" name="Shape 7"/>
          <p:cNvSpPr/>
          <p:nvPr/>
        </p:nvSpPr>
        <p:spPr>
          <a:xfrm>
            <a:off x="11458575" y="4514850"/>
            <a:ext cx="4086225" cy="1504950"/>
          </a:xfrm>
          <a:prstGeom prst="roundRect">
            <a:avLst>
              <a:gd name="adj" fmla="val 12025"/>
            </a:avLst>
          </a:prstGeom>
          <a:solidFill>
            <a:srgbClr val="FCF5E3"/>
          </a:solidFill>
          <a:ln w="9525">
            <a:solidFill>
              <a:srgbClr val="FCF8E9"/>
            </a:solidFill>
            <a:prstDash val="solid"/>
          </a:ln>
        </p:spPr>
      </p:sp>
      <p:pic>
        <p:nvPicPr>
          <p:cNvPr id="2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039975" y="4962525"/>
            <a:ext cx="504825" cy="942975"/>
          </a:xfrm>
          <a:prstGeom prst="rect">
            <a:avLst/>
          </a:prstGeom>
        </p:spPr>
      </p:pic>
      <p:pic>
        <p:nvPicPr>
          <p:cNvPr id="2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544425" y="5543550"/>
            <a:ext cx="85725" cy="76200"/>
          </a:xfrm>
          <a:prstGeom prst="rect">
            <a:avLst/>
          </a:prstGeom>
        </p:spPr>
      </p:pic>
      <p:pic>
        <p:nvPicPr>
          <p:cNvPr id="2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553950" y="5267325"/>
            <a:ext cx="76200" cy="85725"/>
          </a:xfrm>
          <a:prstGeom prst="rect">
            <a:avLst/>
          </a:prstGeom>
        </p:spPr>
      </p:pic>
      <p:pic>
        <p:nvPicPr>
          <p:cNvPr id="2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620500" y="4667250"/>
            <a:ext cx="676275" cy="676275"/>
          </a:xfrm>
          <a:prstGeom prst="rect">
            <a:avLst/>
          </a:prstGeom>
        </p:spPr>
      </p:pic>
      <p:sp>
        <p:nvSpPr>
          <p:cNvPr id="25" name="Text 8"/>
          <p:cNvSpPr/>
          <p:nvPr/>
        </p:nvSpPr>
        <p:spPr>
          <a:xfrm>
            <a:off x="12792075" y="5457825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138" b="1" dirty="0">
                <a:solidFill>
                  <a:srgbClr val="6B6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Routed to existing capability</a:t>
            </a:r>
            <a:endParaRPr lang="en-US" sz="1138" dirty="0"/>
          </a:p>
        </p:txBody>
      </p:sp>
      <p:sp>
        <p:nvSpPr>
          <p:cNvPr id="26" name="Text 9"/>
          <p:cNvSpPr/>
          <p:nvPr/>
        </p:nvSpPr>
        <p:spPr>
          <a:xfrm>
            <a:off x="12792075" y="5191125"/>
            <a:ext cx="118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75"/>
              </a:lnSpc>
              <a:buNone/>
            </a:pPr>
            <a:r>
              <a:rPr lang="en-US" sz="1364" dirty="0">
                <a:solidFill>
                  <a:srgbClr val="686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later</a:t>
            </a:r>
            <a:endParaRPr lang="en-US" sz="1364" dirty="0"/>
          </a:p>
        </p:txBody>
      </p:sp>
      <p:sp>
        <p:nvSpPr>
          <p:cNvPr id="27" name="Text 10"/>
          <p:cNvSpPr/>
          <p:nvPr/>
        </p:nvSpPr>
        <p:spPr>
          <a:xfrm>
            <a:off x="12544425" y="4743450"/>
            <a:ext cx="21240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688" b="1" dirty="0">
                <a:solidFill>
                  <a:srgbClr val="394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Sequenced / Routed</a:t>
            </a:r>
            <a:endParaRPr lang="en-US" sz="1688" dirty="0"/>
          </a:p>
        </p:txBody>
      </p:sp>
      <p:sp>
        <p:nvSpPr>
          <p:cNvPr id="28" name="Shape 11"/>
          <p:cNvSpPr/>
          <p:nvPr/>
        </p:nvSpPr>
        <p:spPr>
          <a:xfrm>
            <a:off x="11458575" y="3019425"/>
            <a:ext cx="4076700" cy="1362075"/>
          </a:xfrm>
          <a:prstGeom prst="roundRect">
            <a:avLst>
              <a:gd name="adj" fmla="val 12587"/>
            </a:avLst>
          </a:prstGeom>
          <a:solidFill>
            <a:srgbClr val="EDF9EF"/>
          </a:solidFill>
          <a:ln w="9525">
            <a:solidFill>
              <a:srgbClr val="ECF7EE"/>
            </a:solidFill>
            <a:prstDash val="solid"/>
          </a:ln>
        </p:spPr>
      </p:sp>
      <p:pic>
        <p:nvPicPr>
          <p:cNvPr id="2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954250" y="3362325"/>
            <a:ext cx="533400" cy="990600"/>
          </a:xfrm>
          <a:prstGeom prst="rect">
            <a:avLst/>
          </a:prstGeom>
        </p:spPr>
      </p:pic>
      <p:pic>
        <p:nvPicPr>
          <p:cNvPr id="3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544425" y="4000500"/>
            <a:ext cx="76200" cy="85725"/>
          </a:xfrm>
          <a:prstGeom prst="rect">
            <a:avLst/>
          </a:prstGeom>
        </p:spPr>
      </p:pic>
      <p:pic>
        <p:nvPicPr>
          <p:cNvPr id="3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544425" y="3724275"/>
            <a:ext cx="76200" cy="76200"/>
          </a:xfrm>
          <a:prstGeom prst="rect">
            <a:avLst/>
          </a:prstGeom>
        </p:spPr>
      </p:pic>
      <p:pic>
        <p:nvPicPr>
          <p:cNvPr id="3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658600" y="3162300"/>
            <a:ext cx="590550" cy="581025"/>
          </a:xfrm>
          <a:prstGeom prst="rect">
            <a:avLst/>
          </a:prstGeom>
        </p:spPr>
      </p:pic>
      <p:sp>
        <p:nvSpPr>
          <p:cNvPr id="33" name="Text 12"/>
          <p:cNvSpPr/>
          <p:nvPr/>
        </p:nvSpPr>
        <p:spPr>
          <a:xfrm>
            <a:off x="12763500" y="3914775"/>
            <a:ext cx="18192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9"/>
              </a:lnSpc>
              <a:buNone/>
            </a:pPr>
            <a:r>
              <a:rPr lang="en-US" sz="1392" dirty="0">
                <a:solidFill>
                  <a:srgbClr val="5F6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work continuing</a:t>
            </a:r>
            <a:endParaRPr lang="en-US" sz="1392" dirty="0"/>
          </a:p>
        </p:txBody>
      </p:sp>
      <p:sp>
        <p:nvSpPr>
          <p:cNvPr id="34" name="Text 13"/>
          <p:cNvSpPr/>
          <p:nvPr/>
        </p:nvSpPr>
        <p:spPr>
          <a:xfrm>
            <a:off x="12773025" y="3638550"/>
            <a:ext cx="1952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7"/>
              </a:lnSpc>
              <a:buNone/>
            </a:pPr>
            <a:r>
              <a:rPr lang="en-US" sz="1336" dirty="0">
                <a:solidFill>
                  <a:srgbClr val="677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Discovery mobilised</a:t>
            </a:r>
            <a:endParaRPr lang="en-US" sz="1336" dirty="0"/>
          </a:p>
        </p:txBody>
      </p:sp>
      <p:sp>
        <p:nvSpPr>
          <p:cNvPr id="35" name="Text 14"/>
          <p:cNvSpPr/>
          <p:nvPr/>
        </p:nvSpPr>
        <p:spPr>
          <a:xfrm>
            <a:off x="12525375" y="3248025"/>
            <a:ext cx="13144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673" b="1" dirty="0">
                <a:solidFill>
                  <a:srgbClr val="3B5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Started Now</a:t>
            </a:r>
            <a:endParaRPr lang="en-US" sz="1673" dirty="0"/>
          </a:p>
        </p:txBody>
      </p:sp>
      <p:sp>
        <p:nvSpPr>
          <p:cNvPr id="36" name="Text 15"/>
          <p:cNvSpPr/>
          <p:nvPr/>
        </p:nvSpPr>
        <p:spPr>
          <a:xfrm>
            <a:off x="11468100" y="2524125"/>
            <a:ext cx="4057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91"/>
              </a:lnSpc>
              <a:buNone/>
            </a:pPr>
            <a:r>
              <a:rPr lang="en-US" sz="1930" b="1" dirty="0">
                <a:solidFill>
                  <a:srgbClr val="294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Position After This Steer</a:t>
            </a:r>
            <a:endParaRPr lang="en-US" sz="1930" dirty="0"/>
          </a:p>
        </p:txBody>
      </p:sp>
      <p:sp>
        <p:nvSpPr>
          <p:cNvPr id="37" name="Shape 16"/>
          <p:cNvSpPr/>
          <p:nvPr/>
        </p:nvSpPr>
        <p:spPr>
          <a:xfrm>
            <a:off x="266700" y="7229475"/>
            <a:ext cx="10239375" cy="638175"/>
          </a:xfrm>
          <a:prstGeom prst="roundRect">
            <a:avLst>
              <a:gd name="adj" fmla="val 11940"/>
            </a:avLst>
          </a:prstGeom>
          <a:solidFill>
            <a:srgbClr val="F6FAF8"/>
          </a:solidFill>
          <a:ln/>
        </p:spPr>
      </p:sp>
      <p:pic>
        <p:nvPicPr>
          <p:cNvPr id="3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06075" y="7229475"/>
            <a:ext cx="533400" cy="638175"/>
          </a:xfrm>
          <a:prstGeom prst="rect">
            <a:avLst/>
          </a:prstGeom>
        </p:spPr>
      </p:pic>
      <p:sp>
        <p:nvSpPr>
          <p:cNvPr id="39" name="Text 17"/>
          <p:cNvSpPr/>
          <p:nvPr/>
        </p:nvSpPr>
        <p:spPr>
          <a:xfrm>
            <a:off x="1095375" y="7410450"/>
            <a:ext cx="9048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76"/>
              </a:lnSpc>
              <a:buNone/>
            </a:pPr>
            <a:r>
              <a:rPr lang="en-US" sz="1380" dirty="0">
                <a:solidFill>
                  <a:srgbClr val="5665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steering decision is complete only when the route, accountable owner, next evidence and return point are clear.</a:t>
            </a:r>
            <a:endParaRPr lang="en-US" sz="1380" dirty="0"/>
          </a:p>
        </p:txBody>
      </p:sp>
      <p:pic>
        <p:nvPicPr>
          <p:cNvPr id="40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09575" y="7315200"/>
            <a:ext cx="457200" cy="457200"/>
          </a:xfrm>
          <a:prstGeom prst="rect">
            <a:avLst/>
          </a:prstGeom>
        </p:spPr>
      </p:pic>
      <p:pic>
        <p:nvPicPr>
          <p:cNvPr id="4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0525" y="2476500"/>
            <a:ext cx="10515600" cy="4467225"/>
          </a:xfrm>
          <a:prstGeom prst="rect">
            <a:avLst/>
          </a:prstGeom>
        </p:spPr>
      </p:pic>
      <p:sp>
        <p:nvSpPr>
          <p:cNvPr id="42" name="Shape 18"/>
          <p:cNvSpPr/>
          <p:nvPr/>
        </p:nvSpPr>
        <p:spPr>
          <a:xfrm>
            <a:off x="9458325" y="6276975"/>
            <a:ext cx="981075" cy="447675"/>
          </a:xfrm>
          <a:prstGeom prst="roundRect">
            <a:avLst>
              <a:gd name="adj" fmla="val 46809"/>
            </a:avLst>
          </a:prstGeom>
          <a:solidFill>
            <a:srgbClr val="E6EAEA"/>
          </a:solidFill>
          <a:ln w="9525">
            <a:solidFill>
              <a:srgbClr val="EDEFEF"/>
            </a:solidFill>
            <a:prstDash val="solid"/>
          </a:ln>
        </p:spPr>
      </p:sp>
      <p:pic>
        <p:nvPicPr>
          <p:cNvPr id="43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620250" y="6391275"/>
            <a:ext cx="190500" cy="209550"/>
          </a:xfrm>
          <a:prstGeom prst="rect">
            <a:avLst/>
          </a:prstGeom>
        </p:spPr>
      </p:pic>
      <p:sp>
        <p:nvSpPr>
          <p:cNvPr id="44" name="Text 19"/>
          <p:cNvSpPr/>
          <p:nvPr/>
        </p:nvSpPr>
        <p:spPr>
          <a:xfrm>
            <a:off x="9925050" y="6391275"/>
            <a:ext cx="323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47"/>
              </a:lnSpc>
              <a:buNone/>
            </a:pPr>
            <a:r>
              <a:rPr lang="en-US" sz="1237" dirty="0">
                <a:solidFill>
                  <a:srgbClr val="656A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TBD</a:t>
            </a:r>
            <a:endParaRPr lang="en-US" sz="1237" dirty="0"/>
          </a:p>
        </p:txBody>
      </p:sp>
      <p:sp>
        <p:nvSpPr>
          <p:cNvPr id="45" name="Shape 20"/>
          <p:cNvSpPr/>
          <p:nvPr/>
        </p:nvSpPr>
        <p:spPr>
          <a:xfrm>
            <a:off x="5715000" y="6276975"/>
            <a:ext cx="981075" cy="447675"/>
          </a:xfrm>
          <a:prstGeom prst="roundRect">
            <a:avLst>
              <a:gd name="adj" fmla="val 47872"/>
            </a:avLst>
          </a:prstGeom>
          <a:solidFill>
            <a:srgbClr val="E6E9EA"/>
          </a:solidFill>
          <a:ln w="9525">
            <a:solidFill>
              <a:srgbClr val="EDEFEF"/>
            </a:solidFill>
            <a:prstDash val="solid"/>
          </a:ln>
        </p:spPr>
      </p:sp>
      <p:pic>
        <p:nvPicPr>
          <p:cNvPr id="46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867400" y="6400800"/>
            <a:ext cx="171450" cy="200025"/>
          </a:xfrm>
          <a:prstGeom prst="rect">
            <a:avLst/>
          </a:prstGeom>
        </p:spPr>
      </p:pic>
      <p:sp>
        <p:nvSpPr>
          <p:cNvPr id="47" name="Text 21"/>
          <p:cNvSpPr/>
          <p:nvPr/>
        </p:nvSpPr>
        <p:spPr>
          <a:xfrm>
            <a:off x="6191250" y="6391275"/>
            <a:ext cx="323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31"/>
              </a:lnSpc>
              <a:buNone/>
            </a:pPr>
            <a:r>
              <a:rPr lang="en-US" sz="1237" dirty="0">
                <a:solidFill>
                  <a:srgbClr val="6D73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TBD</a:t>
            </a:r>
            <a:endParaRPr lang="en-US" sz="1237" dirty="0"/>
          </a:p>
        </p:txBody>
      </p:sp>
      <p:sp>
        <p:nvSpPr>
          <p:cNvPr id="48" name="Text 22"/>
          <p:cNvSpPr/>
          <p:nvPr/>
        </p:nvSpPr>
        <p:spPr>
          <a:xfrm>
            <a:off x="3886200" y="6381750"/>
            <a:ext cx="3619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27"/>
              </a:lnSpc>
              <a:buNone/>
            </a:pPr>
            <a:r>
              <a:rPr lang="en-US" sz="1383" dirty="0">
                <a:solidFill>
                  <a:srgbClr val="626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TBD</a:t>
            </a:r>
            <a:endParaRPr lang="en-US" sz="1383" dirty="0"/>
          </a:p>
        </p:txBody>
      </p:sp>
      <p:sp>
        <p:nvSpPr>
          <p:cNvPr id="49" name="Shape 23"/>
          <p:cNvSpPr/>
          <p:nvPr/>
        </p:nvSpPr>
        <p:spPr>
          <a:xfrm>
            <a:off x="2057400" y="6276975"/>
            <a:ext cx="1581150" cy="438150"/>
          </a:xfrm>
          <a:prstGeom prst="roundRect">
            <a:avLst>
              <a:gd name="adj" fmla="val 45652"/>
            </a:avLst>
          </a:prstGeom>
          <a:solidFill>
            <a:srgbClr val="E0E4E5"/>
          </a:solidFill>
          <a:ln/>
        </p:spPr>
      </p:sp>
      <p:pic>
        <p:nvPicPr>
          <p:cNvPr id="50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190750" y="6467475"/>
            <a:ext cx="209550" cy="57150"/>
          </a:xfrm>
          <a:prstGeom prst="rect">
            <a:avLst/>
          </a:prstGeom>
        </p:spPr>
      </p:pic>
      <p:sp>
        <p:nvSpPr>
          <p:cNvPr id="51" name="Text 24"/>
          <p:cNvSpPr/>
          <p:nvPr/>
        </p:nvSpPr>
        <p:spPr>
          <a:xfrm>
            <a:off x="2505075" y="6400800"/>
            <a:ext cx="10001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1027" b="1" dirty="0">
                <a:solidFill>
                  <a:srgbClr val="7279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initiative</a:t>
            </a:r>
            <a:endParaRPr lang="en-US" sz="1027" dirty="0"/>
          </a:p>
        </p:txBody>
      </p:sp>
      <p:sp>
        <p:nvSpPr>
          <p:cNvPr id="52" name="Shape 25"/>
          <p:cNvSpPr/>
          <p:nvPr/>
        </p:nvSpPr>
        <p:spPr>
          <a:xfrm>
            <a:off x="9458325" y="5400675"/>
            <a:ext cx="1295400" cy="447675"/>
          </a:xfrm>
          <a:prstGeom prst="roundRect">
            <a:avLst>
              <a:gd name="adj" fmla="val 46809"/>
            </a:avLst>
          </a:prstGeom>
          <a:solidFill>
            <a:srgbClr val="DAF1E0"/>
          </a:solidFill>
          <a:ln w="9525">
            <a:solidFill>
              <a:srgbClr val="E1F2E5"/>
            </a:solidFill>
            <a:prstDash val="solid"/>
          </a:ln>
        </p:spPr>
      </p:sp>
      <p:pic>
        <p:nvPicPr>
          <p:cNvPr id="53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620250" y="5514975"/>
            <a:ext cx="190500" cy="219075"/>
          </a:xfrm>
          <a:prstGeom prst="rect">
            <a:avLst/>
          </a:prstGeom>
        </p:spPr>
      </p:pic>
      <p:sp>
        <p:nvSpPr>
          <p:cNvPr id="54" name="Text 26"/>
          <p:cNvSpPr/>
          <p:nvPr/>
        </p:nvSpPr>
        <p:spPr>
          <a:xfrm>
            <a:off x="9925050" y="5534025"/>
            <a:ext cx="6953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163" dirty="0">
                <a:solidFill>
                  <a:srgbClr val="4F76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steer</a:t>
            </a:r>
            <a:endParaRPr lang="en-US" sz="1163" dirty="0"/>
          </a:p>
        </p:txBody>
      </p:sp>
      <p:sp>
        <p:nvSpPr>
          <p:cNvPr id="55" name="Shape 27"/>
          <p:cNvSpPr/>
          <p:nvPr/>
        </p:nvSpPr>
        <p:spPr>
          <a:xfrm>
            <a:off x="5715000" y="5400675"/>
            <a:ext cx="1362075" cy="447675"/>
          </a:xfrm>
          <a:prstGeom prst="roundRect">
            <a:avLst>
              <a:gd name="adj" fmla="val 46809"/>
            </a:avLst>
          </a:prstGeom>
          <a:solidFill>
            <a:srgbClr val="E7EAEB"/>
          </a:solidFill>
          <a:ln w="9525">
            <a:solidFill>
              <a:srgbClr val="E9ECEC"/>
            </a:solidFill>
            <a:prstDash val="solid"/>
          </a:ln>
        </p:spPr>
      </p:sp>
      <p:pic>
        <p:nvPicPr>
          <p:cNvPr id="56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867400" y="5524500"/>
            <a:ext cx="180975" cy="200025"/>
          </a:xfrm>
          <a:prstGeom prst="rect">
            <a:avLst/>
          </a:prstGeom>
        </p:spPr>
      </p:pic>
      <p:sp>
        <p:nvSpPr>
          <p:cNvPr id="57" name="Text 28"/>
          <p:cNvSpPr/>
          <p:nvPr/>
        </p:nvSpPr>
        <p:spPr>
          <a:xfrm>
            <a:off x="6181725" y="5524500"/>
            <a:ext cx="742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1231" dirty="0">
                <a:solidFill>
                  <a:srgbClr val="6A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confirm</a:t>
            </a:r>
            <a:endParaRPr lang="en-US" sz="1231" dirty="0"/>
          </a:p>
        </p:txBody>
      </p:sp>
      <p:sp>
        <p:nvSpPr>
          <p:cNvPr id="58" name="Text 29"/>
          <p:cNvSpPr/>
          <p:nvPr/>
        </p:nvSpPr>
        <p:spPr>
          <a:xfrm>
            <a:off x="3886200" y="5514975"/>
            <a:ext cx="733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1"/>
              </a:lnSpc>
              <a:buNone/>
            </a:pPr>
            <a:r>
              <a:rPr lang="en-US" sz="1387" dirty="0">
                <a:solidFill>
                  <a:srgbClr val="6467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</a:t>
            </a:r>
            <a:endParaRPr lang="en-US" sz="1387" dirty="0"/>
          </a:p>
        </p:txBody>
      </p:sp>
      <p:sp>
        <p:nvSpPr>
          <p:cNvPr id="59" name="Shape 30"/>
          <p:cNvSpPr/>
          <p:nvPr/>
        </p:nvSpPr>
        <p:spPr>
          <a:xfrm>
            <a:off x="2057400" y="5400675"/>
            <a:ext cx="1590675" cy="447675"/>
          </a:xfrm>
          <a:prstGeom prst="roundRect">
            <a:avLst>
              <a:gd name="adj" fmla="val 46809"/>
            </a:avLst>
          </a:prstGeom>
          <a:solidFill>
            <a:srgbClr val="FDEDC1"/>
          </a:solidFill>
          <a:ln/>
        </p:spPr>
      </p:sp>
      <p:pic>
        <p:nvPicPr>
          <p:cNvPr id="60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171700" y="5505450"/>
            <a:ext cx="228600" cy="228600"/>
          </a:xfrm>
          <a:prstGeom prst="rect">
            <a:avLst/>
          </a:prstGeom>
        </p:spPr>
      </p:pic>
      <p:sp>
        <p:nvSpPr>
          <p:cNvPr id="61" name="Text 31"/>
          <p:cNvSpPr/>
          <p:nvPr/>
        </p:nvSpPr>
        <p:spPr>
          <a:xfrm>
            <a:off x="2495550" y="5524500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42"/>
              </a:lnSpc>
              <a:buNone/>
            </a:pPr>
            <a:r>
              <a:rPr lang="en-US" sz="1049" b="1" dirty="0">
                <a:solidFill>
                  <a:srgbClr val="917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initiative</a:t>
            </a:r>
            <a:endParaRPr lang="en-US" sz="1049" dirty="0"/>
          </a:p>
        </p:txBody>
      </p:sp>
      <p:sp>
        <p:nvSpPr>
          <p:cNvPr id="62" name="Shape 32"/>
          <p:cNvSpPr/>
          <p:nvPr/>
        </p:nvSpPr>
        <p:spPr>
          <a:xfrm>
            <a:off x="9458325" y="4467225"/>
            <a:ext cx="1295400" cy="447675"/>
          </a:xfrm>
          <a:prstGeom prst="roundRect">
            <a:avLst>
              <a:gd name="adj" fmla="val 46809"/>
            </a:avLst>
          </a:prstGeom>
          <a:solidFill>
            <a:srgbClr val="DBF1E1"/>
          </a:solidFill>
          <a:ln w="9525">
            <a:solidFill>
              <a:srgbClr val="E5F4E9"/>
            </a:solidFill>
            <a:prstDash val="solid"/>
          </a:ln>
        </p:spPr>
      </p:sp>
      <p:pic>
        <p:nvPicPr>
          <p:cNvPr id="63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620250" y="4581525"/>
            <a:ext cx="190500" cy="209550"/>
          </a:xfrm>
          <a:prstGeom prst="rect">
            <a:avLst/>
          </a:prstGeom>
        </p:spPr>
      </p:pic>
      <p:sp>
        <p:nvSpPr>
          <p:cNvPr id="64" name="Text 33"/>
          <p:cNvSpPr/>
          <p:nvPr/>
        </p:nvSpPr>
        <p:spPr>
          <a:xfrm>
            <a:off x="9925050" y="4591050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1163" dirty="0">
                <a:solidFill>
                  <a:srgbClr val="567D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steer</a:t>
            </a:r>
            <a:endParaRPr lang="en-US" sz="1163" dirty="0"/>
          </a:p>
        </p:txBody>
      </p:sp>
      <p:sp>
        <p:nvSpPr>
          <p:cNvPr id="65" name="Text 34"/>
          <p:cNvSpPr/>
          <p:nvPr/>
        </p:nvSpPr>
        <p:spPr>
          <a:xfrm>
            <a:off x="7372350" y="4448175"/>
            <a:ext cx="15716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63"/>
              </a:lnSpc>
              <a:buNone/>
            </a:pPr>
            <a:r>
              <a:rPr lang="en-US" sz="1365" dirty="0">
                <a:solidFill>
                  <a:srgbClr val="5A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/ routing</a:t>
            </a:r>
            <a:endParaRPr lang="en-US" sz="1365" dirty="0"/>
          </a:p>
          <a:p>
            <a:pPr algn="l" indent="0" marL="0">
              <a:lnSpc>
                <a:spcPts val="1763"/>
              </a:lnSpc>
              <a:buNone/>
            </a:pPr>
            <a:r>
              <a:rPr lang="en-US" sz="1365" dirty="0">
                <a:solidFill>
                  <a:srgbClr val="5A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</a:t>
            </a:r>
            <a:endParaRPr lang="en-US" sz="1365" dirty="0"/>
          </a:p>
        </p:txBody>
      </p:sp>
      <p:sp>
        <p:nvSpPr>
          <p:cNvPr id="66" name="Shape 35"/>
          <p:cNvSpPr/>
          <p:nvPr/>
        </p:nvSpPr>
        <p:spPr>
          <a:xfrm>
            <a:off x="5715000" y="4476750"/>
            <a:ext cx="1362075" cy="428625"/>
          </a:xfrm>
          <a:prstGeom prst="roundRect">
            <a:avLst>
              <a:gd name="adj" fmla="val 46667"/>
            </a:avLst>
          </a:prstGeom>
          <a:solidFill>
            <a:srgbClr val="E7EAEB"/>
          </a:solidFill>
          <a:ln/>
        </p:spPr>
      </p:sp>
      <p:pic>
        <p:nvPicPr>
          <p:cNvPr id="67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867400" y="4591050"/>
            <a:ext cx="171450" cy="190500"/>
          </a:xfrm>
          <a:prstGeom prst="rect">
            <a:avLst/>
          </a:prstGeom>
        </p:spPr>
      </p:pic>
      <p:sp>
        <p:nvSpPr>
          <p:cNvPr id="68" name="Text 36"/>
          <p:cNvSpPr/>
          <p:nvPr/>
        </p:nvSpPr>
        <p:spPr>
          <a:xfrm>
            <a:off x="6191250" y="4591050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1100" b="1" dirty="0">
                <a:solidFill>
                  <a:srgbClr val="6C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confirm</a:t>
            </a:r>
            <a:endParaRPr lang="en-US" sz="1100" dirty="0"/>
          </a:p>
        </p:txBody>
      </p:sp>
      <p:sp>
        <p:nvSpPr>
          <p:cNvPr id="69" name="Text 37"/>
          <p:cNvSpPr/>
          <p:nvPr/>
        </p:nvSpPr>
        <p:spPr>
          <a:xfrm>
            <a:off x="3876675" y="4438650"/>
            <a:ext cx="14668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6"/>
              </a:lnSpc>
              <a:buNone/>
            </a:pPr>
            <a:r>
              <a:rPr lang="en-US" sz="1425" dirty="0">
                <a:solidFill>
                  <a:srgbClr val="6F72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/ align to</a:t>
            </a:r>
            <a:endParaRPr lang="en-US" sz="1425" dirty="0"/>
          </a:p>
          <a:p>
            <a:pPr algn="l" indent="0" marL="0">
              <a:lnSpc>
                <a:spcPts val="1746"/>
              </a:lnSpc>
              <a:buNone/>
            </a:pPr>
            <a:r>
              <a:rPr lang="en-US" sz="1425" dirty="0">
                <a:solidFill>
                  <a:srgbClr val="6F72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capability</a:t>
            </a:r>
            <a:endParaRPr lang="en-US" sz="1425" dirty="0"/>
          </a:p>
        </p:txBody>
      </p:sp>
      <p:sp>
        <p:nvSpPr>
          <p:cNvPr id="70" name="Shape 38"/>
          <p:cNvSpPr/>
          <p:nvPr/>
        </p:nvSpPr>
        <p:spPr>
          <a:xfrm>
            <a:off x="2057400" y="4467225"/>
            <a:ext cx="1590675" cy="438150"/>
          </a:xfrm>
          <a:prstGeom prst="roundRect">
            <a:avLst>
              <a:gd name="adj" fmla="val 47826"/>
            </a:avLst>
          </a:prstGeom>
          <a:solidFill>
            <a:srgbClr val="D7EFDD"/>
          </a:solidFill>
          <a:ln w="9525">
            <a:solidFill>
              <a:srgbClr val="DAEEE0"/>
            </a:solidFill>
            <a:prstDash val="solid"/>
          </a:ln>
        </p:spPr>
      </p:sp>
      <p:pic>
        <p:nvPicPr>
          <p:cNvPr id="71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238375" y="4591050"/>
            <a:ext cx="152400" cy="180975"/>
          </a:xfrm>
          <a:prstGeom prst="rect">
            <a:avLst/>
          </a:prstGeom>
        </p:spPr>
      </p:pic>
      <p:sp>
        <p:nvSpPr>
          <p:cNvPr id="72" name="Text 39"/>
          <p:cNvSpPr/>
          <p:nvPr/>
        </p:nvSpPr>
        <p:spPr>
          <a:xfrm>
            <a:off x="2505075" y="4591050"/>
            <a:ext cx="10001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89"/>
              </a:lnSpc>
              <a:buNone/>
            </a:pPr>
            <a:r>
              <a:rPr lang="en-US" sz="1087" b="1" dirty="0">
                <a:solidFill>
                  <a:srgbClr val="4C6C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candidate</a:t>
            </a:r>
            <a:endParaRPr lang="en-US" sz="1087" dirty="0"/>
          </a:p>
        </p:txBody>
      </p:sp>
      <p:sp>
        <p:nvSpPr>
          <p:cNvPr id="73" name="Shape 40"/>
          <p:cNvSpPr/>
          <p:nvPr/>
        </p:nvSpPr>
        <p:spPr>
          <a:xfrm>
            <a:off x="9467850" y="3486150"/>
            <a:ext cx="1285875" cy="438150"/>
          </a:xfrm>
          <a:prstGeom prst="roundRect">
            <a:avLst>
              <a:gd name="adj" fmla="val 45652"/>
            </a:avLst>
          </a:prstGeom>
          <a:solidFill>
            <a:srgbClr val="E0F3E5"/>
          </a:solidFill>
          <a:ln/>
        </p:spPr>
      </p:sp>
      <p:pic>
        <p:nvPicPr>
          <p:cNvPr id="74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620250" y="3600450"/>
            <a:ext cx="190500" cy="209550"/>
          </a:xfrm>
          <a:prstGeom prst="rect">
            <a:avLst/>
          </a:prstGeom>
        </p:spPr>
      </p:pic>
      <p:sp>
        <p:nvSpPr>
          <p:cNvPr id="75" name="Text 41"/>
          <p:cNvSpPr/>
          <p:nvPr/>
        </p:nvSpPr>
        <p:spPr>
          <a:xfrm>
            <a:off x="9925050" y="3609975"/>
            <a:ext cx="7048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1163" dirty="0">
                <a:solidFill>
                  <a:srgbClr val="587D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steer</a:t>
            </a:r>
            <a:endParaRPr lang="en-US" sz="1163" dirty="0"/>
          </a:p>
        </p:txBody>
      </p:sp>
      <p:sp>
        <p:nvSpPr>
          <p:cNvPr id="76" name="Shape 42"/>
          <p:cNvSpPr/>
          <p:nvPr/>
        </p:nvSpPr>
        <p:spPr>
          <a:xfrm>
            <a:off x="5715000" y="3486150"/>
            <a:ext cx="1352550" cy="438150"/>
          </a:xfrm>
          <a:prstGeom prst="roundRect">
            <a:avLst>
              <a:gd name="adj" fmla="val 45652"/>
            </a:avLst>
          </a:prstGeom>
          <a:solidFill>
            <a:srgbClr val="E8EAEB"/>
          </a:solidFill>
          <a:ln/>
        </p:spPr>
      </p:sp>
      <p:pic>
        <p:nvPicPr>
          <p:cNvPr id="77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867400" y="3600450"/>
            <a:ext cx="180975" cy="200025"/>
          </a:xfrm>
          <a:prstGeom prst="rect">
            <a:avLst/>
          </a:prstGeom>
        </p:spPr>
      </p:pic>
      <p:sp>
        <p:nvSpPr>
          <p:cNvPr id="78" name="Text 43"/>
          <p:cNvSpPr/>
          <p:nvPr/>
        </p:nvSpPr>
        <p:spPr>
          <a:xfrm>
            <a:off x="6181725" y="3600450"/>
            <a:ext cx="742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1231" dirty="0">
                <a:solidFill>
                  <a:srgbClr val="6D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confirm</a:t>
            </a:r>
            <a:endParaRPr lang="en-US" sz="1231" dirty="0"/>
          </a:p>
        </p:txBody>
      </p:sp>
      <p:sp>
        <p:nvSpPr>
          <p:cNvPr id="79" name="Shape 44"/>
          <p:cNvSpPr/>
          <p:nvPr/>
        </p:nvSpPr>
        <p:spPr>
          <a:xfrm>
            <a:off x="2047875" y="3476625"/>
            <a:ext cx="1590675" cy="447675"/>
          </a:xfrm>
          <a:prstGeom prst="roundRect">
            <a:avLst>
              <a:gd name="adj" fmla="val 46809"/>
            </a:avLst>
          </a:prstGeom>
          <a:solidFill>
            <a:srgbClr val="D8F0DE"/>
          </a:solidFill>
          <a:ln w="9525">
            <a:solidFill>
              <a:srgbClr val="E3F3E8"/>
            </a:solidFill>
            <a:prstDash val="solid"/>
          </a:ln>
        </p:spPr>
      </p:sp>
      <p:pic>
        <p:nvPicPr>
          <p:cNvPr id="8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238375" y="3600450"/>
            <a:ext cx="152400" cy="180975"/>
          </a:xfrm>
          <a:prstGeom prst="rect">
            <a:avLst/>
          </a:prstGeom>
        </p:spPr>
      </p:pic>
      <p:sp>
        <p:nvSpPr>
          <p:cNvPr id="81" name="Text 45"/>
          <p:cNvSpPr/>
          <p:nvPr/>
        </p:nvSpPr>
        <p:spPr>
          <a:xfrm>
            <a:off x="2505075" y="3590925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95"/>
              </a:lnSpc>
              <a:buNone/>
            </a:pPr>
            <a:r>
              <a:rPr lang="en-US" sz="1081" b="1" dirty="0">
                <a:solidFill>
                  <a:srgbClr val="5372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candidate</a:t>
            </a:r>
            <a:endParaRPr lang="en-US" sz="1081" dirty="0"/>
          </a:p>
        </p:txBody>
      </p:sp>
      <p:sp>
        <p:nvSpPr>
          <p:cNvPr id="82" name="Text 46"/>
          <p:cNvSpPr/>
          <p:nvPr/>
        </p:nvSpPr>
        <p:spPr>
          <a:xfrm>
            <a:off x="5724525" y="2638425"/>
            <a:ext cx="10382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7"/>
              </a:lnSpc>
              <a:buNone/>
            </a:pPr>
            <a:r>
              <a:rPr lang="en-US" sz="1305" b="1" dirty="0">
                <a:solidFill>
                  <a:srgbClr val="465D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Accountable</a:t>
            </a:r>
            <a:endParaRPr lang="en-US" sz="1305" dirty="0"/>
          </a:p>
          <a:p>
            <a:pPr algn="l" indent="0" marL="0">
              <a:lnSpc>
                <a:spcPts val="1457"/>
              </a:lnSpc>
              <a:buNone/>
            </a:pPr>
            <a:r>
              <a:rPr lang="en-US" sz="1305" b="1" dirty="0">
                <a:solidFill>
                  <a:srgbClr val="465D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1305" dirty="0"/>
          </a:p>
        </p:txBody>
      </p:sp>
      <p:sp>
        <p:nvSpPr>
          <p:cNvPr id="83" name="Text 47"/>
          <p:cNvSpPr/>
          <p:nvPr/>
        </p:nvSpPr>
        <p:spPr>
          <a:xfrm>
            <a:off x="7372350" y="6381750"/>
            <a:ext cx="3619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27"/>
              </a:lnSpc>
              <a:buNone/>
            </a:pPr>
            <a:r>
              <a:rPr lang="en-US" sz="1383" dirty="0">
                <a:solidFill>
                  <a:srgbClr val="6569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TBD</a:t>
            </a:r>
            <a:endParaRPr lang="en-US" sz="1383" dirty="0"/>
          </a:p>
        </p:txBody>
      </p:sp>
      <p:sp>
        <p:nvSpPr>
          <p:cNvPr id="84" name="Text 48"/>
          <p:cNvSpPr/>
          <p:nvPr/>
        </p:nvSpPr>
        <p:spPr>
          <a:xfrm>
            <a:off x="619125" y="6391275"/>
            <a:ext cx="1238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66"/>
              </a:lnSpc>
              <a:buNone/>
            </a:pPr>
            <a:r>
              <a:rPr lang="en-US" sz="1351" b="1" dirty="0">
                <a:solidFill>
                  <a:srgbClr val="595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initiative</a:t>
            </a:r>
            <a:endParaRPr lang="en-US" sz="1351" dirty="0"/>
          </a:p>
        </p:txBody>
      </p:sp>
      <p:sp>
        <p:nvSpPr>
          <p:cNvPr id="85" name="Text 49"/>
          <p:cNvSpPr/>
          <p:nvPr/>
        </p:nvSpPr>
        <p:spPr>
          <a:xfrm>
            <a:off x="7381875" y="5505450"/>
            <a:ext cx="1200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315" dirty="0">
                <a:solidFill>
                  <a:srgbClr val="494C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5 results</a:t>
            </a:r>
            <a:endParaRPr lang="en-US" sz="1315" dirty="0"/>
          </a:p>
        </p:txBody>
      </p:sp>
      <p:sp>
        <p:nvSpPr>
          <p:cNvPr id="86" name="Text 50"/>
          <p:cNvSpPr/>
          <p:nvPr/>
        </p:nvSpPr>
        <p:spPr>
          <a:xfrm>
            <a:off x="619125" y="5381625"/>
            <a:ext cx="11144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62"/>
              </a:lnSpc>
              <a:buNone/>
            </a:pPr>
            <a:r>
              <a:rPr lang="en-US" sz="1357" b="1" dirty="0">
                <a:solidFill>
                  <a:srgbClr val="525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Review</a:t>
            </a:r>
            <a:endParaRPr lang="en-US" sz="1357" dirty="0"/>
          </a:p>
          <a:p>
            <a:pPr algn="l" indent="0" marL="0">
              <a:lnSpc>
                <a:spcPts val="1662"/>
              </a:lnSpc>
              <a:buNone/>
            </a:pPr>
            <a:r>
              <a:rPr lang="en-US" sz="1357" b="1" dirty="0">
                <a:solidFill>
                  <a:srgbClr val="525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Assistant</a:t>
            </a:r>
            <a:endParaRPr lang="en-US" sz="1357" dirty="0"/>
          </a:p>
        </p:txBody>
      </p:sp>
      <p:sp>
        <p:nvSpPr>
          <p:cNvPr id="87" name="Text 51"/>
          <p:cNvSpPr/>
          <p:nvPr/>
        </p:nvSpPr>
        <p:spPr>
          <a:xfrm>
            <a:off x="619125" y="4438650"/>
            <a:ext cx="8191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80"/>
              </a:lnSpc>
              <a:buNone/>
            </a:pPr>
            <a:r>
              <a:rPr lang="en-US" sz="1373" b="1" dirty="0">
                <a:solidFill>
                  <a:srgbClr val="585A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</a:t>
            </a:r>
            <a:endParaRPr lang="en-US" sz="1373" dirty="0"/>
          </a:p>
          <a:p>
            <a:pPr algn="l" indent="0" marL="0">
              <a:lnSpc>
                <a:spcPts val="1780"/>
              </a:lnSpc>
              <a:buNone/>
            </a:pPr>
            <a:r>
              <a:rPr lang="en-US" sz="1373" b="1" dirty="0">
                <a:solidFill>
                  <a:srgbClr val="585A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Guidance</a:t>
            </a:r>
            <a:endParaRPr lang="en-US" sz="1373" dirty="0"/>
          </a:p>
        </p:txBody>
      </p:sp>
      <p:sp>
        <p:nvSpPr>
          <p:cNvPr id="88" name="Text 52"/>
          <p:cNvSpPr/>
          <p:nvPr/>
        </p:nvSpPr>
        <p:spPr>
          <a:xfrm>
            <a:off x="7362825" y="3352800"/>
            <a:ext cx="1790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1"/>
              </a:lnSpc>
              <a:buNone/>
            </a:pPr>
            <a:r>
              <a:rPr lang="en-US" sz="1170" dirty="0">
                <a:solidFill>
                  <a:srgbClr val="4B4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3 Discovery</a:t>
            </a:r>
            <a:endParaRPr lang="en-US" sz="1170" dirty="0"/>
          </a:p>
          <a:p>
            <a:pPr algn="l" indent="0" marL="0">
              <a:lnSpc>
                <a:spcPts val="2561"/>
              </a:lnSpc>
              <a:buNone/>
            </a:pPr>
            <a:r>
              <a:rPr lang="en-US" sz="1170" dirty="0">
                <a:solidFill>
                  <a:srgbClr val="4B4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findings / Opportunity Map</a:t>
            </a:r>
            <a:endParaRPr lang="en-US" sz="1170" dirty="0"/>
          </a:p>
        </p:txBody>
      </p:sp>
      <p:sp>
        <p:nvSpPr>
          <p:cNvPr id="89" name="Text 53"/>
          <p:cNvSpPr/>
          <p:nvPr/>
        </p:nvSpPr>
        <p:spPr>
          <a:xfrm>
            <a:off x="3886200" y="3457575"/>
            <a:ext cx="119062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1"/>
              </a:lnSpc>
              <a:buNone/>
            </a:pPr>
            <a:r>
              <a:rPr lang="en-US" sz="1399" dirty="0">
                <a:solidFill>
                  <a:srgbClr val="696B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Prioritised —</a:t>
            </a:r>
            <a:endParaRPr lang="en-US" sz="1399" dirty="0"/>
          </a:p>
          <a:p>
            <a:pPr algn="l" indent="0" marL="0">
              <a:lnSpc>
                <a:spcPts val="1681"/>
              </a:lnSpc>
              <a:buNone/>
            </a:pPr>
            <a:r>
              <a:rPr lang="en-US" sz="1399" dirty="0">
                <a:solidFill>
                  <a:srgbClr val="696B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now</a:t>
            </a:r>
            <a:endParaRPr lang="en-US" sz="1399" dirty="0"/>
          </a:p>
        </p:txBody>
      </p:sp>
      <p:sp>
        <p:nvSpPr>
          <p:cNvPr id="90" name="Text 54"/>
          <p:cNvSpPr/>
          <p:nvPr/>
        </p:nvSpPr>
        <p:spPr>
          <a:xfrm>
            <a:off x="628650" y="3467100"/>
            <a:ext cx="81915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1"/>
              </a:lnSpc>
              <a:buNone/>
            </a:pPr>
            <a:r>
              <a:rPr lang="en-US" sz="1408" b="1" dirty="0">
                <a:solidFill>
                  <a:srgbClr val="404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 Report</a:t>
            </a:r>
            <a:endParaRPr lang="en-US" sz="1408" dirty="0"/>
          </a:p>
          <a:p>
            <a:pPr algn="l" indent="0" marL="0">
              <a:lnSpc>
                <a:spcPts val="1401"/>
              </a:lnSpc>
              <a:buNone/>
            </a:pPr>
            <a:r>
              <a:rPr lang="en-US" sz="1408" b="1" dirty="0">
                <a:solidFill>
                  <a:srgbClr val="404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Drafting</a:t>
            </a:r>
            <a:endParaRPr lang="en-US" sz="1408" dirty="0"/>
          </a:p>
        </p:txBody>
      </p:sp>
      <p:sp>
        <p:nvSpPr>
          <p:cNvPr id="91" name="Text 55"/>
          <p:cNvSpPr/>
          <p:nvPr/>
        </p:nvSpPr>
        <p:spPr>
          <a:xfrm>
            <a:off x="9525000" y="2638425"/>
            <a:ext cx="7905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74"/>
              </a:lnSpc>
              <a:buNone/>
            </a:pPr>
            <a:r>
              <a:rPr lang="en-US" sz="1359" b="1" dirty="0">
                <a:solidFill>
                  <a:srgbClr val="425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to</a:t>
            </a:r>
            <a:endParaRPr lang="en-US" sz="1359" dirty="0"/>
          </a:p>
          <a:p>
            <a:pPr algn="l" indent="0" marL="0">
              <a:lnSpc>
                <a:spcPts val="1674"/>
              </a:lnSpc>
              <a:buNone/>
            </a:pPr>
            <a:r>
              <a:rPr lang="en-US" sz="1359" b="1" dirty="0">
                <a:solidFill>
                  <a:srgbClr val="425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Steer</a:t>
            </a:r>
            <a:endParaRPr lang="en-US" sz="1359" dirty="0"/>
          </a:p>
        </p:txBody>
      </p:sp>
      <p:sp>
        <p:nvSpPr>
          <p:cNvPr id="92" name="Text 56"/>
          <p:cNvSpPr/>
          <p:nvPr/>
        </p:nvSpPr>
        <p:spPr>
          <a:xfrm>
            <a:off x="7362825" y="2628900"/>
            <a:ext cx="132397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97"/>
              </a:lnSpc>
              <a:buNone/>
            </a:pPr>
            <a:r>
              <a:rPr lang="en-US" sz="1368" b="1" dirty="0">
                <a:solidFill>
                  <a:srgbClr val="45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Evidence /</a:t>
            </a:r>
            <a:endParaRPr lang="en-US" sz="1368" dirty="0"/>
          </a:p>
          <a:p>
            <a:pPr algn="l" indent="0" marL="0">
              <a:lnSpc>
                <a:spcPts val="1597"/>
              </a:lnSpc>
              <a:buNone/>
            </a:pPr>
            <a:r>
              <a:rPr lang="en-US" sz="1368" b="1" dirty="0">
                <a:solidFill>
                  <a:srgbClr val="45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</a:t>
            </a:r>
            <a:endParaRPr lang="en-US" sz="1368" dirty="0"/>
          </a:p>
        </p:txBody>
      </p:sp>
      <p:sp>
        <p:nvSpPr>
          <p:cNvPr id="93" name="Text 57"/>
          <p:cNvSpPr/>
          <p:nvPr/>
        </p:nvSpPr>
        <p:spPr>
          <a:xfrm>
            <a:off x="3867150" y="2752725"/>
            <a:ext cx="12763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1265" b="1" dirty="0">
                <a:solidFill>
                  <a:srgbClr val="495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Agreed Position</a:t>
            </a:r>
            <a:endParaRPr lang="en-US" sz="1265" dirty="0"/>
          </a:p>
        </p:txBody>
      </p:sp>
      <p:sp>
        <p:nvSpPr>
          <p:cNvPr id="94" name="Text 58"/>
          <p:cNvSpPr/>
          <p:nvPr/>
        </p:nvSpPr>
        <p:spPr>
          <a:xfrm>
            <a:off x="2143125" y="2762250"/>
            <a:ext cx="43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463" b="1" dirty="0">
                <a:solidFill>
                  <a:srgbClr val="4358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1463" dirty="0"/>
          </a:p>
        </p:txBody>
      </p:sp>
      <p:sp>
        <p:nvSpPr>
          <p:cNvPr id="95" name="Text 59"/>
          <p:cNvSpPr/>
          <p:nvPr/>
        </p:nvSpPr>
        <p:spPr>
          <a:xfrm>
            <a:off x="628650" y="2762250"/>
            <a:ext cx="419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470" b="1" dirty="0">
                <a:solidFill>
                  <a:srgbClr val="495D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</a:t>
            </a:r>
            <a:endParaRPr lang="en-US" sz="1470" dirty="0"/>
          </a:p>
        </p:txBody>
      </p:sp>
      <p:sp>
        <p:nvSpPr>
          <p:cNvPr id="96" name="Shape 60"/>
          <p:cNvSpPr/>
          <p:nvPr/>
        </p:nvSpPr>
        <p:spPr>
          <a:xfrm>
            <a:off x="428625" y="1390650"/>
            <a:ext cx="14125575" cy="733425"/>
          </a:xfrm>
          <a:prstGeom prst="roundRect">
            <a:avLst>
              <a:gd name="adj" fmla="val 7792"/>
            </a:avLst>
          </a:prstGeom>
          <a:solidFill>
            <a:srgbClr val="F7FAF8"/>
          </a:solidFill>
          <a:ln w="9525">
            <a:solidFill>
              <a:srgbClr val="E7F2EA"/>
            </a:solidFill>
            <a:prstDash val="solid"/>
          </a:ln>
        </p:spPr>
      </p:sp>
      <p:pic>
        <p:nvPicPr>
          <p:cNvPr id="97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57225" y="1485900"/>
            <a:ext cx="619125" cy="523875"/>
          </a:xfrm>
          <a:prstGeom prst="rect">
            <a:avLst/>
          </a:prstGeom>
        </p:spPr>
      </p:pic>
      <p:sp>
        <p:nvSpPr>
          <p:cNvPr id="98" name="Text 61"/>
          <p:cNvSpPr/>
          <p:nvPr/>
        </p:nvSpPr>
        <p:spPr>
          <a:xfrm>
            <a:off x="1466850" y="1571625"/>
            <a:ext cx="10877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00" b="1" dirty="0">
                <a:solidFill>
                  <a:srgbClr val="4259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what was agreed, who owns the next step, what evidence is required and when it returns to the steer.</a:t>
            </a:r>
            <a:endParaRPr lang="en-US" sz="1200" dirty="0"/>
          </a:p>
        </p:txBody>
      </p:sp>
      <p:sp>
        <p:nvSpPr>
          <p:cNvPr id="99" name="Shape 62"/>
          <p:cNvSpPr/>
          <p:nvPr/>
        </p:nvSpPr>
        <p:spPr>
          <a:xfrm>
            <a:off x="12982575" y="247650"/>
            <a:ext cx="2686050" cy="533400"/>
          </a:xfrm>
          <a:prstGeom prst="roundRect">
            <a:avLst>
              <a:gd name="adj" fmla="val 50000"/>
            </a:avLst>
          </a:prstGeom>
          <a:solidFill>
            <a:srgbClr val="CEE5D5"/>
          </a:solidFill>
          <a:ln w="9525">
            <a:solidFill>
              <a:srgbClr val="D7EADB"/>
            </a:solidFill>
            <a:prstDash val="solid"/>
          </a:ln>
        </p:spPr>
      </p:sp>
      <p:sp>
        <p:nvSpPr>
          <p:cNvPr id="100" name="Text 63"/>
          <p:cNvSpPr/>
          <p:nvPr/>
        </p:nvSpPr>
        <p:spPr>
          <a:xfrm>
            <a:off x="13296900" y="390525"/>
            <a:ext cx="21431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8" b="1" dirty="0">
                <a:solidFill>
                  <a:srgbClr val="3856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2 | Monthly Steer</a:t>
            </a:r>
            <a:endParaRPr lang="en-US" sz="1508" dirty="0"/>
          </a:p>
        </p:txBody>
      </p:sp>
      <p:sp>
        <p:nvSpPr>
          <p:cNvPr id="101" name="Text 64"/>
          <p:cNvSpPr/>
          <p:nvPr/>
        </p:nvSpPr>
        <p:spPr>
          <a:xfrm>
            <a:off x="838200" y="485775"/>
            <a:ext cx="11696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575"/>
              </a:lnSpc>
              <a:buNone/>
            </a:pPr>
            <a:r>
              <a:rPr lang="en-US" sz="4155" b="1" dirty="0">
                <a:solidFill>
                  <a:srgbClr val="1636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Steering Decisions &amp; Next Evidence</a:t>
            </a:r>
            <a:endParaRPr lang="en-US" sz="4155" dirty="0"/>
          </a:p>
        </p:txBody>
      </p:sp>
      <p:pic>
        <p:nvPicPr>
          <p:cNvPr id="102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4773275" y="1104900"/>
            <a:ext cx="1152525" cy="1409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2026-10-06T13:40:04Z</dcterms:created>
  <dcterms:modified xsi:type="dcterms:W3CDTF">2026-10-06T13:40:04Z</dcterms:modified>
</cp:coreProperties>
</file>