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image" Target="../media/image-1-7.jpeg"/><Relationship Id="rId8" Type="http://schemas.openxmlformats.org/officeDocument/2006/relationships/image" Target="../media/image-1-8.png"/><Relationship Id="rId9" Type="http://schemas.openxmlformats.org/officeDocument/2006/relationships/image" Target="../media/image-1-9.jpe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jpeg"/><Relationship Id="rId46" Type="http://schemas.openxmlformats.org/officeDocument/2006/relationships/image" Target="../media/image-1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7286625"/>
            <a:ext cx="15554325" cy="15430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975" y="7800975"/>
            <a:ext cx="733425" cy="762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225" y="7820025"/>
            <a:ext cx="19050" cy="73342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7820025"/>
            <a:ext cx="723900" cy="7620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0" y="7829550"/>
            <a:ext cx="19050" cy="72390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7800975"/>
            <a:ext cx="723900" cy="76200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7820025"/>
            <a:ext cx="19050" cy="72390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650" y="7772400"/>
            <a:ext cx="742950" cy="78105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5650" y="7800975"/>
            <a:ext cx="19050" cy="733425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7772400"/>
            <a:ext cx="733425" cy="771525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13239750" y="7905750"/>
            <a:ext cx="2095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320" dirty="0">
                <a:solidFill>
                  <a:srgbClr val="9EA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patterns for</a:t>
            </a:r>
            <a:endParaRPr lang="en-US" sz="1320" dirty="0"/>
          </a:p>
          <a:p>
            <a:pPr algn="l" indent="0" marL="0">
              <a:lnSpc>
                <a:spcPts val="1565"/>
              </a:lnSpc>
              <a:buNone/>
            </a:pPr>
            <a:r>
              <a:rPr lang="en-US" sz="1320" dirty="0">
                <a:solidFill>
                  <a:srgbClr val="9EA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agentic AI use cases</a:t>
            </a:r>
            <a:endParaRPr lang="en-US" sz="1320" dirty="0"/>
          </a:p>
        </p:txBody>
      </p:sp>
      <p:sp>
        <p:nvSpPr>
          <p:cNvPr id="14" name="Text 2"/>
          <p:cNvSpPr/>
          <p:nvPr/>
        </p:nvSpPr>
        <p:spPr>
          <a:xfrm>
            <a:off x="10506075" y="8058150"/>
            <a:ext cx="1400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28"/>
              </a:lnSpc>
              <a:buNone/>
            </a:pPr>
            <a:r>
              <a:rPr lang="en-US" sz="1312" dirty="0">
                <a:solidFill>
                  <a:srgbClr val="ABBB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 oversight</a:t>
            </a:r>
            <a:endParaRPr lang="en-US" sz="1312" dirty="0"/>
          </a:p>
        </p:txBody>
      </p:sp>
      <p:sp>
        <p:nvSpPr>
          <p:cNvPr id="15" name="Text 3"/>
          <p:cNvSpPr/>
          <p:nvPr/>
        </p:nvSpPr>
        <p:spPr>
          <a:xfrm>
            <a:off x="7400925" y="7924800"/>
            <a:ext cx="1762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345" dirty="0">
                <a:solidFill>
                  <a:srgbClr val="ABB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Proportionate</a:t>
            </a:r>
            <a:endParaRPr lang="en-US" sz="1345" dirty="0"/>
          </a:p>
          <a:p>
            <a:pPr algn="l" indent="0" marL="0">
              <a:lnSpc>
                <a:spcPts val="1834"/>
              </a:lnSpc>
              <a:buNone/>
            </a:pPr>
            <a:r>
              <a:rPr lang="en-US" sz="1345" dirty="0">
                <a:solidFill>
                  <a:srgbClr val="ABB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</a:t>
            </a:r>
            <a:endParaRPr lang="en-US" sz="1345" dirty="0"/>
          </a:p>
        </p:txBody>
      </p:sp>
      <p:sp>
        <p:nvSpPr>
          <p:cNvPr id="16" name="Text 4"/>
          <p:cNvSpPr/>
          <p:nvPr/>
        </p:nvSpPr>
        <p:spPr>
          <a:xfrm>
            <a:off x="4562475" y="7905750"/>
            <a:ext cx="1295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508" dirty="0">
                <a:solidFill>
                  <a:srgbClr val="A3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2LoD</a:t>
            </a:r>
            <a:endParaRPr lang="en-US" sz="1508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508" dirty="0">
                <a:solidFill>
                  <a:srgbClr val="A3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508" dirty="0"/>
          </a:p>
        </p:txBody>
      </p:sp>
      <p:sp>
        <p:nvSpPr>
          <p:cNvPr id="17" name="Text 5"/>
          <p:cNvSpPr/>
          <p:nvPr/>
        </p:nvSpPr>
        <p:spPr>
          <a:xfrm>
            <a:off x="1533525" y="7886700"/>
            <a:ext cx="14192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46"/>
              </a:lnSpc>
              <a:buNone/>
            </a:pPr>
            <a:r>
              <a:rPr lang="en-US" sz="1490" dirty="0">
                <a:solidFill>
                  <a:srgbClr val="9BA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clear route</a:t>
            </a:r>
            <a:endParaRPr lang="en-US" sz="1490" dirty="0"/>
          </a:p>
          <a:p>
            <a:pPr algn="l" indent="0" marL="0">
              <a:lnSpc>
                <a:spcPts val="2146"/>
              </a:lnSpc>
              <a:buNone/>
            </a:pPr>
            <a:r>
              <a:rPr lang="en-US" sz="1490" dirty="0">
                <a:solidFill>
                  <a:srgbClr val="9BA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early triage</a:t>
            </a:r>
            <a:endParaRPr lang="en-US" sz="1490" dirty="0"/>
          </a:p>
        </p:txBody>
      </p:sp>
      <p:sp>
        <p:nvSpPr>
          <p:cNvPr id="18" name="Text 6"/>
          <p:cNvSpPr/>
          <p:nvPr/>
        </p:nvSpPr>
        <p:spPr>
          <a:xfrm>
            <a:off x="5534025" y="7419975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4"/>
              </a:lnSpc>
              <a:buNone/>
            </a:pPr>
            <a:r>
              <a:rPr lang="en-US" sz="1843" b="1" dirty="0">
                <a:solidFill>
                  <a:srgbClr val="C2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how the framework lands in practice</a:t>
            </a:r>
            <a:endParaRPr lang="en-US" sz="1843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34800" y="3552825"/>
            <a:ext cx="295275" cy="247650"/>
          </a:xfrm>
          <a:prstGeom prst="rect">
            <a:avLst/>
          </a:prstGeom>
        </p:spPr>
      </p:pic>
      <p:sp>
        <p:nvSpPr>
          <p:cNvPr id="20" name="Shape 7"/>
          <p:cNvSpPr/>
          <p:nvPr/>
        </p:nvSpPr>
        <p:spPr>
          <a:xfrm>
            <a:off x="12039600" y="2047875"/>
            <a:ext cx="3629025" cy="5124450"/>
          </a:xfrm>
          <a:prstGeom prst="roundRect">
            <a:avLst>
              <a:gd name="adj" fmla="val 4003"/>
            </a:avLst>
          </a:prstGeom>
          <a:solidFill>
            <a:srgbClr val="FCFCFB"/>
          </a:solidFill>
          <a:ln w="9525">
            <a:solidFill>
              <a:srgbClr val="DEE6DC"/>
            </a:solidFill>
            <a:prstDash val="solid"/>
          </a:ln>
        </p:spPr>
      </p:sp>
      <p:sp>
        <p:nvSpPr>
          <p:cNvPr id="21" name="Shape 8"/>
          <p:cNvSpPr/>
          <p:nvPr/>
        </p:nvSpPr>
        <p:spPr>
          <a:xfrm>
            <a:off x="12115800" y="6067425"/>
            <a:ext cx="3486150" cy="1038225"/>
          </a:xfrm>
          <a:prstGeom prst="roundRect">
            <a:avLst>
              <a:gd name="adj" fmla="val 11927"/>
            </a:avLst>
          </a:prstGeom>
          <a:solidFill>
            <a:srgbClr val="E7EFE6"/>
          </a:solidFill>
          <a:ln/>
        </p:spPr>
      </p:sp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49150" y="6229350"/>
            <a:ext cx="657225" cy="666750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13049250" y="6467475"/>
            <a:ext cx="24193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8"/>
              </a:lnSpc>
              <a:buNone/>
            </a:pPr>
            <a:r>
              <a:rPr lang="en-US" sz="1319" dirty="0">
                <a:solidFill>
                  <a:srgbClr val="5E6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Repeatable, scalable and</a:t>
            </a:r>
            <a:endParaRPr lang="en-US" sz="1319" dirty="0"/>
          </a:p>
          <a:p>
            <a:pPr algn="l" indent="0" marL="0">
              <a:lnSpc>
                <a:spcPts val="1748"/>
              </a:lnSpc>
              <a:buNone/>
            </a:pPr>
            <a:r>
              <a:rPr lang="en-US" sz="1319" dirty="0">
                <a:solidFill>
                  <a:srgbClr val="5E6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Al governance.</a:t>
            </a:r>
            <a:endParaRPr lang="en-US" sz="1319" dirty="0"/>
          </a:p>
        </p:txBody>
      </p:sp>
      <p:sp>
        <p:nvSpPr>
          <p:cNvPr id="24" name="Text 10"/>
          <p:cNvSpPr/>
          <p:nvPr/>
        </p:nvSpPr>
        <p:spPr>
          <a:xfrm>
            <a:off x="13058775" y="6248400"/>
            <a:ext cx="800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6"/>
              </a:lnSpc>
              <a:buNone/>
            </a:pPr>
            <a:r>
              <a:rPr lang="en-US" sz="1309" b="1" dirty="0">
                <a:solidFill>
                  <a:srgbClr val="4B6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 as:</a:t>
            </a:r>
            <a:endParaRPr lang="en-US" sz="1309" dirty="0"/>
          </a:p>
        </p:txBody>
      </p:sp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01525" y="5372100"/>
            <a:ext cx="66675" cy="57150"/>
          </a:xfrm>
          <a:prstGeom prst="rect">
            <a:avLst/>
          </a:prstGeom>
        </p:spPr>
      </p:pic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01525" y="4829175"/>
            <a:ext cx="66675" cy="57150"/>
          </a:xfrm>
          <a:prstGeom prst="rect">
            <a:avLst/>
          </a:prstGeom>
        </p:spPr>
      </p:pic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201525" y="4295775"/>
            <a:ext cx="66675" cy="57150"/>
          </a:xfrm>
          <a:prstGeom prst="rect">
            <a:avLst/>
          </a:prstGeom>
        </p:spPr>
      </p:pic>
      <p:pic>
        <p:nvPicPr>
          <p:cNvPr id="2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01775" y="3057525"/>
            <a:ext cx="923925" cy="933450"/>
          </a:xfrm>
          <a:prstGeom prst="rect">
            <a:avLst/>
          </a:prstGeom>
        </p:spPr>
      </p:pic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53950" y="3000375"/>
            <a:ext cx="1190625" cy="1038225"/>
          </a:xfrm>
          <a:prstGeom prst="rect">
            <a:avLst/>
          </a:prstGeom>
        </p:spPr>
      </p:pic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92000" y="2200275"/>
            <a:ext cx="352425" cy="352425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12420600" y="5267325"/>
            <a:ext cx="299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4"/>
              </a:lnSpc>
              <a:buNone/>
            </a:pPr>
            <a:r>
              <a:rPr lang="en-US" sz="1339" dirty="0">
                <a:solidFill>
                  <a:srgbClr val="6767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validated patterns to accelerate</a:t>
            </a:r>
            <a:endParaRPr lang="en-US" sz="1339" dirty="0"/>
          </a:p>
          <a:p>
            <a:pPr algn="l" indent="0" marL="0">
              <a:lnSpc>
                <a:spcPts val="1604"/>
              </a:lnSpc>
              <a:buNone/>
            </a:pPr>
            <a:r>
              <a:rPr lang="en-US" sz="1339" dirty="0">
                <a:solidFill>
                  <a:srgbClr val="6767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Al reviews.</a:t>
            </a:r>
            <a:endParaRPr lang="en-US" sz="1339" dirty="0"/>
          </a:p>
        </p:txBody>
      </p:sp>
      <p:sp>
        <p:nvSpPr>
          <p:cNvPr id="32" name="Text 12"/>
          <p:cNvSpPr/>
          <p:nvPr/>
        </p:nvSpPr>
        <p:spPr>
          <a:xfrm>
            <a:off x="12420600" y="4724400"/>
            <a:ext cx="2914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35"/>
              </a:lnSpc>
              <a:buNone/>
            </a:pPr>
            <a:r>
              <a:rPr lang="en-US" sz="1125" dirty="0">
                <a:solidFill>
                  <a:srgbClr val="6565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outcomes, residual risks and</a:t>
            </a:r>
            <a:endParaRPr lang="en-US" sz="1125" dirty="0"/>
          </a:p>
          <a:p>
            <a:pPr algn="l" indent="0" marL="0">
              <a:lnSpc>
                <a:spcPts val="1735"/>
              </a:lnSpc>
              <a:buNone/>
            </a:pPr>
            <a:r>
              <a:rPr lang="en-US" sz="1125" dirty="0">
                <a:solidFill>
                  <a:srgbClr val="6565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learned.</a:t>
            </a:r>
            <a:endParaRPr lang="en-US" sz="1125" dirty="0"/>
          </a:p>
        </p:txBody>
      </p:sp>
      <p:sp>
        <p:nvSpPr>
          <p:cNvPr id="33" name="Text 13"/>
          <p:cNvSpPr/>
          <p:nvPr/>
        </p:nvSpPr>
        <p:spPr>
          <a:xfrm>
            <a:off x="12420600" y="4181475"/>
            <a:ext cx="3076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298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monitoring, incident handling</a:t>
            </a:r>
            <a:endParaRPr lang="en-US" sz="1298" dirty="0"/>
          </a:p>
          <a:p>
            <a:pPr algn="l" indent="0" marL="0">
              <a:lnSpc>
                <a:spcPts val="1818"/>
              </a:lnSpc>
              <a:buNone/>
            </a:pPr>
            <a:r>
              <a:rPr lang="en-US" sz="1298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change reassessment expectations.</a:t>
            </a:r>
            <a:endParaRPr lang="en-US" sz="1298" dirty="0"/>
          </a:p>
        </p:txBody>
      </p:sp>
      <p:sp>
        <p:nvSpPr>
          <p:cNvPr id="34" name="Text 14"/>
          <p:cNvSpPr/>
          <p:nvPr/>
        </p:nvSpPr>
        <p:spPr>
          <a:xfrm>
            <a:off x="12582525" y="2552700"/>
            <a:ext cx="2895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657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 oversight and reusable patterns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12696825" y="2247900"/>
            <a:ext cx="24288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9"/>
              </a:lnSpc>
              <a:buNone/>
            </a:pPr>
            <a:r>
              <a:rPr lang="en-US" sz="1605" b="1" dirty="0">
                <a:solidFill>
                  <a:srgbClr val="3E5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Monitor, learn and reuse</a:t>
            </a:r>
            <a:endParaRPr lang="en-US" sz="1605" dirty="0"/>
          </a:p>
        </p:txBody>
      </p:sp>
      <p:sp>
        <p:nvSpPr>
          <p:cNvPr id="36" name="Text 16"/>
          <p:cNvSpPr/>
          <p:nvPr/>
        </p:nvSpPr>
        <p:spPr>
          <a:xfrm>
            <a:off x="12296775" y="2247900"/>
            <a:ext cx="161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2010" dirty="0">
                <a:solidFill>
                  <a:srgbClr val="B8CC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10" dirty="0"/>
          </a:p>
        </p:txBody>
      </p:sp>
      <p:sp>
        <p:nvSpPr>
          <p:cNvPr id="37" name="Shape 17"/>
          <p:cNvSpPr/>
          <p:nvPr/>
        </p:nvSpPr>
        <p:spPr>
          <a:xfrm>
            <a:off x="8115300" y="2047875"/>
            <a:ext cx="3619500" cy="5114925"/>
          </a:xfrm>
          <a:prstGeom prst="roundRect">
            <a:avLst>
              <a:gd name="adj" fmla="val 3947"/>
            </a:avLst>
          </a:prstGeom>
          <a:solidFill>
            <a:srgbClr val="FDFDFD"/>
          </a:solidFill>
          <a:ln w="9525">
            <a:solidFill>
              <a:srgbClr val="DCE4DB"/>
            </a:solidFill>
            <a:prstDash val="solid"/>
          </a:ln>
        </p:spPr>
      </p:sp>
      <p:sp>
        <p:nvSpPr>
          <p:cNvPr id="38" name="Shape 18"/>
          <p:cNvSpPr/>
          <p:nvPr/>
        </p:nvSpPr>
        <p:spPr>
          <a:xfrm>
            <a:off x="8191500" y="6057900"/>
            <a:ext cx="3467100" cy="1038225"/>
          </a:xfrm>
          <a:prstGeom prst="roundRect">
            <a:avLst>
              <a:gd name="adj" fmla="val 9174"/>
            </a:avLst>
          </a:prstGeom>
          <a:solidFill>
            <a:srgbClr val="E7EFE7"/>
          </a:solidFill>
          <a:ln w="9525">
            <a:solidFill>
              <a:srgbClr val="EAF0E9"/>
            </a:solidFill>
            <a:prstDash val="solid"/>
          </a:ln>
        </p:spPr>
      </p:sp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5800" y="6200775"/>
            <a:ext cx="552450" cy="657225"/>
          </a:xfrm>
          <a:prstGeom prst="rect">
            <a:avLst/>
          </a:prstGeom>
        </p:spPr>
      </p:pic>
      <p:sp>
        <p:nvSpPr>
          <p:cNvPr id="40" name="Text 19"/>
          <p:cNvSpPr/>
          <p:nvPr/>
        </p:nvSpPr>
        <p:spPr>
          <a:xfrm>
            <a:off x="9029700" y="6372225"/>
            <a:ext cx="220027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50" dirty="0">
                <a:solidFill>
                  <a:srgbClr val="697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assurance over</a:t>
            </a:r>
            <a:endParaRPr lang="en-US" sz="750" dirty="0"/>
          </a:p>
          <a:p>
            <a:pPr algn="l" indent="0" marL="0">
              <a:lnSpc>
                <a:spcPts val="1195"/>
              </a:lnSpc>
              <a:buNone/>
            </a:pPr>
            <a:r>
              <a:rPr lang="en-US" sz="750" dirty="0">
                <a:solidFill>
                  <a:srgbClr val="697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higher-risk GenAI / agentic AI</a:t>
            </a:r>
            <a:endParaRPr lang="en-US" sz="750" dirty="0"/>
          </a:p>
          <a:p>
            <a:pPr algn="l" indent="0" marL="0">
              <a:lnSpc>
                <a:spcPts val="1195"/>
              </a:lnSpc>
              <a:buNone/>
            </a:pPr>
            <a:r>
              <a:rPr lang="en-US" sz="750" dirty="0">
                <a:solidFill>
                  <a:srgbClr val="697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cases.</a:t>
            </a:r>
            <a:endParaRPr lang="en-US" sz="750" dirty="0"/>
          </a:p>
        </p:txBody>
      </p:sp>
      <p:sp>
        <p:nvSpPr>
          <p:cNvPr id="41" name="Text 20"/>
          <p:cNvSpPr/>
          <p:nvPr/>
        </p:nvSpPr>
        <p:spPr>
          <a:xfrm>
            <a:off x="9029700" y="6162675"/>
            <a:ext cx="790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52" b="1" dirty="0">
                <a:solidFill>
                  <a:srgbClr val="4D6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 as:</a:t>
            </a:r>
            <a:endParaRPr lang="en-US" sz="1252" dirty="0"/>
          </a:p>
        </p:txBody>
      </p:sp>
      <p:pic>
        <p:nvPicPr>
          <p:cNvPr id="4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7225" y="5553075"/>
            <a:ext cx="57150" cy="66675"/>
          </a:xfrm>
          <a:prstGeom prst="rect">
            <a:avLst/>
          </a:prstGeom>
        </p:spPr>
      </p:pic>
      <p:pic>
        <p:nvPicPr>
          <p:cNvPr id="4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77225" y="4819650"/>
            <a:ext cx="57150" cy="57150"/>
          </a:xfrm>
          <a:prstGeom prst="rect">
            <a:avLst/>
          </a:prstGeom>
        </p:spPr>
      </p:pic>
      <p:pic>
        <p:nvPicPr>
          <p:cNvPr id="4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77225" y="4286250"/>
            <a:ext cx="57150" cy="66675"/>
          </a:xfrm>
          <a:prstGeom prst="rect">
            <a:avLst/>
          </a:prstGeom>
        </p:spPr>
      </p:pic>
      <p:pic>
        <p:nvPicPr>
          <p:cNvPr id="4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15600" y="3162300"/>
            <a:ext cx="676275" cy="895350"/>
          </a:xfrm>
          <a:prstGeom prst="rect">
            <a:avLst/>
          </a:prstGeom>
        </p:spPr>
      </p:pic>
      <p:pic>
        <p:nvPicPr>
          <p:cNvPr id="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82150" y="3038475"/>
            <a:ext cx="828675" cy="971550"/>
          </a:xfrm>
          <a:prstGeom prst="rect">
            <a:avLst/>
          </a:prstGeom>
        </p:spPr>
      </p:pic>
      <p:pic>
        <p:nvPicPr>
          <p:cNvPr id="4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24875" y="2924175"/>
            <a:ext cx="1038225" cy="1095375"/>
          </a:xfrm>
          <a:prstGeom prst="rect">
            <a:avLst/>
          </a:prstGeom>
        </p:spPr>
      </p:pic>
      <p:pic>
        <p:nvPicPr>
          <p:cNvPr id="4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77225" y="2190750"/>
            <a:ext cx="361950" cy="352425"/>
          </a:xfrm>
          <a:prstGeom prst="rect">
            <a:avLst/>
          </a:prstGeom>
        </p:spPr>
      </p:pic>
      <p:sp>
        <p:nvSpPr>
          <p:cNvPr id="49" name="Text 21"/>
          <p:cNvSpPr/>
          <p:nvPr/>
        </p:nvSpPr>
        <p:spPr>
          <a:xfrm>
            <a:off x="8486775" y="5448300"/>
            <a:ext cx="28003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335" dirty="0">
                <a:solidFill>
                  <a:srgbClr val="696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findings, limitations, actions</a:t>
            </a:r>
            <a:endParaRPr lang="en-US" sz="1335" dirty="0"/>
          </a:p>
          <a:p>
            <a:pPr algn="l" indent="0" marL="0">
              <a:lnSpc>
                <a:spcPts val="1772"/>
              </a:lnSpc>
              <a:buNone/>
            </a:pPr>
            <a:r>
              <a:rPr lang="en-US" sz="1335" dirty="0">
                <a:solidFill>
                  <a:srgbClr val="696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evidence in a consistent way.</a:t>
            </a:r>
            <a:endParaRPr lang="en-US" sz="1335" dirty="0"/>
          </a:p>
        </p:txBody>
      </p:sp>
      <p:sp>
        <p:nvSpPr>
          <p:cNvPr id="50" name="Text 22"/>
          <p:cNvSpPr/>
          <p:nvPr/>
        </p:nvSpPr>
        <p:spPr>
          <a:xfrm>
            <a:off x="8486775" y="4714875"/>
            <a:ext cx="30861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6"/>
              </a:lnSpc>
              <a:buNone/>
            </a:pPr>
            <a:r>
              <a:rPr lang="en-US" sz="1252" dirty="0">
                <a:solidFill>
                  <a:srgbClr val="696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agentic Al, review documentation,</a:t>
            </a:r>
            <a:endParaRPr lang="en-US" sz="1252" dirty="0"/>
          </a:p>
          <a:p>
            <a:pPr algn="l" indent="0" marL="0">
              <a:lnSpc>
                <a:spcPts val="1756"/>
              </a:lnSpc>
              <a:buNone/>
            </a:pPr>
            <a:r>
              <a:rPr lang="en-US" sz="1252" dirty="0">
                <a:solidFill>
                  <a:srgbClr val="696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controls, testing, monitoring</a:t>
            </a:r>
            <a:endParaRPr lang="en-US" sz="1252" dirty="0"/>
          </a:p>
          <a:p>
            <a:pPr algn="l" indent="0" marL="0">
              <a:lnSpc>
                <a:spcPts val="1756"/>
              </a:lnSpc>
              <a:buNone/>
            </a:pPr>
            <a:r>
              <a:rPr lang="en-US" sz="1252" dirty="0">
                <a:solidFill>
                  <a:srgbClr val="696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residual risks.</a:t>
            </a:r>
            <a:endParaRPr lang="en-US" sz="1252" dirty="0"/>
          </a:p>
        </p:txBody>
      </p:sp>
      <p:sp>
        <p:nvSpPr>
          <p:cNvPr id="51" name="Text 23"/>
          <p:cNvSpPr/>
          <p:nvPr/>
        </p:nvSpPr>
        <p:spPr>
          <a:xfrm>
            <a:off x="8477250" y="4181475"/>
            <a:ext cx="29813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17"/>
              </a:lnSpc>
              <a:buNone/>
            </a:pPr>
            <a:r>
              <a:rPr lang="en-US" sz="1283" dirty="0">
                <a:solidFill>
                  <a:srgbClr val="5858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depth follows risk, materiality,</a:t>
            </a:r>
            <a:endParaRPr lang="en-US" sz="1283" dirty="0"/>
          </a:p>
          <a:p>
            <a:pPr algn="l" indent="0" marL="0">
              <a:lnSpc>
                <a:spcPts val="1817"/>
              </a:lnSpc>
              <a:buNone/>
            </a:pPr>
            <a:r>
              <a:rPr lang="en-US" sz="1283" dirty="0">
                <a:solidFill>
                  <a:srgbClr val="5858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autonomy and Al system type.</a:t>
            </a:r>
            <a:endParaRPr lang="en-US" sz="1283" dirty="0"/>
          </a:p>
        </p:txBody>
      </p:sp>
      <p:sp>
        <p:nvSpPr>
          <p:cNvPr id="52" name="Text 24"/>
          <p:cNvSpPr/>
          <p:nvPr/>
        </p:nvSpPr>
        <p:spPr>
          <a:xfrm>
            <a:off x="8639175" y="2571750"/>
            <a:ext cx="2743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232" dirty="0">
                <a:solidFill>
                  <a:srgbClr val="667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 where required</a:t>
            </a:r>
            <a:endParaRPr lang="en-US" sz="1232" dirty="0"/>
          </a:p>
        </p:txBody>
      </p:sp>
      <p:sp>
        <p:nvSpPr>
          <p:cNvPr id="53" name="Text 25"/>
          <p:cNvSpPr/>
          <p:nvPr/>
        </p:nvSpPr>
        <p:spPr>
          <a:xfrm>
            <a:off x="8801100" y="2247900"/>
            <a:ext cx="2476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8"/>
              </a:lnSpc>
              <a:buNone/>
            </a:pPr>
            <a:r>
              <a:rPr lang="en-US" sz="1477" b="1" dirty="0">
                <a:solidFill>
                  <a:srgbClr val="4361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proportionately</a:t>
            </a:r>
            <a:endParaRPr lang="en-US" sz="1477" dirty="0"/>
          </a:p>
        </p:txBody>
      </p:sp>
      <p:sp>
        <p:nvSpPr>
          <p:cNvPr id="54" name="Text 26"/>
          <p:cNvSpPr/>
          <p:nvPr/>
        </p:nvSpPr>
        <p:spPr>
          <a:xfrm>
            <a:off x="8391525" y="22479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8"/>
              </a:lnSpc>
              <a:buNone/>
            </a:pPr>
            <a:r>
              <a:rPr lang="en-US" sz="1978" dirty="0">
                <a:solidFill>
                  <a:srgbClr val="B9C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78" dirty="0"/>
          </a:p>
        </p:txBody>
      </p:sp>
      <p:pic>
        <p:nvPicPr>
          <p:cNvPr id="5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29550" y="3524250"/>
            <a:ext cx="295275" cy="285750"/>
          </a:xfrm>
          <a:prstGeom prst="rect">
            <a:avLst/>
          </a:prstGeom>
        </p:spPr>
      </p:pic>
      <p:pic>
        <p:nvPicPr>
          <p:cNvPr id="5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76675" y="3543300"/>
            <a:ext cx="304800" cy="247650"/>
          </a:xfrm>
          <a:prstGeom prst="rect">
            <a:avLst/>
          </a:prstGeom>
        </p:spPr>
      </p:pic>
      <p:sp>
        <p:nvSpPr>
          <p:cNvPr id="57" name="Shape 27"/>
          <p:cNvSpPr/>
          <p:nvPr/>
        </p:nvSpPr>
        <p:spPr>
          <a:xfrm>
            <a:off x="4200525" y="2038350"/>
            <a:ext cx="3629025" cy="5114925"/>
          </a:xfrm>
          <a:prstGeom prst="roundRect">
            <a:avLst>
              <a:gd name="adj" fmla="val 4199"/>
            </a:avLst>
          </a:prstGeom>
          <a:solidFill>
            <a:srgbClr val="FCFDFB"/>
          </a:solidFill>
          <a:ln w="9525">
            <a:solidFill>
              <a:srgbClr val="DEE7DD"/>
            </a:solidFill>
            <a:prstDash val="solid"/>
          </a:ln>
        </p:spPr>
      </p:sp>
      <p:sp>
        <p:nvSpPr>
          <p:cNvPr id="58" name="Shape 28"/>
          <p:cNvSpPr/>
          <p:nvPr/>
        </p:nvSpPr>
        <p:spPr>
          <a:xfrm>
            <a:off x="4276725" y="6048375"/>
            <a:ext cx="3467100" cy="1038225"/>
          </a:xfrm>
          <a:prstGeom prst="roundRect">
            <a:avLst>
              <a:gd name="adj" fmla="val 11009"/>
            </a:avLst>
          </a:prstGeom>
          <a:solidFill>
            <a:srgbClr val="E7EFE6"/>
          </a:solidFill>
          <a:ln/>
        </p:spPr>
      </p:sp>
      <p:pic>
        <p:nvPicPr>
          <p:cNvPr id="5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71975" y="6181725"/>
            <a:ext cx="647700" cy="666750"/>
          </a:xfrm>
          <a:prstGeom prst="rect">
            <a:avLst/>
          </a:prstGeom>
        </p:spPr>
      </p:pic>
      <p:sp>
        <p:nvSpPr>
          <p:cNvPr id="60" name="Text 29"/>
          <p:cNvSpPr/>
          <p:nvPr/>
        </p:nvSpPr>
        <p:spPr>
          <a:xfrm>
            <a:off x="5153025" y="6343650"/>
            <a:ext cx="2324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9"/>
              </a:lnSpc>
              <a:buNone/>
            </a:pPr>
            <a:r>
              <a:rPr lang="en-US" sz="1282" dirty="0">
                <a:solidFill>
                  <a:srgbClr val="667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engagement, clearer</a:t>
            </a:r>
            <a:endParaRPr lang="en-US" sz="1282" dirty="0"/>
          </a:p>
          <a:p>
            <a:pPr algn="l" indent="0" marL="0">
              <a:lnSpc>
                <a:spcPts val="1719"/>
              </a:lnSpc>
              <a:buNone/>
            </a:pPr>
            <a:r>
              <a:rPr lang="en-US" sz="1282" dirty="0">
                <a:solidFill>
                  <a:srgbClr val="667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and more consistent</a:t>
            </a:r>
            <a:endParaRPr lang="en-US" sz="1282" dirty="0"/>
          </a:p>
          <a:p>
            <a:pPr algn="l" indent="0" marL="0">
              <a:lnSpc>
                <a:spcPts val="1719"/>
              </a:lnSpc>
              <a:buNone/>
            </a:pPr>
            <a:r>
              <a:rPr lang="en-US" sz="1282" dirty="0">
                <a:solidFill>
                  <a:srgbClr val="667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challenge.</a:t>
            </a:r>
            <a:endParaRPr lang="en-US" sz="1282" dirty="0"/>
          </a:p>
        </p:txBody>
      </p:sp>
      <p:sp>
        <p:nvSpPr>
          <p:cNvPr id="61" name="Text 30"/>
          <p:cNvSpPr/>
          <p:nvPr/>
        </p:nvSpPr>
        <p:spPr>
          <a:xfrm>
            <a:off x="5162550" y="6134100"/>
            <a:ext cx="790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1393" dirty="0">
                <a:solidFill>
                  <a:srgbClr val="4E6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 as:</a:t>
            </a:r>
            <a:endParaRPr lang="en-US" sz="1393" dirty="0"/>
          </a:p>
        </p:txBody>
      </p:sp>
      <p:pic>
        <p:nvPicPr>
          <p:cNvPr id="6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71975" y="5362575"/>
            <a:ext cx="57150" cy="57150"/>
          </a:xfrm>
          <a:prstGeom prst="rect">
            <a:avLst/>
          </a:prstGeom>
        </p:spPr>
      </p:pic>
      <p:pic>
        <p:nvPicPr>
          <p:cNvPr id="6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71975" y="4829175"/>
            <a:ext cx="57150" cy="57150"/>
          </a:xfrm>
          <a:prstGeom prst="rect">
            <a:avLst/>
          </a:prstGeom>
        </p:spPr>
      </p:pic>
      <p:pic>
        <p:nvPicPr>
          <p:cNvPr id="6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371975" y="4295775"/>
            <a:ext cx="57150" cy="57150"/>
          </a:xfrm>
          <a:prstGeom prst="rect">
            <a:avLst/>
          </a:prstGeom>
        </p:spPr>
      </p:pic>
      <p:pic>
        <p:nvPicPr>
          <p:cNvPr id="6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72150" y="2886075"/>
            <a:ext cx="1619250" cy="1133475"/>
          </a:xfrm>
          <a:prstGeom prst="rect">
            <a:avLst/>
          </a:prstGeom>
        </p:spPr>
      </p:pic>
      <p:pic>
        <p:nvPicPr>
          <p:cNvPr id="6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05600" y="3267075"/>
            <a:ext cx="638175" cy="714375"/>
          </a:xfrm>
          <a:prstGeom prst="rect">
            <a:avLst/>
          </a:prstGeom>
        </p:spPr>
      </p:pic>
      <p:pic>
        <p:nvPicPr>
          <p:cNvPr id="67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62625" y="2905125"/>
            <a:ext cx="914400" cy="1047750"/>
          </a:xfrm>
          <a:prstGeom prst="rect">
            <a:avLst/>
          </a:prstGeom>
        </p:spPr>
      </p:pic>
      <p:pic>
        <p:nvPicPr>
          <p:cNvPr id="6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91050" y="3171825"/>
            <a:ext cx="1057275" cy="819150"/>
          </a:xfrm>
          <a:prstGeom prst="rect">
            <a:avLst/>
          </a:prstGeom>
        </p:spPr>
      </p:pic>
      <p:pic>
        <p:nvPicPr>
          <p:cNvPr id="6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62450" y="2181225"/>
            <a:ext cx="352425" cy="352425"/>
          </a:xfrm>
          <a:prstGeom prst="rect">
            <a:avLst/>
          </a:prstGeom>
        </p:spPr>
      </p:pic>
      <p:sp>
        <p:nvSpPr>
          <p:cNvPr id="70" name="Text 31"/>
          <p:cNvSpPr/>
          <p:nvPr/>
        </p:nvSpPr>
        <p:spPr>
          <a:xfrm>
            <a:off x="4581525" y="5257800"/>
            <a:ext cx="25431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7"/>
              </a:lnSpc>
              <a:buNone/>
            </a:pPr>
            <a:r>
              <a:rPr lang="en-US" sz="1305" dirty="0">
                <a:solidFill>
                  <a:srgbClr val="6F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decision rights, ownership</a:t>
            </a:r>
            <a:endParaRPr lang="en-US" sz="1305" dirty="0"/>
          </a:p>
          <a:p>
            <a:pPr algn="l" indent="0" marL="0">
              <a:lnSpc>
                <a:spcPts val="1767"/>
              </a:lnSpc>
              <a:buNone/>
            </a:pPr>
            <a:r>
              <a:rPr lang="en-US" sz="1305" dirty="0">
                <a:solidFill>
                  <a:srgbClr val="6F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escalation points.</a:t>
            </a:r>
            <a:endParaRPr lang="en-US" sz="1305" dirty="0"/>
          </a:p>
        </p:txBody>
      </p:sp>
      <p:sp>
        <p:nvSpPr>
          <p:cNvPr id="71" name="Text 32"/>
          <p:cNvSpPr/>
          <p:nvPr/>
        </p:nvSpPr>
        <p:spPr>
          <a:xfrm>
            <a:off x="4581525" y="4724400"/>
            <a:ext cx="2781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7"/>
              </a:lnSpc>
              <a:buNone/>
            </a:pPr>
            <a:r>
              <a:rPr lang="en-US" sz="1323" dirty="0">
                <a:solidFill>
                  <a:srgbClr val="676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common evidence expectations</a:t>
            </a:r>
            <a:endParaRPr lang="en-US" sz="1323" dirty="0"/>
          </a:p>
          <a:p>
            <a:pPr algn="l" indent="0" marL="0">
              <a:lnSpc>
                <a:spcPts val="1637"/>
              </a:lnSpc>
              <a:buNone/>
            </a:pPr>
            <a:r>
              <a:rPr lang="en-US" sz="1323" dirty="0">
                <a:solidFill>
                  <a:srgbClr val="676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reduce repeat requests.</a:t>
            </a:r>
            <a:endParaRPr lang="en-US" sz="1323" dirty="0"/>
          </a:p>
        </p:txBody>
      </p:sp>
      <p:sp>
        <p:nvSpPr>
          <p:cNvPr id="72" name="Text 33"/>
          <p:cNvSpPr/>
          <p:nvPr/>
        </p:nvSpPr>
        <p:spPr>
          <a:xfrm>
            <a:off x="4581525" y="4181475"/>
            <a:ext cx="2781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1309" dirty="0">
                <a:solidFill>
                  <a:srgbClr val="6E6E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the use case to relevant 2LoD</a:t>
            </a:r>
            <a:endParaRPr lang="en-US" sz="1309" dirty="0"/>
          </a:p>
          <a:p>
            <a:pPr algn="l" indent="0" marL="0">
              <a:lnSpc>
                <a:spcPts val="1626"/>
              </a:lnSpc>
              <a:buNone/>
            </a:pPr>
            <a:r>
              <a:rPr lang="en-US" sz="1309" dirty="0">
                <a:solidFill>
                  <a:srgbClr val="6E6E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based on the risk profile.</a:t>
            </a:r>
            <a:endParaRPr lang="en-US" sz="1309" dirty="0"/>
          </a:p>
        </p:txBody>
      </p:sp>
      <p:sp>
        <p:nvSpPr>
          <p:cNvPr id="73" name="Text 34"/>
          <p:cNvSpPr/>
          <p:nvPr/>
        </p:nvSpPr>
        <p:spPr>
          <a:xfrm>
            <a:off x="4714875" y="2562225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183" dirty="0">
                <a:solidFill>
                  <a:srgbClr val="62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engagement and shared evidence</a:t>
            </a:r>
            <a:endParaRPr lang="en-US" sz="1183" dirty="0"/>
          </a:p>
        </p:txBody>
      </p:sp>
      <p:sp>
        <p:nvSpPr>
          <p:cNvPr id="74" name="Text 35"/>
          <p:cNvSpPr/>
          <p:nvPr/>
        </p:nvSpPr>
        <p:spPr>
          <a:xfrm>
            <a:off x="4876800" y="2238375"/>
            <a:ext cx="280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552" b="1" dirty="0">
                <a:solidFill>
                  <a:srgbClr val="405C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 the right 2LoD teams</a:t>
            </a:r>
            <a:endParaRPr lang="en-US" sz="1552" dirty="0"/>
          </a:p>
        </p:txBody>
      </p:sp>
      <p:sp>
        <p:nvSpPr>
          <p:cNvPr id="75" name="Text 36"/>
          <p:cNvSpPr/>
          <p:nvPr/>
        </p:nvSpPr>
        <p:spPr>
          <a:xfrm>
            <a:off x="4467225" y="22383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2040" dirty="0">
                <a:solidFill>
                  <a:srgbClr val="B7C7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40" dirty="0"/>
          </a:p>
        </p:txBody>
      </p:sp>
      <p:sp>
        <p:nvSpPr>
          <p:cNvPr id="76" name="Shape 37"/>
          <p:cNvSpPr/>
          <p:nvPr/>
        </p:nvSpPr>
        <p:spPr>
          <a:xfrm>
            <a:off x="238125" y="2028825"/>
            <a:ext cx="3609975" cy="5114925"/>
          </a:xfrm>
          <a:prstGeom prst="roundRect">
            <a:avLst>
              <a:gd name="adj" fmla="val 4222"/>
            </a:avLst>
          </a:prstGeom>
          <a:solidFill>
            <a:srgbClr val="FDFDFC"/>
          </a:solidFill>
          <a:ln w="9525">
            <a:solidFill>
              <a:srgbClr val="D4DED4"/>
            </a:solidFill>
            <a:prstDash val="solid"/>
          </a:ln>
        </p:spPr>
      </p:sp>
      <p:sp>
        <p:nvSpPr>
          <p:cNvPr id="77" name="Shape 38"/>
          <p:cNvSpPr/>
          <p:nvPr/>
        </p:nvSpPr>
        <p:spPr>
          <a:xfrm>
            <a:off x="314325" y="6038850"/>
            <a:ext cx="3457575" cy="1047750"/>
          </a:xfrm>
          <a:prstGeom prst="roundRect">
            <a:avLst>
              <a:gd name="adj" fmla="val 11818"/>
            </a:avLst>
          </a:prstGeom>
          <a:solidFill>
            <a:srgbClr val="E4EDE2"/>
          </a:solidFill>
          <a:ln/>
        </p:spPr>
      </p:sp>
      <p:pic>
        <p:nvPicPr>
          <p:cNvPr id="7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28625" y="6219825"/>
            <a:ext cx="657225" cy="628650"/>
          </a:xfrm>
          <a:prstGeom prst="rect">
            <a:avLst/>
          </a:prstGeom>
        </p:spPr>
      </p:pic>
      <p:sp>
        <p:nvSpPr>
          <p:cNvPr id="79" name="Text 39"/>
          <p:cNvSpPr/>
          <p:nvPr/>
        </p:nvSpPr>
        <p:spPr>
          <a:xfrm>
            <a:off x="1295400" y="6438900"/>
            <a:ext cx="2438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1"/>
              </a:lnSpc>
              <a:buNone/>
            </a:pPr>
            <a:r>
              <a:rPr lang="en-US" sz="1223" dirty="0">
                <a:solidFill>
                  <a:srgbClr val="627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route, fewer late</a:t>
            </a:r>
            <a:endParaRPr lang="en-US" sz="1223" dirty="0"/>
          </a:p>
          <a:p>
            <a:pPr algn="l" indent="0" marL="0">
              <a:lnSpc>
                <a:spcPts val="1451"/>
              </a:lnSpc>
              <a:buNone/>
            </a:pPr>
            <a:r>
              <a:rPr lang="en-US" sz="1223" dirty="0">
                <a:solidFill>
                  <a:srgbClr val="627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surprises and reduced duplication.</a:t>
            </a:r>
            <a:endParaRPr lang="en-US" sz="1223" dirty="0"/>
          </a:p>
        </p:txBody>
      </p:sp>
      <p:sp>
        <p:nvSpPr>
          <p:cNvPr id="80" name="Text 40"/>
          <p:cNvSpPr/>
          <p:nvPr/>
        </p:nvSpPr>
        <p:spPr>
          <a:xfrm>
            <a:off x="1295400" y="620077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343" dirty="0">
                <a:solidFill>
                  <a:srgbClr val="486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 as:</a:t>
            </a:r>
            <a:endParaRPr lang="en-US" sz="1343" dirty="0"/>
          </a:p>
        </p:txBody>
      </p:sp>
      <p:pic>
        <p:nvPicPr>
          <p:cNvPr id="8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28625" y="5353050"/>
            <a:ext cx="57150" cy="57150"/>
          </a:xfrm>
          <a:prstGeom prst="rect">
            <a:avLst/>
          </a:prstGeom>
        </p:spPr>
      </p:pic>
      <p:pic>
        <p:nvPicPr>
          <p:cNvPr id="8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28625" y="4819650"/>
            <a:ext cx="57150" cy="57150"/>
          </a:xfrm>
          <a:prstGeom prst="rect">
            <a:avLst/>
          </a:prstGeom>
        </p:spPr>
      </p:pic>
      <p:pic>
        <p:nvPicPr>
          <p:cNvPr id="83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28625" y="4286250"/>
            <a:ext cx="57150" cy="57150"/>
          </a:xfrm>
          <a:prstGeom prst="rect">
            <a:avLst/>
          </a:prstGeom>
        </p:spPr>
      </p:pic>
      <p:pic>
        <p:nvPicPr>
          <p:cNvPr id="84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038350" y="2962275"/>
            <a:ext cx="1276350" cy="1133475"/>
          </a:xfrm>
          <a:prstGeom prst="rect">
            <a:avLst/>
          </a:prstGeom>
        </p:spPr>
      </p:pic>
      <p:pic>
        <p:nvPicPr>
          <p:cNvPr id="85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7700" y="2990850"/>
            <a:ext cx="952500" cy="1076325"/>
          </a:xfrm>
          <a:prstGeom prst="rect">
            <a:avLst/>
          </a:prstGeom>
        </p:spPr>
      </p:pic>
      <p:pic>
        <p:nvPicPr>
          <p:cNvPr id="86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9575" y="2171700"/>
            <a:ext cx="361950" cy="361950"/>
          </a:xfrm>
          <a:prstGeom prst="rect">
            <a:avLst/>
          </a:prstGeom>
        </p:spPr>
      </p:pic>
      <p:sp>
        <p:nvSpPr>
          <p:cNvPr id="87" name="Text 41"/>
          <p:cNvSpPr/>
          <p:nvPr/>
        </p:nvSpPr>
        <p:spPr>
          <a:xfrm>
            <a:off x="638175" y="5248275"/>
            <a:ext cx="22479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223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light, standard or</a:t>
            </a:r>
            <a:endParaRPr lang="en-US" sz="1223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223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governance route.</a:t>
            </a:r>
            <a:endParaRPr lang="en-US" sz="1223" dirty="0"/>
          </a:p>
        </p:txBody>
      </p:sp>
      <p:sp>
        <p:nvSpPr>
          <p:cNvPr id="88" name="Text 42"/>
          <p:cNvSpPr/>
          <p:nvPr/>
        </p:nvSpPr>
        <p:spPr>
          <a:xfrm>
            <a:off x="628650" y="4714875"/>
            <a:ext cx="29813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335" dirty="0">
                <a:solidFill>
                  <a:srgbClr val="67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autonomy, tool use, third-party</a:t>
            </a:r>
            <a:endParaRPr lang="en-US" sz="1335" dirty="0"/>
          </a:p>
          <a:p>
            <a:pPr algn="l" indent="0" marL="0">
              <a:lnSpc>
                <a:spcPts val="1772"/>
              </a:lnSpc>
              <a:buNone/>
            </a:pPr>
            <a:r>
              <a:rPr lang="en-US" sz="1335" dirty="0">
                <a:solidFill>
                  <a:srgbClr val="67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and business impact.</a:t>
            </a:r>
            <a:endParaRPr lang="en-US" sz="1335" dirty="0"/>
          </a:p>
        </p:txBody>
      </p:sp>
      <p:sp>
        <p:nvSpPr>
          <p:cNvPr id="89" name="Text 43"/>
          <p:cNvSpPr/>
          <p:nvPr/>
        </p:nvSpPr>
        <p:spPr>
          <a:xfrm>
            <a:off x="628650" y="4181475"/>
            <a:ext cx="27051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18" dirty="0">
                <a:solidFill>
                  <a:srgbClr val="57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applicable policies, owners,</a:t>
            </a:r>
            <a:endParaRPr lang="en-US" sz="1318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18" dirty="0">
                <a:solidFill>
                  <a:srgbClr val="57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approval route early.</a:t>
            </a:r>
            <a:endParaRPr lang="en-US" sz="1318" dirty="0"/>
          </a:p>
        </p:txBody>
      </p:sp>
      <p:sp>
        <p:nvSpPr>
          <p:cNvPr id="90" name="Text 44"/>
          <p:cNvSpPr/>
          <p:nvPr/>
        </p:nvSpPr>
        <p:spPr>
          <a:xfrm>
            <a:off x="752475" y="2552700"/>
            <a:ext cx="279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00" dirty="0">
                <a:solidFill>
                  <a:srgbClr val="687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front door and risk-based triage</a:t>
            </a:r>
            <a:endParaRPr lang="en-US" sz="1200" dirty="0"/>
          </a:p>
        </p:txBody>
      </p:sp>
      <p:sp>
        <p:nvSpPr>
          <p:cNvPr id="91" name="Text 45"/>
          <p:cNvSpPr/>
          <p:nvPr/>
        </p:nvSpPr>
        <p:spPr>
          <a:xfrm>
            <a:off x="923925" y="2219325"/>
            <a:ext cx="2571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1"/>
              </a:lnSpc>
              <a:buNone/>
            </a:pPr>
            <a:r>
              <a:rPr lang="en-US" sz="1653" b="1" dirty="0">
                <a:solidFill>
                  <a:srgbClr val="3C5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route upfront</a:t>
            </a:r>
            <a:endParaRPr lang="en-US" sz="1653" dirty="0"/>
          </a:p>
        </p:txBody>
      </p:sp>
      <p:pic>
        <p:nvPicPr>
          <p:cNvPr id="92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61925" y="857250"/>
            <a:ext cx="15563850" cy="1038225"/>
          </a:xfrm>
          <a:prstGeom prst="rect">
            <a:avLst/>
          </a:prstGeom>
        </p:spPr>
      </p:pic>
      <p:pic>
        <p:nvPicPr>
          <p:cNvPr id="93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47700" y="962025"/>
            <a:ext cx="638175" cy="752475"/>
          </a:xfrm>
          <a:prstGeom prst="rect">
            <a:avLst/>
          </a:prstGeom>
        </p:spPr>
      </p:pic>
      <p:sp>
        <p:nvSpPr>
          <p:cNvPr id="94" name="Text 46"/>
          <p:cNvSpPr/>
          <p:nvPr/>
        </p:nvSpPr>
        <p:spPr>
          <a:xfrm>
            <a:off x="1647825" y="1038225"/>
            <a:ext cx="1168717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38"/>
              </a:lnSpc>
              <a:buNone/>
            </a:pPr>
            <a:r>
              <a:rPr lang="en-US" sz="1927" dirty="0">
                <a:solidFill>
                  <a:srgbClr val="4960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 way of working streamlines agentic Al governance by creating one clear route from early triage</a:t>
            </a:r>
            <a:endParaRPr lang="en-US" sz="1927" dirty="0"/>
          </a:p>
          <a:p>
            <a:pPr algn="l" indent="0" marL="0">
              <a:lnSpc>
                <a:spcPts val="2638"/>
              </a:lnSpc>
              <a:buNone/>
            </a:pPr>
            <a:r>
              <a:rPr lang="en-US" sz="1927" dirty="0">
                <a:solidFill>
                  <a:srgbClr val="4960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proportionate 2LoD engagement, independent validation, approval and ongoing oversight.</a:t>
            </a:r>
            <a:endParaRPr lang="en-US" sz="1927" dirty="0"/>
          </a:p>
        </p:txBody>
      </p:sp>
      <p:sp>
        <p:nvSpPr>
          <p:cNvPr id="95" name="Text 47"/>
          <p:cNvSpPr/>
          <p:nvPr/>
        </p:nvSpPr>
        <p:spPr>
          <a:xfrm>
            <a:off x="247650" y="142875"/>
            <a:ext cx="148685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495" b="1" dirty="0">
                <a:solidFill>
                  <a:srgbClr val="31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New Way of Working Lands for Agentic AI Governance</a:t>
            </a:r>
            <a:endParaRPr lang="en-US" sz="34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2026-07-11T08:32:00Z</dcterms:created>
  <dcterms:modified xsi:type="dcterms:W3CDTF">2026-07-11T08:32:00Z</dcterms:modified>
</cp:coreProperties>
</file>