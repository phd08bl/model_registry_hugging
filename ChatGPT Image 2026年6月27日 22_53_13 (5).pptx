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jpe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623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140766"/>
            <a:ext cx="9138531" cy="5469"/>
          </a:xfrm>
          <a:prstGeom prst="rect">
            <a:avLst/>
          </a:prstGeom>
          <a:solidFill>
            <a:srgbClr val="D3D2D1"/>
          </a:solidFill>
          <a:ln/>
        </p:spPr>
      </p:sp>
      <p:sp>
        <p:nvSpPr>
          <p:cNvPr id="4" name="Text 1"/>
          <p:cNvSpPr/>
          <p:nvPr/>
        </p:nvSpPr>
        <p:spPr>
          <a:xfrm>
            <a:off x="8728364" y="4954823"/>
            <a:ext cx="153129" cy="1039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1" dirty="0">
                <a:solidFill>
                  <a:srgbClr val="60616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771" dirty="0"/>
          </a:p>
        </p:txBody>
      </p:sp>
      <p:sp>
        <p:nvSpPr>
          <p:cNvPr id="5" name="Shape 2"/>
          <p:cNvSpPr/>
          <p:nvPr/>
        </p:nvSpPr>
        <p:spPr>
          <a:xfrm>
            <a:off x="311727" y="4369651"/>
            <a:ext cx="8515077" cy="371885"/>
          </a:xfrm>
          <a:prstGeom prst="rect">
            <a:avLst/>
          </a:prstGeom>
          <a:solidFill>
            <a:srgbClr val="F8FCF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59" y="4407933"/>
            <a:ext cx="284383" cy="3226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21914" y="4468091"/>
            <a:ext cx="8242725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3C543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Existing Group governance is being enhanced, clarified and increasingly automated for Al risk.</a:t>
            </a:r>
            <a:endParaRPr lang="en-US" sz="1210" dirty="0"/>
          </a:p>
        </p:txBody>
      </p:sp>
      <p:sp>
        <p:nvSpPr>
          <p:cNvPr id="8" name="Shape 4"/>
          <p:cNvSpPr/>
          <p:nvPr/>
        </p:nvSpPr>
        <p:spPr>
          <a:xfrm>
            <a:off x="4615751" y="3002426"/>
            <a:ext cx="4200115" cy="1252378"/>
          </a:xfrm>
          <a:prstGeom prst="rect">
            <a:avLst/>
          </a:prstGeom>
          <a:solidFill>
            <a:srgbClr val="014224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636" y="3861043"/>
            <a:ext cx="43751" cy="492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0636" y="3505565"/>
            <a:ext cx="43751" cy="43751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603" y="3166493"/>
            <a:ext cx="907837" cy="89143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300172" y="3970421"/>
            <a:ext cx="2511866" cy="1531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8" dirty="0">
                <a:solidFill>
                  <a:srgbClr val="B8CAC0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capture and revalidation triggers.</a:t>
            </a:r>
            <a:endParaRPr lang="en-US" sz="978" dirty="0"/>
          </a:p>
        </p:txBody>
      </p:sp>
      <p:sp>
        <p:nvSpPr>
          <p:cNvPr id="13" name="Text 6"/>
          <p:cNvSpPr/>
          <p:nvPr/>
        </p:nvSpPr>
        <p:spPr>
          <a:xfrm>
            <a:off x="6305641" y="3806354"/>
            <a:ext cx="2343970" cy="1585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2" dirty="0">
                <a:solidFill>
                  <a:srgbClr val="BACDC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Supports monitoring, incident</a:t>
            </a:r>
            <a:endParaRPr lang="en-US" sz="1102" dirty="0"/>
          </a:p>
        </p:txBody>
      </p:sp>
      <p:sp>
        <p:nvSpPr>
          <p:cNvPr id="14" name="Text 7"/>
          <p:cNvSpPr/>
          <p:nvPr/>
        </p:nvSpPr>
        <p:spPr>
          <a:xfrm>
            <a:off x="6300172" y="3439938"/>
            <a:ext cx="2744294" cy="3445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8" dirty="0">
                <a:solidFill>
                  <a:srgbClr val="B9CCC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Captures issues, agreed actions,</a:t>
            </a:r>
            <a:endParaRPr lang="en-US" sz="1038" dirty="0"/>
          </a:p>
          <a:p>
            <a:pPr algn="l" indent="0" marL="0">
              <a:buNone/>
            </a:pPr>
            <a:r>
              <a:rPr lang="en-US" sz="1038" dirty="0">
                <a:solidFill>
                  <a:srgbClr val="B9CCC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ownership and residual risk position.</a:t>
            </a:r>
            <a:endParaRPr lang="en-US" sz="1038" dirty="0"/>
          </a:p>
        </p:txBody>
      </p:sp>
      <p:sp>
        <p:nvSpPr>
          <p:cNvPr id="15" name="Text 8"/>
          <p:cNvSpPr/>
          <p:nvPr/>
        </p:nvSpPr>
        <p:spPr>
          <a:xfrm>
            <a:off x="6097823" y="3182900"/>
            <a:ext cx="2016383" cy="2187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D5CD"/>
                </a:solidFill>
                <a:latin typeface="Afacad" pitchFamily="34" charset="0"/>
                <a:ea typeface="Afacad" pitchFamily="34" charset="-122"/>
                <a:cs typeface="Afacad" pitchFamily="34" charset="-120"/>
              </a:rPr>
              <a:t>4. Ongoing oversight</a:t>
            </a:r>
            <a:endParaRPr lang="en-US" sz="1400" dirty="0"/>
          </a:p>
        </p:txBody>
      </p:sp>
      <p:sp>
        <p:nvSpPr>
          <p:cNvPr id="16" name="Shape 9"/>
          <p:cNvSpPr/>
          <p:nvPr/>
        </p:nvSpPr>
        <p:spPr>
          <a:xfrm>
            <a:off x="317196" y="3002426"/>
            <a:ext cx="4139957" cy="1252378"/>
          </a:xfrm>
          <a:prstGeom prst="rect">
            <a:avLst/>
          </a:prstGeom>
          <a:solidFill>
            <a:srgbClr val="019643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3019" y="3861043"/>
            <a:ext cx="49220" cy="49220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8488" y="3505565"/>
            <a:ext cx="43751" cy="43751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014" y="3150086"/>
            <a:ext cx="1050029" cy="924244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2018024" y="3970421"/>
            <a:ext cx="2038259" cy="1585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1" dirty="0">
                <a:solidFill>
                  <a:srgbClr val="B4E2C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autonomy and materiality.</a:t>
            </a:r>
            <a:endParaRPr lang="en-US" sz="1141" dirty="0"/>
          </a:p>
        </p:txBody>
      </p:sp>
      <p:sp>
        <p:nvSpPr>
          <p:cNvPr id="21" name="Text 11"/>
          <p:cNvSpPr/>
          <p:nvPr/>
        </p:nvSpPr>
        <p:spPr>
          <a:xfrm>
            <a:off x="2028962" y="3800885"/>
            <a:ext cx="2271234" cy="1585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4" dirty="0">
                <a:solidFill>
                  <a:srgbClr val="BCE6CC"/>
                </a:solidFill>
                <a:latin typeface="Rethink Sans" pitchFamily="34" charset="0"/>
                <a:ea typeface="Rethink Sans" pitchFamily="34" charset="-122"/>
                <a:cs typeface="Rethink Sans" pitchFamily="34" charset="-120"/>
              </a:rPr>
              <a:t>Links validation depth to risk,</a:t>
            </a:r>
            <a:endParaRPr lang="en-US" sz="1124" dirty="0"/>
          </a:p>
        </p:txBody>
      </p:sp>
      <p:sp>
        <p:nvSpPr>
          <p:cNvPr id="22" name="Text 12"/>
          <p:cNvSpPr/>
          <p:nvPr/>
        </p:nvSpPr>
        <p:spPr>
          <a:xfrm>
            <a:off x="2018024" y="3429000"/>
            <a:ext cx="2714762" cy="3609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8" dirty="0">
                <a:solidFill>
                  <a:srgbClr val="ADDFC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Enables upfront Al risk assessment,</a:t>
            </a:r>
            <a:endParaRPr lang="en-US" sz="1068" dirty="0"/>
          </a:p>
          <a:p>
            <a:pPr algn="l" indent="0" marL="0">
              <a:buNone/>
            </a:pPr>
            <a:r>
              <a:rPr lang="en-US" sz="1068" dirty="0">
                <a:solidFill>
                  <a:srgbClr val="ADDFC1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tiering and approval routing.</a:t>
            </a:r>
            <a:endParaRPr lang="en-US" sz="1068" dirty="0"/>
          </a:p>
        </p:txBody>
      </p:sp>
      <p:sp>
        <p:nvSpPr>
          <p:cNvPr id="23" name="Text 13"/>
          <p:cNvSpPr/>
          <p:nvPr/>
        </p:nvSpPr>
        <p:spPr>
          <a:xfrm>
            <a:off x="1815675" y="3171962"/>
            <a:ext cx="2846015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2" b="1" dirty="0">
                <a:solidFill>
                  <a:srgbClr val="CCEAD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3.  Proportionate governance</a:t>
            </a:r>
            <a:endParaRPr lang="en-US" sz="1352" dirty="0"/>
          </a:p>
        </p:txBody>
      </p:sp>
      <p:sp>
        <p:nvSpPr>
          <p:cNvPr id="24" name="Shape 14"/>
          <p:cNvSpPr/>
          <p:nvPr/>
        </p:nvSpPr>
        <p:spPr>
          <a:xfrm>
            <a:off x="4610282" y="1618794"/>
            <a:ext cx="4205584" cy="1263316"/>
          </a:xfrm>
          <a:prstGeom prst="rect">
            <a:avLst/>
          </a:prstGeom>
          <a:solidFill>
            <a:srgbClr val="9BEB95"/>
          </a:solidFill>
          <a:ln/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0636" y="2493818"/>
            <a:ext cx="43751" cy="43751"/>
          </a:xfrm>
          <a:prstGeom prst="rect">
            <a:avLst/>
          </a:prstGeom>
        </p:spPr>
      </p:pic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5167" y="2132871"/>
            <a:ext cx="49220" cy="49220"/>
          </a:xfrm>
          <a:prstGeom prst="rect">
            <a:avLst/>
          </a:prstGeom>
        </p:spPr>
      </p:pic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8100" y="1832081"/>
            <a:ext cx="1006278" cy="842211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6300172" y="2422722"/>
            <a:ext cx="2700543" cy="3445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8" dirty="0">
                <a:solidFill>
                  <a:srgbClr val="2A4929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Clarifies ownership, approvals and</a:t>
            </a:r>
            <a:endParaRPr lang="en-US" sz="1098" dirty="0"/>
          </a:p>
          <a:p>
            <a:pPr algn="l" indent="0" marL="0">
              <a:buNone/>
            </a:pPr>
            <a:r>
              <a:rPr lang="en-US" sz="1098" dirty="0">
                <a:solidFill>
                  <a:srgbClr val="2A4929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evidence expectations.</a:t>
            </a:r>
            <a:endParaRPr lang="en-US" sz="1098" dirty="0"/>
          </a:p>
        </p:txBody>
      </p:sp>
      <p:sp>
        <p:nvSpPr>
          <p:cNvPr id="29" name="Text 16"/>
          <p:cNvSpPr/>
          <p:nvPr/>
        </p:nvSpPr>
        <p:spPr>
          <a:xfrm>
            <a:off x="6305641" y="2056306"/>
            <a:ext cx="2555070" cy="3554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3A6138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Provides a clear view of Al</a:t>
            </a:r>
            <a:endParaRPr lang="en-US" sz="870" dirty="0"/>
          </a:p>
          <a:p>
            <a:pPr algn="l" indent="0" marL="0">
              <a:buNone/>
            </a:pPr>
            <a:r>
              <a:rPr lang="en-US" sz="870" b="1" dirty="0">
                <a:solidFill>
                  <a:srgbClr val="3A6138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requirements and good practice.</a:t>
            </a:r>
            <a:endParaRPr lang="en-US" sz="870" dirty="0"/>
          </a:p>
        </p:txBody>
      </p:sp>
      <p:sp>
        <p:nvSpPr>
          <p:cNvPr id="30" name="Text 17"/>
          <p:cNvSpPr/>
          <p:nvPr/>
        </p:nvSpPr>
        <p:spPr>
          <a:xfrm>
            <a:off x="6103292" y="1804737"/>
            <a:ext cx="2759060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9" b="1" dirty="0">
                <a:solidFill>
                  <a:srgbClr val="18381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2.  One-view of requirements</a:t>
            </a:r>
            <a:endParaRPr lang="en-US" sz="1309" dirty="0"/>
          </a:p>
        </p:txBody>
      </p:sp>
      <p:sp>
        <p:nvSpPr>
          <p:cNvPr id="31" name="Shape 18"/>
          <p:cNvSpPr/>
          <p:nvPr/>
        </p:nvSpPr>
        <p:spPr>
          <a:xfrm>
            <a:off x="317196" y="1613325"/>
            <a:ext cx="4139957" cy="1268785"/>
          </a:xfrm>
          <a:prstGeom prst="rect">
            <a:avLst/>
          </a:prstGeom>
          <a:solidFill>
            <a:srgbClr val="D2F7CC"/>
          </a:solidFill>
          <a:ln/>
        </p:spPr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48488" y="2482880"/>
            <a:ext cx="43751" cy="43751"/>
          </a:xfrm>
          <a:prstGeom prst="rect">
            <a:avLst/>
          </a:prstGeom>
        </p:spPr>
      </p:pic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8488" y="2121933"/>
            <a:ext cx="43751" cy="43751"/>
          </a:xfrm>
          <a:prstGeom prst="rect">
            <a:avLst/>
          </a:prstGeom>
        </p:spPr>
      </p:pic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5952" y="1799268"/>
            <a:ext cx="1039091" cy="858617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2028962" y="2411785"/>
            <a:ext cx="2904533" cy="35001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5" dirty="0">
                <a:solidFill>
                  <a:srgbClr val="4D5A4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Enhances existing governance where</a:t>
            </a:r>
            <a:endParaRPr lang="en-US" sz="1055" dirty="0"/>
          </a:p>
          <a:p>
            <a:pPr algn="l" indent="0" marL="0">
              <a:buNone/>
            </a:pPr>
            <a:r>
              <a:rPr lang="en-US" sz="1055" dirty="0">
                <a:solidFill>
                  <a:srgbClr val="4D5A4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required for Al-specific risks.</a:t>
            </a:r>
            <a:endParaRPr lang="en-US" sz="1055" dirty="0"/>
          </a:p>
        </p:txBody>
      </p:sp>
      <p:sp>
        <p:nvSpPr>
          <p:cNvPr id="36" name="Text 20"/>
          <p:cNvSpPr/>
          <p:nvPr/>
        </p:nvSpPr>
        <p:spPr>
          <a:xfrm>
            <a:off x="2023493" y="2045368"/>
            <a:ext cx="2555070" cy="3554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9" dirty="0">
                <a:solidFill>
                  <a:srgbClr val="3C48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Uses existing Group governance</a:t>
            </a:r>
            <a:endParaRPr lang="en-US" sz="1059" dirty="0"/>
          </a:p>
          <a:p>
            <a:pPr algn="l" indent="0" marL="0">
              <a:buNone/>
            </a:pPr>
            <a:r>
              <a:rPr lang="en-US" sz="1059" dirty="0">
                <a:solidFill>
                  <a:srgbClr val="3C483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wherever possible.</a:t>
            </a:r>
            <a:endParaRPr lang="en-US" sz="1059" dirty="0"/>
          </a:p>
        </p:txBody>
      </p:sp>
      <p:sp>
        <p:nvSpPr>
          <p:cNvPr id="37" name="Text 21"/>
          <p:cNvSpPr/>
          <p:nvPr/>
        </p:nvSpPr>
        <p:spPr>
          <a:xfrm>
            <a:off x="1832081" y="1782861"/>
            <a:ext cx="2627806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2" b="1" dirty="0">
                <a:solidFill>
                  <a:srgbClr val="23372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1. Efficient and embedded</a:t>
            </a:r>
            <a:endParaRPr lang="en-US" sz="1352" dirty="0"/>
          </a:p>
        </p:txBody>
      </p:sp>
      <p:sp>
        <p:nvSpPr>
          <p:cNvPr id="38" name="Shape 22"/>
          <p:cNvSpPr/>
          <p:nvPr/>
        </p:nvSpPr>
        <p:spPr>
          <a:xfrm>
            <a:off x="322665" y="1039091"/>
            <a:ext cx="8506326" cy="474700"/>
          </a:xfrm>
          <a:prstGeom prst="rect">
            <a:avLst/>
          </a:prstGeom>
          <a:solidFill>
            <a:srgbClr val="013F1A"/>
          </a:solidFill>
          <a:ln/>
        </p:spPr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3919" y="1115656"/>
            <a:ext cx="289852" cy="278914"/>
          </a:xfrm>
          <a:prstGeom prst="rect">
            <a:avLst/>
          </a:prstGeom>
        </p:spPr>
      </p:pic>
      <p:sp>
        <p:nvSpPr>
          <p:cNvPr id="40" name="Text 23"/>
          <p:cNvSpPr/>
          <p:nvPr/>
        </p:nvSpPr>
        <p:spPr>
          <a:xfrm>
            <a:off x="1060967" y="1159407"/>
            <a:ext cx="8941651" cy="2187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9" b="1" dirty="0">
                <a:solidFill>
                  <a:srgbClr val="C1D0C6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The target state is not to create more governance, but to simplity the route through governance.</a:t>
            </a:r>
            <a:endParaRPr lang="en-US" sz="1309" dirty="0"/>
          </a:p>
        </p:txBody>
      </p:sp>
      <p:pic>
        <p:nvPicPr>
          <p:cNvPr id="4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95550" y="202349"/>
            <a:ext cx="10938" cy="415636"/>
          </a:xfrm>
          <a:prstGeom prst="rect">
            <a:avLst/>
          </a:prstGeom>
        </p:spPr>
      </p:pic>
      <p:pic>
        <p:nvPicPr>
          <p:cNvPr id="4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03349" y="213287"/>
            <a:ext cx="10938" cy="388292"/>
          </a:xfrm>
          <a:prstGeom prst="rect">
            <a:avLst/>
          </a:prstGeom>
        </p:spPr>
      </p:pic>
      <p:pic>
        <p:nvPicPr>
          <p:cNvPr id="4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29885" y="601579"/>
            <a:ext cx="38282" cy="27344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6956440" y="563297"/>
            <a:ext cx="344541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8" dirty="0">
                <a:solidFill>
                  <a:srgbClr val="6D6D6E"/>
                </a:solidFill>
                <a:latin typeface="Tilt Neon" pitchFamily="34" charset="0"/>
                <a:ea typeface="Tilt Neon" pitchFamily="34" charset="-122"/>
                <a:cs typeface="Tilt Neon" pitchFamily="34" charset="-120"/>
              </a:rPr>
              <a:t>Select</a:t>
            </a:r>
            <a:endParaRPr lang="en-US" sz="698" dirty="0"/>
          </a:p>
        </p:txBody>
      </p:sp>
      <p:pic>
        <p:nvPicPr>
          <p:cNvPr id="4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19718" y="552359"/>
            <a:ext cx="76565" cy="109378"/>
          </a:xfrm>
          <a:prstGeom prst="rect">
            <a:avLst/>
          </a:prstGeom>
        </p:spPr>
      </p:pic>
      <p:sp>
        <p:nvSpPr>
          <p:cNvPr id="46" name="Text 25"/>
          <p:cNvSpPr/>
          <p:nvPr/>
        </p:nvSpPr>
        <p:spPr>
          <a:xfrm>
            <a:off x="8744770" y="426574"/>
            <a:ext cx="416730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8" dirty="0">
                <a:solidFill>
                  <a:srgbClr val="656566"/>
                </a:solidFill>
                <a:latin typeface="Tilt Neon" pitchFamily="34" charset="0"/>
                <a:ea typeface="Tilt Neon" pitchFamily="34" charset="-122"/>
                <a:cs typeface="Tilt Neon" pitchFamily="34" charset="-120"/>
              </a:rPr>
              <a:t>Add-ins</a:t>
            </a:r>
            <a:endParaRPr lang="en-US" sz="698" dirty="0"/>
          </a:p>
        </p:txBody>
      </p:sp>
      <p:pic>
        <p:nvPicPr>
          <p:cNvPr id="4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99459" y="169536"/>
            <a:ext cx="196880" cy="213287"/>
          </a:xfrm>
          <a:prstGeom prst="rect">
            <a:avLst/>
          </a:prstGeom>
        </p:spPr>
      </p:pic>
      <p:sp>
        <p:nvSpPr>
          <p:cNvPr id="48" name="Text 26"/>
          <p:cNvSpPr/>
          <p:nvPr/>
        </p:nvSpPr>
        <p:spPr>
          <a:xfrm>
            <a:off x="8263507" y="426574"/>
            <a:ext cx="531030" cy="1093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4" dirty="0">
                <a:solidFill>
                  <a:srgbClr val="6F6F70"/>
                </a:solidFill>
                <a:latin typeface="Tilt Neon" pitchFamily="34" charset="0"/>
                <a:ea typeface="Tilt Neon" pitchFamily="34" charset="-122"/>
                <a:cs typeface="Tilt Neon" pitchFamily="34" charset="-120"/>
              </a:rPr>
              <a:t>Sensitivity</a:t>
            </a:r>
            <a:endParaRPr lang="en-US" sz="754" dirty="0"/>
          </a:p>
        </p:txBody>
      </p:sp>
      <p:pic>
        <p:nvPicPr>
          <p:cNvPr id="4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72885" y="169536"/>
            <a:ext cx="191411" cy="213287"/>
          </a:xfrm>
          <a:prstGeom prst="rect">
            <a:avLst/>
          </a:prstGeom>
        </p:spPr>
      </p:pic>
      <p:pic>
        <p:nvPicPr>
          <p:cNvPr id="5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68187" y="601579"/>
            <a:ext cx="32813" cy="27344"/>
          </a:xfrm>
          <a:prstGeom prst="rect">
            <a:avLst/>
          </a:prstGeom>
        </p:spPr>
      </p:pic>
      <p:sp>
        <p:nvSpPr>
          <p:cNvPr id="51" name="Text 27"/>
          <p:cNvSpPr/>
          <p:nvPr/>
        </p:nvSpPr>
        <p:spPr>
          <a:xfrm>
            <a:off x="7847871" y="426574"/>
            <a:ext cx="385011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1" dirty="0">
                <a:solidFill>
                  <a:srgbClr val="646465"/>
                </a:solidFill>
                <a:latin typeface="Gantari" pitchFamily="34" charset="0"/>
                <a:ea typeface="Gantari" pitchFamily="34" charset="-122"/>
                <a:cs typeface="Gantari" pitchFamily="34" charset="-120"/>
              </a:rPr>
              <a:t>Dictate</a:t>
            </a:r>
            <a:endParaRPr lang="en-US" sz="711" dirty="0"/>
          </a:p>
        </p:txBody>
      </p:sp>
      <p:pic>
        <p:nvPicPr>
          <p:cNvPr id="5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24435" y="169536"/>
            <a:ext cx="131254" cy="218756"/>
          </a:xfrm>
          <a:prstGeom prst="rect">
            <a:avLst/>
          </a:prstGeom>
        </p:spPr>
      </p:pic>
      <p:pic>
        <p:nvPicPr>
          <p:cNvPr id="5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754900" y="202349"/>
            <a:ext cx="10938" cy="421105"/>
          </a:xfrm>
          <a:prstGeom prst="rect">
            <a:avLst/>
          </a:prstGeom>
        </p:spPr>
      </p:pic>
      <p:sp>
        <p:nvSpPr>
          <p:cNvPr id="54" name="Text 28"/>
          <p:cNvSpPr/>
          <p:nvPr/>
        </p:nvSpPr>
        <p:spPr>
          <a:xfrm>
            <a:off x="333603" y="530483"/>
            <a:ext cx="6936752" cy="3554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99" b="1" dirty="0">
                <a:solidFill>
                  <a:srgbClr val="1F2A2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Easy-to-Navigate Al Governance Model</a:t>
            </a:r>
            <a:endParaRPr lang="en-US" sz="2399" dirty="0"/>
          </a:p>
        </p:txBody>
      </p:sp>
      <p:sp>
        <p:nvSpPr>
          <p:cNvPr id="55" name="Text 29"/>
          <p:cNvSpPr/>
          <p:nvPr/>
        </p:nvSpPr>
        <p:spPr>
          <a:xfrm>
            <a:off x="6956440" y="371885"/>
            <a:ext cx="720801" cy="1039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5" dirty="0">
                <a:solidFill>
                  <a:srgbClr val="6C6C6D"/>
                </a:solidFill>
                <a:latin typeface="Tilt Neon" pitchFamily="34" charset="0"/>
                <a:ea typeface="Tilt Neon" pitchFamily="34" charset="-122"/>
                <a:cs typeface="Tilt Neon" pitchFamily="34" charset="-120"/>
              </a:rPr>
              <a:t>Replace Fonts</a:t>
            </a:r>
            <a:endParaRPr lang="en-US" sz="745" dirty="0"/>
          </a:p>
        </p:txBody>
      </p:sp>
      <p:pic>
        <p:nvPicPr>
          <p:cNvPr id="5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03311" y="366416"/>
            <a:ext cx="120316" cy="109378"/>
          </a:xfrm>
          <a:prstGeom prst="rect">
            <a:avLst/>
          </a:prstGeom>
        </p:spPr>
      </p:pic>
      <p:sp>
        <p:nvSpPr>
          <p:cNvPr id="57" name="Text 30"/>
          <p:cNvSpPr/>
          <p:nvPr/>
        </p:nvSpPr>
        <p:spPr>
          <a:xfrm>
            <a:off x="6294703" y="421105"/>
            <a:ext cx="300789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dirty="0">
                <a:solidFill>
                  <a:srgbClr val="6C8076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Slido</a:t>
            </a:r>
            <a:endParaRPr lang="en-US" sz="792" dirty="0"/>
          </a:p>
        </p:txBody>
      </p:sp>
      <p:sp>
        <p:nvSpPr>
          <p:cNvPr id="58" name="Text 31"/>
          <p:cNvSpPr/>
          <p:nvPr/>
        </p:nvSpPr>
        <p:spPr>
          <a:xfrm>
            <a:off x="6956440" y="180474"/>
            <a:ext cx="888149" cy="1093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5" dirty="0">
                <a:solidFill>
                  <a:srgbClr val="6F70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Find and Replace</a:t>
            </a:r>
            <a:endParaRPr lang="en-US" sz="775" dirty="0"/>
          </a:p>
        </p:txBody>
      </p:sp>
      <p:pic>
        <p:nvPicPr>
          <p:cNvPr id="59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14249" y="169536"/>
            <a:ext cx="109378" cy="114847"/>
          </a:xfrm>
          <a:prstGeom prst="rect">
            <a:avLst/>
          </a:prstGeom>
        </p:spPr>
      </p:pic>
      <p:pic>
        <p:nvPicPr>
          <p:cNvPr id="60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693933" y="213287"/>
            <a:ext cx="5469" cy="404699"/>
          </a:xfrm>
          <a:prstGeom prst="rect">
            <a:avLst/>
          </a:prstGeom>
        </p:spPr>
      </p:pic>
      <p:sp>
        <p:nvSpPr>
          <p:cNvPr id="61" name="Shape 32"/>
          <p:cNvSpPr/>
          <p:nvPr/>
        </p:nvSpPr>
        <p:spPr>
          <a:xfrm>
            <a:off x="6278297" y="164067"/>
            <a:ext cx="224225" cy="229694"/>
          </a:xfrm>
          <a:prstGeom prst="rect">
            <a:avLst/>
          </a:prstGeom>
          <a:solidFill>
            <a:srgbClr val="017F37"/>
          </a:solidFill>
          <a:ln/>
        </p:spPr>
      </p:sp>
      <p:sp>
        <p:nvSpPr>
          <p:cNvPr id="62" name="Text 33"/>
          <p:cNvSpPr/>
          <p:nvPr/>
        </p:nvSpPr>
        <p:spPr>
          <a:xfrm>
            <a:off x="6283766" y="207818"/>
            <a:ext cx="218756" cy="147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77" b="1" dirty="0">
                <a:solidFill>
                  <a:srgbClr val="D6EAD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</a:t>
            </a:r>
            <a:endParaRPr lang="en-US" sz="1477" dirty="0"/>
          </a:p>
        </p:txBody>
      </p:sp>
      <p:sp>
        <p:nvSpPr>
          <p:cNvPr id="63" name="Text 34"/>
          <p:cNvSpPr/>
          <p:nvPr/>
        </p:nvSpPr>
        <p:spPr>
          <a:xfrm>
            <a:off x="311727" y="175005"/>
            <a:ext cx="4614657" cy="3390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99" b="1" dirty="0">
                <a:solidFill>
                  <a:srgbClr val="202A2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Simpler, Embedded and</a:t>
            </a:r>
            <a:endParaRPr lang="en-US" sz="239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2026-06-28T06:48:00Z</dcterms:created>
  <dcterms:modified xsi:type="dcterms:W3CDTF">2026-06-28T06:48:00Z</dcterms:modified>
</cp:coreProperties>
</file>