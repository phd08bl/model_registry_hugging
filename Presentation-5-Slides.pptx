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jpe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jpe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jpe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jpe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jpe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jpe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jpe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jpe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jpe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jpe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jpe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jpe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jpe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image" Target="../media/image-5-31.jpeg"/><Relationship Id="rId32" Type="http://schemas.openxmlformats.org/officeDocument/2006/relationships/image" Target="../media/image-5-32.png"/><Relationship Id="rId33" Type="http://schemas.openxmlformats.org/officeDocument/2006/relationships/image" Target="../media/image-5-33.png"/><Relationship Id="rId34" Type="http://schemas.openxmlformats.org/officeDocument/2006/relationships/image" Target="../media/image-5-34.jpeg"/><Relationship Id="rId35" Type="http://schemas.openxmlformats.org/officeDocument/2006/relationships/image" Target="../media/image-5-35.png"/><Relationship Id="rId36" Type="http://schemas.openxmlformats.org/officeDocument/2006/relationships/image" Target="../media/image-5-36.png"/><Relationship Id="rId37" Type="http://schemas.openxmlformats.org/officeDocument/2006/relationships/image" Target="../media/image-5-37.png"/><Relationship Id="rId38" Type="http://schemas.openxmlformats.org/officeDocument/2006/relationships/image" Target="../media/image-5-38.png"/><Relationship Id="rId39" Type="http://schemas.openxmlformats.org/officeDocument/2006/relationships/image" Target="../media/image-5-39.jpeg"/><Relationship Id="rId40" Type="http://schemas.openxmlformats.org/officeDocument/2006/relationships/slideLayout" Target="../slideLayouts/slideLayout1.xml"/><Relationship Id="rId41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6234"/>
          </a:xfrm>
          <a:prstGeom prst="rect">
            <a:avLst/>
          </a:prstGeom>
          <a:solidFill>
            <a:srgbClr val="F9F9F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13" y="0"/>
            <a:ext cx="9111187" cy="514623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0010" y="4298555"/>
            <a:ext cx="8438512" cy="596110"/>
          </a:xfrm>
          <a:prstGeom prst="rect">
            <a:avLst/>
          </a:prstGeom>
          <a:solidFill>
            <a:srgbClr val="013A23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08" y="4358713"/>
            <a:ext cx="404699" cy="442981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39" y="4714191"/>
            <a:ext cx="76565" cy="7109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37531" y="4429809"/>
            <a:ext cx="6292516" cy="3445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5" b="1" dirty="0">
                <a:solidFill>
                  <a:srgbClr val="AAC1AE"/>
                </a:solidFill>
                <a:latin typeface="Ysabeau" pitchFamily="34" charset="0"/>
                <a:ea typeface="Ysabeau" pitchFamily="34" charset="-122"/>
                <a:cs typeface="Ysabeau" pitchFamily="34" charset="-120"/>
              </a:rPr>
              <a:t>Al risk oversight needs clearer triage, documented approval routes, consistent evidence standards,</a:t>
            </a:r>
            <a:endParaRPr lang="en-US" sz="1085" dirty="0"/>
          </a:p>
          <a:p>
            <a:pPr algn="l" indent="0" marL="0">
              <a:buNone/>
            </a:pPr>
            <a:r>
              <a:rPr lang="en-US" sz="1085" b="1" dirty="0">
                <a:solidFill>
                  <a:srgbClr val="AAC1AE"/>
                </a:solidFill>
                <a:latin typeface="Ysabeau" pitchFamily="34" charset="0"/>
                <a:ea typeface="Ysabeau" pitchFamily="34" charset="-122"/>
                <a:cs typeface="Ysabeau" pitchFamily="34" charset="-120"/>
              </a:rPr>
              <a:t>proportionate validation, and defined monitoring / revalidation triggers across the AI lifecycle.</a:t>
            </a:r>
            <a:endParaRPr lang="en-US" sz="1085" dirty="0"/>
          </a:p>
        </p:txBody>
      </p:sp>
      <p:sp>
        <p:nvSpPr>
          <p:cNvPr id="8" name="Shape 3"/>
          <p:cNvSpPr/>
          <p:nvPr/>
        </p:nvSpPr>
        <p:spPr>
          <a:xfrm>
            <a:off x="6163450" y="3844636"/>
            <a:ext cx="2641478" cy="382823"/>
          </a:xfrm>
          <a:prstGeom prst="rect">
            <a:avLst/>
          </a:prstGeom>
          <a:solidFill>
            <a:srgbClr val="FEFDFE"/>
          </a:solidFill>
          <a:ln/>
        </p:spPr>
      </p:sp>
      <p:sp>
        <p:nvSpPr>
          <p:cNvPr id="9" name="Text 4"/>
          <p:cNvSpPr/>
          <p:nvPr/>
        </p:nvSpPr>
        <p:spPr>
          <a:xfrm>
            <a:off x="6327517" y="3975890"/>
            <a:ext cx="1503947" cy="1421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6" b="1" dirty="0">
                <a:solidFill>
                  <a:srgbClr val="3D3D3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Stronger ongoing oversight</a:t>
            </a:r>
            <a:endParaRPr lang="en-US" sz="646" dirty="0"/>
          </a:p>
        </p:txBody>
      </p:sp>
      <p:sp>
        <p:nvSpPr>
          <p:cNvPr id="10" name="Shape 5"/>
          <p:cNvSpPr/>
          <p:nvPr/>
        </p:nvSpPr>
        <p:spPr>
          <a:xfrm>
            <a:off x="6163450" y="3467282"/>
            <a:ext cx="2636010" cy="360947"/>
          </a:xfrm>
          <a:prstGeom prst="rect">
            <a:avLst/>
          </a:prstGeom>
          <a:solidFill>
            <a:srgbClr val="D5F0CC"/>
          </a:solidFill>
          <a:ln/>
        </p:spPr>
      </p:sp>
      <p:sp>
        <p:nvSpPr>
          <p:cNvPr id="11" name="Text 6"/>
          <p:cNvSpPr/>
          <p:nvPr/>
        </p:nvSpPr>
        <p:spPr>
          <a:xfrm>
            <a:off x="6327517" y="3576660"/>
            <a:ext cx="1251284" cy="1421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1" b="1" dirty="0">
                <a:solidFill>
                  <a:srgbClr val="3F4C3D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Lower delivery friction</a:t>
            </a:r>
            <a:endParaRPr lang="en-US" sz="771" dirty="0"/>
          </a:p>
        </p:txBody>
      </p:sp>
      <p:sp>
        <p:nvSpPr>
          <p:cNvPr id="12" name="Shape 7"/>
          <p:cNvSpPr/>
          <p:nvPr/>
        </p:nvSpPr>
        <p:spPr>
          <a:xfrm>
            <a:off x="6163450" y="3068053"/>
            <a:ext cx="2641478" cy="377354"/>
          </a:xfrm>
          <a:prstGeom prst="rect">
            <a:avLst/>
          </a:prstGeom>
          <a:solidFill>
            <a:srgbClr val="FEFDFE"/>
          </a:solidFill>
          <a:ln/>
        </p:spPr>
      </p:sp>
      <p:sp>
        <p:nvSpPr>
          <p:cNvPr id="13" name="Text 8"/>
          <p:cNvSpPr/>
          <p:nvPr/>
        </p:nvSpPr>
        <p:spPr>
          <a:xfrm>
            <a:off x="6327517" y="3199306"/>
            <a:ext cx="1305426" cy="1203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5B5B5C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More consistent review</a:t>
            </a:r>
            <a:endParaRPr lang="en-US" sz="844" dirty="0"/>
          </a:p>
        </p:txBody>
      </p:sp>
      <p:sp>
        <p:nvSpPr>
          <p:cNvPr id="14" name="Shape 9"/>
          <p:cNvSpPr/>
          <p:nvPr/>
        </p:nvSpPr>
        <p:spPr>
          <a:xfrm>
            <a:off x="6163450" y="2690699"/>
            <a:ext cx="2636010" cy="366416"/>
          </a:xfrm>
          <a:prstGeom prst="rect">
            <a:avLst/>
          </a:prstGeom>
          <a:solidFill>
            <a:srgbClr val="D4F0CB"/>
          </a:solidFill>
          <a:ln/>
        </p:spPr>
      </p:sp>
      <p:sp>
        <p:nvSpPr>
          <p:cNvPr id="15" name="Text 10"/>
          <p:cNvSpPr/>
          <p:nvPr/>
        </p:nvSpPr>
        <p:spPr>
          <a:xfrm>
            <a:off x="6327517" y="2811014"/>
            <a:ext cx="1257300" cy="1367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1" b="1" dirty="0">
                <a:solidFill>
                  <a:srgbClr val="4D5B4A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Sharper accountability</a:t>
            </a:r>
            <a:endParaRPr lang="en-US" sz="771" dirty="0"/>
          </a:p>
        </p:txBody>
      </p:sp>
      <p:sp>
        <p:nvSpPr>
          <p:cNvPr id="16" name="Shape 11"/>
          <p:cNvSpPr/>
          <p:nvPr/>
        </p:nvSpPr>
        <p:spPr>
          <a:xfrm>
            <a:off x="6163450" y="2302407"/>
            <a:ext cx="2641478" cy="366416"/>
          </a:xfrm>
          <a:prstGeom prst="rect">
            <a:avLst/>
          </a:prstGeom>
          <a:solidFill>
            <a:srgbClr val="FDFDFD"/>
          </a:solidFill>
          <a:ln/>
        </p:spPr>
      </p:sp>
      <p:sp>
        <p:nvSpPr>
          <p:cNvPr id="17" name="Text 12"/>
          <p:cNvSpPr/>
          <p:nvPr/>
        </p:nvSpPr>
        <p:spPr>
          <a:xfrm>
            <a:off x="6327517" y="2417254"/>
            <a:ext cx="920416" cy="1203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5A5A5B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Reduced rework</a:t>
            </a:r>
            <a:endParaRPr lang="en-US" sz="844" dirty="0"/>
          </a:p>
        </p:txBody>
      </p:sp>
      <p:sp>
        <p:nvSpPr>
          <p:cNvPr id="18" name="Shape 13"/>
          <p:cNvSpPr/>
          <p:nvPr/>
        </p:nvSpPr>
        <p:spPr>
          <a:xfrm>
            <a:off x="6163450" y="1919584"/>
            <a:ext cx="2636010" cy="355478"/>
          </a:xfrm>
          <a:prstGeom prst="rect">
            <a:avLst/>
          </a:prstGeom>
          <a:solidFill>
            <a:srgbClr val="CFEDC4"/>
          </a:solidFill>
          <a:ln/>
        </p:spPr>
      </p:sp>
      <p:sp>
        <p:nvSpPr>
          <p:cNvPr id="19" name="Text 14"/>
          <p:cNvSpPr/>
          <p:nvPr/>
        </p:nvSpPr>
        <p:spPr>
          <a:xfrm>
            <a:off x="6322048" y="2034431"/>
            <a:ext cx="1768642" cy="1421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1" b="1" dirty="0">
                <a:solidFill>
                  <a:srgbClr val="39453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Clearer route through oversight</a:t>
            </a:r>
            <a:endParaRPr lang="en-US" sz="771" dirty="0"/>
          </a:p>
        </p:txBody>
      </p:sp>
      <p:sp>
        <p:nvSpPr>
          <p:cNvPr id="20" name="Shape 15"/>
          <p:cNvSpPr/>
          <p:nvPr/>
        </p:nvSpPr>
        <p:spPr>
          <a:xfrm>
            <a:off x="6163450" y="1531292"/>
            <a:ext cx="2641478" cy="344541"/>
          </a:xfrm>
          <a:prstGeom prst="rect">
            <a:avLst/>
          </a:prstGeom>
          <a:solidFill>
            <a:srgbClr val="07392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048" y="1569574"/>
            <a:ext cx="273445" cy="27344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37684" y="1640670"/>
            <a:ext cx="631658" cy="1367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3" b="1" dirty="0">
                <a:solidFill>
                  <a:srgbClr val="B8C6C1"/>
                </a:solidFill>
                <a:latin typeface="Red Rose" pitchFamily="34" charset="0"/>
                <a:ea typeface="Red Rose" pitchFamily="34" charset="-122"/>
                <a:cs typeface="Red Rose" pitchFamily="34" charset="-120"/>
              </a:rPr>
              <a:t>Outcome</a:t>
            </a:r>
            <a:endParaRPr lang="en-US" sz="1003" dirty="0"/>
          </a:p>
        </p:txBody>
      </p:sp>
      <p:sp>
        <p:nvSpPr>
          <p:cNvPr id="23" name="Shape 17"/>
          <p:cNvSpPr/>
          <p:nvPr/>
        </p:nvSpPr>
        <p:spPr>
          <a:xfrm>
            <a:off x="3073522" y="3844636"/>
            <a:ext cx="2980550" cy="382823"/>
          </a:xfrm>
          <a:prstGeom prst="rect">
            <a:avLst/>
          </a:prstGeom>
          <a:solidFill>
            <a:srgbClr val="FDFEFE"/>
          </a:solidFill>
          <a:ln/>
        </p:spPr>
      </p:sp>
      <p:sp>
        <p:nvSpPr>
          <p:cNvPr id="24" name="Text 18"/>
          <p:cNvSpPr/>
          <p:nvPr/>
        </p:nvSpPr>
        <p:spPr>
          <a:xfrm>
            <a:off x="3248526" y="3888388"/>
            <a:ext cx="2219826" cy="3117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9" b="1" dirty="0">
                <a:solidFill>
                  <a:srgbClr val="414141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Change triage, monitoring expectations</a:t>
            </a:r>
            <a:endParaRPr lang="en-US" sz="779" dirty="0"/>
          </a:p>
          <a:p>
            <a:pPr algn="l" indent="0" marL="0">
              <a:buNone/>
            </a:pPr>
            <a:r>
              <a:rPr lang="en-US" sz="779" b="1" dirty="0">
                <a:solidFill>
                  <a:srgbClr val="414141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and revalidation triggers</a:t>
            </a:r>
            <a:endParaRPr lang="en-US" sz="779" dirty="0"/>
          </a:p>
        </p:txBody>
      </p:sp>
      <p:sp>
        <p:nvSpPr>
          <p:cNvPr id="25" name="Shape 19"/>
          <p:cNvSpPr/>
          <p:nvPr/>
        </p:nvSpPr>
        <p:spPr>
          <a:xfrm>
            <a:off x="350010" y="3844636"/>
            <a:ext cx="2625072" cy="382823"/>
          </a:xfrm>
          <a:prstGeom prst="rect">
            <a:avLst/>
          </a:prstGeom>
          <a:solidFill>
            <a:srgbClr val="FDFDFD"/>
          </a:solidFill>
          <a:ln/>
        </p:spPr>
      </p:sp>
      <p:sp>
        <p:nvSpPr>
          <p:cNvPr id="26" name="Text 20"/>
          <p:cNvSpPr/>
          <p:nvPr/>
        </p:nvSpPr>
        <p:spPr>
          <a:xfrm>
            <a:off x="929713" y="3888388"/>
            <a:ext cx="1341521" cy="306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3" b="1" dirty="0">
                <a:solidFill>
                  <a:srgbClr val="535354"/>
                </a:solidFill>
                <a:latin typeface="Ysabeau" pitchFamily="34" charset="0"/>
                <a:ea typeface="Ysabeau" pitchFamily="34" charset="-122"/>
                <a:cs typeface="Ysabeau" pitchFamily="34" charset="-120"/>
              </a:rPr>
              <a:t>Agile AI change and</a:t>
            </a:r>
            <a:endParaRPr lang="en-US" sz="943" dirty="0"/>
          </a:p>
          <a:p>
            <a:pPr algn="l" indent="0" marL="0">
              <a:buNone/>
            </a:pPr>
            <a:r>
              <a:rPr lang="en-US" sz="943" b="1" dirty="0">
                <a:solidFill>
                  <a:srgbClr val="535354"/>
                </a:solidFill>
                <a:latin typeface="Ysabeau" pitchFamily="34" charset="0"/>
                <a:ea typeface="Ysabeau" pitchFamily="34" charset="-122"/>
                <a:cs typeface="Ysabeau" pitchFamily="34" charset="-120"/>
              </a:rPr>
              <a:t>inconsistent monitoring</a:t>
            </a:r>
            <a:endParaRPr lang="en-US" sz="943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56" y="3893856"/>
            <a:ext cx="278914" cy="284383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3073522" y="3467282"/>
            <a:ext cx="2996957" cy="360947"/>
          </a:xfrm>
          <a:prstGeom prst="rect">
            <a:avLst/>
          </a:prstGeom>
          <a:solidFill>
            <a:srgbClr val="D4F0CB"/>
          </a:solidFill>
          <a:ln/>
        </p:spPr>
      </p:sp>
      <p:sp>
        <p:nvSpPr>
          <p:cNvPr id="29" name="Text 22"/>
          <p:cNvSpPr/>
          <p:nvPr/>
        </p:nvSpPr>
        <p:spPr>
          <a:xfrm>
            <a:off x="3259464" y="3587598"/>
            <a:ext cx="1419726" cy="1421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1" b="1" dirty="0">
                <a:solidFill>
                  <a:srgbClr val="3C493A"/>
                </a:solidFill>
                <a:latin typeface="Ysabeau" pitchFamily="34" charset="0"/>
                <a:ea typeface="Ysabeau" pitchFamily="34" charset="-122"/>
                <a:cs typeface="Ysabeau" pitchFamily="34" charset="-120"/>
              </a:rPr>
              <a:t>Earlier 2LoD engagement</a:t>
            </a:r>
            <a:endParaRPr lang="en-US" sz="891" dirty="0"/>
          </a:p>
        </p:txBody>
      </p:sp>
      <p:sp>
        <p:nvSpPr>
          <p:cNvPr id="30" name="Shape 23"/>
          <p:cNvSpPr/>
          <p:nvPr/>
        </p:nvSpPr>
        <p:spPr>
          <a:xfrm>
            <a:off x="344541" y="3467282"/>
            <a:ext cx="2630541" cy="360947"/>
          </a:xfrm>
          <a:prstGeom prst="rect">
            <a:avLst/>
          </a:prstGeom>
          <a:solidFill>
            <a:srgbClr val="D4F0C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732" y="3527440"/>
            <a:ext cx="235163" cy="23516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5182" y="3582129"/>
            <a:ext cx="1155032" cy="1421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414E3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Late-stage challenge</a:t>
            </a:r>
            <a:endParaRPr lang="en-US" sz="792" dirty="0"/>
          </a:p>
        </p:txBody>
      </p:sp>
      <p:sp>
        <p:nvSpPr>
          <p:cNvPr id="33" name="Shape 25"/>
          <p:cNvSpPr/>
          <p:nvPr/>
        </p:nvSpPr>
        <p:spPr>
          <a:xfrm>
            <a:off x="3073522" y="3073522"/>
            <a:ext cx="2986019" cy="371885"/>
          </a:xfrm>
          <a:prstGeom prst="rect">
            <a:avLst/>
          </a:prstGeom>
          <a:solidFill>
            <a:srgbClr val="FDFDFD"/>
          </a:solidFill>
          <a:ln/>
        </p:spPr>
      </p:sp>
      <p:sp>
        <p:nvSpPr>
          <p:cNvPr id="34" name="Text 26"/>
          <p:cNvSpPr/>
          <p:nvPr/>
        </p:nvSpPr>
        <p:spPr>
          <a:xfrm>
            <a:off x="3248526" y="3193837"/>
            <a:ext cx="1377616" cy="1367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3" b="1" dirty="0">
                <a:solidFill>
                  <a:srgbClr val="5B5B5B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Common evidence spine</a:t>
            </a:r>
            <a:endParaRPr lang="en-US" sz="853" dirty="0"/>
          </a:p>
        </p:txBody>
      </p:sp>
      <p:sp>
        <p:nvSpPr>
          <p:cNvPr id="35" name="Shape 27"/>
          <p:cNvSpPr/>
          <p:nvPr/>
        </p:nvSpPr>
        <p:spPr>
          <a:xfrm>
            <a:off x="339072" y="3073522"/>
            <a:ext cx="2641478" cy="371885"/>
          </a:xfrm>
          <a:prstGeom prst="rect">
            <a:avLst/>
          </a:prstGeom>
          <a:solidFill>
            <a:srgbClr val="FEFDFD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56" y="3117273"/>
            <a:ext cx="278914" cy="28438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35182" y="3199306"/>
            <a:ext cx="1203158" cy="1203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5E5F5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Inconsistent evidence</a:t>
            </a:r>
            <a:endParaRPr lang="en-US" sz="844" dirty="0"/>
          </a:p>
        </p:txBody>
      </p:sp>
      <p:sp>
        <p:nvSpPr>
          <p:cNvPr id="38" name="Shape 29"/>
          <p:cNvSpPr/>
          <p:nvPr/>
        </p:nvSpPr>
        <p:spPr>
          <a:xfrm>
            <a:off x="3078990" y="2685230"/>
            <a:ext cx="2986019" cy="366416"/>
          </a:xfrm>
          <a:prstGeom prst="rect">
            <a:avLst/>
          </a:prstGeom>
          <a:solidFill>
            <a:srgbClr val="D4F0CB"/>
          </a:solidFill>
          <a:ln/>
        </p:spPr>
      </p:sp>
      <p:sp>
        <p:nvSpPr>
          <p:cNvPr id="39" name="Text 30"/>
          <p:cNvSpPr/>
          <p:nvPr/>
        </p:nvSpPr>
        <p:spPr>
          <a:xfrm>
            <a:off x="3253995" y="2805545"/>
            <a:ext cx="2388268" cy="1421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F4B3D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Updated RAPID and clearer decision rights</a:t>
            </a:r>
            <a:endParaRPr lang="en-US" sz="792" dirty="0"/>
          </a:p>
        </p:txBody>
      </p:sp>
      <p:sp>
        <p:nvSpPr>
          <p:cNvPr id="40" name="Shape 31"/>
          <p:cNvSpPr/>
          <p:nvPr/>
        </p:nvSpPr>
        <p:spPr>
          <a:xfrm>
            <a:off x="344541" y="2690699"/>
            <a:ext cx="2630541" cy="360947"/>
          </a:xfrm>
          <a:prstGeom prst="rect">
            <a:avLst/>
          </a:prstGeom>
          <a:solidFill>
            <a:srgbClr val="D5F0CB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856" y="2734450"/>
            <a:ext cx="278914" cy="27344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35182" y="2811014"/>
            <a:ext cx="1046747" cy="1367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4D5B4A"/>
                </a:solidFill>
                <a:latin typeface="Ysabeau" pitchFamily="34" charset="0"/>
                <a:ea typeface="Ysabeau" pitchFamily="34" charset="-122"/>
                <a:cs typeface="Ysabeau" pitchFamily="34" charset="-120"/>
              </a:rPr>
              <a:t>Unclear ownership</a:t>
            </a:r>
            <a:endParaRPr lang="en-US" sz="896" dirty="0"/>
          </a:p>
        </p:txBody>
      </p:sp>
      <p:sp>
        <p:nvSpPr>
          <p:cNvPr id="43" name="Shape 33"/>
          <p:cNvSpPr/>
          <p:nvPr/>
        </p:nvSpPr>
        <p:spPr>
          <a:xfrm>
            <a:off x="3073522" y="2302407"/>
            <a:ext cx="2986019" cy="366416"/>
          </a:xfrm>
          <a:prstGeom prst="rect">
            <a:avLst/>
          </a:prstGeom>
          <a:solidFill>
            <a:srgbClr val="FDFDFE"/>
          </a:solidFill>
          <a:ln/>
        </p:spPr>
      </p:sp>
      <p:sp>
        <p:nvSpPr>
          <p:cNvPr id="44" name="Text 34"/>
          <p:cNvSpPr/>
          <p:nvPr/>
        </p:nvSpPr>
        <p:spPr>
          <a:xfrm>
            <a:off x="3253995" y="2417254"/>
            <a:ext cx="1690437" cy="1421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434343"/>
                </a:solidFill>
                <a:latin typeface="Asul" pitchFamily="34" charset="0"/>
                <a:ea typeface="Asul" pitchFamily="34" charset="-122"/>
                <a:cs typeface="Asul" pitchFamily="34" charset="-120"/>
              </a:rPr>
              <a:t>De-duplicated oversight paths</a:t>
            </a:r>
            <a:endParaRPr lang="en-US" sz="810" dirty="0"/>
          </a:p>
        </p:txBody>
      </p:sp>
      <p:sp>
        <p:nvSpPr>
          <p:cNvPr id="45" name="Shape 35"/>
          <p:cNvSpPr/>
          <p:nvPr/>
        </p:nvSpPr>
        <p:spPr>
          <a:xfrm>
            <a:off x="339072" y="2302407"/>
            <a:ext cx="2641478" cy="366416"/>
          </a:xfrm>
          <a:prstGeom prst="rect">
            <a:avLst/>
          </a:prstGeom>
          <a:solidFill>
            <a:srgbClr val="FDFDFD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856" y="2346158"/>
            <a:ext cx="278914" cy="27891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935182" y="2417254"/>
            <a:ext cx="1335505" cy="1421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1" b="1" dirty="0">
                <a:solidFill>
                  <a:srgbClr val="474748"/>
                </a:solidFill>
                <a:latin typeface="Ysabeau" pitchFamily="34" charset="0"/>
                <a:ea typeface="Ysabeau" pitchFamily="34" charset="-122"/>
                <a:cs typeface="Ysabeau" pitchFamily="34" charset="-120"/>
              </a:rPr>
              <a:t>Duplicated engagement</a:t>
            </a:r>
            <a:endParaRPr lang="en-US" sz="891" dirty="0"/>
          </a:p>
        </p:txBody>
      </p:sp>
      <p:sp>
        <p:nvSpPr>
          <p:cNvPr id="48" name="Shape 37"/>
          <p:cNvSpPr/>
          <p:nvPr/>
        </p:nvSpPr>
        <p:spPr>
          <a:xfrm>
            <a:off x="3073522" y="1919584"/>
            <a:ext cx="2996957" cy="360947"/>
          </a:xfrm>
          <a:prstGeom prst="rect">
            <a:avLst/>
          </a:prstGeom>
          <a:solidFill>
            <a:srgbClr val="CFEDC4"/>
          </a:solidFill>
          <a:ln/>
        </p:spPr>
      </p:sp>
      <p:sp>
        <p:nvSpPr>
          <p:cNvPr id="49" name="Text 38"/>
          <p:cNvSpPr/>
          <p:nvPr/>
        </p:nvSpPr>
        <p:spPr>
          <a:xfrm>
            <a:off x="3253995" y="2028962"/>
            <a:ext cx="1287379" cy="1421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4" b="1" dirty="0">
                <a:solidFill>
                  <a:srgbClr val="3C49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2LoD front door</a:t>
            </a:r>
            <a:endParaRPr lang="en-US" sz="934" dirty="0"/>
          </a:p>
        </p:txBody>
      </p:sp>
      <p:sp>
        <p:nvSpPr>
          <p:cNvPr id="50" name="Shape 39"/>
          <p:cNvSpPr/>
          <p:nvPr/>
        </p:nvSpPr>
        <p:spPr>
          <a:xfrm>
            <a:off x="344541" y="1919584"/>
            <a:ext cx="2630541" cy="355478"/>
          </a:xfrm>
          <a:prstGeom prst="rect">
            <a:avLst/>
          </a:prstGeom>
          <a:solidFill>
            <a:srgbClr val="CFEDC3"/>
          </a:solidFill>
          <a:ln/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856" y="1963335"/>
            <a:ext cx="278914" cy="273445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935182" y="2034431"/>
            <a:ext cx="1347537" cy="1421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1" dirty="0">
                <a:solidFill>
                  <a:srgbClr val="3F4D3D"/>
                </a:solidFill>
                <a:latin typeface="Ysabeau" pitchFamily="34" charset="0"/>
                <a:ea typeface="Ysabeau" pitchFamily="34" charset="-122"/>
                <a:cs typeface="Ysabeau" pitchFamily="34" charset="-120"/>
              </a:rPr>
              <a:t>Fragmented governance</a:t>
            </a:r>
            <a:endParaRPr lang="en-US" sz="891" dirty="0"/>
          </a:p>
        </p:txBody>
      </p:sp>
      <p:sp>
        <p:nvSpPr>
          <p:cNvPr id="53" name="Shape 41"/>
          <p:cNvSpPr/>
          <p:nvPr/>
        </p:nvSpPr>
        <p:spPr>
          <a:xfrm>
            <a:off x="3073522" y="1531292"/>
            <a:ext cx="2996957" cy="344541"/>
          </a:xfrm>
          <a:prstGeom prst="rect">
            <a:avLst/>
          </a:prstGeom>
          <a:solidFill>
            <a:srgbClr val="073827"/>
          </a:solidFill>
          <a:ln/>
        </p:spPr>
      </p:sp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48526" y="1569574"/>
            <a:ext cx="273445" cy="273445"/>
          </a:xfrm>
          <a:prstGeom prst="rect">
            <a:avLst/>
          </a:prstGeom>
        </p:spPr>
      </p:pic>
      <p:sp>
        <p:nvSpPr>
          <p:cNvPr id="55" name="Text 42"/>
          <p:cNvSpPr/>
          <p:nvPr/>
        </p:nvSpPr>
        <p:spPr>
          <a:xfrm>
            <a:off x="3686038" y="1635201"/>
            <a:ext cx="1167063" cy="147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9" b="1" dirty="0">
                <a:solidFill>
                  <a:srgbClr val="C4D0CC"/>
                </a:solidFill>
                <a:latin typeface="Red Rose" pitchFamily="34" charset="0"/>
                <a:ea typeface="Red Rose" pitchFamily="34" charset="-122"/>
                <a:cs typeface="Red Rose" pitchFamily="34" charset="-120"/>
              </a:rPr>
              <a:t>MRO mechanism</a:t>
            </a:r>
            <a:endParaRPr lang="en-US" sz="999" dirty="0"/>
          </a:p>
        </p:txBody>
      </p:sp>
      <p:sp>
        <p:nvSpPr>
          <p:cNvPr id="56" name="Shape 43"/>
          <p:cNvSpPr/>
          <p:nvPr/>
        </p:nvSpPr>
        <p:spPr>
          <a:xfrm>
            <a:off x="339072" y="1531292"/>
            <a:ext cx="2636010" cy="344541"/>
          </a:xfrm>
          <a:prstGeom prst="rect">
            <a:avLst/>
          </a:prstGeom>
          <a:solidFill>
            <a:srgbClr val="083927"/>
          </a:solidFill>
          <a:ln/>
        </p:spPr>
      </p:sp>
      <p:pic>
        <p:nvPicPr>
          <p:cNvPr id="5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6732" y="1569574"/>
            <a:ext cx="295321" cy="273445"/>
          </a:xfrm>
          <a:prstGeom prst="rect">
            <a:avLst/>
          </a:prstGeom>
        </p:spPr>
      </p:pic>
      <p:sp>
        <p:nvSpPr>
          <p:cNvPr id="58" name="Text 44"/>
          <p:cNvSpPr/>
          <p:nvPr/>
        </p:nvSpPr>
        <p:spPr>
          <a:xfrm>
            <a:off x="929713" y="1640670"/>
            <a:ext cx="1203158" cy="1585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2" b="1" dirty="0">
                <a:solidFill>
                  <a:srgbClr val="BAC7C2"/>
                </a:solidFill>
                <a:latin typeface="Red Rose" pitchFamily="34" charset="0"/>
                <a:ea typeface="Red Rose" pitchFamily="34" charset="-122"/>
                <a:cs typeface="Red Rose" pitchFamily="34" charset="-120"/>
              </a:rPr>
              <a:t>Current challenge</a:t>
            </a:r>
            <a:endParaRPr lang="en-US" sz="982" dirty="0"/>
          </a:p>
        </p:txBody>
      </p:sp>
      <p:sp>
        <p:nvSpPr>
          <p:cNvPr id="59" name="Shape 45"/>
          <p:cNvSpPr/>
          <p:nvPr/>
        </p:nvSpPr>
        <p:spPr>
          <a:xfrm>
            <a:off x="339072" y="978933"/>
            <a:ext cx="8454919" cy="481263"/>
          </a:xfrm>
          <a:prstGeom prst="rect">
            <a:avLst/>
          </a:prstGeom>
          <a:solidFill>
            <a:srgbClr val="C7E9BB"/>
          </a:solidFill>
          <a:ln/>
        </p:spPr>
      </p:sp>
      <p:pic>
        <p:nvPicPr>
          <p:cNvPr id="6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4856" y="1011746"/>
            <a:ext cx="421105" cy="421105"/>
          </a:xfrm>
          <a:prstGeom prst="rect">
            <a:avLst/>
          </a:prstGeom>
        </p:spPr>
      </p:pic>
      <p:sp>
        <p:nvSpPr>
          <p:cNvPr id="61" name="Text 46"/>
          <p:cNvSpPr/>
          <p:nvPr/>
        </p:nvSpPr>
        <p:spPr>
          <a:xfrm>
            <a:off x="1137531" y="1121124"/>
            <a:ext cx="7979124" cy="207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344031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MRO is moving the framework from informal and duplicative engagement to a structured, risk-based operating model.</a:t>
            </a:r>
            <a:endParaRPr lang="en-US" sz="1046" dirty="0"/>
          </a:p>
        </p:txBody>
      </p:sp>
      <p:sp>
        <p:nvSpPr>
          <p:cNvPr id="62" name="Text 47"/>
          <p:cNvSpPr/>
          <p:nvPr/>
        </p:nvSpPr>
        <p:spPr>
          <a:xfrm>
            <a:off x="8186943" y="459388"/>
            <a:ext cx="733926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4" dirty="0">
                <a:solidFill>
                  <a:srgbClr val="61626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BANKING GROUP</a:t>
            </a:r>
            <a:endParaRPr lang="en-US" sz="594" dirty="0"/>
          </a:p>
        </p:txBody>
      </p:sp>
      <p:sp>
        <p:nvSpPr>
          <p:cNvPr id="63" name="Text 48"/>
          <p:cNvSpPr/>
          <p:nvPr/>
        </p:nvSpPr>
        <p:spPr>
          <a:xfrm>
            <a:off x="8186943" y="251569"/>
            <a:ext cx="751974" cy="2023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34" b="1" dirty="0">
                <a:solidFill>
                  <a:srgbClr val="2D303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LLOYDS</a:t>
            </a:r>
            <a:endParaRPr lang="en-US" sz="1434" dirty="0"/>
          </a:p>
        </p:txBody>
      </p:sp>
      <p:pic>
        <p:nvPicPr>
          <p:cNvPr id="6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11148" y="218756"/>
            <a:ext cx="393761" cy="404699"/>
          </a:xfrm>
          <a:prstGeom prst="rect">
            <a:avLst/>
          </a:prstGeom>
        </p:spPr>
      </p:pic>
      <p:sp>
        <p:nvSpPr>
          <p:cNvPr id="65" name="Text 49"/>
          <p:cNvSpPr/>
          <p:nvPr/>
        </p:nvSpPr>
        <p:spPr>
          <a:xfrm>
            <a:off x="366416" y="164067"/>
            <a:ext cx="5624763" cy="7218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19" b="1" dirty="0">
                <a:solidFill>
                  <a:srgbClr val="242827"/>
                </a:solidFill>
                <a:latin typeface="Hahmlet" pitchFamily="34" charset="0"/>
                <a:ea typeface="Hahmlet" pitchFamily="34" charset="-122"/>
                <a:cs typeface="Hahmlet" pitchFamily="34" charset="-120"/>
              </a:rPr>
              <a:t>From Fragmented Engagement to</a:t>
            </a:r>
            <a:endParaRPr lang="en-US" sz="2119" dirty="0"/>
          </a:p>
          <a:p>
            <a:pPr algn="l" indent="0" marL="0">
              <a:buNone/>
            </a:pPr>
            <a:r>
              <a:rPr lang="en-US" sz="2119" b="1" dirty="0">
                <a:solidFill>
                  <a:srgbClr val="242827"/>
                </a:solidFill>
                <a:latin typeface="Hahmlet" pitchFamily="34" charset="0"/>
                <a:ea typeface="Hahmlet" pitchFamily="34" charset="-122"/>
                <a:cs typeface="Hahmlet" pitchFamily="34" charset="-120"/>
              </a:rPr>
              <a:t>Risk-Based, Proportionate Oversight</a:t>
            </a:r>
            <a:endParaRPr lang="en-US" sz="2119" dirty="0"/>
          </a:p>
        </p:txBody>
      </p:sp>
      <p:sp>
        <p:nvSpPr>
          <p:cNvPr id="66" name="Text 50"/>
          <p:cNvSpPr/>
          <p:nvPr/>
        </p:nvSpPr>
        <p:spPr>
          <a:xfrm>
            <a:off x="8826804" y="4938416"/>
            <a:ext cx="92971" cy="98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8" dirty="0">
                <a:solidFill>
                  <a:srgbClr val="575A5B"/>
                </a:solidFill>
                <a:latin typeface="Overlock" pitchFamily="34" charset="0"/>
                <a:ea typeface="Overlock" pitchFamily="34" charset="-122"/>
                <a:cs typeface="Overlock" pitchFamily="34" charset="-120"/>
              </a:rPr>
              <a:t>6</a:t>
            </a:r>
            <a:endParaRPr lang="en-US" sz="698" dirty="0"/>
          </a:p>
        </p:txBody>
      </p:sp>
      <p:pic>
        <p:nvPicPr>
          <p:cNvPr id="6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21876" cy="51462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6234"/>
          </a:xfrm>
          <a:prstGeom prst="rect">
            <a:avLst/>
          </a:prstGeom>
          <a:solidFill>
            <a:srgbClr val="FEFE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623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29828"/>
            <a:ext cx="9144000" cy="109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10397" y="4905603"/>
            <a:ext cx="98440" cy="1093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2" dirty="0">
                <a:solidFill>
                  <a:srgbClr val="6B7574"/>
                </a:solidFill>
                <a:latin typeface="Alumni Sans" pitchFamily="34" charset="0"/>
                <a:ea typeface="Alumni Sans" pitchFamily="34" charset="-122"/>
                <a:cs typeface="Alumni Sans" pitchFamily="34" charset="-120"/>
              </a:rPr>
              <a:t>7</a:t>
            </a:r>
            <a:endParaRPr lang="en-US" sz="952" dirty="0"/>
          </a:p>
        </p:txBody>
      </p:sp>
      <p:sp>
        <p:nvSpPr>
          <p:cNvPr id="6" name="Shape 2"/>
          <p:cNvSpPr/>
          <p:nvPr/>
        </p:nvSpPr>
        <p:spPr>
          <a:xfrm>
            <a:off x="5993914" y="1695359"/>
            <a:ext cx="2849297" cy="3111804"/>
          </a:xfrm>
          <a:prstGeom prst="rect">
            <a:avLst/>
          </a:prstGeom>
          <a:solidFill>
            <a:srgbClr val="005333"/>
          </a:solidFill>
          <a:ln/>
        </p:spPr>
      </p:sp>
      <p:sp>
        <p:nvSpPr>
          <p:cNvPr id="7" name="Shape 3"/>
          <p:cNvSpPr/>
          <p:nvPr/>
        </p:nvSpPr>
        <p:spPr>
          <a:xfrm>
            <a:off x="6097823" y="3882919"/>
            <a:ext cx="2646947" cy="853148"/>
          </a:xfrm>
          <a:prstGeom prst="rect">
            <a:avLst/>
          </a:prstGeom>
          <a:solidFill>
            <a:srgbClr val="006338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077" y="4041517"/>
            <a:ext cx="399230" cy="4812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37684" y="4139957"/>
            <a:ext cx="1997242" cy="5140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6" dirty="0">
                <a:solidFill>
                  <a:srgbClr val="B9D5C7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Reusable validation blueprint to</a:t>
            </a:r>
            <a:endParaRPr lang="en-US" sz="986" dirty="0"/>
          </a:p>
          <a:p>
            <a:pPr algn="l" indent="0" marL="0">
              <a:buNone/>
            </a:pPr>
            <a:r>
              <a:rPr lang="en-US" sz="986" dirty="0">
                <a:solidFill>
                  <a:srgbClr val="B9D5C7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standardise and accelerate future</a:t>
            </a:r>
            <a:endParaRPr lang="en-US" sz="986" dirty="0"/>
          </a:p>
          <a:p>
            <a:pPr algn="l" indent="0" marL="0">
              <a:buNone/>
            </a:pPr>
            <a:r>
              <a:rPr lang="en-US" sz="986" dirty="0">
                <a:solidFill>
                  <a:srgbClr val="B9D5C7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Al validations.</a:t>
            </a:r>
            <a:endParaRPr lang="en-US" sz="986" dirty="0"/>
          </a:p>
        </p:txBody>
      </p:sp>
      <p:sp>
        <p:nvSpPr>
          <p:cNvPr id="10" name="Text 5"/>
          <p:cNvSpPr/>
          <p:nvPr/>
        </p:nvSpPr>
        <p:spPr>
          <a:xfrm>
            <a:off x="6743153" y="3970421"/>
            <a:ext cx="613611" cy="1312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9" b="1" dirty="0">
                <a:solidFill>
                  <a:srgbClr val="B7D3C6"/>
                </a:solidFill>
                <a:latin typeface="Catamaran" pitchFamily="34" charset="0"/>
                <a:ea typeface="Catamaran" pitchFamily="34" charset="-122"/>
                <a:cs typeface="Catamaran" pitchFamily="34" charset="-120"/>
              </a:rPr>
              <a:t>Outcome</a:t>
            </a:r>
            <a:endParaRPr lang="en-US" sz="1059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512" y="3155555"/>
            <a:ext cx="54689" cy="54689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2512" y="2767263"/>
            <a:ext cx="54689" cy="54689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9699" y="2553976"/>
            <a:ext cx="2597727" cy="49220"/>
          </a:xfrm>
          <a:prstGeom prst="rect">
            <a:avLst/>
          </a:prstGeom>
        </p:spPr>
      </p:pic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7043" y="1903177"/>
            <a:ext cx="464856" cy="486732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6289234" y="3100866"/>
            <a:ext cx="2171700" cy="5086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6" b="1" dirty="0">
                <a:solidFill>
                  <a:srgbClr val="B6D0C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Assess documentation, architecture,</a:t>
            </a:r>
            <a:endParaRPr lang="en-US" sz="866" dirty="0"/>
          </a:p>
          <a:p>
            <a:pPr algn="l" indent="0" marL="0">
              <a:buNone/>
            </a:pPr>
            <a:r>
              <a:rPr lang="en-US" sz="866" b="1" dirty="0">
                <a:solidFill>
                  <a:srgbClr val="B6D0C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controls, developer testing and</a:t>
            </a:r>
            <a:endParaRPr lang="en-US" sz="866" dirty="0"/>
          </a:p>
          <a:p>
            <a:pPr algn="l" indent="0" marL="0">
              <a:buNone/>
            </a:pPr>
            <a:r>
              <a:rPr lang="en-US" sz="866" b="1" dirty="0">
                <a:solidFill>
                  <a:srgbClr val="B6D0C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monitoring.</a:t>
            </a:r>
            <a:endParaRPr lang="en-US" sz="866" dirty="0"/>
          </a:p>
        </p:txBody>
      </p:sp>
      <p:sp>
        <p:nvSpPr>
          <p:cNvPr id="16" name="Text 7"/>
          <p:cNvSpPr/>
          <p:nvPr/>
        </p:nvSpPr>
        <p:spPr>
          <a:xfrm>
            <a:off x="6294703" y="2707105"/>
            <a:ext cx="2388268" cy="3445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5" dirty="0">
                <a:solidFill>
                  <a:srgbClr val="B9D1C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Execute full independent validation of</a:t>
            </a:r>
            <a:endParaRPr lang="en-US" sz="965" dirty="0"/>
          </a:p>
          <a:p>
            <a:pPr algn="l" indent="0" marL="0">
              <a:buNone/>
            </a:pPr>
            <a:r>
              <a:rPr lang="en-US" sz="965" dirty="0">
                <a:solidFill>
                  <a:srgbClr val="B9D1C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high-risk GenAl / agentic Al use case.</a:t>
            </a:r>
            <a:endParaRPr lang="en-US" sz="965" dirty="0"/>
          </a:p>
        </p:txBody>
      </p:sp>
      <p:sp>
        <p:nvSpPr>
          <p:cNvPr id="17" name="Text 8"/>
          <p:cNvSpPr/>
          <p:nvPr/>
        </p:nvSpPr>
        <p:spPr>
          <a:xfrm>
            <a:off x="6759560" y="2121933"/>
            <a:ext cx="1768642" cy="37188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2" b="1" dirty="0">
                <a:solidFill>
                  <a:srgbClr val="C5D8D0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Independent Validation of</a:t>
            </a:r>
            <a:endParaRPr lang="en-US" sz="1232" dirty="0"/>
          </a:p>
          <a:p>
            <a:pPr algn="l" indent="0" marL="0">
              <a:buNone/>
            </a:pPr>
            <a:r>
              <a:rPr lang="en-US" sz="1232" b="1" dirty="0">
                <a:solidFill>
                  <a:srgbClr val="C5D8D0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Priority Al Use Case</a:t>
            </a:r>
            <a:endParaRPr lang="en-US" sz="1232" dirty="0"/>
          </a:p>
        </p:txBody>
      </p:sp>
      <p:sp>
        <p:nvSpPr>
          <p:cNvPr id="18" name="Text 9"/>
          <p:cNvSpPr/>
          <p:nvPr/>
        </p:nvSpPr>
        <p:spPr>
          <a:xfrm>
            <a:off x="6759560" y="1859426"/>
            <a:ext cx="1329489" cy="2187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6" b="1" dirty="0">
                <a:solidFill>
                  <a:srgbClr val="D7E4D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Workstream 3</a:t>
            </a:r>
            <a:endParaRPr lang="en-US" sz="1606" dirty="0"/>
          </a:p>
        </p:txBody>
      </p:sp>
      <p:sp>
        <p:nvSpPr>
          <p:cNvPr id="19" name="Shape 10"/>
          <p:cNvSpPr/>
          <p:nvPr/>
        </p:nvSpPr>
        <p:spPr>
          <a:xfrm>
            <a:off x="3166493" y="1695359"/>
            <a:ext cx="2739919" cy="3111804"/>
          </a:xfrm>
          <a:prstGeom prst="rect">
            <a:avLst/>
          </a:prstGeom>
          <a:solidFill>
            <a:srgbClr val="A3E896"/>
          </a:solidFill>
          <a:ln/>
        </p:spPr>
      </p:sp>
      <p:sp>
        <p:nvSpPr>
          <p:cNvPr id="20" name="Shape 11"/>
          <p:cNvSpPr/>
          <p:nvPr/>
        </p:nvSpPr>
        <p:spPr>
          <a:xfrm>
            <a:off x="3264933" y="3932139"/>
            <a:ext cx="2543038" cy="803928"/>
          </a:xfrm>
          <a:prstGeom prst="rect">
            <a:avLst/>
          </a:prstGeom>
          <a:solidFill>
            <a:srgbClr val="B4EFAA"/>
          </a:solidFill>
          <a:ln/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8842" y="4052455"/>
            <a:ext cx="410167" cy="453919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3888388" y="4156364"/>
            <a:ext cx="2021305" cy="4867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7" dirty="0">
                <a:solidFill>
                  <a:srgbClr val="314E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Regulator- and audit-ready</a:t>
            </a:r>
            <a:endParaRPr lang="en-US" sz="917" dirty="0"/>
          </a:p>
          <a:p>
            <a:pPr algn="l" indent="0" marL="0">
              <a:buNone/>
            </a:pPr>
            <a:r>
              <a:rPr lang="en-US" sz="917" dirty="0">
                <a:solidFill>
                  <a:srgbClr val="314E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evidence with reduced rework</a:t>
            </a:r>
            <a:endParaRPr lang="en-US" sz="917" dirty="0"/>
          </a:p>
          <a:p>
            <a:pPr algn="l" indent="0" marL="0">
              <a:buNone/>
            </a:pPr>
            <a:r>
              <a:rPr lang="en-US" sz="917" dirty="0">
                <a:solidFill>
                  <a:srgbClr val="314E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and scalable second-line capability.</a:t>
            </a:r>
            <a:endParaRPr lang="en-US" sz="917" dirty="0"/>
          </a:p>
        </p:txBody>
      </p:sp>
      <p:sp>
        <p:nvSpPr>
          <p:cNvPr id="23" name="Text 13"/>
          <p:cNvSpPr/>
          <p:nvPr/>
        </p:nvSpPr>
        <p:spPr>
          <a:xfrm>
            <a:off x="3888388" y="4008703"/>
            <a:ext cx="595563" cy="1312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1" b="1" dirty="0">
                <a:solidFill>
                  <a:srgbClr val="325339"/>
                </a:solidFill>
                <a:latin typeface="Catamaran" pitchFamily="34" charset="0"/>
                <a:ea typeface="Catamaran" pitchFamily="34" charset="-122"/>
                <a:cs typeface="Catamaran" pitchFamily="34" charset="-120"/>
              </a:rPr>
              <a:t>Outcome</a:t>
            </a:r>
            <a:endParaRPr lang="en-US" sz="1021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25091" y="3352435"/>
            <a:ext cx="49220" cy="49220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5091" y="2772732"/>
            <a:ext cx="49220" cy="49220"/>
          </a:xfrm>
          <a:prstGeom prst="rect">
            <a:avLst/>
          </a:prstGeom>
        </p:spPr>
      </p:pic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2278" y="2553976"/>
            <a:ext cx="2488349" cy="49220"/>
          </a:xfrm>
          <a:prstGeom prst="rect">
            <a:avLst/>
          </a:prstGeom>
        </p:spPr>
      </p:pic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97746" y="1957866"/>
            <a:ext cx="535952" cy="393761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3461813" y="3292278"/>
            <a:ext cx="2424363" cy="3445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6" dirty="0">
                <a:solidFill>
                  <a:srgbClr val="41633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Support triage workflow, testing, evidence</a:t>
            </a:r>
            <a:endParaRPr lang="en-US" sz="896" dirty="0"/>
          </a:p>
          <a:p>
            <a:pPr algn="l" indent="0" marL="0">
              <a:buNone/>
            </a:pPr>
            <a:r>
              <a:rPr lang="en-US" sz="896" dirty="0">
                <a:solidFill>
                  <a:srgbClr val="41633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capture, dashboards and monitoring.</a:t>
            </a:r>
            <a:endParaRPr lang="en-US" sz="896" dirty="0"/>
          </a:p>
        </p:txBody>
      </p:sp>
      <p:sp>
        <p:nvSpPr>
          <p:cNvPr id="29" name="Text 15"/>
          <p:cNvSpPr/>
          <p:nvPr/>
        </p:nvSpPr>
        <p:spPr>
          <a:xfrm>
            <a:off x="3461813" y="2707105"/>
            <a:ext cx="2165684" cy="5250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9" dirty="0">
                <a:solidFill>
                  <a:srgbClr val="243C2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Develop tooling for AI model risk</a:t>
            </a:r>
            <a:endParaRPr lang="en-US" sz="939" dirty="0"/>
          </a:p>
          <a:p>
            <a:pPr algn="l" indent="0" marL="0">
              <a:buNone/>
            </a:pPr>
            <a:r>
              <a:rPr lang="en-US" sz="939" dirty="0">
                <a:solidFill>
                  <a:srgbClr val="243C2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classification, independent validation</a:t>
            </a:r>
            <a:endParaRPr lang="en-US" sz="939" dirty="0"/>
          </a:p>
          <a:p>
            <a:pPr algn="l" indent="0" marL="0">
              <a:buNone/>
            </a:pPr>
            <a:r>
              <a:rPr lang="en-US" sz="939" dirty="0">
                <a:solidFill>
                  <a:srgbClr val="243C2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and ongoing oversight</a:t>
            </a:r>
            <a:endParaRPr lang="en-US" sz="939" dirty="0"/>
          </a:p>
        </p:txBody>
      </p:sp>
      <p:sp>
        <p:nvSpPr>
          <p:cNvPr id="30" name="Text 16"/>
          <p:cNvSpPr/>
          <p:nvPr/>
        </p:nvSpPr>
        <p:spPr>
          <a:xfrm>
            <a:off x="3970421" y="2121933"/>
            <a:ext cx="2033337" cy="3828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2" b="1" dirty="0">
                <a:solidFill>
                  <a:srgbClr val="276E3E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Automated Al Risk</a:t>
            </a:r>
            <a:endParaRPr lang="en-US" sz="1232" dirty="0"/>
          </a:p>
          <a:p>
            <a:pPr algn="l" indent="0" marL="0">
              <a:buNone/>
            </a:pPr>
            <a:r>
              <a:rPr lang="en-US" sz="1232" b="1" dirty="0">
                <a:solidFill>
                  <a:srgbClr val="276E3E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Management Tooling for MRO</a:t>
            </a:r>
            <a:endParaRPr lang="en-US" sz="1232" dirty="0"/>
          </a:p>
        </p:txBody>
      </p:sp>
      <p:sp>
        <p:nvSpPr>
          <p:cNvPr id="31" name="Text 17"/>
          <p:cNvSpPr/>
          <p:nvPr/>
        </p:nvSpPr>
        <p:spPr>
          <a:xfrm>
            <a:off x="3975890" y="1859426"/>
            <a:ext cx="1407695" cy="2187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6" b="1" dirty="0">
                <a:solidFill>
                  <a:srgbClr val="112115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Workstream 2</a:t>
            </a:r>
            <a:endParaRPr lang="en-US" sz="1606" dirty="0"/>
          </a:p>
        </p:txBody>
      </p:sp>
      <p:sp>
        <p:nvSpPr>
          <p:cNvPr id="32" name="Shape 18"/>
          <p:cNvSpPr/>
          <p:nvPr/>
        </p:nvSpPr>
        <p:spPr>
          <a:xfrm>
            <a:off x="300789" y="1695359"/>
            <a:ext cx="2772732" cy="3111804"/>
          </a:xfrm>
          <a:prstGeom prst="rect">
            <a:avLst/>
          </a:prstGeom>
          <a:solidFill>
            <a:srgbClr val="E6F7E0"/>
          </a:solidFill>
          <a:ln/>
        </p:spPr>
      </p:sp>
      <p:sp>
        <p:nvSpPr>
          <p:cNvPr id="33" name="Shape 19"/>
          <p:cNvSpPr/>
          <p:nvPr/>
        </p:nvSpPr>
        <p:spPr>
          <a:xfrm>
            <a:off x="404699" y="3943077"/>
            <a:ext cx="2564914" cy="787522"/>
          </a:xfrm>
          <a:prstGeom prst="rect">
            <a:avLst/>
          </a:prstGeom>
          <a:solidFill>
            <a:srgbClr val="C9F2BF"/>
          </a:solidFill>
          <a:ln/>
        </p:spPr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4077" y="4030579"/>
            <a:ext cx="366416" cy="486732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1011746" y="4232928"/>
            <a:ext cx="2039353" cy="3445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6" dirty="0">
                <a:solidFill>
                  <a:srgbClr val="2F47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Clearer expectations, evidence</a:t>
            </a:r>
            <a:endParaRPr lang="en-US" sz="956" dirty="0"/>
          </a:p>
          <a:p>
            <a:pPr algn="l" indent="0" marL="0">
              <a:buNone/>
            </a:pPr>
            <a:r>
              <a:rPr lang="en-US" sz="956" dirty="0">
                <a:solidFill>
                  <a:srgbClr val="2F47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requirements and decision routes.</a:t>
            </a:r>
            <a:endParaRPr lang="en-US" sz="956" dirty="0"/>
          </a:p>
        </p:txBody>
      </p:sp>
      <p:sp>
        <p:nvSpPr>
          <p:cNvPr id="36" name="Text 21"/>
          <p:cNvSpPr/>
          <p:nvPr/>
        </p:nvSpPr>
        <p:spPr>
          <a:xfrm>
            <a:off x="1011746" y="4063392"/>
            <a:ext cx="607595" cy="1312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2" b="1" dirty="0">
                <a:solidFill>
                  <a:srgbClr val="365841"/>
                </a:solidFill>
                <a:latin typeface="Catamaran" pitchFamily="34" charset="0"/>
                <a:ea typeface="Catamaran" pitchFamily="34" charset="-122"/>
                <a:cs typeface="Catamaran" pitchFamily="34" charset="-120"/>
              </a:rPr>
              <a:t>Outcome</a:t>
            </a:r>
            <a:endParaRPr lang="en-US" sz="1042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9388" y="3549316"/>
            <a:ext cx="49220" cy="49220"/>
          </a:xfrm>
          <a:prstGeom prst="rect">
            <a:avLst/>
          </a:prstGeom>
        </p:spPr>
      </p:pic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9388" y="3150086"/>
            <a:ext cx="49220" cy="49220"/>
          </a:xfrm>
          <a:prstGeom prst="rect">
            <a:avLst/>
          </a:prstGeom>
        </p:spPr>
      </p:pic>
      <p:pic>
        <p:nvPicPr>
          <p:cNvPr id="3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9388" y="2767263"/>
            <a:ext cx="49220" cy="43751"/>
          </a:xfrm>
          <a:prstGeom prst="rect">
            <a:avLst/>
          </a:prstGeom>
        </p:spPr>
      </p:pic>
      <p:pic>
        <p:nvPicPr>
          <p:cNvPr id="4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2981" y="2575852"/>
            <a:ext cx="2488349" cy="10938"/>
          </a:xfrm>
          <a:prstGeom prst="rect">
            <a:avLst/>
          </a:prstGeom>
        </p:spPr>
      </p:pic>
      <p:pic>
        <p:nvPicPr>
          <p:cNvPr id="4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8450" y="1892239"/>
            <a:ext cx="481263" cy="442981"/>
          </a:xfrm>
          <a:prstGeom prst="rect">
            <a:avLst/>
          </a:prstGeom>
        </p:spPr>
      </p:pic>
      <p:sp>
        <p:nvSpPr>
          <p:cNvPr id="42" name="Text 22"/>
          <p:cNvSpPr/>
          <p:nvPr/>
        </p:nvSpPr>
        <p:spPr>
          <a:xfrm>
            <a:off x="596110" y="3489158"/>
            <a:ext cx="2538663" cy="3281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7" dirty="0">
                <a:solidFill>
                  <a:srgbClr val="444E4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Clarify accountabilities across MRO, CCOR,</a:t>
            </a:r>
            <a:endParaRPr lang="en-US" sz="947" dirty="0"/>
          </a:p>
          <a:p>
            <a:pPr algn="l" indent="0" marL="0">
              <a:buNone/>
            </a:pPr>
            <a:r>
              <a:rPr lang="en-US" sz="947" dirty="0">
                <a:solidFill>
                  <a:srgbClr val="444E4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CDAO and thebusiness.</a:t>
            </a:r>
            <a:endParaRPr lang="en-US" sz="947" dirty="0"/>
          </a:p>
        </p:txBody>
      </p:sp>
      <p:sp>
        <p:nvSpPr>
          <p:cNvPr id="43" name="Text 23"/>
          <p:cNvSpPr/>
          <p:nvPr/>
        </p:nvSpPr>
        <p:spPr>
          <a:xfrm>
            <a:off x="601579" y="3089928"/>
            <a:ext cx="2069432" cy="3390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9" dirty="0">
                <a:solidFill>
                  <a:srgbClr val="464E4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Define proportionate end-to-end Al</a:t>
            </a:r>
            <a:endParaRPr lang="en-US" sz="939" dirty="0"/>
          </a:p>
          <a:p>
            <a:pPr algn="l" indent="0" marL="0">
              <a:buNone/>
            </a:pPr>
            <a:r>
              <a:rPr lang="en-US" sz="939" dirty="0">
                <a:solidFill>
                  <a:srgbClr val="464E4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lifecycle controls.</a:t>
            </a:r>
            <a:endParaRPr lang="en-US" sz="939" dirty="0"/>
          </a:p>
        </p:txBody>
      </p:sp>
      <p:sp>
        <p:nvSpPr>
          <p:cNvPr id="44" name="Text 24"/>
          <p:cNvSpPr/>
          <p:nvPr/>
        </p:nvSpPr>
        <p:spPr>
          <a:xfrm>
            <a:off x="596110" y="2696167"/>
            <a:ext cx="2045368" cy="3445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9" dirty="0">
                <a:solidFill>
                  <a:srgbClr val="434C4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Establish AI Risk Policy Enabler and</a:t>
            </a:r>
            <a:endParaRPr lang="en-US" sz="939" dirty="0"/>
          </a:p>
          <a:p>
            <a:pPr algn="l" indent="0" marL="0">
              <a:buNone/>
            </a:pPr>
            <a:r>
              <a:rPr lang="en-US" sz="939" dirty="0">
                <a:solidFill>
                  <a:srgbClr val="434C4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operating model.</a:t>
            </a:r>
            <a:endParaRPr lang="en-US" sz="939" dirty="0"/>
          </a:p>
        </p:txBody>
      </p:sp>
      <p:sp>
        <p:nvSpPr>
          <p:cNvPr id="45" name="Text 25"/>
          <p:cNvSpPr/>
          <p:nvPr/>
        </p:nvSpPr>
        <p:spPr>
          <a:xfrm>
            <a:off x="1110187" y="2121933"/>
            <a:ext cx="1756611" cy="3773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2" b="1" dirty="0">
                <a:solidFill>
                  <a:srgbClr val="296F47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Al System Risk</a:t>
            </a:r>
            <a:endParaRPr lang="en-US" sz="1232" dirty="0"/>
          </a:p>
          <a:p>
            <a:pPr algn="l" indent="0" marL="0">
              <a:buNone/>
            </a:pPr>
            <a:r>
              <a:rPr lang="en-US" sz="1232" b="1" dirty="0">
                <a:solidFill>
                  <a:srgbClr val="296F47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Management Framework</a:t>
            </a:r>
            <a:endParaRPr lang="en-US" sz="1232" dirty="0"/>
          </a:p>
        </p:txBody>
      </p:sp>
      <p:sp>
        <p:nvSpPr>
          <p:cNvPr id="46" name="Text 26"/>
          <p:cNvSpPr/>
          <p:nvPr/>
        </p:nvSpPr>
        <p:spPr>
          <a:xfrm>
            <a:off x="1115656" y="1859426"/>
            <a:ext cx="1347537" cy="2132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6" b="1" dirty="0">
                <a:solidFill>
                  <a:srgbClr val="202926"/>
                </a:solidFill>
                <a:latin typeface="Ysabeau Infant" pitchFamily="34" charset="0"/>
                <a:ea typeface="Ysabeau Infant" pitchFamily="34" charset="-122"/>
                <a:cs typeface="Ysabeau Infant" pitchFamily="34" charset="-120"/>
              </a:rPr>
              <a:t>Workstream 1</a:t>
            </a:r>
            <a:endParaRPr lang="en-US" sz="1606" dirty="0"/>
          </a:p>
        </p:txBody>
      </p:sp>
      <p:sp>
        <p:nvSpPr>
          <p:cNvPr id="47" name="Shape 27"/>
          <p:cNvSpPr/>
          <p:nvPr/>
        </p:nvSpPr>
        <p:spPr>
          <a:xfrm>
            <a:off x="300789" y="1082842"/>
            <a:ext cx="8536952" cy="519545"/>
          </a:xfrm>
          <a:prstGeom prst="rect">
            <a:avLst/>
          </a:prstGeom>
          <a:solidFill>
            <a:srgbClr val="E6F5E2"/>
          </a:solidFill>
          <a:ln/>
        </p:spPr>
      </p:sp>
      <p:pic>
        <p:nvPicPr>
          <p:cNvPr id="4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2201" y="1153938"/>
            <a:ext cx="311727" cy="377354"/>
          </a:xfrm>
          <a:prstGeom prst="rect">
            <a:avLst/>
          </a:prstGeom>
        </p:spPr>
      </p:pic>
      <p:sp>
        <p:nvSpPr>
          <p:cNvPr id="49" name="Text 28"/>
          <p:cNvSpPr/>
          <p:nvPr/>
        </p:nvSpPr>
        <p:spPr>
          <a:xfrm>
            <a:off x="1060967" y="1230502"/>
            <a:ext cx="8176005" cy="2187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5" b="1" dirty="0">
                <a:solidFill>
                  <a:srgbClr val="3A4944"/>
                </a:solidFill>
                <a:latin typeface="Wix Madefor Display" pitchFamily="34" charset="0"/>
                <a:ea typeface="Wix Madefor Display" pitchFamily="34" charset="-122"/>
                <a:cs typeface="Wix Madefor Display" pitchFamily="34" charset="-120"/>
              </a:rPr>
              <a:t>PwC is supporting targeted delivery, but MRO owns the direction, second-line risk view and oversight outcomes.</a:t>
            </a:r>
            <a:endParaRPr lang="en-US" sz="1085" dirty="0"/>
          </a:p>
        </p:txBody>
      </p:sp>
      <p:pic>
        <p:nvPicPr>
          <p:cNvPr id="5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26014" y="273445"/>
            <a:ext cx="410167" cy="415636"/>
          </a:xfrm>
          <a:prstGeom prst="rect">
            <a:avLst/>
          </a:prstGeom>
        </p:spPr>
      </p:pic>
      <p:sp>
        <p:nvSpPr>
          <p:cNvPr id="51" name="Text 29"/>
          <p:cNvSpPr/>
          <p:nvPr/>
        </p:nvSpPr>
        <p:spPr>
          <a:xfrm>
            <a:off x="7918967" y="525014"/>
            <a:ext cx="517358" cy="1585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2" dirty="0">
                <a:solidFill>
                  <a:srgbClr val="356653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BANK</a:t>
            </a:r>
            <a:endParaRPr lang="en-US" sz="1412" dirty="0"/>
          </a:p>
        </p:txBody>
      </p:sp>
      <p:sp>
        <p:nvSpPr>
          <p:cNvPr id="52" name="Text 30"/>
          <p:cNvSpPr/>
          <p:nvPr/>
        </p:nvSpPr>
        <p:spPr>
          <a:xfrm>
            <a:off x="7629115" y="267976"/>
            <a:ext cx="950495" cy="257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33" b="1" dirty="0">
                <a:solidFill>
                  <a:srgbClr val="2A634E"/>
                </a:solidFill>
                <a:latin typeface="Overlock" pitchFamily="34" charset="0"/>
                <a:ea typeface="Overlock" pitchFamily="34" charset="-122"/>
                <a:cs typeface="Overlock" pitchFamily="34" charset="-120"/>
              </a:rPr>
              <a:t>LLOYDS</a:t>
            </a:r>
            <a:endParaRPr lang="en-US" sz="2033" dirty="0"/>
          </a:p>
        </p:txBody>
      </p:sp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70517" y="284383"/>
            <a:ext cx="10938" cy="410167"/>
          </a:xfrm>
          <a:prstGeom prst="rect">
            <a:avLst/>
          </a:prstGeom>
        </p:spPr>
      </p:pic>
      <p:sp>
        <p:nvSpPr>
          <p:cNvPr id="54" name="Text 31"/>
          <p:cNvSpPr/>
          <p:nvPr/>
        </p:nvSpPr>
        <p:spPr>
          <a:xfrm>
            <a:off x="295321" y="202349"/>
            <a:ext cx="5552574" cy="7383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63" b="1" dirty="0">
                <a:solidFill>
                  <a:srgbClr val="242F30"/>
                </a:solidFill>
                <a:latin typeface="Caudex" pitchFamily="34" charset="0"/>
                <a:ea typeface="Caudex" pitchFamily="34" charset="-122"/>
                <a:cs typeface="Caudex" pitchFamily="34" charset="-120"/>
              </a:rPr>
              <a:t>Three Workstreams to Accelerate</a:t>
            </a:r>
            <a:endParaRPr lang="en-US" sz="2463" dirty="0"/>
          </a:p>
          <a:p>
            <a:pPr algn="l" indent="0" marL="0">
              <a:buNone/>
            </a:pPr>
            <a:r>
              <a:rPr lang="en-US" sz="2463" b="1" dirty="0">
                <a:solidFill>
                  <a:srgbClr val="242F30"/>
                </a:solidFill>
                <a:latin typeface="Caudex" pitchFamily="34" charset="0"/>
                <a:ea typeface="Caudex" pitchFamily="34" charset="-122"/>
                <a:cs typeface="Caudex" pitchFamily="34" charset="-120"/>
              </a:rPr>
              <a:t>Framework, Tooling and Validation</a:t>
            </a:r>
            <a:endParaRPr lang="en-US" sz="246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6234"/>
          </a:xfrm>
          <a:prstGeom prst="rect">
            <a:avLst/>
          </a:prstGeom>
          <a:solidFill>
            <a:srgbClr val="FEFEFE"/>
          </a:solidFill>
          <a:ln/>
        </p:spPr>
      </p:sp>
      <p:sp>
        <p:nvSpPr>
          <p:cNvPr id="3" name="Shape 1"/>
          <p:cNvSpPr/>
          <p:nvPr/>
        </p:nvSpPr>
        <p:spPr>
          <a:xfrm>
            <a:off x="278914" y="4435278"/>
            <a:ext cx="8575234" cy="464856"/>
          </a:xfrm>
          <a:prstGeom prst="rect">
            <a:avLst/>
          </a:prstGeom>
          <a:solidFill>
            <a:srgbClr val="00451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450" y="4495435"/>
            <a:ext cx="355478" cy="3554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5340" y="4566531"/>
            <a:ext cx="7782244" cy="235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1" b="1" dirty="0">
                <a:solidFill>
                  <a:srgbClr val="C7D6CD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Together, these artefacts create the practical interpretation layer for way of working, routing and oversight.</a:t>
            </a:r>
            <a:endParaRPr lang="en-US" sz="1141" dirty="0"/>
          </a:p>
        </p:txBody>
      </p:sp>
      <p:sp>
        <p:nvSpPr>
          <p:cNvPr id="6" name="Shape 3"/>
          <p:cNvSpPr/>
          <p:nvPr/>
        </p:nvSpPr>
        <p:spPr>
          <a:xfrm>
            <a:off x="5895474" y="1706297"/>
            <a:ext cx="2975081" cy="2619603"/>
          </a:xfrm>
          <a:prstGeom prst="rect">
            <a:avLst/>
          </a:prstGeom>
          <a:solidFill>
            <a:srgbClr val="D1E7D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134" y="3729789"/>
            <a:ext cx="60158" cy="60158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134" y="3166493"/>
            <a:ext cx="60158" cy="60158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3134" y="2619603"/>
            <a:ext cx="60158" cy="60158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1574" y="1815675"/>
            <a:ext cx="612517" cy="700019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201732" y="3664163"/>
            <a:ext cx="2544679" cy="5359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404841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Clarifies that 1LoD owns Al use cases</a:t>
            </a:r>
            <a:endParaRPr lang="en-US" sz="1046" dirty="0"/>
          </a:p>
          <a:p>
            <a:pPr algn="l" indent="0" marL="0">
              <a:buNone/>
            </a:pPr>
            <a:r>
              <a:rPr lang="en-US" sz="1046" dirty="0">
                <a:solidFill>
                  <a:srgbClr val="404841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end to end; 2LoD retains policy review</a:t>
            </a:r>
            <a:endParaRPr lang="en-US" sz="1046" dirty="0"/>
          </a:p>
          <a:p>
            <a:pPr algn="l" indent="0" marL="0">
              <a:buNone/>
            </a:pPr>
            <a:r>
              <a:rPr lang="en-US" sz="1046" dirty="0">
                <a:solidFill>
                  <a:srgbClr val="404841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and challenge ownership within domains.</a:t>
            </a:r>
            <a:endParaRPr lang="en-US" sz="1046" dirty="0"/>
          </a:p>
        </p:txBody>
      </p:sp>
      <p:sp>
        <p:nvSpPr>
          <p:cNvPr id="12" name="Text 5"/>
          <p:cNvSpPr/>
          <p:nvPr/>
        </p:nvSpPr>
        <p:spPr>
          <a:xfrm>
            <a:off x="6201732" y="3106335"/>
            <a:ext cx="2514600" cy="5086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2" dirty="0">
                <a:solidFill>
                  <a:srgbClr val="39413B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Helps teams understand which policies</a:t>
            </a:r>
            <a:endParaRPr lang="en-US" sz="1012" dirty="0"/>
          </a:p>
          <a:p>
            <a:pPr algn="l" indent="0" marL="0">
              <a:buNone/>
            </a:pPr>
            <a:r>
              <a:rPr lang="en-US" sz="1012" dirty="0">
                <a:solidFill>
                  <a:srgbClr val="39413B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apply, which risk teams to engage, and</a:t>
            </a:r>
            <a:endParaRPr lang="en-US" sz="1012" dirty="0"/>
          </a:p>
          <a:p>
            <a:pPr algn="l" indent="0" marL="0">
              <a:buNone/>
            </a:pPr>
            <a:r>
              <a:rPr lang="en-US" sz="1012" dirty="0">
                <a:solidFill>
                  <a:srgbClr val="39413B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what evidence or approvals are required.</a:t>
            </a:r>
            <a:endParaRPr lang="en-US" sz="1012" dirty="0"/>
          </a:p>
        </p:txBody>
      </p:sp>
      <p:sp>
        <p:nvSpPr>
          <p:cNvPr id="13" name="Text 6"/>
          <p:cNvSpPr/>
          <p:nvPr/>
        </p:nvSpPr>
        <p:spPr>
          <a:xfrm>
            <a:off x="6201732" y="2559445"/>
            <a:ext cx="2292016" cy="5031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4" dirty="0">
                <a:solidFill>
                  <a:srgbClr val="3A423B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Provides a Group-wide approach for</a:t>
            </a:r>
            <a:endParaRPr lang="en-US" sz="1064" dirty="0"/>
          </a:p>
          <a:p>
            <a:pPr algn="l" indent="0" marL="0">
              <a:buNone/>
            </a:pPr>
            <a:r>
              <a:rPr lang="en-US" sz="1064" dirty="0">
                <a:solidFill>
                  <a:srgbClr val="3A423B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identifying, routing and coordinating</a:t>
            </a:r>
            <a:endParaRPr lang="en-US" sz="1064" dirty="0"/>
          </a:p>
          <a:p>
            <a:pPr algn="l" indent="0" marL="0">
              <a:buNone/>
            </a:pPr>
            <a:r>
              <a:rPr lang="en-US" sz="1064" dirty="0">
                <a:solidFill>
                  <a:srgbClr val="3A423B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Al risks across existing policies.</a:t>
            </a:r>
            <a:endParaRPr lang="en-US" sz="1064" dirty="0"/>
          </a:p>
        </p:txBody>
      </p:sp>
      <p:sp>
        <p:nvSpPr>
          <p:cNvPr id="14" name="Text 7"/>
          <p:cNvSpPr/>
          <p:nvPr/>
        </p:nvSpPr>
        <p:spPr>
          <a:xfrm>
            <a:off x="6983785" y="1930522"/>
            <a:ext cx="1275347" cy="4648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71" b="1" dirty="0">
                <a:solidFill>
                  <a:srgbClr val="1E5834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Al Risk Policy</a:t>
            </a:r>
            <a:endParaRPr lang="en-US" sz="1671" dirty="0"/>
          </a:p>
          <a:p>
            <a:pPr algn="l" indent="0" marL="0">
              <a:buNone/>
            </a:pPr>
            <a:r>
              <a:rPr lang="en-US" sz="1671" b="1" dirty="0">
                <a:solidFill>
                  <a:srgbClr val="1E5834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Enabler</a:t>
            </a:r>
            <a:endParaRPr lang="en-US" sz="1671" dirty="0"/>
          </a:p>
        </p:txBody>
      </p:sp>
      <p:sp>
        <p:nvSpPr>
          <p:cNvPr id="15" name="Shape 8"/>
          <p:cNvSpPr/>
          <p:nvPr/>
        </p:nvSpPr>
        <p:spPr>
          <a:xfrm>
            <a:off x="3171962" y="1711766"/>
            <a:ext cx="2581321" cy="2614134"/>
          </a:xfrm>
          <a:prstGeom prst="rect">
            <a:avLst/>
          </a:prstGeom>
          <a:solidFill>
            <a:srgbClr val="CCE9C7"/>
          </a:solidFill>
          <a:ln/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622" y="3855574"/>
            <a:ext cx="60158" cy="60158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622" y="3385249"/>
            <a:ext cx="60158" cy="60158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9622" y="2745388"/>
            <a:ext cx="60158" cy="60158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79780" y="1821144"/>
            <a:ext cx="814866" cy="760177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3472751" y="3789947"/>
            <a:ext cx="2135605" cy="3828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4" dirty="0">
                <a:solidFill>
                  <a:srgbClr val="343F34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Identifies where additional clarity,</a:t>
            </a:r>
            <a:endParaRPr lang="en-US" sz="1064" dirty="0"/>
          </a:p>
          <a:p>
            <a:pPr algn="l" indent="0" marL="0">
              <a:buNone/>
            </a:pPr>
            <a:r>
              <a:rPr lang="en-US" sz="1064" dirty="0">
                <a:solidFill>
                  <a:srgbClr val="343F34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review or uplift may be required.</a:t>
            </a:r>
            <a:endParaRPr lang="en-US" sz="1064" dirty="0"/>
          </a:p>
        </p:txBody>
      </p:sp>
      <p:sp>
        <p:nvSpPr>
          <p:cNvPr id="21" name="Text 10"/>
          <p:cNvSpPr/>
          <p:nvPr/>
        </p:nvSpPr>
        <p:spPr>
          <a:xfrm>
            <a:off x="3467282" y="3314153"/>
            <a:ext cx="2213811" cy="3609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5" dirty="0">
                <a:solidFill>
                  <a:srgbClr val="3B463A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Uses existing L1 / L2 / L3 risks as</a:t>
            </a:r>
            <a:endParaRPr lang="en-US" sz="1055" dirty="0"/>
          </a:p>
          <a:p>
            <a:pPr algn="l" indent="0" marL="0">
              <a:buNone/>
            </a:pPr>
            <a:r>
              <a:rPr lang="en-US" sz="1055" dirty="0">
                <a:solidFill>
                  <a:srgbClr val="3B463A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the baseline.</a:t>
            </a:r>
            <a:endParaRPr lang="en-US" sz="1055" dirty="0"/>
          </a:p>
        </p:txBody>
      </p:sp>
      <p:sp>
        <p:nvSpPr>
          <p:cNvPr id="22" name="Text 11"/>
          <p:cNvSpPr/>
          <p:nvPr/>
        </p:nvSpPr>
        <p:spPr>
          <a:xfrm>
            <a:off x="3472751" y="2679761"/>
            <a:ext cx="2267953" cy="5250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3" dirty="0">
                <a:solidFill>
                  <a:srgbClr val="384337"/>
                </a:solidFill>
                <a:latin typeface="Roboto Flex" pitchFamily="34" charset="0"/>
                <a:ea typeface="Roboto Flex" pitchFamily="34" charset="-122"/>
                <a:cs typeface="Roboto Flex" pitchFamily="34" charset="-120"/>
              </a:rPr>
              <a:t>Maps Al-specific risk manifestations</a:t>
            </a:r>
            <a:endParaRPr lang="en-US" sz="1003" dirty="0"/>
          </a:p>
          <a:p>
            <a:pPr algn="l" indent="0" marL="0">
              <a:buNone/>
            </a:pPr>
            <a:r>
              <a:rPr lang="en-US" sz="1003" dirty="0">
                <a:solidFill>
                  <a:srgbClr val="384337"/>
                </a:solidFill>
                <a:latin typeface="Roboto Flex" pitchFamily="34" charset="0"/>
                <a:ea typeface="Roboto Flex" pitchFamily="34" charset="-122"/>
                <a:cs typeface="Roboto Flex" pitchFamily="34" charset="-120"/>
              </a:rPr>
              <a:t>into the existing enterprise risk</a:t>
            </a:r>
            <a:endParaRPr lang="en-US" sz="1003" dirty="0"/>
          </a:p>
          <a:p>
            <a:pPr algn="l" indent="0" marL="0">
              <a:buNone/>
            </a:pPr>
            <a:r>
              <a:rPr lang="en-US" sz="1003" dirty="0">
                <a:solidFill>
                  <a:srgbClr val="384337"/>
                </a:solidFill>
                <a:latin typeface="Roboto Flex" pitchFamily="34" charset="0"/>
                <a:ea typeface="Roboto Flex" pitchFamily="34" charset="-122"/>
                <a:cs typeface="Roboto Flex" pitchFamily="34" charset="-120"/>
              </a:rPr>
              <a:t>structure.</a:t>
            </a:r>
            <a:endParaRPr lang="en-US" sz="1003" dirty="0"/>
          </a:p>
        </p:txBody>
      </p:sp>
      <p:sp>
        <p:nvSpPr>
          <p:cNvPr id="23" name="Text 12"/>
          <p:cNvSpPr/>
          <p:nvPr/>
        </p:nvSpPr>
        <p:spPr>
          <a:xfrm>
            <a:off x="4293086" y="1935990"/>
            <a:ext cx="986589" cy="49767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9" b="1" dirty="0">
                <a:solidFill>
                  <a:srgbClr val="1B552F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AI Risk</a:t>
            </a:r>
            <a:endParaRPr lang="en-US" sz="1809" dirty="0"/>
          </a:p>
          <a:p>
            <a:pPr algn="l" indent="0" marL="0">
              <a:buNone/>
            </a:pPr>
            <a:r>
              <a:rPr lang="en-US" sz="1809" b="1" dirty="0">
                <a:solidFill>
                  <a:srgbClr val="1B552F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Taxonomy</a:t>
            </a:r>
            <a:endParaRPr lang="en-US" sz="1809" dirty="0"/>
          </a:p>
        </p:txBody>
      </p:sp>
      <p:sp>
        <p:nvSpPr>
          <p:cNvPr id="24" name="Shape 13"/>
          <p:cNvSpPr/>
          <p:nvPr/>
        </p:nvSpPr>
        <p:spPr>
          <a:xfrm>
            <a:off x="267976" y="1706297"/>
            <a:ext cx="2756325" cy="2619603"/>
          </a:xfrm>
          <a:prstGeom prst="rect">
            <a:avLst/>
          </a:prstGeom>
          <a:solidFill>
            <a:srgbClr val="F1FAEE"/>
          </a:solidFill>
          <a:ln/>
        </p:spPr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9230" y="3729789"/>
            <a:ext cx="60158" cy="60158"/>
          </a:xfrm>
          <a:prstGeom prst="rect">
            <a:avLst/>
          </a:prstGeom>
        </p:spPr>
      </p:pic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9230" y="3232120"/>
            <a:ext cx="60158" cy="60158"/>
          </a:xfrm>
          <a:prstGeom prst="rect">
            <a:avLst/>
          </a:prstGeom>
        </p:spPr>
      </p:pic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9230" y="2745388"/>
            <a:ext cx="60158" cy="60158"/>
          </a:xfrm>
          <a:prstGeom prst="rect">
            <a:avLst/>
          </a:prstGeom>
        </p:spPr>
      </p:pic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6574" y="1815675"/>
            <a:ext cx="738301" cy="689081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557828" y="3664163"/>
            <a:ext cx="2123574" cy="3773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9" dirty="0">
                <a:solidFill>
                  <a:srgbClr val="454745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Introduces triage and governance</a:t>
            </a:r>
            <a:endParaRPr lang="en-US" sz="1089" dirty="0"/>
          </a:p>
          <a:p>
            <a:pPr algn="l" indent="0" marL="0">
              <a:buNone/>
            </a:pPr>
            <a:r>
              <a:rPr lang="en-US" sz="1089" dirty="0">
                <a:solidFill>
                  <a:srgbClr val="454745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pathways based on inherent risk.</a:t>
            </a:r>
            <a:endParaRPr lang="en-US" sz="1089" dirty="0"/>
          </a:p>
        </p:txBody>
      </p:sp>
      <p:sp>
        <p:nvSpPr>
          <p:cNvPr id="30" name="Text 15"/>
          <p:cNvSpPr/>
          <p:nvPr/>
        </p:nvSpPr>
        <p:spPr>
          <a:xfrm>
            <a:off x="557828" y="3171962"/>
            <a:ext cx="2532647" cy="3609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9" dirty="0">
                <a:solidFill>
                  <a:srgbClr val="404240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Defines what happens, when, who is</a:t>
            </a:r>
            <a:endParaRPr lang="en-US" sz="1059" dirty="0"/>
          </a:p>
          <a:p>
            <a:pPr algn="l" indent="0" marL="0">
              <a:buNone/>
            </a:pPr>
            <a:r>
              <a:rPr lang="en-US" sz="1059" dirty="0">
                <a:solidFill>
                  <a:srgbClr val="404240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involved and how actions are performed.</a:t>
            </a:r>
            <a:endParaRPr lang="en-US" sz="1059" dirty="0"/>
          </a:p>
        </p:txBody>
      </p:sp>
      <p:sp>
        <p:nvSpPr>
          <p:cNvPr id="31" name="Text 16"/>
          <p:cNvSpPr/>
          <p:nvPr/>
        </p:nvSpPr>
        <p:spPr>
          <a:xfrm>
            <a:off x="557828" y="2685230"/>
            <a:ext cx="2322095" cy="3609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9" dirty="0">
                <a:solidFill>
                  <a:srgbClr val="3D3F3C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Sets out the end-to-end governance</a:t>
            </a:r>
            <a:endParaRPr lang="en-US" sz="1089" dirty="0"/>
          </a:p>
          <a:p>
            <a:pPr algn="l" indent="0" marL="0">
              <a:buNone/>
            </a:pPr>
            <a:r>
              <a:rPr lang="en-US" sz="1089" dirty="0">
                <a:solidFill>
                  <a:srgbClr val="3D3F3C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process for AI use cases.</a:t>
            </a:r>
            <a:endParaRPr lang="en-US" sz="1089" dirty="0"/>
          </a:p>
        </p:txBody>
      </p:sp>
      <p:sp>
        <p:nvSpPr>
          <p:cNvPr id="32" name="Text 17"/>
          <p:cNvSpPr/>
          <p:nvPr/>
        </p:nvSpPr>
        <p:spPr>
          <a:xfrm>
            <a:off x="1372694" y="1941459"/>
            <a:ext cx="1588168" cy="49767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93" b="1" dirty="0">
                <a:solidFill>
                  <a:srgbClr val="20593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 Governance</a:t>
            </a:r>
            <a:endParaRPr lang="en-US" sz="1593" dirty="0"/>
          </a:p>
          <a:p>
            <a:pPr algn="l" indent="0" marL="0">
              <a:buNone/>
            </a:pPr>
            <a:r>
              <a:rPr lang="en-US" sz="1593" b="1" dirty="0">
                <a:solidFill>
                  <a:srgbClr val="20593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Operating Model</a:t>
            </a:r>
            <a:endParaRPr lang="en-US" sz="1593" dirty="0"/>
          </a:p>
        </p:txBody>
      </p:sp>
      <p:sp>
        <p:nvSpPr>
          <p:cNvPr id="33" name="Shape 18"/>
          <p:cNvSpPr/>
          <p:nvPr/>
        </p:nvSpPr>
        <p:spPr>
          <a:xfrm>
            <a:off x="262507" y="1050029"/>
            <a:ext cx="8613517" cy="519545"/>
          </a:xfrm>
          <a:prstGeom prst="rect">
            <a:avLst/>
          </a:prstGeom>
          <a:solidFill>
            <a:srgbClr val="E3F4DD"/>
          </a:solidFill>
          <a:ln/>
        </p:spPr>
      </p:sp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7512" y="1132062"/>
            <a:ext cx="355478" cy="355478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95340" y="1192220"/>
            <a:ext cx="8154129" cy="2515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8" b="1" dirty="0">
                <a:solidFill>
                  <a:srgbClr val="295E3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PwC artefacts help translate Al policy expectations into a practical, navigable governance journey.</a:t>
            </a:r>
            <a:endParaRPr lang="en-US" sz="1348" dirty="0"/>
          </a:p>
        </p:txBody>
      </p:sp>
      <p:pic>
        <p:nvPicPr>
          <p:cNvPr id="3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09589" y="634392"/>
            <a:ext cx="1077373" cy="16407"/>
          </a:xfrm>
          <a:prstGeom prst="rect">
            <a:avLst/>
          </a:prstGeom>
        </p:spPr>
      </p:pic>
      <p:pic>
        <p:nvPicPr>
          <p:cNvPr id="3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31483" y="207818"/>
            <a:ext cx="366416" cy="328134"/>
          </a:xfrm>
          <a:prstGeom prst="rect">
            <a:avLst/>
          </a:prstGeom>
        </p:spPr>
      </p:pic>
      <p:sp>
        <p:nvSpPr>
          <p:cNvPr id="38" name="Text 20"/>
          <p:cNvSpPr/>
          <p:nvPr/>
        </p:nvSpPr>
        <p:spPr>
          <a:xfrm>
            <a:off x="7809589" y="437512"/>
            <a:ext cx="739942" cy="1039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1" dirty="0">
                <a:solidFill>
                  <a:srgbClr val="6A6D6D"/>
                </a:solidFill>
                <a:latin typeface="Cabin Sketch" pitchFamily="34" charset="0"/>
                <a:ea typeface="Cabin Sketch" pitchFamily="34" charset="-122"/>
                <a:cs typeface="Cabin Sketch" pitchFamily="34" charset="-120"/>
              </a:rPr>
              <a:t>BANKING GROUP</a:t>
            </a:r>
            <a:endParaRPr lang="en-US" sz="711" dirty="0"/>
          </a:p>
        </p:txBody>
      </p:sp>
      <p:sp>
        <p:nvSpPr>
          <p:cNvPr id="39" name="Text 21"/>
          <p:cNvSpPr/>
          <p:nvPr/>
        </p:nvSpPr>
        <p:spPr>
          <a:xfrm>
            <a:off x="7804120" y="224225"/>
            <a:ext cx="764005" cy="2132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34574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LLOYDS</a:t>
            </a:r>
            <a:endParaRPr lang="en-US" sz="1460" dirty="0"/>
          </a:p>
        </p:txBody>
      </p:sp>
      <p:sp>
        <p:nvSpPr>
          <p:cNvPr id="40" name="Text 22"/>
          <p:cNvSpPr/>
          <p:nvPr/>
        </p:nvSpPr>
        <p:spPr>
          <a:xfrm>
            <a:off x="8788522" y="4932947"/>
            <a:ext cx="103909" cy="1093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3"/>
                </a:solidFill>
                <a:latin typeface="Sofia Sans Semi Condensed" pitchFamily="34" charset="0"/>
                <a:ea typeface="Sofia Sans Semi Condensed" pitchFamily="34" charset="-122"/>
                <a:cs typeface="Sofia Sans Semi Condensed" pitchFamily="34" charset="-120"/>
              </a:rPr>
              <a:t>8</a:t>
            </a:r>
            <a:endParaRPr lang="en-US" sz="900" dirty="0"/>
          </a:p>
        </p:txBody>
      </p:sp>
      <p:sp>
        <p:nvSpPr>
          <p:cNvPr id="41" name="Text 23"/>
          <p:cNvSpPr/>
          <p:nvPr/>
        </p:nvSpPr>
        <p:spPr>
          <a:xfrm>
            <a:off x="246100" y="191411"/>
            <a:ext cx="5733047" cy="7765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97" b="1" dirty="0">
                <a:solidFill>
                  <a:srgbClr val="242424"/>
                </a:solidFill>
                <a:latin typeface="Asul" pitchFamily="34" charset="0"/>
                <a:ea typeface="Asul" pitchFamily="34" charset="-122"/>
                <a:cs typeface="Asul" pitchFamily="34" charset="-120"/>
              </a:rPr>
              <a:t>Operating Model, Risk Taxonomy</a:t>
            </a:r>
            <a:endParaRPr lang="en-US" sz="2597" dirty="0"/>
          </a:p>
          <a:p>
            <a:pPr algn="l" indent="0" marL="0">
              <a:buNone/>
            </a:pPr>
            <a:r>
              <a:rPr lang="en-US" sz="2597" b="1" dirty="0">
                <a:solidFill>
                  <a:srgbClr val="242424"/>
                </a:solidFill>
                <a:latin typeface="Asul" pitchFamily="34" charset="0"/>
                <a:ea typeface="Asul" pitchFamily="34" charset="-122"/>
                <a:cs typeface="Asul" pitchFamily="34" charset="-120"/>
              </a:rPr>
              <a:t>and Policy Enabler</a:t>
            </a:r>
            <a:endParaRPr lang="en-US" sz="259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6234"/>
          </a:xfrm>
          <a:prstGeom prst="rect">
            <a:avLst/>
          </a:prstGeom>
          <a:solidFill>
            <a:srgbClr val="FEFE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623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623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5140766"/>
            <a:ext cx="9138531" cy="5469"/>
          </a:xfrm>
          <a:prstGeom prst="rect">
            <a:avLst/>
          </a:prstGeom>
          <a:solidFill>
            <a:srgbClr val="D5D4D4"/>
          </a:solidFill>
          <a:ln/>
        </p:spPr>
      </p:sp>
      <p:sp>
        <p:nvSpPr>
          <p:cNvPr id="6" name="Shape 2"/>
          <p:cNvSpPr/>
          <p:nvPr/>
        </p:nvSpPr>
        <p:spPr>
          <a:xfrm>
            <a:off x="240632" y="4451684"/>
            <a:ext cx="8668206" cy="410167"/>
          </a:xfrm>
          <a:prstGeom prst="rect">
            <a:avLst/>
          </a:prstGeom>
          <a:solidFill>
            <a:srgbClr val="024725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34" y="4517311"/>
            <a:ext cx="289852" cy="2898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8153" y="4582938"/>
            <a:ext cx="7831464" cy="1640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1" b="1" dirty="0">
                <a:solidFill>
                  <a:srgbClr val="B1C8BC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Al Control Tower supports delivery coordination; the MRO-led Al Risk Oversight Forum provides second-line risk oversight and challenge.</a:t>
            </a:r>
            <a:endParaRPr lang="en-US" sz="831" dirty="0"/>
          </a:p>
        </p:txBody>
      </p:sp>
      <p:sp>
        <p:nvSpPr>
          <p:cNvPr id="9" name="Shape 4"/>
          <p:cNvSpPr/>
          <p:nvPr/>
        </p:nvSpPr>
        <p:spPr>
          <a:xfrm>
            <a:off x="3215713" y="3713383"/>
            <a:ext cx="2581321" cy="650799"/>
          </a:xfrm>
          <a:prstGeom prst="rect">
            <a:avLst/>
          </a:prstGeom>
          <a:solidFill>
            <a:srgbClr val="D1EFE3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8684" y="3789947"/>
            <a:ext cx="497670" cy="4976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43077" y="3981359"/>
            <a:ext cx="1925053" cy="3007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66560"/>
                </a:solidFill>
                <a:latin typeface="Cagliostro" pitchFamily="34" charset="0"/>
                <a:ea typeface="Cagliostro" pitchFamily="34" charset="-122"/>
                <a:cs typeface="Cagliostro" pitchFamily="34" charset="-120"/>
              </a:rPr>
              <a:t>Triage AI use cases and ensures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566560"/>
                </a:solidFill>
                <a:latin typeface="Cagliostro" pitchFamily="34" charset="0"/>
                <a:ea typeface="Cagliostro" pitchFamily="34" charset="-122"/>
                <a:cs typeface="Cagliostro" pitchFamily="34" charset="-120"/>
              </a:rPr>
              <a:t>relevant 2LoD teams are engaged.</a:t>
            </a:r>
            <a:endParaRPr lang="en-US" sz="930" dirty="0"/>
          </a:p>
        </p:txBody>
      </p:sp>
      <p:sp>
        <p:nvSpPr>
          <p:cNvPr id="12" name="Text 6"/>
          <p:cNvSpPr/>
          <p:nvPr/>
        </p:nvSpPr>
        <p:spPr>
          <a:xfrm>
            <a:off x="3943077" y="3817292"/>
            <a:ext cx="1991226" cy="1585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3" b="1" dirty="0">
                <a:solidFill>
                  <a:srgbClr val="29322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Al Risk Triaging Forum (2LoD)</a:t>
            </a:r>
            <a:endParaRPr lang="en-US" sz="1003" dirty="0"/>
          </a:p>
        </p:txBody>
      </p:sp>
      <p:sp>
        <p:nvSpPr>
          <p:cNvPr id="13" name="Shape 7"/>
          <p:cNvSpPr/>
          <p:nvPr/>
        </p:nvSpPr>
        <p:spPr>
          <a:xfrm>
            <a:off x="5966569" y="2707105"/>
            <a:ext cx="2657885" cy="842211"/>
          </a:xfrm>
          <a:prstGeom prst="rect">
            <a:avLst/>
          </a:prstGeom>
          <a:solidFill>
            <a:srgbClr val="E4F3DB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2196" y="2854766"/>
            <a:ext cx="492201" cy="49220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88464" y="2980550"/>
            <a:ext cx="1648326" cy="42110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0675C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Reviews use cases with ethical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0675C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dilemmas and has decision-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0675C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making power.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6693933" y="2838359"/>
            <a:ext cx="1991226" cy="1421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2" dirty="0">
                <a:solidFill>
                  <a:srgbClr val="40463D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Data &amp; Al Ethics Committee (1LoD)</a:t>
            </a:r>
            <a:endParaRPr lang="en-US" sz="822" dirty="0"/>
          </a:p>
        </p:txBody>
      </p:sp>
      <p:sp>
        <p:nvSpPr>
          <p:cNvPr id="17" name="Shape 10"/>
          <p:cNvSpPr/>
          <p:nvPr/>
        </p:nvSpPr>
        <p:spPr>
          <a:xfrm>
            <a:off x="3215713" y="2707105"/>
            <a:ext cx="2581321" cy="836742"/>
          </a:xfrm>
          <a:prstGeom prst="rect">
            <a:avLst/>
          </a:prstGeom>
          <a:solidFill>
            <a:srgbClr val="D1EFE3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622" y="2865703"/>
            <a:ext cx="486732" cy="49220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943077" y="3089928"/>
            <a:ext cx="1816768" cy="39376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3" dirty="0">
                <a:solidFill>
                  <a:srgbClr val="4F5E58"/>
                </a:solidFill>
                <a:latin typeface="Cutive" pitchFamily="34" charset="0"/>
                <a:ea typeface="Cutive" pitchFamily="34" charset="-122"/>
                <a:cs typeface="Cutive" pitchFamily="34" charset="-120"/>
              </a:rPr>
              <a:t>Centralised forum for reviewing</a:t>
            </a:r>
            <a:endParaRPr lang="en-US" sz="693" dirty="0"/>
          </a:p>
          <a:p>
            <a:pPr algn="l" indent="0" marL="0">
              <a:buNone/>
            </a:pPr>
            <a:r>
              <a:rPr lang="en-US" sz="693" dirty="0">
                <a:solidFill>
                  <a:srgbClr val="4F5E58"/>
                </a:solidFill>
                <a:latin typeface="Cutive" pitchFamily="34" charset="0"/>
                <a:ea typeface="Cutive" pitchFamily="34" charset="-122"/>
                <a:cs typeface="Cutive" pitchFamily="34" charset="-120"/>
              </a:rPr>
              <a:t>and triaging Al, GenAl and</a:t>
            </a:r>
            <a:endParaRPr lang="en-US" sz="693" dirty="0"/>
          </a:p>
          <a:p>
            <a:pPr algn="l" indent="0" marL="0">
              <a:buNone/>
            </a:pPr>
            <a:r>
              <a:rPr lang="en-US" sz="693" dirty="0">
                <a:solidFill>
                  <a:srgbClr val="4F5E58"/>
                </a:solidFill>
                <a:latin typeface="Cutive" pitchFamily="34" charset="0"/>
                <a:ea typeface="Cutive" pitchFamily="34" charset="-122"/>
                <a:cs typeface="Cutive" pitchFamily="34" charset="-120"/>
              </a:rPr>
              <a:t>agentic Al use cases.</a:t>
            </a:r>
            <a:endParaRPr lang="en-US" sz="693" dirty="0"/>
          </a:p>
        </p:txBody>
      </p:sp>
      <p:sp>
        <p:nvSpPr>
          <p:cNvPr id="20" name="Text 12"/>
          <p:cNvSpPr/>
          <p:nvPr/>
        </p:nvSpPr>
        <p:spPr>
          <a:xfrm>
            <a:off x="3937608" y="2767263"/>
            <a:ext cx="1600200" cy="306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1" b="1" dirty="0">
                <a:solidFill>
                  <a:srgbClr val="34403B"/>
                </a:solidFill>
                <a:latin typeface="Ysabeau" pitchFamily="34" charset="0"/>
                <a:ea typeface="Ysabeau" pitchFamily="34" charset="-122"/>
                <a:cs typeface="Ysabeau" pitchFamily="34" charset="-120"/>
              </a:rPr>
              <a:t>Al Risk Oversight Forum</a:t>
            </a:r>
            <a:endParaRPr lang="en-US" sz="1051" dirty="0"/>
          </a:p>
          <a:p>
            <a:pPr algn="l" indent="0" marL="0">
              <a:buNone/>
            </a:pPr>
            <a:r>
              <a:rPr lang="en-US" sz="1051" b="1" dirty="0">
                <a:solidFill>
                  <a:srgbClr val="34403B"/>
                </a:solidFill>
                <a:latin typeface="Ysabeau" pitchFamily="34" charset="0"/>
                <a:ea typeface="Ysabeau" pitchFamily="34" charset="-122"/>
                <a:cs typeface="Ysabeau" pitchFamily="34" charset="-120"/>
              </a:rPr>
              <a:t>(2LoD, run by MRO)</a:t>
            </a:r>
            <a:endParaRPr lang="en-US" sz="1051" dirty="0"/>
          </a:p>
        </p:txBody>
      </p:sp>
      <p:sp>
        <p:nvSpPr>
          <p:cNvPr id="21" name="Shape 13"/>
          <p:cNvSpPr/>
          <p:nvPr/>
        </p:nvSpPr>
        <p:spPr>
          <a:xfrm>
            <a:off x="464856" y="2707105"/>
            <a:ext cx="2548507" cy="836742"/>
          </a:xfrm>
          <a:prstGeom prst="rect">
            <a:avLst/>
          </a:prstGeom>
          <a:solidFill>
            <a:srgbClr val="E3F6D7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890" y="2854766"/>
            <a:ext cx="492201" cy="492201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08627" y="2975081"/>
            <a:ext cx="1822784" cy="4265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1" b="1" dirty="0">
                <a:solidFill>
                  <a:srgbClr val="4C544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Resolves delivery escalations and</a:t>
            </a:r>
            <a:endParaRPr lang="en-US" sz="891" dirty="0"/>
          </a:p>
          <a:p>
            <a:pPr algn="l" indent="0" marL="0">
              <a:buNone/>
            </a:pPr>
            <a:r>
              <a:rPr lang="en-US" sz="891" b="1" dirty="0">
                <a:solidFill>
                  <a:srgbClr val="4C544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blockers; tracks Al outcomes at</a:t>
            </a:r>
            <a:endParaRPr lang="en-US" sz="891" dirty="0"/>
          </a:p>
          <a:p>
            <a:pPr algn="l" indent="0" marL="0">
              <a:buNone/>
            </a:pPr>
            <a:r>
              <a:rPr lang="en-US" sz="891" b="1" dirty="0">
                <a:solidFill>
                  <a:srgbClr val="4C544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Group level.</a:t>
            </a:r>
            <a:endParaRPr lang="en-US" sz="891" dirty="0"/>
          </a:p>
        </p:txBody>
      </p:sp>
      <p:sp>
        <p:nvSpPr>
          <p:cNvPr id="24" name="Text 15"/>
          <p:cNvSpPr/>
          <p:nvPr/>
        </p:nvSpPr>
        <p:spPr>
          <a:xfrm>
            <a:off x="1208627" y="2827421"/>
            <a:ext cx="1485900" cy="147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1" b="1" dirty="0">
                <a:solidFill>
                  <a:srgbClr val="3A4138"/>
                </a:solidFill>
                <a:latin typeface="Ysabeau Infant" pitchFamily="34" charset="0"/>
                <a:ea typeface="Ysabeau Infant" pitchFamily="34" charset="-122"/>
                <a:cs typeface="Ysabeau Infant" pitchFamily="34" charset="-120"/>
              </a:rPr>
              <a:t>Al Control Tower (1LoD)</a:t>
            </a:r>
            <a:endParaRPr lang="en-US" sz="891" dirty="0"/>
          </a:p>
        </p:txBody>
      </p:sp>
      <p:sp>
        <p:nvSpPr>
          <p:cNvPr id="25" name="Shape 16"/>
          <p:cNvSpPr/>
          <p:nvPr/>
        </p:nvSpPr>
        <p:spPr>
          <a:xfrm>
            <a:off x="2975081" y="1892239"/>
            <a:ext cx="3193837" cy="585172"/>
          </a:xfrm>
          <a:prstGeom prst="rect">
            <a:avLst/>
          </a:prstGeom>
          <a:solidFill>
            <a:srgbClr val="026735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2584" y="1952397"/>
            <a:ext cx="464856" cy="46485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702445" y="1952397"/>
            <a:ext cx="2532647" cy="4757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7" b="1" dirty="0">
                <a:solidFill>
                  <a:srgbClr val="BAD6C7"/>
                </a:solidFill>
                <a:latin typeface="Red Rose" pitchFamily="34" charset="0"/>
                <a:ea typeface="Red Rose" pitchFamily="34" charset="-122"/>
                <a:cs typeface="Red Rose" pitchFamily="34" charset="-120"/>
              </a:rPr>
              <a:t>Model Governance Committee (MGC)</a:t>
            </a:r>
            <a:endParaRPr lang="en-US" sz="857" dirty="0"/>
          </a:p>
          <a:p>
            <a:pPr algn="l" indent="0" marL="0">
              <a:buNone/>
            </a:pPr>
            <a:r>
              <a:rPr lang="en-US" sz="857" b="1" dirty="0">
                <a:solidFill>
                  <a:srgbClr val="BAD6C7"/>
                </a:solidFill>
                <a:latin typeface="Red Rose" pitchFamily="34" charset="0"/>
                <a:ea typeface="Red Rose" pitchFamily="34" charset="-122"/>
                <a:cs typeface="Red Rose" pitchFamily="34" charset="-120"/>
              </a:rPr>
              <a:t>Final sign-off for Tier 2 use cases and</a:t>
            </a:r>
            <a:endParaRPr lang="en-US" sz="857" dirty="0"/>
          </a:p>
          <a:p>
            <a:pPr algn="l" indent="0" marL="0">
              <a:buNone/>
            </a:pPr>
            <a:r>
              <a:rPr lang="en-US" sz="857" b="1" dirty="0">
                <a:solidFill>
                  <a:srgbClr val="BAD6C7"/>
                </a:solidFill>
                <a:latin typeface="Red Rose" pitchFamily="34" charset="0"/>
                <a:ea typeface="Red Rose" pitchFamily="34" charset="-122"/>
                <a:cs typeface="Red Rose" pitchFamily="34" charset="-120"/>
              </a:rPr>
              <a:t>escalated Tier 3-5 cases.</a:t>
            </a:r>
            <a:endParaRPr lang="en-US" sz="857" dirty="0"/>
          </a:p>
        </p:txBody>
      </p:sp>
      <p:sp>
        <p:nvSpPr>
          <p:cNvPr id="28" name="Shape 18"/>
          <p:cNvSpPr/>
          <p:nvPr/>
        </p:nvSpPr>
        <p:spPr>
          <a:xfrm>
            <a:off x="2975081" y="1170344"/>
            <a:ext cx="3193837" cy="585172"/>
          </a:xfrm>
          <a:prstGeom prst="rect">
            <a:avLst/>
          </a:prstGeom>
          <a:solidFill>
            <a:srgbClr val="024826"/>
          </a:solidFill>
          <a:ln/>
        </p:spPr>
      </p:sp>
      <p:sp>
        <p:nvSpPr>
          <p:cNvPr id="29" name="Text 19"/>
          <p:cNvSpPr/>
          <p:nvPr/>
        </p:nvSpPr>
        <p:spPr>
          <a:xfrm>
            <a:off x="3702445" y="1219565"/>
            <a:ext cx="2105526" cy="4867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3" dirty="0">
                <a:solidFill>
                  <a:srgbClr val="C5D6CD"/>
                </a:solidFill>
                <a:latin typeface="REM" pitchFamily="34" charset="0"/>
                <a:ea typeface="REM" pitchFamily="34" charset="-122"/>
                <a:cs typeface="REM" pitchFamily="34" charset="-120"/>
              </a:rPr>
              <a:t>Group Risk Committee (GRC)</a:t>
            </a:r>
            <a:endParaRPr lang="en-US" sz="913" dirty="0"/>
          </a:p>
          <a:p>
            <a:pPr algn="l" indent="0" marL="0">
              <a:buNone/>
            </a:pPr>
            <a:r>
              <a:rPr lang="en-US" sz="913" dirty="0">
                <a:solidFill>
                  <a:srgbClr val="C5D6CD"/>
                </a:solidFill>
                <a:latin typeface="REM" pitchFamily="34" charset="0"/>
                <a:ea typeface="REM" pitchFamily="34" charset="-122"/>
                <a:cs typeface="REM" pitchFamily="34" charset="-120"/>
              </a:rPr>
              <a:t>Final sign-off for Tier 1 use cases</a:t>
            </a:r>
            <a:endParaRPr lang="en-US" sz="913" dirty="0"/>
          </a:p>
          <a:p>
            <a:pPr algn="l" indent="0" marL="0">
              <a:buNone/>
            </a:pPr>
            <a:r>
              <a:rPr lang="en-US" sz="913" dirty="0">
                <a:solidFill>
                  <a:srgbClr val="C5D6CD"/>
                </a:solidFill>
                <a:latin typeface="REM" pitchFamily="34" charset="0"/>
                <a:ea typeface="REM" pitchFamily="34" charset="-122"/>
                <a:cs typeface="REM" pitchFamily="34" charset="-120"/>
              </a:rPr>
              <a:t>and escalated cases.</a:t>
            </a:r>
            <a:endParaRPr lang="en-US" sz="913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68053" y="1235971"/>
            <a:ext cx="453919" cy="453919"/>
          </a:xfrm>
          <a:prstGeom prst="rect">
            <a:avLst/>
          </a:prstGeom>
        </p:spPr>
      </p:pic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9187" y="1750048"/>
            <a:ext cx="54689" cy="142191"/>
          </a:xfrm>
          <a:prstGeom prst="rect">
            <a:avLst/>
          </a:prstGeom>
        </p:spPr>
      </p:pic>
      <p:sp>
        <p:nvSpPr>
          <p:cNvPr id="32" name="Shape 20"/>
          <p:cNvSpPr/>
          <p:nvPr/>
        </p:nvSpPr>
        <p:spPr>
          <a:xfrm>
            <a:off x="240632" y="683612"/>
            <a:ext cx="8684612" cy="388292"/>
          </a:xfrm>
          <a:prstGeom prst="rect">
            <a:avLst/>
          </a:prstGeom>
          <a:solidFill>
            <a:srgbClr val="E6F3DD"/>
          </a:solidFill>
          <a:ln/>
        </p:spPr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603" y="710957"/>
            <a:ext cx="339072" cy="339072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1372694" y="787522"/>
            <a:ext cx="7110663" cy="207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3" b="1" dirty="0">
                <a:solidFill>
                  <a:srgbClr val="3C5B46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The target way of working separates delivery coordination from independent second-line oversight.</a:t>
            </a:r>
            <a:endParaRPr lang="en-US" sz="1133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20545" y="142191"/>
            <a:ext cx="415636" cy="382823"/>
          </a:xfrm>
          <a:prstGeom prst="rect">
            <a:avLst/>
          </a:prstGeom>
        </p:spPr>
      </p:pic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22105" y="175005"/>
            <a:ext cx="10938" cy="311727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7650990" y="136722"/>
            <a:ext cx="751974" cy="3773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6" b="1" dirty="0">
                <a:solidFill>
                  <a:srgbClr val="2D6347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LLOYDS</a:t>
            </a:r>
            <a:endParaRPr lang="en-US" sz="1456" dirty="0"/>
          </a:p>
          <a:p>
            <a:pPr algn="l" indent="0" marL="0">
              <a:buNone/>
            </a:pPr>
            <a:r>
              <a:rPr lang="en-US" sz="1456" b="1" dirty="0">
                <a:solidFill>
                  <a:srgbClr val="2D6347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BANK</a:t>
            </a:r>
            <a:endParaRPr lang="en-US" sz="1456" dirty="0"/>
          </a:p>
        </p:txBody>
      </p:sp>
      <p:sp>
        <p:nvSpPr>
          <p:cNvPr id="38" name="Text 23"/>
          <p:cNvSpPr/>
          <p:nvPr/>
        </p:nvSpPr>
        <p:spPr>
          <a:xfrm>
            <a:off x="246100" y="213287"/>
            <a:ext cx="7014411" cy="3445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23" b="1" dirty="0">
                <a:solidFill>
                  <a:srgbClr val="242B2C"/>
                </a:solidFill>
                <a:latin typeface="Red Rose" pitchFamily="34" charset="0"/>
                <a:ea typeface="Red Rose" pitchFamily="34" charset="-122"/>
                <a:cs typeface="Red Rose" pitchFamily="34" charset="-120"/>
              </a:rPr>
              <a:t>Clearer Escalation, Review and Approval Routes</a:t>
            </a:r>
            <a:endParaRPr lang="en-US" sz="2123" dirty="0"/>
          </a:p>
        </p:txBody>
      </p:sp>
      <p:sp>
        <p:nvSpPr>
          <p:cNvPr id="39" name="Text 24"/>
          <p:cNvSpPr/>
          <p:nvPr/>
        </p:nvSpPr>
        <p:spPr>
          <a:xfrm>
            <a:off x="8750239" y="4916541"/>
            <a:ext cx="125785" cy="1203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1" b="1" dirty="0">
                <a:solidFill>
                  <a:srgbClr val="43765E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9</a:t>
            </a:r>
            <a:endParaRPr lang="en-US" sz="108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6234"/>
          </a:xfrm>
          <a:prstGeom prst="rect">
            <a:avLst/>
          </a:prstGeom>
          <a:solidFill>
            <a:srgbClr val="FCFDFB"/>
          </a:solidFill>
          <a:ln/>
        </p:spPr>
      </p:sp>
      <p:sp>
        <p:nvSpPr>
          <p:cNvPr id="3" name="Shape 1"/>
          <p:cNvSpPr/>
          <p:nvPr/>
        </p:nvSpPr>
        <p:spPr>
          <a:xfrm>
            <a:off x="295321" y="4402464"/>
            <a:ext cx="8542421" cy="464856"/>
          </a:xfrm>
          <a:prstGeom prst="rect">
            <a:avLst/>
          </a:prstGeom>
          <a:solidFill>
            <a:srgbClr val="E0F0DF"/>
          </a:solidFill>
          <a:ln/>
        </p:spPr>
      </p:sp>
      <p:sp>
        <p:nvSpPr>
          <p:cNvPr id="4" name="Text 2"/>
          <p:cNvSpPr/>
          <p:nvPr/>
        </p:nvSpPr>
        <p:spPr>
          <a:xfrm>
            <a:off x="2007086" y="4457153"/>
            <a:ext cx="5853363" cy="3554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7" b="1" dirty="0">
                <a:solidFill>
                  <a:srgbClr val="3A403A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MRO is leading the evolution towards a joined-up, proportionate and evidence-based</a:t>
            </a:r>
            <a:endParaRPr lang="en-US" sz="1137" dirty="0"/>
          </a:p>
          <a:p>
            <a:pPr algn="l" indent="0" marL="0">
              <a:buNone/>
            </a:pPr>
            <a:r>
              <a:rPr lang="en-US" sz="1137" b="1" dirty="0">
                <a:solidFill>
                  <a:srgbClr val="3A403A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Al risk oversight model that supports responsible Al adoption across the Group.</a:t>
            </a:r>
            <a:endParaRPr lang="en-US" sz="1137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761" y="4462622"/>
            <a:ext cx="344541" cy="344541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627" y="1263316"/>
            <a:ext cx="4216522" cy="30188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05622" y="3762603"/>
            <a:ext cx="2941721" cy="3609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7" b="1" dirty="0">
                <a:solidFill>
                  <a:srgbClr val="B6D0C2"/>
                </a:solidFill>
                <a:latin typeface="Overlock" pitchFamily="34" charset="0"/>
                <a:ea typeface="Overlock" pitchFamily="34" charset="-122"/>
                <a:cs typeface="Overlock" pitchFamily="34" charset="-120"/>
              </a:rPr>
              <a:t>Prepare ongoing updates for Al Control Tower,</a:t>
            </a:r>
            <a:endParaRPr lang="en-US" sz="1077" dirty="0"/>
          </a:p>
          <a:p>
            <a:pPr algn="l" indent="0" marL="0">
              <a:buNone/>
            </a:pPr>
            <a:r>
              <a:rPr lang="en-US" sz="1077" b="1" dirty="0">
                <a:solidFill>
                  <a:srgbClr val="B6D0C2"/>
                </a:solidFill>
                <a:latin typeface="Overlock" pitchFamily="34" charset="0"/>
                <a:ea typeface="Overlock" pitchFamily="34" charset="-122"/>
                <a:cs typeface="Overlock" pitchFamily="34" charset="-120"/>
              </a:rPr>
              <a:t>MGC and GRC as required</a:t>
            </a:r>
            <a:endParaRPr lang="en-US" sz="1077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86" y="3833699"/>
            <a:ext cx="43751" cy="43751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727" y="3768072"/>
            <a:ext cx="311727" cy="317196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1694" y="3636818"/>
            <a:ext cx="3882919" cy="43751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605622" y="3232120"/>
            <a:ext cx="2406316" cy="3281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4" b="1" dirty="0">
                <a:solidFill>
                  <a:srgbClr val="BAD2C5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Execute priority Al use case validation</a:t>
            </a:r>
            <a:endParaRPr lang="en-US" sz="904" dirty="0"/>
          </a:p>
          <a:p>
            <a:pPr algn="l" indent="0" marL="0">
              <a:buNone/>
            </a:pPr>
            <a:r>
              <a:rPr lang="en-US" sz="904" b="1" dirty="0">
                <a:solidFill>
                  <a:srgbClr val="BAD2C5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under Workstream 3</a:t>
            </a:r>
            <a:endParaRPr lang="en-US" sz="904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6086" y="3303215"/>
            <a:ext cx="43751" cy="43751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1072" y="3226651"/>
            <a:ext cx="257038" cy="317196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1694" y="3089928"/>
            <a:ext cx="3882919" cy="43751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5600153" y="2690699"/>
            <a:ext cx="3050005" cy="35001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4" b="1" dirty="0">
                <a:solidFill>
                  <a:srgbClr val="BED6CA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Continue PwC Workstream 2 tooling assessment</a:t>
            </a:r>
            <a:endParaRPr lang="en-US" sz="1064" dirty="0"/>
          </a:p>
          <a:p>
            <a:pPr algn="l" indent="0" marL="0">
              <a:buNone/>
            </a:pPr>
            <a:r>
              <a:rPr lang="en-US" sz="1064" b="1" dirty="0">
                <a:solidFill>
                  <a:srgbClr val="BED6CA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and integration</a:t>
            </a:r>
            <a:endParaRPr lang="en-US" sz="1064" dirty="0"/>
          </a:p>
        </p:txBody>
      </p:sp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36086" y="2761794"/>
            <a:ext cx="43751" cy="43751"/>
          </a:xfrm>
          <a:prstGeom prst="rect">
            <a:avLst/>
          </a:prstGeom>
        </p:spPr>
      </p:pic>
      <p:pic>
        <p:nvPicPr>
          <p:cNvPr id="1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3727" y="2685230"/>
            <a:ext cx="311727" cy="322665"/>
          </a:xfrm>
          <a:prstGeom prst="rect">
            <a:avLst/>
          </a:prstGeom>
        </p:spPr>
      </p:pic>
      <p:pic>
        <p:nvPicPr>
          <p:cNvPr id="1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01694" y="2564914"/>
            <a:ext cx="3877450" cy="38282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>
            <a:off x="5600153" y="2149278"/>
            <a:ext cx="2953753" cy="3445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9" b="1" dirty="0">
                <a:solidFill>
                  <a:srgbClr val="B8D1C4"/>
                </a:solidFill>
                <a:latin typeface="Overlock" pitchFamily="34" charset="0"/>
                <a:ea typeface="Overlock" pitchFamily="34" charset="-122"/>
                <a:cs typeface="Overlock" pitchFamily="34" charset="-120"/>
              </a:rPr>
              <a:t>Progress Al Risk Policy Enabler, Risk Taxonomy</a:t>
            </a:r>
            <a:endParaRPr lang="en-US" sz="1089" dirty="0"/>
          </a:p>
          <a:p>
            <a:pPr algn="l" indent="0" marL="0">
              <a:buNone/>
            </a:pPr>
            <a:r>
              <a:rPr lang="en-US" sz="1089" b="1" dirty="0">
                <a:solidFill>
                  <a:srgbClr val="B8D1C4"/>
                </a:solidFill>
                <a:latin typeface="Overlock" pitchFamily="34" charset="0"/>
                <a:ea typeface="Overlock" pitchFamily="34" charset="-122"/>
                <a:cs typeface="Overlock" pitchFamily="34" charset="-120"/>
              </a:rPr>
              <a:t>and Operating Model</a:t>
            </a:r>
            <a:endParaRPr lang="en-US" sz="1089" dirty="0"/>
          </a:p>
        </p:txBody>
      </p:sp>
      <p:pic>
        <p:nvPicPr>
          <p:cNvPr id="2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36086" y="2220373"/>
            <a:ext cx="43751" cy="43751"/>
          </a:xfrm>
          <a:prstGeom prst="rect">
            <a:avLst/>
          </a:prstGeom>
        </p:spPr>
      </p:pic>
      <p:pic>
        <p:nvPicPr>
          <p:cNvPr id="2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83727" y="2171153"/>
            <a:ext cx="311727" cy="306258"/>
          </a:xfrm>
          <a:prstGeom prst="rect">
            <a:avLst/>
          </a:prstGeom>
        </p:spPr>
      </p:pic>
      <p:pic>
        <p:nvPicPr>
          <p:cNvPr id="2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01694" y="2034431"/>
            <a:ext cx="3877450" cy="43751"/>
          </a:xfrm>
          <a:prstGeom prst="rect">
            <a:avLst/>
          </a:prstGeom>
        </p:spPr>
      </p:pic>
      <p:sp>
        <p:nvSpPr>
          <p:cNvPr id="23" name="Text 7"/>
          <p:cNvSpPr/>
          <p:nvPr/>
        </p:nvSpPr>
        <p:spPr>
          <a:xfrm>
            <a:off x="5605622" y="1760986"/>
            <a:ext cx="2761247" cy="1585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B6D0C3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Finalise Al governance target-state narrative</a:t>
            </a:r>
            <a:endParaRPr lang="en-US" sz="960" dirty="0"/>
          </a:p>
        </p:txBody>
      </p:sp>
      <p:pic>
        <p:nvPicPr>
          <p:cNvPr id="2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36086" y="1815675"/>
            <a:ext cx="43751" cy="43751"/>
          </a:xfrm>
          <a:prstGeom prst="rect">
            <a:avLst/>
          </a:prstGeom>
        </p:spPr>
      </p:pic>
      <p:pic>
        <p:nvPicPr>
          <p:cNvPr id="2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83727" y="1678952"/>
            <a:ext cx="311727" cy="317196"/>
          </a:xfrm>
          <a:prstGeom prst="rect">
            <a:avLst/>
          </a:prstGeom>
        </p:spPr>
      </p:pic>
      <p:sp>
        <p:nvSpPr>
          <p:cNvPr id="26" name="Text 8"/>
          <p:cNvSpPr/>
          <p:nvPr/>
        </p:nvSpPr>
        <p:spPr>
          <a:xfrm>
            <a:off x="4823569" y="1367225"/>
            <a:ext cx="1949116" cy="2242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8" b="1" dirty="0">
                <a:solidFill>
                  <a:srgbClr val="C5D8CE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Immediate next steps</a:t>
            </a:r>
            <a:endParaRPr lang="en-US" sz="1348" dirty="0"/>
          </a:p>
        </p:txBody>
      </p:sp>
      <p:sp>
        <p:nvSpPr>
          <p:cNvPr id="27" name="Shape 9"/>
          <p:cNvSpPr/>
          <p:nvPr/>
        </p:nvSpPr>
        <p:spPr>
          <a:xfrm>
            <a:off x="289852" y="1263316"/>
            <a:ext cx="4216522" cy="3018833"/>
          </a:xfrm>
          <a:prstGeom prst="rect">
            <a:avLst/>
          </a:prstGeom>
          <a:solidFill>
            <a:srgbClr val="E2F1E1"/>
          </a:solidFill>
          <a:ln/>
        </p:spPr>
      </p:sp>
      <p:sp>
        <p:nvSpPr>
          <p:cNvPr id="28" name="Text 10"/>
          <p:cNvSpPr/>
          <p:nvPr/>
        </p:nvSpPr>
        <p:spPr>
          <a:xfrm>
            <a:off x="1257847" y="3828230"/>
            <a:ext cx="2881563" cy="3390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950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Scalable second-line tooling and independent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4950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validation capability</a:t>
            </a:r>
            <a:endParaRPr lang="en-US" sz="900" dirty="0"/>
          </a:p>
        </p:txBody>
      </p:sp>
      <p:pic>
        <p:nvPicPr>
          <p:cNvPr id="2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3780" y="3899325"/>
            <a:ext cx="43751" cy="38282"/>
          </a:xfrm>
          <a:prstGeom prst="rect">
            <a:avLst/>
          </a:prstGeom>
        </p:spPr>
      </p:pic>
      <p:pic>
        <p:nvPicPr>
          <p:cNvPr id="3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2359" y="3839167"/>
            <a:ext cx="235163" cy="251569"/>
          </a:xfrm>
          <a:prstGeom prst="rect">
            <a:avLst/>
          </a:prstGeom>
        </p:spPr>
      </p:pic>
      <p:pic>
        <p:nvPicPr>
          <p:cNvPr id="3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3919" y="3773541"/>
            <a:ext cx="3877450" cy="38282"/>
          </a:xfrm>
          <a:prstGeom prst="rect">
            <a:avLst/>
          </a:prstGeom>
        </p:spPr>
      </p:pic>
      <p:sp>
        <p:nvSpPr>
          <p:cNvPr id="32" name="Text 11"/>
          <p:cNvSpPr/>
          <p:nvPr/>
        </p:nvSpPr>
        <p:spPr>
          <a:xfrm>
            <a:off x="1263316" y="3445407"/>
            <a:ext cx="2652963" cy="3117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4" b="1" dirty="0">
                <a:solidFill>
                  <a:srgbClr val="404741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Stronger monitoring, incident capture and</a:t>
            </a:r>
            <a:endParaRPr lang="en-US" sz="1094" dirty="0"/>
          </a:p>
          <a:p>
            <a:pPr algn="l" indent="0" marL="0">
              <a:buNone/>
            </a:pPr>
            <a:r>
              <a:rPr lang="en-US" sz="1094" b="1" dirty="0">
                <a:solidFill>
                  <a:srgbClr val="404741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revalidation triggers</a:t>
            </a:r>
            <a:endParaRPr lang="en-US" sz="1094" dirty="0"/>
          </a:p>
        </p:txBody>
      </p:sp>
      <p:pic>
        <p:nvPicPr>
          <p:cNvPr id="3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93780" y="3511033"/>
            <a:ext cx="43751" cy="38282"/>
          </a:xfrm>
          <a:prstGeom prst="rect">
            <a:avLst/>
          </a:prstGeom>
        </p:spPr>
      </p:pic>
      <p:pic>
        <p:nvPicPr>
          <p:cNvPr id="3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6890" y="3472751"/>
            <a:ext cx="251569" cy="251569"/>
          </a:xfrm>
          <a:prstGeom prst="rect">
            <a:avLst/>
          </a:prstGeom>
        </p:spPr>
      </p:pic>
      <p:pic>
        <p:nvPicPr>
          <p:cNvPr id="35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3919" y="3385249"/>
            <a:ext cx="3871981" cy="32813"/>
          </a:xfrm>
          <a:prstGeom prst="rect">
            <a:avLst/>
          </a:prstGeom>
        </p:spPr>
      </p:pic>
      <p:sp>
        <p:nvSpPr>
          <p:cNvPr id="36" name="Text 12"/>
          <p:cNvSpPr/>
          <p:nvPr/>
        </p:nvSpPr>
        <p:spPr>
          <a:xfrm>
            <a:off x="1257847" y="3051646"/>
            <a:ext cx="3116179" cy="3171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3" b="1" dirty="0">
                <a:solidFill>
                  <a:srgbClr val="3E453F"/>
                </a:solidFill>
                <a:latin typeface="Ysabeau" pitchFamily="34" charset="0"/>
                <a:ea typeface="Ysabeau" pitchFamily="34" charset="-122"/>
                <a:cs typeface="Ysabeau" pitchFamily="34" charset="-120"/>
              </a:rPr>
              <a:t>Proportionate validation based on risk, materiality</a:t>
            </a:r>
            <a:endParaRPr lang="en-US" sz="1033" dirty="0"/>
          </a:p>
          <a:p>
            <a:pPr algn="l" indent="0" marL="0">
              <a:buNone/>
            </a:pPr>
            <a:r>
              <a:rPr lang="en-US" sz="1033" b="1" dirty="0">
                <a:solidFill>
                  <a:srgbClr val="3E453F"/>
                </a:solidFill>
                <a:latin typeface="Ysabeau" pitchFamily="34" charset="0"/>
                <a:ea typeface="Ysabeau" pitchFamily="34" charset="-122"/>
                <a:cs typeface="Ysabeau" pitchFamily="34" charset="-120"/>
              </a:rPr>
              <a:t>and autonomy</a:t>
            </a:r>
            <a:endParaRPr lang="en-US" sz="1033" dirty="0"/>
          </a:p>
        </p:txBody>
      </p:sp>
      <p:pic>
        <p:nvPicPr>
          <p:cNvPr id="3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93780" y="3122742"/>
            <a:ext cx="43751" cy="38282"/>
          </a:xfrm>
          <a:prstGeom prst="rect">
            <a:avLst/>
          </a:prstGeom>
        </p:spPr>
      </p:pic>
      <p:pic>
        <p:nvPicPr>
          <p:cNvPr id="38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0483" y="3078990"/>
            <a:ext cx="284383" cy="262507"/>
          </a:xfrm>
          <a:prstGeom prst="rect">
            <a:avLst/>
          </a:prstGeom>
        </p:spPr>
      </p:pic>
      <p:pic>
        <p:nvPicPr>
          <p:cNvPr id="39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9388" y="2991488"/>
            <a:ext cx="3871981" cy="38282"/>
          </a:xfrm>
          <a:prstGeom prst="rect">
            <a:avLst/>
          </a:prstGeom>
        </p:spPr>
      </p:pic>
      <p:sp>
        <p:nvSpPr>
          <p:cNvPr id="40" name="Text 13"/>
          <p:cNvSpPr/>
          <p:nvPr/>
        </p:nvSpPr>
        <p:spPr>
          <a:xfrm>
            <a:off x="1263316" y="2783670"/>
            <a:ext cx="2935705" cy="1585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3D433D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Consistent evidence and approval expectations</a:t>
            </a:r>
            <a:endParaRPr lang="en-US" sz="960" dirty="0"/>
          </a:p>
        </p:txBody>
      </p:sp>
      <p:pic>
        <p:nvPicPr>
          <p:cNvPr id="41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88311" y="2838359"/>
            <a:ext cx="54689" cy="54689"/>
          </a:xfrm>
          <a:prstGeom prst="rect">
            <a:avLst/>
          </a:prstGeom>
        </p:spPr>
      </p:pic>
      <p:pic>
        <p:nvPicPr>
          <p:cNvPr id="42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74234" y="2723512"/>
            <a:ext cx="196880" cy="257038"/>
          </a:xfrm>
          <a:prstGeom prst="rect">
            <a:avLst/>
          </a:prstGeom>
        </p:spPr>
      </p:pic>
      <p:pic>
        <p:nvPicPr>
          <p:cNvPr id="43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53919" y="2668823"/>
            <a:ext cx="3877450" cy="38282"/>
          </a:xfrm>
          <a:prstGeom prst="rect">
            <a:avLst/>
          </a:prstGeom>
        </p:spPr>
      </p:pic>
      <p:sp>
        <p:nvSpPr>
          <p:cNvPr id="44" name="Text 14"/>
          <p:cNvSpPr/>
          <p:nvPr/>
        </p:nvSpPr>
        <p:spPr>
          <a:xfrm>
            <a:off x="1268785" y="2444598"/>
            <a:ext cx="2021305" cy="1531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9" dirty="0">
                <a:solidFill>
                  <a:srgbClr val="414641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Reduced duplication and rework</a:t>
            </a:r>
            <a:endParaRPr lang="en-US" sz="999" dirty="0"/>
          </a:p>
        </p:txBody>
      </p:sp>
      <p:pic>
        <p:nvPicPr>
          <p:cNvPr id="45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88311" y="2504756"/>
            <a:ext cx="49220" cy="43751"/>
          </a:xfrm>
          <a:prstGeom prst="rect">
            <a:avLst/>
          </a:prstGeom>
        </p:spPr>
      </p:pic>
      <p:pic>
        <p:nvPicPr>
          <p:cNvPr id="46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30483" y="2395378"/>
            <a:ext cx="284383" cy="257038"/>
          </a:xfrm>
          <a:prstGeom prst="rect">
            <a:avLst/>
          </a:prstGeom>
        </p:spPr>
      </p:pic>
      <p:pic>
        <p:nvPicPr>
          <p:cNvPr id="47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53919" y="2324282"/>
            <a:ext cx="3877450" cy="38282"/>
          </a:xfrm>
          <a:prstGeom prst="rect">
            <a:avLst/>
          </a:prstGeom>
        </p:spPr>
      </p:pic>
      <p:sp>
        <p:nvSpPr>
          <p:cNvPr id="48" name="Text 15"/>
          <p:cNvSpPr/>
          <p:nvPr/>
        </p:nvSpPr>
        <p:spPr>
          <a:xfrm>
            <a:off x="1263316" y="2105526"/>
            <a:ext cx="2334126" cy="1585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3" b="1" dirty="0">
                <a:solidFill>
                  <a:srgbClr val="474D47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Clearer ownership and decision rights</a:t>
            </a:r>
            <a:endParaRPr lang="en-US" sz="1003" dirty="0"/>
          </a:p>
        </p:txBody>
      </p:sp>
      <p:pic>
        <p:nvPicPr>
          <p:cNvPr id="49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88311" y="2160215"/>
            <a:ext cx="54689" cy="54689"/>
          </a:xfrm>
          <a:prstGeom prst="rect">
            <a:avLst/>
          </a:prstGeom>
        </p:spPr>
      </p:pic>
      <p:pic>
        <p:nvPicPr>
          <p:cNvPr id="50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25014" y="2067244"/>
            <a:ext cx="295321" cy="224225"/>
          </a:xfrm>
          <a:prstGeom prst="rect">
            <a:avLst/>
          </a:prstGeom>
        </p:spPr>
      </p:pic>
      <p:pic>
        <p:nvPicPr>
          <p:cNvPr id="51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53919" y="1979742"/>
            <a:ext cx="3877450" cy="38282"/>
          </a:xfrm>
          <a:prstGeom prst="rect">
            <a:avLst/>
          </a:prstGeom>
        </p:spPr>
      </p:pic>
      <p:pic>
        <p:nvPicPr>
          <p:cNvPr id="52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88311" y="1810206"/>
            <a:ext cx="49220" cy="49220"/>
          </a:xfrm>
          <a:prstGeom prst="rect">
            <a:avLst/>
          </a:prstGeom>
        </p:spPr>
      </p:pic>
      <p:pic>
        <p:nvPicPr>
          <p:cNvPr id="53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52359" y="1673483"/>
            <a:ext cx="240632" cy="300789"/>
          </a:xfrm>
          <a:prstGeom prst="rect">
            <a:avLst/>
          </a:prstGeom>
        </p:spPr>
      </p:pic>
      <p:sp>
        <p:nvSpPr>
          <p:cNvPr id="54" name="Text 16"/>
          <p:cNvSpPr/>
          <p:nvPr/>
        </p:nvSpPr>
        <p:spPr>
          <a:xfrm>
            <a:off x="1263316" y="1755517"/>
            <a:ext cx="2183732" cy="1585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2" dirty="0">
                <a:solidFill>
                  <a:srgbClr val="454B45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Simpler end-to-end Al governance</a:t>
            </a:r>
            <a:endParaRPr lang="en-US" sz="1042" dirty="0"/>
          </a:p>
        </p:txBody>
      </p:sp>
      <p:sp>
        <p:nvSpPr>
          <p:cNvPr id="55" name="Text 17"/>
          <p:cNvSpPr/>
          <p:nvPr/>
        </p:nvSpPr>
        <p:spPr>
          <a:xfrm>
            <a:off x="481263" y="1367225"/>
            <a:ext cx="1768642" cy="2242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2" b="1" dirty="0">
                <a:solidFill>
                  <a:srgbClr val="38624B"/>
                </a:solidFill>
                <a:latin typeface="Asul" pitchFamily="34" charset="0"/>
                <a:ea typeface="Asul" pitchFamily="34" charset="-122"/>
                <a:cs typeface="Asul" pitchFamily="34" charset="-120"/>
              </a:rPr>
              <a:t>Expected outcomes</a:t>
            </a:r>
            <a:endParaRPr lang="en-US" sz="1322" dirty="0"/>
          </a:p>
        </p:txBody>
      </p:sp>
      <p:sp>
        <p:nvSpPr>
          <p:cNvPr id="56" name="Shape 18"/>
          <p:cNvSpPr/>
          <p:nvPr/>
        </p:nvSpPr>
        <p:spPr>
          <a:xfrm>
            <a:off x="289852" y="760177"/>
            <a:ext cx="8564297" cy="393761"/>
          </a:xfrm>
          <a:prstGeom prst="rect">
            <a:avLst/>
          </a:prstGeom>
          <a:solidFill>
            <a:srgbClr val="DEEEDD"/>
          </a:solidFill>
          <a:ln/>
        </p:spPr>
      </p:sp>
      <p:pic>
        <p:nvPicPr>
          <p:cNvPr id="57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383632" y="809397"/>
            <a:ext cx="289852" cy="295321"/>
          </a:xfrm>
          <a:prstGeom prst="rect">
            <a:avLst/>
          </a:prstGeom>
        </p:spPr>
      </p:pic>
      <p:sp>
        <p:nvSpPr>
          <p:cNvPr id="58" name="Text 19"/>
          <p:cNvSpPr/>
          <p:nvPr/>
        </p:nvSpPr>
        <p:spPr>
          <a:xfrm>
            <a:off x="1804737" y="853148"/>
            <a:ext cx="6629400" cy="2132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8" b="1" dirty="0">
                <a:solidFill>
                  <a:srgbClr val="343934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The aim is not to slow Al delivery, but to enable safe, consistent and scalable Al adoption.</a:t>
            </a:r>
            <a:endParaRPr lang="en-US" sz="1068" dirty="0"/>
          </a:p>
        </p:txBody>
      </p:sp>
      <p:sp>
        <p:nvSpPr>
          <p:cNvPr id="59" name="Text 20"/>
          <p:cNvSpPr/>
          <p:nvPr/>
        </p:nvSpPr>
        <p:spPr>
          <a:xfrm>
            <a:off x="8591641" y="202349"/>
            <a:ext cx="427121" cy="3445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5" b="1" dirty="0">
                <a:solidFill>
                  <a:srgbClr val="5C5C5D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LLOYDS</a:t>
            </a:r>
            <a:endParaRPr lang="en-US" sz="685" dirty="0"/>
          </a:p>
          <a:p>
            <a:pPr algn="l" indent="0" marL="0">
              <a:buNone/>
            </a:pPr>
            <a:r>
              <a:rPr lang="en-US" sz="685" b="1" dirty="0">
                <a:solidFill>
                  <a:srgbClr val="5C5C5D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BANKING</a:t>
            </a:r>
            <a:endParaRPr lang="en-US" sz="685" dirty="0"/>
          </a:p>
          <a:p>
            <a:pPr algn="l" indent="0" marL="0">
              <a:buNone/>
            </a:pPr>
            <a:r>
              <a:rPr lang="en-US" sz="685" b="1" dirty="0">
                <a:solidFill>
                  <a:srgbClr val="5C5C5D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GROUP</a:t>
            </a:r>
            <a:endParaRPr lang="en-US" sz="685" dirty="0"/>
          </a:p>
        </p:txBody>
      </p:sp>
      <p:pic>
        <p:nvPicPr>
          <p:cNvPr id="60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509608" y="207818"/>
            <a:ext cx="10938" cy="344541"/>
          </a:xfrm>
          <a:prstGeom prst="rect">
            <a:avLst/>
          </a:prstGeom>
        </p:spPr>
      </p:pic>
      <p:pic>
        <p:nvPicPr>
          <p:cNvPr id="61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088502" y="207818"/>
            <a:ext cx="344541" cy="350010"/>
          </a:xfrm>
          <a:prstGeom prst="rect">
            <a:avLst/>
          </a:prstGeom>
        </p:spPr>
      </p:pic>
      <p:sp>
        <p:nvSpPr>
          <p:cNvPr id="62" name="Text 21"/>
          <p:cNvSpPr/>
          <p:nvPr/>
        </p:nvSpPr>
        <p:spPr>
          <a:xfrm>
            <a:off x="306258" y="278914"/>
            <a:ext cx="8258038" cy="3445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61" b="1" dirty="0">
                <a:solidFill>
                  <a:srgbClr val="282F31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Risk-Managed Acceleration Through Clearer Governance</a:t>
            </a:r>
            <a:endParaRPr lang="en-US" sz="2261" dirty="0"/>
          </a:p>
        </p:txBody>
      </p:sp>
      <p:sp>
        <p:nvSpPr>
          <p:cNvPr id="63" name="Text 22"/>
          <p:cNvSpPr/>
          <p:nvPr/>
        </p:nvSpPr>
        <p:spPr>
          <a:xfrm>
            <a:off x="8722895" y="4905603"/>
            <a:ext cx="153129" cy="1093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16162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2026-06-28T09:37:17Z</dcterms:created>
  <dcterms:modified xsi:type="dcterms:W3CDTF">2026-06-28T09:37:17Z</dcterms:modified>
</cp:coreProperties>
</file>