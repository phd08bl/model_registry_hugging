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jpe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jpeg"/><Relationship Id="rId17" Type="http://schemas.openxmlformats.org/officeDocument/2006/relationships/image" Target="../media/image-1-17.jpe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slideLayout" Target="../slideLayouts/slideLayout1.xml"/><Relationship Id="rId5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jpe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image" Target="../media/image-2-51.jpeg"/><Relationship Id="rId52" Type="http://schemas.openxmlformats.org/officeDocument/2006/relationships/image" Target="../media/image-2-52.jpeg"/><Relationship Id="rId53" Type="http://schemas.openxmlformats.org/officeDocument/2006/relationships/image" Target="../media/image-2-53.png"/><Relationship Id="rId54" Type="http://schemas.openxmlformats.org/officeDocument/2006/relationships/image" Target="../media/image-2-54.png"/><Relationship Id="rId55" Type="http://schemas.openxmlformats.org/officeDocument/2006/relationships/image" Target="../media/image-2-55.png"/><Relationship Id="rId56" Type="http://schemas.openxmlformats.org/officeDocument/2006/relationships/image" Target="../media/image-2-56.jpeg"/><Relationship Id="rId57" Type="http://schemas.openxmlformats.org/officeDocument/2006/relationships/image" Target="../media/image-2-57.png"/><Relationship Id="rId58" Type="http://schemas.openxmlformats.org/officeDocument/2006/relationships/image" Target="../media/image-2-58.jpeg"/><Relationship Id="rId59" Type="http://schemas.openxmlformats.org/officeDocument/2006/relationships/image" Target="../media/image-2-59.png"/><Relationship Id="rId60" Type="http://schemas.openxmlformats.org/officeDocument/2006/relationships/image" Target="../media/image-2-60.png"/><Relationship Id="rId61" Type="http://schemas.openxmlformats.org/officeDocument/2006/relationships/image" Target="../media/image-2-61.png"/><Relationship Id="rId62" Type="http://schemas.openxmlformats.org/officeDocument/2006/relationships/image" Target="../media/image-2-62.png"/><Relationship Id="rId63" Type="http://schemas.openxmlformats.org/officeDocument/2006/relationships/image" Target="../media/image-2-63.jpeg"/><Relationship Id="rId64" Type="http://schemas.openxmlformats.org/officeDocument/2006/relationships/image" Target="../media/image-2-64.jpeg"/><Relationship Id="rId65" Type="http://schemas.openxmlformats.org/officeDocument/2006/relationships/image" Target="../media/image-2-65.png"/><Relationship Id="rId66" Type="http://schemas.openxmlformats.org/officeDocument/2006/relationships/slideLayout" Target="../slideLayouts/slideLayout1.xml"/><Relationship Id="rId6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jpe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jpeg"/><Relationship Id="rId11" Type="http://schemas.openxmlformats.org/officeDocument/2006/relationships/image" Target="../media/image-4-11.png"/><Relationship Id="rId12" Type="http://schemas.openxmlformats.org/officeDocument/2006/relationships/image" Target="../media/image-4-12.jpe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image" Target="../media/image-4-42.jpeg"/><Relationship Id="rId43" Type="http://schemas.openxmlformats.org/officeDocument/2006/relationships/image" Target="../media/image-4-43.png"/><Relationship Id="rId44" Type="http://schemas.openxmlformats.org/officeDocument/2006/relationships/image" Target="../media/image-4-44.png"/><Relationship Id="rId45" Type="http://schemas.openxmlformats.org/officeDocument/2006/relationships/image" Target="../media/image-4-45.png"/><Relationship Id="rId46" Type="http://schemas.openxmlformats.org/officeDocument/2006/relationships/image" Target="../media/image-4-46.png"/><Relationship Id="rId47" Type="http://schemas.openxmlformats.org/officeDocument/2006/relationships/image" Target="../media/image-4-47.png"/><Relationship Id="rId48" Type="http://schemas.openxmlformats.org/officeDocument/2006/relationships/image" Target="../media/image-4-48.png"/><Relationship Id="rId49" Type="http://schemas.openxmlformats.org/officeDocument/2006/relationships/image" Target="../media/image-4-49.png"/><Relationship Id="rId50" Type="http://schemas.openxmlformats.org/officeDocument/2006/relationships/image" Target="../media/image-4-50.jpeg"/><Relationship Id="rId51" Type="http://schemas.openxmlformats.org/officeDocument/2006/relationships/image" Target="../media/image-4-51.png"/><Relationship Id="rId52" Type="http://schemas.openxmlformats.org/officeDocument/2006/relationships/image" Target="../media/image-4-52.png"/><Relationship Id="rId53" Type="http://schemas.openxmlformats.org/officeDocument/2006/relationships/image" Target="../media/image-4-53.jpeg"/><Relationship Id="rId54" Type="http://schemas.openxmlformats.org/officeDocument/2006/relationships/image" Target="../media/image-4-54.png"/><Relationship Id="rId55" Type="http://schemas.openxmlformats.org/officeDocument/2006/relationships/image" Target="../media/image-4-55.png"/><Relationship Id="rId56" Type="http://schemas.openxmlformats.org/officeDocument/2006/relationships/image" Target="../media/image-4-56.png"/><Relationship Id="rId57" Type="http://schemas.openxmlformats.org/officeDocument/2006/relationships/image" Target="../media/image-4-57.png"/><Relationship Id="rId58" Type="http://schemas.openxmlformats.org/officeDocument/2006/relationships/image" Target="../media/image-4-58.png"/><Relationship Id="rId59" Type="http://schemas.openxmlformats.org/officeDocument/2006/relationships/image" Target="../media/image-4-59.png"/><Relationship Id="rId60" Type="http://schemas.openxmlformats.org/officeDocument/2006/relationships/image" Target="../media/image-4-60.png"/><Relationship Id="rId61" Type="http://schemas.openxmlformats.org/officeDocument/2006/relationships/image" Target="../media/image-4-61.png"/><Relationship Id="rId62" Type="http://schemas.openxmlformats.org/officeDocument/2006/relationships/slideLayout" Target="../slideLayouts/slideLayout1.xml"/><Relationship Id="rId6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39875" y="7258050"/>
            <a:ext cx="1685925" cy="17049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47650" y="1704975"/>
            <a:ext cx="14154150" cy="7143750"/>
          </a:xfrm>
          <a:prstGeom prst="rect">
            <a:avLst/>
          </a:prstGeom>
          <a:solidFill>
            <a:srgbClr val="F9FBF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8181975"/>
            <a:ext cx="15478125" cy="6286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8286750"/>
            <a:ext cx="28575" cy="4572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8343900"/>
            <a:ext cx="381000" cy="3714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362075" y="8382000"/>
            <a:ext cx="119253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507" b="1" dirty="0">
                <a:solidFill>
                  <a:srgbClr val="3A4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</a:t>
            </a:r>
            <a:pPr algn="l" indent="0" marL="0">
              <a:lnSpc>
                <a:spcPts val="1630"/>
              </a:lnSpc>
              <a:buNone/>
            </a:pPr>
            <a:r>
              <a:rPr lang="en-US" sz="1507" dirty="0">
                <a:solidFill>
                  <a:srgbClr val="576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one simple submission details list that shows questionnaire answers for the selected use case using native SharePoint filtering.</a:t>
            </a:r>
            <a:endParaRPr lang="en-US" sz="1507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5010150"/>
            <a:ext cx="12963525" cy="31432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439025" y="7629525"/>
            <a:ext cx="200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7"/>
              </a:lnSpc>
              <a:buNone/>
            </a:pPr>
            <a:r>
              <a:rPr lang="en-US" sz="886" dirty="0">
                <a:solidFill>
                  <a:srgbClr val="989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86" dirty="0"/>
          </a:p>
        </p:txBody>
      </p:sp>
      <p:sp>
        <p:nvSpPr>
          <p:cNvPr id="11" name="Text 4"/>
          <p:cNvSpPr/>
          <p:nvPr/>
        </p:nvSpPr>
        <p:spPr>
          <a:xfrm>
            <a:off x="6238875" y="7591425"/>
            <a:ext cx="10763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9"/>
              </a:lnSpc>
              <a:buNone/>
            </a:pPr>
            <a:r>
              <a:rPr lang="en-US" sz="928" dirty="0">
                <a:solidFill>
                  <a:srgbClr val="9898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use case</a:t>
            </a:r>
            <a:endParaRPr lang="en-US" sz="928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928" dirty="0">
                <a:solidFill>
                  <a:srgbClr val="9898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confidential</a:t>
            </a:r>
            <a:endParaRPr lang="en-US" sz="928" dirty="0"/>
          </a:p>
          <a:p>
            <a:pPr algn="l" indent="0" marL="0">
              <a:lnSpc>
                <a:spcPts val="1039"/>
              </a:lnSpc>
              <a:buNone/>
            </a:pPr>
            <a:r>
              <a:rPr lang="en-US" sz="928" dirty="0">
                <a:solidFill>
                  <a:srgbClr val="9898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information?</a:t>
            </a:r>
            <a:endParaRPr lang="en-US" sz="928" dirty="0"/>
          </a:p>
        </p:txBody>
      </p:sp>
      <p:sp>
        <p:nvSpPr>
          <p:cNvPr id="12" name="Text 5"/>
          <p:cNvSpPr/>
          <p:nvPr/>
        </p:nvSpPr>
        <p:spPr>
          <a:xfrm>
            <a:off x="5467350" y="7629525"/>
            <a:ext cx="552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62"/>
              </a:lnSpc>
              <a:buNone/>
            </a:pPr>
            <a:r>
              <a:rPr lang="en-US" sz="934" dirty="0">
                <a:solidFill>
                  <a:srgbClr val="8C8C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DATA-001</a:t>
            </a:r>
            <a:endParaRPr lang="en-US" sz="934" dirty="0"/>
          </a:p>
        </p:txBody>
      </p:sp>
      <p:sp>
        <p:nvSpPr>
          <p:cNvPr id="13" name="Text 6"/>
          <p:cNvSpPr/>
          <p:nvPr/>
        </p:nvSpPr>
        <p:spPr>
          <a:xfrm>
            <a:off x="4572000" y="7620000"/>
            <a:ext cx="17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9"/>
              </a:lnSpc>
              <a:buNone/>
            </a:pPr>
            <a:r>
              <a:rPr lang="en-US" sz="942" dirty="0">
                <a:solidFill>
                  <a:srgbClr val="A9A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942" dirty="0"/>
          </a:p>
        </p:txBody>
      </p:sp>
      <p:sp>
        <p:nvSpPr>
          <p:cNvPr id="14" name="Text 7"/>
          <p:cNvSpPr/>
          <p:nvPr/>
        </p:nvSpPr>
        <p:spPr>
          <a:xfrm>
            <a:off x="13382625" y="6667500"/>
            <a:ext cx="180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960" dirty="0">
                <a:solidFill>
                  <a:srgbClr val="908D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960" dirty="0"/>
          </a:p>
        </p:txBody>
      </p:sp>
      <p:sp>
        <p:nvSpPr>
          <p:cNvPr id="15" name="Text 8"/>
          <p:cNvSpPr/>
          <p:nvPr/>
        </p:nvSpPr>
        <p:spPr>
          <a:xfrm>
            <a:off x="7439025" y="6638925"/>
            <a:ext cx="533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45" dirty="0">
                <a:solidFill>
                  <a:srgbClr val="848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Indirect customer impact</a:t>
            </a:r>
            <a:endParaRPr lang="en-US" sz="345" dirty="0"/>
          </a:p>
        </p:txBody>
      </p:sp>
      <p:sp>
        <p:nvSpPr>
          <p:cNvPr id="16" name="Text 9"/>
          <p:cNvSpPr/>
          <p:nvPr/>
        </p:nvSpPr>
        <p:spPr>
          <a:xfrm>
            <a:off x="6238875" y="6638925"/>
            <a:ext cx="1019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951" dirty="0">
                <a:solidFill>
                  <a:srgbClr val="9999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nature</a:t>
            </a:r>
            <a:endParaRPr lang="en-US" sz="951" dirty="0"/>
          </a:p>
          <a:p>
            <a:pPr algn="l" indent="0" marL="0">
              <a:lnSpc>
                <a:spcPts val="1189"/>
              </a:lnSpc>
              <a:buNone/>
            </a:pPr>
            <a:r>
              <a:rPr lang="en-US" sz="951" dirty="0">
                <a:solidFill>
                  <a:srgbClr val="9999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the impact on</a:t>
            </a:r>
            <a:endParaRPr lang="en-US" sz="951" dirty="0"/>
          </a:p>
          <a:p>
            <a:pPr algn="l" indent="0" marL="0">
              <a:lnSpc>
                <a:spcPts val="1189"/>
              </a:lnSpc>
              <a:buNone/>
            </a:pPr>
            <a:r>
              <a:rPr lang="en-US" sz="951" dirty="0">
                <a:solidFill>
                  <a:srgbClr val="9999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customers?</a:t>
            </a:r>
            <a:endParaRPr lang="en-US" sz="951" dirty="0"/>
          </a:p>
        </p:txBody>
      </p:sp>
      <p:sp>
        <p:nvSpPr>
          <p:cNvPr id="17" name="Text 10"/>
          <p:cNvSpPr/>
          <p:nvPr/>
        </p:nvSpPr>
        <p:spPr>
          <a:xfrm>
            <a:off x="5467350" y="6677025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952" dirty="0">
                <a:solidFill>
                  <a:srgbClr val="959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MAT-002</a:t>
            </a:r>
            <a:endParaRPr lang="en-US" sz="952" dirty="0"/>
          </a:p>
        </p:txBody>
      </p:sp>
      <p:sp>
        <p:nvSpPr>
          <p:cNvPr id="18" name="Text 11"/>
          <p:cNvSpPr/>
          <p:nvPr/>
        </p:nvSpPr>
        <p:spPr>
          <a:xfrm>
            <a:off x="4572000" y="6667500"/>
            <a:ext cx="17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52"/>
              </a:lnSpc>
              <a:buNone/>
            </a:pPr>
            <a:r>
              <a:rPr lang="en-US" sz="942" dirty="0">
                <a:solidFill>
                  <a:srgbClr val="A09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942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7750" y="5762625"/>
            <a:ext cx="38100" cy="19050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82425" y="5762625"/>
            <a:ext cx="38100" cy="190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439025" y="5629275"/>
            <a:ext cx="7334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4"/>
              </a:lnSpc>
              <a:buNone/>
            </a:pPr>
            <a:r>
              <a:rPr lang="en-US" sz="969" dirty="0">
                <a:solidFill>
                  <a:srgbClr val="9290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969" dirty="0"/>
          </a:p>
          <a:p>
            <a:pPr algn="l" indent="0" marL="0">
              <a:lnSpc>
                <a:spcPts val="1174"/>
              </a:lnSpc>
              <a:buNone/>
            </a:pPr>
            <a:r>
              <a:rPr lang="en-US" sz="969" dirty="0">
                <a:solidFill>
                  <a:srgbClr val="9290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AI</a:t>
            </a:r>
            <a:endParaRPr lang="en-US" sz="969" dirty="0"/>
          </a:p>
          <a:p>
            <a:pPr algn="l" indent="0" marL="0">
              <a:lnSpc>
                <a:spcPts val="1174"/>
              </a:lnSpc>
              <a:buNone/>
            </a:pPr>
            <a:r>
              <a:rPr lang="en-US" sz="969" dirty="0">
                <a:solidFill>
                  <a:srgbClr val="9290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69" dirty="0"/>
          </a:p>
          <a:p>
            <a:pPr algn="l" indent="0" marL="0">
              <a:lnSpc>
                <a:spcPts val="1174"/>
              </a:lnSpc>
              <a:buNone/>
            </a:pPr>
            <a:r>
              <a:rPr lang="en-US" sz="969" dirty="0">
                <a:solidFill>
                  <a:srgbClr val="9290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action</a:t>
            </a:r>
            <a:endParaRPr lang="en-US" sz="969" dirty="0"/>
          </a:p>
        </p:txBody>
      </p:sp>
      <p:sp>
        <p:nvSpPr>
          <p:cNvPr id="22" name="Text 13"/>
          <p:cNvSpPr/>
          <p:nvPr/>
        </p:nvSpPr>
        <p:spPr>
          <a:xfrm>
            <a:off x="6238875" y="5619750"/>
            <a:ext cx="107632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4"/>
              </a:lnSpc>
              <a:buNone/>
            </a:pPr>
            <a:r>
              <a:rPr lang="en-US" sz="944" dirty="0">
                <a:solidFill>
                  <a:srgbClr val="9999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level of</a:t>
            </a:r>
            <a:endParaRPr lang="en-US" sz="944" dirty="0"/>
          </a:p>
          <a:p>
            <a:pPr algn="l" indent="0" marL="0">
              <a:lnSpc>
                <a:spcPts val="1144"/>
              </a:lnSpc>
              <a:buNone/>
            </a:pPr>
            <a:r>
              <a:rPr lang="en-US" sz="944" dirty="0">
                <a:solidFill>
                  <a:srgbClr val="9999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involvement</a:t>
            </a:r>
            <a:endParaRPr lang="en-US" sz="944" dirty="0"/>
          </a:p>
          <a:p>
            <a:pPr algn="l" indent="0" marL="0">
              <a:lnSpc>
                <a:spcPts val="1144"/>
              </a:lnSpc>
              <a:buNone/>
            </a:pPr>
            <a:r>
              <a:rPr lang="en-US" sz="944" dirty="0">
                <a:solidFill>
                  <a:srgbClr val="9999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exists in the AI's</a:t>
            </a:r>
            <a:endParaRPr lang="en-US" sz="944" dirty="0"/>
          </a:p>
          <a:p>
            <a:pPr algn="l" indent="0" marL="0">
              <a:lnSpc>
                <a:spcPts val="1144"/>
              </a:lnSpc>
              <a:buNone/>
            </a:pPr>
            <a:r>
              <a:rPr lang="en-US" sz="944" dirty="0">
                <a:solidFill>
                  <a:srgbClr val="9999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or decision?</a:t>
            </a:r>
            <a:endParaRPr lang="en-US" sz="944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68450" y="5362575"/>
            <a:ext cx="85725" cy="57150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96750" y="5362575"/>
            <a:ext cx="85725" cy="57150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8325" y="5362575"/>
            <a:ext cx="85725" cy="5715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9675" y="5372100"/>
            <a:ext cx="76200" cy="3810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8150" y="5372100"/>
            <a:ext cx="76200" cy="38100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6225" y="5286375"/>
            <a:ext cx="85725" cy="47625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81800" y="5286375"/>
            <a:ext cx="85725" cy="47625"/>
          </a:xfrm>
          <a:prstGeom prst="rect">
            <a:avLst/>
          </a:prstGeom>
        </p:spPr>
      </p:pic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09900" y="5362575"/>
            <a:ext cx="85725" cy="57150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2828925" y="5143500"/>
            <a:ext cx="619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3"/>
              </a:lnSpc>
              <a:buNone/>
            </a:pPr>
            <a:r>
              <a:rPr lang="en-US" sz="912" dirty="0">
                <a:solidFill>
                  <a:srgbClr val="777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
</a:t>
            </a:r>
            <a:pPr algn="l" indent="0" marL="0">
              <a:lnSpc>
                <a:spcPts val="1263"/>
              </a:lnSpc>
              <a:buNone/>
            </a:pPr>
            <a:r>
              <a:rPr lang="en-US" sz="1052" dirty="0">
                <a:solidFill>
                  <a:srgbClr val="6A6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912" dirty="0"/>
          </a:p>
        </p:txBody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38425" y="3810000"/>
            <a:ext cx="9915525" cy="47625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2800350" y="3333750"/>
            <a:ext cx="2638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6"/>
              </a:lnSpc>
              <a:buNone/>
            </a:pPr>
            <a:r>
              <a:rPr lang="en-US" sz="2185" b="1" dirty="0">
                <a:solidFill>
                  <a:srgbClr val="282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Details</a:t>
            </a:r>
            <a:endParaRPr lang="en-US" sz="2185" dirty="0"/>
          </a:p>
        </p:txBody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90800" y="3190875"/>
            <a:ext cx="38100" cy="4848225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942975" y="60198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1208" dirty="0">
                <a:solidFill>
                  <a:srgbClr val="6F6F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contents</a:t>
            </a:r>
            <a:endParaRPr lang="en-US" sz="1208" dirty="0"/>
          </a:p>
        </p:txBody>
      </p:sp>
      <p:pic>
        <p:nvPicPr>
          <p:cNvPr id="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3875" y="5991225"/>
            <a:ext cx="200025" cy="247650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942975" y="5514975"/>
            <a:ext cx="800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1209" dirty="0">
                <a:solidFill>
                  <a:srgbClr val="6C6D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1209" dirty="0"/>
          </a:p>
        </p:txBody>
      </p:sp>
      <p:pic>
        <p:nvPicPr>
          <p:cNvPr id="3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3400" y="5495925"/>
            <a:ext cx="180975" cy="219075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933450" y="4810125"/>
            <a:ext cx="1000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227" dirty="0">
                <a:solidFill>
                  <a:srgbClr val="7576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</a:t>
            </a:r>
            <a:endParaRPr lang="en-US" sz="1227" dirty="0"/>
          </a:p>
          <a:p>
            <a:pPr algn="l" indent="0" marL="0">
              <a:lnSpc>
                <a:spcPts val="1382"/>
              </a:lnSpc>
              <a:buNone/>
            </a:pPr>
            <a:r>
              <a:rPr lang="en-US" sz="1227" dirty="0">
                <a:solidFill>
                  <a:srgbClr val="7576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227" dirty="0"/>
          </a:p>
        </p:txBody>
      </p:sp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3875" y="4933950"/>
            <a:ext cx="190500" cy="209550"/>
          </a:xfrm>
          <a:prstGeom prst="rect">
            <a:avLst/>
          </a:prstGeom>
        </p:spPr>
      </p:pic>
      <p:sp>
        <p:nvSpPr>
          <p:cNvPr id="41" name="Shape 19"/>
          <p:cNvSpPr/>
          <p:nvPr/>
        </p:nvSpPr>
        <p:spPr>
          <a:xfrm>
            <a:off x="314325" y="4257675"/>
            <a:ext cx="2276475" cy="485775"/>
          </a:xfrm>
          <a:prstGeom prst="roundRect">
            <a:avLst>
              <a:gd name="adj" fmla="val 3922"/>
            </a:avLst>
          </a:prstGeom>
          <a:solidFill>
            <a:srgbClr val="E3F1FD"/>
          </a:solidFill>
          <a:ln w="9525">
            <a:solidFill>
              <a:srgbClr val="E9F2FB"/>
            </a:solidFill>
            <a:prstDash val="solid"/>
          </a:ln>
        </p:spPr>
      </p:sp>
      <p:pic>
        <p:nvPicPr>
          <p:cNvPr id="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4350" y="4419600"/>
            <a:ext cx="200025" cy="171450"/>
          </a:xfrm>
          <a:prstGeom prst="rect">
            <a:avLst/>
          </a:prstGeom>
        </p:spPr>
      </p:pic>
      <p:pic>
        <p:nvPicPr>
          <p:cNvPr id="4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4800" y="4267200"/>
            <a:ext cx="38100" cy="485775"/>
          </a:xfrm>
          <a:prstGeom prst="rect">
            <a:avLst/>
          </a:prstGeom>
        </p:spPr>
      </p:pic>
      <p:sp>
        <p:nvSpPr>
          <p:cNvPr id="44" name="Text 20"/>
          <p:cNvSpPr/>
          <p:nvPr/>
        </p:nvSpPr>
        <p:spPr>
          <a:xfrm>
            <a:off x="933450" y="440055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1128" b="1" dirty="0">
                <a:solidFill>
                  <a:srgbClr val="5C6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Details</a:t>
            </a:r>
            <a:endParaRPr lang="en-US" sz="1128" dirty="0"/>
          </a:p>
        </p:txBody>
      </p:sp>
      <p:sp>
        <p:nvSpPr>
          <p:cNvPr id="45" name="Text 21"/>
          <p:cNvSpPr/>
          <p:nvPr/>
        </p:nvSpPr>
        <p:spPr>
          <a:xfrm>
            <a:off x="914400" y="3914775"/>
            <a:ext cx="1495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1131" dirty="0">
                <a:solidFill>
                  <a:srgbClr val="7172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 Case Inventory</a:t>
            </a:r>
            <a:endParaRPr lang="en-US" sz="1131" dirty="0"/>
          </a:p>
        </p:txBody>
      </p:sp>
      <p:pic>
        <p:nvPicPr>
          <p:cNvPr id="4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4350" y="3933825"/>
            <a:ext cx="190500" cy="171450"/>
          </a:xfrm>
          <a:prstGeom prst="rect">
            <a:avLst/>
          </a:prstGeom>
        </p:spPr>
      </p:pic>
      <p:sp>
        <p:nvSpPr>
          <p:cNvPr id="47" name="Text 22"/>
          <p:cNvSpPr/>
          <p:nvPr/>
        </p:nvSpPr>
        <p:spPr>
          <a:xfrm>
            <a:off x="923925" y="3419475"/>
            <a:ext cx="419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48"/>
              </a:lnSpc>
              <a:buNone/>
            </a:pPr>
            <a:r>
              <a:rPr lang="en-US" sz="1201" dirty="0">
                <a:solidFill>
                  <a:srgbClr val="7272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201" dirty="0"/>
          </a:p>
        </p:txBody>
      </p:sp>
      <p:pic>
        <p:nvPicPr>
          <p:cNvPr id="4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4350" y="3400425"/>
            <a:ext cx="190500" cy="209550"/>
          </a:xfrm>
          <a:prstGeom prst="rect">
            <a:avLst/>
          </a:prstGeom>
        </p:spPr>
      </p:pic>
      <p:sp>
        <p:nvSpPr>
          <p:cNvPr id="49" name="Text 23"/>
          <p:cNvSpPr/>
          <p:nvPr/>
        </p:nvSpPr>
        <p:spPr>
          <a:xfrm>
            <a:off x="13315950" y="2714625"/>
            <a:ext cx="733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3"/>
              </a:lnSpc>
              <a:buNone/>
            </a:pPr>
            <a:r>
              <a:rPr lang="en-US" sz="1111" dirty="0">
                <a:solidFill>
                  <a:srgbClr val="898A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members</a:t>
            </a:r>
            <a:endParaRPr lang="en-US" sz="1111" dirty="0"/>
          </a:p>
        </p:txBody>
      </p:sp>
      <p:pic>
        <p:nvPicPr>
          <p:cNvPr id="5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030200" y="2714625"/>
            <a:ext cx="190500" cy="171450"/>
          </a:xfrm>
          <a:prstGeom prst="rect">
            <a:avLst/>
          </a:prstGeom>
        </p:spPr>
      </p:pic>
      <p:sp>
        <p:nvSpPr>
          <p:cNvPr id="51" name="Text 24"/>
          <p:cNvSpPr/>
          <p:nvPr/>
        </p:nvSpPr>
        <p:spPr>
          <a:xfrm>
            <a:off x="11915775" y="2705100"/>
            <a:ext cx="866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1156" dirty="0">
                <a:solidFill>
                  <a:srgbClr val="898A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following</a:t>
            </a:r>
            <a:endParaRPr lang="en-US" sz="1156" dirty="0"/>
          </a:p>
        </p:txBody>
      </p:sp>
      <p:pic>
        <p:nvPicPr>
          <p:cNvPr id="5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639550" y="2724150"/>
            <a:ext cx="171450" cy="161925"/>
          </a:xfrm>
          <a:prstGeom prst="rect">
            <a:avLst/>
          </a:prstGeom>
        </p:spPr>
      </p:pic>
      <p:sp>
        <p:nvSpPr>
          <p:cNvPr id="53" name="Text 25"/>
          <p:cNvSpPr/>
          <p:nvPr/>
        </p:nvSpPr>
        <p:spPr>
          <a:xfrm>
            <a:off x="1266825" y="2628900"/>
            <a:ext cx="15335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89"/>
              </a:lnSpc>
              <a:buNone/>
            </a:pPr>
            <a:r>
              <a:rPr lang="en-US" sz="1862" dirty="0">
                <a:solidFill>
                  <a:srgbClr val="2D2E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Triage</a:t>
            </a:r>
            <a:endParaRPr lang="en-US" sz="1862" dirty="0"/>
          </a:p>
        </p:txBody>
      </p:sp>
      <p:sp>
        <p:nvSpPr>
          <p:cNvPr id="54" name="Shape 26"/>
          <p:cNvSpPr/>
          <p:nvPr/>
        </p:nvSpPr>
        <p:spPr>
          <a:xfrm>
            <a:off x="504825" y="2505075"/>
            <a:ext cx="590550" cy="590550"/>
          </a:xfrm>
          <a:prstGeom prst="roundRect">
            <a:avLst>
              <a:gd name="adj" fmla="val 10081"/>
            </a:avLst>
          </a:prstGeom>
          <a:solidFill>
            <a:srgbClr val="0079DF"/>
          </a:solidFill>
          <a:ln w="9525">
            <a:solidFill>
              <a:srgbClr val="0970E0"/>
            </a:solidFill>
            <a:prstDash val="solid"/>
          </a:ln>
        </p:spPr>
      </p:sp>
      <p:sp>
        <p:nvSpPr>
          <p:cNvPr id="55" name="Text 27"/>
          <p:cNvSpPr/>
          <p:nvPr/>
        </p:nvSpPr>
        <p:spPr>
          <a:xfrm>
            <a:off x="666750" y="2676525"/>
            <a:ext cx="2952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1687" b="1" dirty="0">
                <a:solidFill>
                  <a:srgbClr val="C8E3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</a:t>
            </a:r>
            <a:endParaRPr lang="en-US" sz="1687" dirty="0"/>
          </a:p>
        </p:txBody>
      </p:sp>
      <p:sp>
        <p:nvSpPr>
          <p:cNvPr id="56" name="Shape 28"/>
          <p:cNvSpPr/>
          <p:nvPr/>
        </p:nvSpPr>
        <p:spPr>
          <a:xfrm>
            <a:off x="295275" y="1714500"/>
            <a:ext cx="13973175" cy="657225"/>
          </a:xfrm>
          <a:prstGeom prst="roundRect">
            <a:avLst>
              <a:gd name="adj" fmla="val 3623"/>
            </a:avLst>
          </a:prstGeom>
          <a:solidFill>
            <a:srgbClr val="0076DC"/>
          </a:solidFill>
          <a:ln w="9525">
            <a:solidFill>
              <a:srgbClr val="2787DD"/>
            </a:solidFill>
            <a:prstDash val="solid"/>
          </a:ln>
        </p:spPr>
      </p:sp>
      <p:sp>
        <p:nvSpPr>
          <p:cNvPr id="57" name="Shape 29"/>
          <p:cNvSpPr/>
          <p:nvPr/>
        </p:nvSpPr>
        <p:spPr>
          <a:xfrm>
            <a:off x="13706475" y="1847850"/>
            <a:ext cx="419100" cy="428625"/>
          </a:xfrm>
          <a:prstGeom prst="roundRect">
            <a:avLst>
              <a:gd name="adj" fmla="val 50568"/>
            </a:avLst>
          </a:prstGeom>
          <a:solidFill>
            <a:srgbClr val="007DDF"/>
          </a:solidFill>
          <a:ln w="19050">
            <a:solidFill>
              <a:srgbClr val="B1D4EA"/>
            </a:solidFill>
            <a:prstDash val="solid"/>
          </a:ln>
        </p:spPr>
      </p:sp>
      <p:sp>
        <p:nvSpPr>
          <p:cNvPr id="58" name="Text 30"/>
          <p:cNvSpPr/>
          <p:nvPr/>
        </p:nvSpPr>
        <p:spPr>
          <a:xfrm>
            <a:off x="13820775" y="1962150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83"/>
              </a:lnSpc>
              <a:buNone/>
            </a:pPr>
            <a:r>
              <a:rPr lang="en-US" sz="1250" dirty="0">
                <a:solidFill>
                  <a:srgbClr val="97CB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</a:t>
            </a:r>
            <a:endParaRPr lang="en-US" sz="1250" dirty="0"/>
          </a:p>
        </p:txBody>
      </p:sp>
      <p:pic>
        <p:nvPicPr>
          <p:cNvPr id="5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249275" y="1952625"/>
            <a:ext cx="133350" cy="219075"/>
          </a:xfrm>
          <a:prstGeom prst="rect">
            <a:avLst/>
          </a:prstGeom>
        </p:spPr>
      </p:pic>
      <p:pic>
        <p:nvPicPr>
          <p:cNvPr id="6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649200" y="1943100"/>
            <a:ext cx="228600" cy="238125"/>
          </a:xfrm>
          <a:prstGeom prst="rect">
            <a:avLst/>
          </a:prstGeom>
        </p:spPr>
      </p:pic>
      <p:pic>
        <p:nvPicPr>
          <p:cNvPr id="6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077700" y="1952625"/>
            <a:ext cx="238125" cy="219075"/>
          </a:xfrm>
          <a:prstGeom prst="rect">
            <a:avLst/>
          </a:prstGeom>
        </p:spPr>
      </p:pic>
      <p:sp>
        <p:nvSpPr>
          <p:cNvPr id="62" name="Shape 31"/>
          <p:cNvSpPr/>
          <p:nvPr/>
        </p:nvSpPr>
        <p:spPr>
          <a:xfrm>
            <a:off x="4724400" y="1857375"/>
            <a:ext cx="4581525" cy="409575"/>
          </a:xfrm>
          <a:prstGeom prst="roundRect">
            <a:avLst>
              <a:gd name="adj" fmla="val 3488"/>
            </a:avLst>
          </a:prstGeom>
          <a:solidFill>
            <a:srgbClr val="E4F1FD"/>
          </a:solidFill>
          <a:ln w="9525">
            <a:solidFill>
              <a:srgbClr val="C9E7F8"/>
            </a:solidFill>
            <a:prstDash val="solid"/>
          </a:ln>
        </p:spPr>
      </p:sp>
      <p:pic>
        <p:nvPicPr>
          <p:cNvPr id="6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895850" y="1962150"/>
            <a:ext cx="200025" cy="209550"/>
          </a:xfrm>
          <a:prstGeom prst="rect">
            <a:avLst/>
          </a:prstGeom>
        </p:spPr>
      </p:pic>
      <p:sp>
        <p:nvSpPr>
          <p:cNvPr id="64" name="Text 32"/>
          <p:cNvSpPr/>
          <p:nvPr/>
        </p:nvSpPr>
        <p:spPr>
          <a:xfrm>
            <a:off x="5248275" y="1962150"/>
            <a:ext cx="1085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1213" dirty="0">
                <a:solidFill>
                  <a:srgbClr val="619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this site</a:t>
            </a:r>
            <a:endParaRPr lang="en-US" sz="1213" dirty="0"/>
          </a:p>
        </p:txBody>
      </p:sp>
      <p:pic>
        <p:nvPicPr>
          <p:cNvPr id="6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5775" y="1924050"/>
            <a:ext cx="219075" cy="228600"/>
          </a:xfrm>
          <a:prstGeom prst="rect">
            <a:avLst/>
          </a:prstGeom>
        </p:spPr>
      </p:pic>
      <p:sp>
        <p:nvSpPr>
          <p:cNvPr id="66" name="Text 33"/>
          <p:cNvSpPr/>
          <p:nvPr/>
        </p:nvSpPr>
        <p:spPr>
          <a:xfrm>
            <a:off x="981075" y="1933575"/>
            <a:ext cx="942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1446" dirty="0">
                <a:solidFill>
                  <a:srgbClr val="A3D0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1446" dirty="0"/>
          </a:p>
        </p:txBody>
      </p:sp>
      <p:sp>
        <p:nvSpPr>
          <p:cNvPr id="67" name="Text 34"/>
          <p:cNvSpPr/>
          <p:nvPr/>
        </p:nvSpPr>
        <p:spPr>
          <a:xfrm>
            <a:off x="13382625" y="7620000"/>
            <a:ext cx="180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94" dirty="0">
                <a:solidFill>
                  <a:srgbClr val="908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994" dirty="0"/>
          </a:p>
        </p:txBody>
      </p:sp>
      <p:sp>
        <p:nvSpPr>
          <p:cNvPr id="68" name="Text 35"/>
          <p:cNvSpPr/>
          <p:nvPr/>
        </p:nvSpPr>
        <p:spPr>
          <a:xfrm>
            <a:off x="12458700" y="7600950"/>
            <a:ext cx="647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1"/>
              </a:lnSpc>
              <a:buNone/>
            </a:pPr>
            <a:r>
              <a:rPr lang="en-US" sz="1013" dirty="0">
                <a:solidFill>
                  <a:srgbClr val="959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</a:t>
            </a:r>
            <a:endParaRPr lang="en-US" sz="1013" dirty="0"/>
          </a:p>
          <a:p>
            <a:pPr algn="l" indent="0" marL="0">
              <a:lnSpc>
                <a:spcPts val="1331"/>
              </a:lnSpc>
              <a:buNone/>
            </a:pPr>
            <a:r>
              <a:rPr lang="en-US" sz="1013" dirty="0">
                <a:solidFill>
                  <a:srgbClr val="959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13" dirty="0"/>
          </a:p>
        </p:txBody>
      </p:sp>
      <p:sp>
        <p:nvSpPr>
          <p:cNvPr id="69" name="Text 36"/>
          <p:cNvSpPr/>
          <p:nvPr/>
        </p:nvSpPr>
        <p:spPr>
          <a:xfrm>
            <a:off x="11763375" y="7629525"/>
            <a:ext cx="390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4"/>
              </a:lnSpc>
              <a:buNone/>
            </a:pPr>
            <a:r>
              <a:rPr lang="en-US" sz="910" dirty="0">
                <a:solidFill>
                  <a:srgbClr val="8A8A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910" dirty="0"/>
          </a:p>
        </p:txBody>
      </p:sp>
      <p:sp>
        <p:nvSpPr>
          <p:cNvPr id="70" name="Text 37"/>
          <p:cNvSpPr/>
          <p:nvPr/>
        </p:nvSpPr>
        <p:spPr>
          <a:xfrm>
            <a:off x="10925175" y="7629525"/>
            <a:ext cx="200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1"/>
              </a:lnSpc>
              <a:buNone/>
            </a:pPr>
            <a:r>
              <a:rPr lang="en-US" sz="886" dirty="0">
                <a:solidFill>
                  <a:srgbClr val="9493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86" dirty="0"/>
          </a:p>
        </p:txBody>
      </p:sp>
      <p:sp>
        <p:nvSpPr>
          <p:cNvPr id="71" name="Text 38"/>
          <p:cNvSpPr/>
          <p:nvPr/>
        </p:nvSpPr>
        <p:spPr>
          <a:xfrm>
            <a:off x="10115550" y="7629525"/>
            <a:ext cx="180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1065" dirty="0">
                <a:solidFill>
                  <a:srgbClr val="868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65" dirty="0"/>
          </a:p>
        </p:txBody>
      </p:sp>
      <p:sp>
        <p:nvSpPr>
          <p:cNvPr id="72" name="Text 39"/>
          <p:cNvSpPr/>
          <p:nvPr/>
        </p:nvSpPr>
        <p:spPr>
          <a:xfrm>
            <a:off x="9515475" y="7629525"/>
            <a:ext cx="85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4"/>
              </a:lnSpc>
              <a:buNone/>
            </a:pPr>
            <a:r>
              <a:rPr lang="en-US" sz="1162" dirty="0">
                <a:solidFill>
                  <a:srgbClr val="9595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62" dirty="0"/>
          </a:p>
        </p:txBody>
      </p:sp>
      <p:sp>
        <p:nvSpPr>
          <p:cNvPr id="73" name="Text 40"/>
          <p:cNvSpPr/>
          <p:nvPr/>
        </p:nvSpPr>
        <p:spPr>
          <a:xfrm>
            <a:off x="8277225" y="7572375"/>
            <a:ext cx="981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21"/>
              </a:lnSpc>
              <a:buNone/>
            </a:pPr>
            <a:r>
              <a:rPr lang="en-US" sz="921" dirty="0">
                <a:solidFill>
                  <a:srgbClr val="9B9B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921" dirty="0"/>
          </a:p>
          <a:p>
            <a:pPr algn="l" indent="0" marL="0">
              <a:lnSpc>
                <a:spcPts val="921"/>
              </a:lnSpc>
              <a:buNone/>
            </a:pPr>
            <a:r>
              <a:rPr lang="en-US" sz="921" dirty="0">
                <a:solidFill>
                  <a:srgbClr val="9B9B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processes internal</a:t>
            </a:r>
            <a:endParaRPr lang="en-US" sz="921" dirty="0"/>
          </a:p>
          <a:p>
            <a:pPr algn="l" indent="0" marL="0">
              <a:lnSpc>
                <a:spcPts val="921"/>
              </a:lnSpc>
              <a:buNone/>
            </a:pPr>
            <a:r>
              <a:rPr lang="en-US" sz="921" dirty="0">
                <a:solidFill>
                  <a:srgbClr val="9B9B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921" dirty="0"/>
          </a:p>
          <a:p>
            <a:pPr algn="l" indent="0" marL="0">
              <a:lnSpc>
                <a:spcPts val="921"/>
              </a:lnSpc>
              <a:buNone/>
            </a:pPr>
            <a:r>
              <a:rPr lang="en-US" sz="921" dirty="0">
                <a:solidFill>
                  <a:srgbClr val="9B9B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information.</a:t>
            </a:r>
            <a:endParaRPr lang="en-US" sz="921" dirty="0"/>
          </a:p>
        </p:txBody>
      </p:sp>
      <p:sp>
        <p:nvSpPr>
          <p:cNvPr id="74" name="Text 41"/>
          <p:cNvSpPr/>
          <p:nvPr/>
        </p:nvSpPr>
        <p:spPr>
          <a:xfrm>
            <a:off x="3800475" y="7629525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1012" dirty="0">
                <a:solidFill>
                  <a:srgbClr val="8F9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1012" dirty="0"/>
          </a:p>
        </p:txBody>
      </p:sp>
      <p:sp>
        <p:nvSpPr>
          <p:cNvPr id="75" name="Text 42"/>
          <p:cNvSpPr/>
          <p:nvPr/>
        </p:nvSpPr>
        <p:spPr>
          <a:xfrm>
            <a:off x="2819400" y="7610475"/>
            <a:ext cx="8286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07"/>
              </a:lnSpc>
              <a:buNone/>
            </a:pPr>
            <a:r>
              <a:rPr lang="en-US" sz="913" dirty="0">
                <a:solidFill>
                  <a:srgbClr val="9B9C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AI-UC-0231-V2</a:t>
            </a:r>
            <a:endParaRPr lang="en-US" sz="913" dirty="0"/>
          </a:p>
        </p:txBody>
      </p:sp>
      <p:sp>
        <p:nvSpPr>
          <p:cNvPr id="76" name="Text 43"/>
          <p:cNvSpPr/>
          <p:nvPr/>
        </p:nvSpPr>
        <p:spPr>
          <a:xfrm>
            <a:off x="12458700" y="6667500"/>
            <a:ext cx="6286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90" dirty="0">
                <a:solidFill>
                  <a:srgbClr val="9293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</a:t>
            </a:r>
            <a:endParaRPr lang="en-US" sz="99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990" dirty="0">
                <a:solidFill>
                  <a:srgbClr val="9293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90" dirty="0"/>
          </a:p>
        </p:txBody>
      </p:sp>
      <p:sp>
        <p:nvSpPr>
          <p:cNvPr id="77" name="Text 44"/>
          <p:cNvSpPr/>
          <p:nvPr/>
        </p:nvSpPr>
        <p:spPr>
          <a:xfrm>
            <a:off x="11763375" y="6677025"/>
            <a:ext cx="390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6"/>
              </a:lnSpc>
              <a:buNone/>
            </a:pPr>
            <a:r>
              <a:rPr lang="en-US" sz="910" dirty="0">
                <a:solidFill>
                  <a:srgbClr val="8F8E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910" dirty="0"/>
          </a:p>
        </p:txBody>
      </p:sp>
      <p:sp>
        <p:nvSpPr>
          <p:cNvPr id="78" name="Text 45"/>
          <p:cNvSpPr/>
          <p:nvPr/>
        </p:nvSpPr>
        <p:spPr>
          <a:xfrm>
            <a:off x="10934700" y="6677025"/>
            <a:ext cx="190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48"/>
              </a:lnSpc>
              <a:buNone/>
            </a:pPr>
            <a:r>
              <a:rPr lang="en-US" sz="823" dirty="0">
                <a:solidFill>
                  <a:srgbClr val="949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23" dirty="0"/>
          </a:p>
        </p:txBody>
      </p:sp>
      <p:sp>
        <p:nvSpPr>
          <p:cNvPr id="79" name="Text 46"/>
          <p:cNvSpPr/>
          <p:nvPr/>
        </p:nvSpPr>
        <p:spPr>
          <a:xfrm>
            <a:off x="10115550" y="6677025"/>
            <a:ext cx="180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1065" dirty="0">
                <a:solidFill>
                  <a:srgbClr val="868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65" dirty="0"/>
          </a:p>
        </p:txBody>
      </p:sp>
      <p:sp>
        <p:nvSpPr>
          <p:cNvPr id="80" name="Text 47"/>
          <p:cNvSpPr/>
          <p:nvPr/>
        </p:nvSpPr>
        <p:spPr>
          <a:xfrm>
            <a:off x="9505950" y="6677025"/>
            <a:ext cx="95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1155" dirty="0">
                <a:solidFill>
                  <a:srgbClr val="8585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5" dirty="0"/>
          </a:p>
        </p:txBody>
      </p:sp>
      <p:sp>
        <p:nvSpPr>
          <p:cNvPr id="81" name="Text 48"/>
          <p:cNvSpPr/>
          <p:nvPr/>
        </p:nvSpPr>
        <p:spPr>
          <a:xfrm>
            <a:off x="8277225" y="6629400"/>
            <a:ext cx="11049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94" dirty="0">
                <a:solidFill>
                  <a:srgbClr val="9A9A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is</a:t>
            </a:r>
            <a:endParaRPr lang="en-US" sz="894" dirty="0"/>
          </a:p>
          <a:p>
            <a:pPr algn="l" indent="0" marL="0">
              <a:lnSpc>
                <a:spcPts val="1048"/>
              </a:lnSpc>
              <a:buNone/>
            </a:pPr>
            <a:r>
              <a:rPr lang="en-US" sz="894" dirty="0">
                <a:solidFill>
                  <a:srgbClr val="9A9A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internally</a:t>
            </a:r>
            <a:endParaRPr lang="en-US" sz="894" dirty="0"/>
          </a:p>
          <a:p>
            <a:pPr algn="l" indent="0" marL="0">
              <a:lnSpc>
                <a:spcPts val="1048"/>
              </a:lnSpc>
              <a:buNone/>
            </a:pPr>
            <a:r>
              <a:rPr lang="en-US" sz="894" dirty="0">
                <a:solidFill>
                  <a:srgbClr val="9A9A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colleagues</a:t>
            </a:r>
            <a:endParaRPr lang="en-US" sz="894" dirty="0"/>
          </a:p>
          <a:p>
            <a:pPr algn="l" indent="0" marL="0">
              <a:lnSpc>
                <a:spcPts val="1048"/>
              </a:lnSpc>
              <a:buNone/>
            </a:pPr>
            <a:r>
              <a:rPr lang="en-US" sz="894" dirty="0">
                <a:solidFill>
                  <a:srgbClr val="9A9A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is not</a:t>
            </a:r>
            <a:endParaRPr lang="en-US" sz="894" dirty="0"/>
          </a:p>
          <a:p>
            <a:pPr algn="l" indent="0" marL="0">
              <a:lnSpc>
                <a:spcPts val="1048"/>
              </a:lnSpc>
              <a:buNone/>
            </a:pPr>
            <a:r>
              <a:rPr lang="en-US" sz="894" dirty="0">
                <a:solidFill>
                  <a:srgbClr val="9A9A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communicated</a:t>
            </a:r>
            <a:endParaRPr lang="en-US" sz="894" dirty="0"/>
          </a:p>
          <a:p>
            <a:pPr algn="l" indent="0" marL="0">
              <a:lnSpc>
                <a:spcPts val="1048"/>
              </a:lnSpc>
              <a:buNone/>
            </a:pPr>
            <a:r>
              <a:rPr lang="en-US" sz="894" dirty="0">
                <a:solidFill>
                  <a:srgbClr val="9A9A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directly to customers.</a:t>
            </a:r>
            <a:endParaRPr lang="en-US" sz="894" dirty="0"/>
          </a:p>
        </p:txBody>
      </p:sp>
      <p:sp>
        <p:nvSpPr>
          <p:cNvPr id="82" name="Text 49"/>
          <p:cNvSpPr/>
          <p:nvPr/>
        </p:nvSpPr>
        <p:spPr>
          <a:xfrm>
            <a:off x="3790950" y="6667500"/>
            <a:ext cx="161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63"/>
              </a:lnSpc>
              <a:buNone/>
            </a:pPr>
            <a:r>
              <a:rPr lang="en-US" sz="1124" dirty="0">
                <a:solidFill>
                  <a:srgbClr val="8F9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1124" dirty="0"/>
          </a:p>
        </p:txBody>
      </p:sp>
      <p:sp>
        <p:nvSpPr>
          <p:cNvPr id="83" name="Text 50"/>
          <p:cNvSpPr/>
          <p:nvPr/>
        </p:nvSpPr>
        <p:spPr>
          <a:xfrm>
            <a:off x="2819400" y="6657975"/>
            <a:ext cx="8286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913" dirty="0">
                <a:solidFill>
                  <a:srgbClr val="9D9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AI-UC-0231-V2</a:t>
            </a:r>
            <a:endParaRPr lang="en-US" sz="913" dirty="0"/>
          </a:p>
        </p:txBody>
      </p:sp>
      <p:sp>
        <p:nvSpPr>
          <p:cNvPr id="84" name="Text 51"/>
          <p:cNvSpPr/>
          <p:nvPr/>
        </p:nvSpPr>
        <p:spPr>
          <a:xfrm>
            <a:off x="13382625" y="5676900"/>
            <a:ext cx="180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94" dirty="0">
                <a:solidFill>
                  <a:srgbClr val="9F9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994" dirty="0"/>
          </a:p>
        </p:txBody>
      </p:sp>
      <p:sp>
        <p:nvSpPr>
          <p:cNvPr id="85" name="Text 52"/>
          <p:cNvSpPr/>
          <p:nvPr/>
        </p:nvSpPr>
        <p:spPr>
          <a:xfrm>
            <a:off x="10934700" y="5686425"/>
            <a:ext cx="180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1065" dirty="0">
                <a:solidFill>
                  <a:srgbClr val="9291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65" dirty="0"/>
          </a:p>
        </p:txBody>
      </p:sp>
      <p:sp>
        <p:nvSpPr>
          <p:cNvPr id="86" name="Text 53"/>
          <p:cNvSpPr/>
          <p:nvPr/>
        </p:nvSpPr>
        <p:spPr>
          <a:xfrm>
            <a:off x="10115550" y="5686425"/>
            <a:ext cx="1714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96"/>
              </a:lnSpc>
              <a:buNone/>
            </a:pPr>
            <a:r>
              <a:rPr lang="en-US" sz="1012" dirty="0">
                <a:solidFill>
                  <a:srgbClr val="8B8A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12" dirty="0"/>
          </a:p>
        </p:txBody>
      </p:sp>
      <p:sp>
        <p:nvSpPr>
          <p:cNvPr id="87" name="Text 54"/>
          <p:cNvSpPr/>
          <p:nvPr/>
        </p:nvSpPr>
        <p:spPr>
          <a:xfrm>
            <a:off x="9515475" y="5686425"/>
            <a:ext cx="85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61"/>
              </a:lnSpc>
              <a:buNone/>
            </a:pPr>
            <a:r>
              <a:rPr lang="en-US" sz="1162" dirty="0">
                <a:solidFill>
                  <a:srgbClr val="9696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62" dirty="0"/>
          </a:p>
        </p:txBody>
      </p:sp>
      <p:sp>
        <p:nvSpPr>
          <p:cNvPr id="88" name="Text 55"/>
          <p:cNvSpPr/>
          <p:nvPr/>
        </p:nvSpPr>
        <p:spPr>
          <a:xfrm>
            <a:off x="8277225" y="5610225"/>
            <a:ext cx="942975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1"/>
              </a:lnSpc>
              <a:buNone/>
            </a:pPr>
            <a:r>
              <a:rPr lang="en-US" sz="967" dirty="0">
                <a:solidFill>
                  <a:srgbClr val="9999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colleague</a:t>
            </a:r>
            <a:endParaRPr lang="en-US" sz="967" dirty="0"/>
          </a:p>
          <a:p>
            <a:pPr algn="l" indent="0" marL="0">
              <a:lnSpc>
                <a:spcPts val="1141"/>
              </a:lnSpc>
              <a:buNone/>
            </a:pPr>
            <a:r>
              <a:rPr lang="en-US" sz="967" dirty="0">
                <a:solidFill>
                  <a:srgbClr val="9999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the</a:t>
            </a:r>
            <a:endParaRPr lang="en-US" sz="967" dirty="0"/>
          </a:p>
          <a:p>
            <a:pPr algn="l" indent="0" marL="0">
              <a:lnSpc>
                <a:spcPts val="1141"/>
              </a:lnSpc>
              <a:buNone/>
            </a:pPr>
            <a:r>
              <a:rPr lang="en-US" sz="967" dirty="0">
                <a:solidFill>
                  <a:srgbClr val="9999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967" dirty="0"/>
          </a:p>
          <a:p>
            <a:pPr algn="l" indent="0" marL="0">
              <a:lnSpc>
                <a:spcPts val="1141"/>
              </a:lnSpc>
              <a:buNone/>
            </a:pPr>
            <a:r>
              <a:rPr lang="en-US" sz="967" dirty="0">
                <a:solidFill>
                  <a:srgbClr val="9999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it is used</a:t>
            </a:r>
            <a:endParaRPr lang="en-US" sz="967" dirty="0"/>
          </a:p>
          <a:p>
            <a:pPr algn="l" indent="0" marL="0">
              <a:lnSpc>
                <a:spcPts val="1141"/>
              </a:lnSpc>
              <a:buNone/>
            </a:pPr>
            <a:r>
              <a:rPr lang="en-US" sz="967" dirty="0">
                <a:solidFill>
                  <a:srgbClr val="9999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business</a:t>
            </a:r>
            <a:endParaRPr lang="en-US" sz="967" dirty="0"/>
          </a:p>
          <a:p>
            <a:pPr algn="l" indent="0" marL="0">
              <a:lnSpc>
                <a:spcPts val="1141"/>
              </a:lnSpc>
              <a:buNone/>
            </a:pPr>
            <a:r>
              <a:rPr lang="en-US" sz="967" dirty="0">
                <a:solidFill>
                  <a:srgbClr val="9999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process.</a:t>
            </a:r>
            <a:endParaRPr lang="en-US" sz="967" dirty="0"/>
          </a:p>
        </p:txBody>
      </p:sp>
      <p:sp>
        <p:nvSpPr>
          <p:cNvPr id="89" name="Text 56"/>
          <p:cNvSpPr/>
          <p:nvPr/>
        </p:nvSpPr>
        <p:spPr>
          <a:xfrm>
            <a:off x="5467350" y="5686425"/>
            <a:ext cx="50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930" dirty="0">
                <a:solidFill>
                  <a:srgbClr val="949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MAT-001</a:t>
            </a:r>
            <a:endParaRPr lang="en-US" sz="930" dirty="0"/>
          </a:p>
        </p:txBody>
      </p:sp>
      <p:sp>
        <p:nvSpPr>
          <p:cNvPr id="90" name="Text 57"/>
          <p:cNvSpPr/>
          <p:nvPr/>
        </p:nvSpPr>
        <p:spPr>
          <a:xfrm>
            <a:off x="4572000" y="5676900"/>
            <a:ext cx="17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71"/>
              </a:lnSpc>
              <a:buNone/>
            </a:pPr>
            <a:r>
              <a:rPr lang="en-US" sz="942" dirty="0">
                <a:solidFill>
                  <a:srgbClr val="A6A4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942" dirty="0"/>
          </a:p>
        </p:txBody>
      </p:sp>
      <p:sp>
        <p:nvSpPr>
          <p:cNvPr id="91" name="Text 58"/>
          <p:cNvSpPr/>
          <p:nvPr/>
        </p:nvSpPr>
        <p:spPr>
          <a:xfrm>
            <a:off x="3800475" y="568642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983" dirty="0">
                <a:solidFill>
                  <a:srgbClr val="9C9B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983" dirty="0"/>
          </a:p>
        </p:txBody>
      </p:sp>
      <p:sp>
        <p:nvSpPr>
          <p:cNvPr id="92" name="Text 59"/>
          <p:cNvSpPr/>
          <p:nvPr/>
        </p:nvSpPr>
        <p:spPr>
          <a:xfrm>
            <a:off x="2819400" y="5676900"/>
            <a:ext cx="828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7"/>
              </a:lnSpc>
              <a:buNone/>
            </a:pPr>
            <a:r>
              <a:rPr lang="en-US" sz="913" dirty="0">
                <a:solidFill>
                  <a:srgbClr val="9E9E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AI-UC-0231-V2</a:t>
            </a:r>
            <a:endParaRPr lang="en-US" sz="913" dirty="0"/>
          </a:p>
        </p:txBody>
      </p:sp>
      <p:sp>
        <p:nvSpPr>
          <p:cNvPr id="93" name="Text 60"/>
          <p:cNvSpPr/>
          <p:nvPr/>
        </p:nvSpPr>
        <p:spPr>
          <a:xfrm>
            <a:off x="14068425" y="5324475"/>
            <a:ext cx="142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5"/>
              </a:lnSpc>
              <a:buNone/>
            </a:pPr>
            <a:r>
              <a:rPr lang="en-US" sz="787" b="1" dirty="0">
                <a:solidFill>
                  <a:srgbClr val="676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</a:t>
            </a:r>
            <a:endParaRPr lang="en-US" sz="787" dirty="0"/>
          </a:p>
        </p:txBody>
      </p:sp>
      <p:sp>
        <p:nvSpPr>
          <p:cNvPr id="94" name="Text 61"/>
          <p:cNvSpPr/>
          <p:nvPr/>
        </p:nvSpPr>
        <p:spPr>
          <a:xfrm>
            <a:off x="13354050" y="5153025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1111" dirty="0">
                <a:solidFill>
                  <a:srgbClr val="696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pPr algn="l" indent="0" marL="0">
              <a:lnSpc>
                <a:spcPts val="1205"/>
              </a:lnSpc>
              <a:buNone/>
            </a:pPr>
            <a:endParaRPr lang="en-US" sz="937" dirty="0"/>
          </a:p>
          <a:p>
            <a:pPr algn="l" indent="0" marL="0">
              <a:lnSpc>
                <a:spcPts val="1205"/>
              </a:lnSpc>
              <a:buNone/>
            </a:pPr>
            <a:r>
              <a:rPr lang="en-US" sz="937" dirty="0">
                <a:solidFill>
                  <a:srgbClr val="696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937" dirty="0"/>
          </a:p>
        </p:txBody>
      </p:sp>
      <p:sp>
        <p:nvSpPr>
          <p:cNvPr id="95" name="Text 62"/>
          <p:cNvSpPr/>
          <p:nvPr/>
        </p:nvSpPr>
        <p:spPr>
          <a:xfrm>
            <a:off x="11744325" y="5153025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4"/>
              </a:lnSpc>
              <a:buNone/>
            </a:pPr>
            <a:r>
              <a:rPr lang="en-US" sz="880" b="1" dirty="0">
                <a:solidFill>
                  <a:srgbClr val="676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Triggered</a:t>
            </a:r>
            <a:endParaRPr lang="en-US" sz="880" dirty="0"/>
          </a:p>
          <a:p>
            <a:pPr algn="l" indent="0" marL="0">
              <a:lnSpc>
                <a:spcPts val="1124"/>
              </a:lnSpc>
              <a:buNone/>
            </a:pPr>
            <a:r>
              <a:rPr lang="en-US" sz="880" b="1" dirty="0">
                <a:solidFill>
                  <a:srgbClr val="676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80" dirty="0"/>
          </a:p>
        </p:txBody>
      </p:sp>
      <p:sp>
        <p:nvSpPr>
          <p:cNvPr id="96" name="Text 63"/>
          <p:cNvSpPr/>
          <p:nvPr/>
        </p:nvSpPr>
        <p:spPr>
          <a:xfrm>
            <a:off x="9505950" y="5153025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917" dirty="0">
                <a:solidFill>
                  <a:srgbClr val="6F6E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
</a:t>
            </a:r>
            <a:pPr algn="l" indent="0" marL="0">
              <a:lnSpc>
                <a:spcPts val="1000"/>
              </a:lnSpc>
              <a:buNone/>
            </a:pPr>
            <a:r>
              <a:rPr lang="en-US" sz="761" dirty="0">
                <a:solidFill>
                  <a:srgbClr val="636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917" dirty="0"/>
          </a:p>
        </p:txBody>
      </p:sp>
      <p:sp>
        <p:nvSpPr>
          <p:cNvPr id="97" name="Text 64"/>
          <p:cNvSpPr/>
          <p:nvPr/>
        </p:nvSpPr>
        <p:spPr>
          <a:xfrm>
            <a:off x="5457825" y="5153025"/>
            <a:ext cx="504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3"/>
              </a:lnSpc>
              <a:buNone/>
            </a:pPr>
            <a:r>
              <a:rPr lang="en-US" sz="964" dirty="0">
                <a:solidFill>
                  <a:srgbClr val="6A6B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964" dirty="0"/>
          </a:p>
          <a:p>
            <a:pPr algn="l" indent="0" marL="0">
              <a:lnSpc>
                <a:spcPts val="1213"/>
              </a:lnSpc>
              <a:buNone/>
            </a:pPr>
            <a:r>
              <a:rPr lang="en-US" sz="964" dirty="0">
                <a:solidFill>
                  <a:srgbClr val="6A6B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964" dirty="0"/>
          </a:p>
        </p:txBody>
      </p:sp>
      <p:sp>
        <p:nvSpPr>
          <p:cNvPr id="98" name="Text 65"/>
          <p:cNvSpPr/>
          <p:nvPr/>
        </p:nvSpPr>
        <p:spPr>
          <a:xfrm>
            <a:off x="4552950" y="5153025"/>
            <a:ext cx="771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946" dirty="0">
                <a:solidFill>
                  <a:srgbClr val="7272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
</a:t>
            </a:r>
            <a:pPr algn="l" indent="0" marL="0">
              <a:lnSpc>
                <a:spcPts val="1262"/>
              </a:lnSpc>
              <a:buNone/>
            </a:pPr>
            <a:r>
              <a:rPr lang="en-US" sz="946" b="1" dirty="0">
                <a:solidFill>
                  <a:srgbClr val="7272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946" dirty="0"/>
          </a:p>
        </p:txBody>
      </p:sp>
      <p:sp>
        <p:nvSpPr>
          <p:cNvPr id="99" name="Text 66"/>
          <p:cNvSpPr/>
          <p:nvPr/>
        </p:nvSpPr>
        <p:spPr>
          <a:xfrm>
            <a:off x="12458700" y="5124450"/>
            <a:ext cx="5619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936" b="1" dirty="0">
                <a:solidFill>
                  <a:srgbClr val="7172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Triggered</a:t>
            </a:r>
            <a:endParaRPr lang="en-US" sz="936" dirty="0"/>
          </a:p>
          <a:p>
            <a:pPr algn="l" indent="0" marL="0">
              <a:lnSpc>
                <a:spcPts val="1026"/>
              </a:lnSpc>
              <a:buNone/>
            </a:pPr>
            <a:r>
              <a:rPr lang="en-US" sz="936" b="1" dirty="0">
                <a:solidFill>
                  <a:srgbClr val="7172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36" dirty="0"/>
          </a:p>
        </p:txBody>
      </p:sp>
      <p:sp>
        <p:nvSpPr>
          <p:cNvPr id="100" name="Text 67"/>
          <p:cNvSpPr/>
          <p:nvPr/>
        </p:nvSpPr>
        <p:spPr>
          <a:xfrm>
            <a:off x="10915650" y="5124450"/>
            <a:ext cx="68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942" dirty="0">
                <a:solidFill>
                  <a:srgbClr val="7474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Line</a:t>
            </a:r>
            <a:endParaRPr lang="en-US" sz="942" dirty="0"/>
          </a:p>
          <a:p>
            <a:pPr algn="l" indent="0" marL="0">
              <a:lnSpc>
                <a:spcPts val="1110"/>
              </a:lnSpc>
              <a:buNone/>
            </a:pPr>
            <a:r>
              <a:rPr lang="en-US" sz="942" dirty="0">
                <a:solidFill>
                  <a:srgbClr val="7474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Triggered</a:t>
            </a:r>
            <a:endParaRPr lang="en-US" sz="942" dirty="0"/>
          </a:p>
        </p:txBody>
      </p:sp>
      <p:sp>
        <p:nvSpPr>
          <p:cNvPr id="101" name="Text 68"/>
          <p:cNvSpPr/>
          <p:nvPr/>
        </p:nvSpPr>
        <p:spPr>
          <a:xfrm>
            <a:off x="10096500" y="5124450"/>
            <a:ext cx="714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24" dirty="0">
                <a:solidFill>
                  <a:srgbClr val="6F7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Breaker</a:t>
            </a:r>
            <a:endParaRPr lang="en-US" sz="924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924" dirty="0">
                <a:solidFill>
                  <a:srgbClr val="6F7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Triggered</a:t>
            </a:r>
            <a:endParaRPr lang="en-US" sz="924" dirty="0"/>
          </a:p>
        </p:txBody>
      </p:sp>
      <p:sp>
        <p:nvSpPr>
          <p:cNvPr id="102" name="Text 69"/>
          <p:cNvSpPr/>
          <p:nvPr/>
        </p:nvSpPr>
        <p:spPr>
          <a:xfrm>
            <a:off x="8277225" y="5133975"/>
            <a:ext cx="676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1066" dirty="0">
                <a:solidFill>
                  <a:srgbClr val="7476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</a:t>
            </a:r>
            <a:endParaRPr lang="en-US" sz="1066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1066" dirty="0">
                <a:solidFill>
                  <a:srgbClr val="7476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Rationale</a:t>
            </a:r>
            <a:endParaRPr lang="en-US" sz="1066" dirty="0"/>
          </a:p>
        </p:txBody>
      </p:sp>
      <p:sp>
        <p:nvSpPr>
          <p:cNvPr id="103" name="Text 70"/>
          <p:cNvSpPr/>
          <p:nvPr/>
        </p:nvSpPr>
        <p:spPr>
          <a:xfrm>
            <a:off x="7429500" y="5238750"/>
            <a:ext cx="419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1"/>
              </a:lnSpc>
              <a:buNone/>
            </a:pPr>
            <a:r>
              <a:rPr lang="en-US" sz="917" dirty="0">
                <a:solidFill>
                  <a:srgbClr val="7171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917" dirty="0"/>
          </a:p>
        </p:txBody>
      </p:sp>
      <p:sp>
        <p:nvSpPr>
          <p:cNvPr id="104" name="Text 71"/>
          <p:cNvSpPr/>
          <p:nvPr/>
        </p:nvSpPr>
        <p:spPr>
          <a:xfrm>
            <a:off x="6229350" y="5229225"/>
            <a:ext cx="495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946" dirty="0">
                <a:solidFill>
                  <a:srgbClr val="707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946" dirty="0"/>
          </a:p>
        </p:txBody>
      </p:sp>
      <p:sp>
        <p:nvSpPr>
          <p:cNvPr id="105" name="Text 72"/>
          <p:cNvSpPr/>
          <p:nvPr/>
        </p:nvSpPr>
        <p:spPr>
          <a:xfrm>
            <a:off x="3781425" y="5153025"/>
            <a:ext cx="619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2"/>
              </a:lnSpc>
              <a:buNone/>
            </a:pPr>
            <a:r>
              <a:rPr lang="en-US" sz="912" dirty="0">
                <a:solidFill>
                  <a:srgbClr val="7273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
</a:t>
            </a:r>
            <a:pPr algn="l" indent="0" marL="0">
              <a:lnSpc>
                <a:spcPts val="1282"/>
              </a:lnSpc>
              <a:buNone/>
            </a:pPr>
            <a:r>
              <a:rPr lang="en-US" sz="912" dirty="0">
                <a:solidFill>
                  <a:srgbClr val="6161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912" dirty="0"/>
          </a:p>
        </p:txBody>
      </p:sp>
      <p:pic>
        <p:nvPicPr>
          <p:cNvPr id="10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5135225" y="5372100"/>
            <a:ext cx="76200" cy="38100"/>
          </a:xfrm>
          <a:prstGeom prst="rect">
            <a:avLst/>
          </a:prstGeom>
        </p:spPr>
      </p:pic>
      <p:sp>
        <p:nvSpPr>
          <p:cNvPr id="107" name="Shape 73"/>
          <p:cNvSpPr/>
          <p:nvPr/>
        </p:nvSpPr>
        <p:spPr>
          <a:xfrm>
            <a:off x="12611100" y="3133725"/>
            <a:ext cx="3171825" cy="1181100"/>
          </a:xfrm>
          <a:prstGeom prst="roundRect">
            <a:avLst>
              <a:gd name="adj" fmla="val 4839"/>
            </a:avLst>
          </a:prstGeom>
          <a:solidFill>
            <a:srgbClr val="E8F4FE"/>
          </a:solidFill>
          <a:ln w="19050">
            <a:solidFill>
              <a:srgbClr val="5BA8F8"/>
            </a:solidFill>
            <a:prstDash val="solid"/>
          </a:ln>
        </p:spPr>
      </p:sp>
      <p:pic>
        <p:nvPicPr>
          <p:cNvPr id="10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782550" y="3267075"/>
            <a:ext cx="323850" cy="323850"/>
          </a:xfrm>
          <a:prstGeom prst="rect">
            <a:avLst/>
          </a:prstGeom>
        </p:spPr>
      </p:pic>
      <p:sp>
        <p:nvSpPr>
          <p:cNvPr id="109" name="Text 74"/>
          <p:cNvSpPr/>
          <p:nvPr/>
        </p:nvSpPr>
        <p:spPr>
          <a:xfrm>
            <a:off x="13220700" y="3524250"/>
            <a:ext cx="23717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19"/>
              </a:lnSpc>
              <a:buNone/>
            </a:pPr>
            <a:r>
              <a:rPr lang="en-US" sz="1202" dirty="0">
                <a:solidFill>
                  <a:srgbClr val="687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formally submitted</a:t>
            </a:r>
            <a:endParaRPr lang="en-US" sz="1202" dirty="0"/>
          </a:p>
          <a:p>
            <a:pPr algn="l" indent="0" marL="0">
              <a:lnSpc>
                <a:spcPts val="1619"/>
              </a:lnSpc>
              <a:buNone/>
            </a:pPr>
            <a:r>
              <a:rPr lang="en-US" sz="1202" dirty="0">
                <a:solidFill>
                  <a:srgbClr val="687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question. Also captures score and</a:t>
            </a:r>
            <a:endParaRPr lang="en-US" sz="1202" dirty="0"/>
          </a:p>
          <a:p>
            <a:pPr algn="l" indent="0" marL="0">
              <a:lnSpc>
                <a:spcPts val="1619"/>
              </a:lnSpc>
              <a:buNone/>
            </a:pPr>
            <a:r>
              <a:rPr lang="en-US" sz="1202" dirty="0">
                <a:solidFill>
                  <a:srgbClr val="687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snapshots.</a:t>
            </a:r>
            <a:endParaRPr lang="en-US" sz="1202" dirty="0"/>
          </a:p>
        </p:txBody>
      </p:sp>
      <p:sp>
        <p:nvSpPr>
          <p:cNvPr id="110" name="Text 75"/>
          <p:cNvSpPr/>
          <p:nvPr/>
        </p:nvSpPr>
        <p:spPr>
          <a:xfrm>
            <a:off x="13230225" y="3286125"/>
            <a:ext cx="2324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9"/>
              </a:lnSpc>
              <a:buNone/>
            </a:pPr>
            <a:r>
              <a:rPr lang="en-US" sz="1133" b="1" dirty="0">
                <a:solidFill>
                  <a:srgbClr val="565D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system-populated list.</a:t>
            </a:r>
            <a:endParaRPr lang="en-US" sz="1133" dirty="0"/>
          </a:p>
        </p:txBody>
      </p:sp>
      <p:pic>
        <p:nvPicPr>
          <p:cNvPr id="111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3811250" y="4305300"/>
            <a:ext cx="800100" cy="409575"/>
          </a:xfrm>
          <a:prstGeom prst="rect">
            <a:avLst/>
          </a:prstGeom>
        </p:spPr>
      </p:pic>
      <p:sp>
        <p:nvSpPr>
          <p:cNvPr id="112" name="Text 76"/>
          <p:cNvSpPr/>
          <p:nvPr/>
        </p:nvSpPr>
        <p:spPr>
          <a:xfrm>
            <a:off x="12573000" y="4600575"/>
            <a:ext cx="6381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170" dirty="0">
                <a:solidFill>
                  <a:srgbClr val="8A8B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filter</a:t>
            </a:r>
            <a:endParaRPr lang="en-US" sz="1170" dirty="0"/>
          </a:p>
        </p:txBody>
      </p:sp>
      <p:pic>
        <p:nvPicPr>
          <p:cNvPr id="11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2306300" y="4610100"/>
            <a:ext cx="171450" cy="171450"/>
          </a:xfrm>
          <a:prstGeom prst="rect">
            <a:avLst/>
          </a:prstGeom>
        </p:spPr>
      </p:pic>
      <p:sp>
        <p:nvSpPr>
          <p:cNvPr id="114" name="Shape 77"/>
          <p:cNvSpPr/>
          <p:nvPr/>
        </p:nvSpPr>
        <p:spPr>
          <a:xfrm>
            <a:off x="8982075" y="4486275"/>
            <a:ext cx="3105150" cy="409575"/>
          </a:xfrm>
          <a:prstGeom prst="roundRect">
            <a:avLst>
              <a:gd name="adj" fmla="val 9302"/>
            </a:avLst>
          </a:prstGeom>
          <a:solidFill>
            <a:srgbClr val="E8F4FD"/>
          </a:solidFill>
          <a:ln/>
        </p:spPr>
      </p:sp>
      <p:pic>
        <p:nvPicPr>
          <p:cNvPr id="115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811000" y="4638675"/>
            <a:ext cx="123825" cy="123825"/>
          </a:xfrm>
          <a:prstGeom prst="rect">
            <a:avLst/>
          </a:prstGeom>
        </p:spPr>
      </p:pic>
      <p:pic>
        <p:nvPicPr>
          <p:cNvPr id="11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134475" y="4591050"/>
            <a:ext cx="209550" cy="209550"/>
          </a:xfrm>
          <a:prstGeom prst="rect">
            <a:avLst/>
          </a:prstGeom>
        </p:spPr>
      </p:pic>
      <p:sp>
        <p:nvSpPr>
          <p:cNvPr id="117" name="Text 78"/>
          <p:cNvSpPr/>
          <p:nvPr/>
        </p:nvSpPr>
        <p:spPr>
          <a:xfrm>
            <a:off x="9448800" y="4591050"/>
            <a:ext cx="22002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3"/>
              </a:lnSpc>
              <a:buNone/>
            </a:pPr>
            <a:r>
              <a:rPr lang="en-US" sz="1198" dirty="0">
                <a:solidFill>
                  <a:srgbClr val="66A1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Filtered: SubmissionVersion=v2</a:t>
            </a:r>
            <a:endParaRPr lang="en-US" sz="1198" dirty="0"/>
          </a:p>
        </p:txBody>
      </p:sp>
      <p:sp>
        <p:nvSpPr>
          <p:cNvPr id="118" name="Shape 79"/>
          <p:cNvSpPr/>
          <p:nvPr/>
        </p:nvSpPr>
        <p:spPr>
          <a:xfrm>
            <a:off x="5734050" y="4486275"/>
            <a:ext cx="3152775" cy="409575"/>
          </a:xfrm>
          <a:prstGeom prst="roundRect">
            <a:avLst>
              <a:gd name="adj" fmla="val 13953"/>
            </a:avLst>
          </a:prstGeom>
          <a:solidFill>
            <a:srgbClr val="E7F3FD"/>
          </a:solidFill>
          <a:ln/>
        </p:spPr>
      </p:sp>
      <p:pic>
        <p:nvPicPr>
          <p:cNvPr id="11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601075" y="4638675"/>
            <a:ext cx="123825" cy="123825"/>
          </a:xfrm>
          <a:prstGeom prst="rect">
            <a:avLst/>
          </a:prstGeom>
        </p:spPr>
      </p:pic>
      <p:pic>
        <p:nvPicPr>
          <p:cNvPr id="12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895975" y="4591050"/>
            <a:ext cx="209550" cy="209550"/>
          </a:xfrm>
          <a:prstGeom prst="rect">
            <a:avLst/>
          </a:prstGeom>
        </p:spPr>
      </p:pic>
      <p:sp>
        <p:nvSpPr>
          <p:cNvPr id="121" name="Text 80"/>
          <p:cNvSpPr/>
          <p:nvPr/>
        </p:nvSpPr>
        <p:spPr>
          <a:xfrm>
            <a:off x="6210300" y="4591050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24"/>
              </a:lnSpc>
              <a:buNone/>
            </a:pPr>
            <a:r>
              <a:rPr lang="en-US" sz="1109" dirty="0">
                <a:solidFill>
                  <a:srgbClr val="66A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Filtered: UseCaseID = AI-UC-0231</a:t>
            </a:r>
            <a:endParaRPr lang="en-US" sz="1109" dirty="0"/>
          </a:p>
        </p:txBody>
      </p:sp>
      <p:sp>
        <p:nvSpPr>
          <p:cNvPr id="122" name="Shape 81"/>
          <p:cNvSpPr/>
          <p:nvPr/>
        </p:nvSpPr>
        <p:spPr>
          <a:xfrm>
            <a:off x="2800350" y="4486275"/>
            <a:ext cx="2800350" cy="400050"/>
          </a:xfrm>
          <a:prstGeom prst="roundRect">
            <a:avLst>
              <a:gd name="adj" fmla="val 1786"/>
            </a:avLst>
          </a:prstGeom>
          <a:solidFill>
            <a:srgbClr val="FDFDFD"/>
          </a:solidFill>
          <a:ln w="9525">
            <a:solidFill>
              <a:srgbClr val="E1E2ED"/>
            </a:solidFill>
            <a:prstDash val="solid"/>
          </a:ln>
        </p:spPr>
      </p:sp>
      <p:pic>
        <p:nvPicPr>
          <p:cNvPr id="123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971800" y="4591050"/>
            <a:ext cx="209550" cy="209550"/>
          </a:xfrm>
          <a:prstGeom prst="rect">
            <a:avLst/>
          </a:prstGeom>
        </p:spPr>
      </p:pic>
      <p:sp>
        <p:nvSpPr>
          <p:cNvPr id="124" name="Text 82"/>
          <p:cNvSpPr/>
          <p:nvPr/>
        </p:nvSpPr>
        <p:spPr>
          <a:xfrm>
            <a:off x="3324225" y="4591050"/>
            <a:ext cx="933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1085" dirty="0">
                <a:solidFill>
                  <a:srgbClr val="9B9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this list</a:t>
            </a:r>
            <a:endParaRPr lang="en-US" sz="1085" dirty="0"/>
          </a:p>
        </p:txBody>
      </p:sp>
      <p:pic>
        <p:nvPicPr>
          <p:cNvPr id="125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2134850" y="4010025"/>
            <a:ext cx="190500" cy="200025"/>
          </a:xfrm>
          <a:prstGeom prst="rect">
            <a:avLst/>
          </a:prstGeom>
        </p:spPr>
      </p:pic>
      <p:pic>
        <p:nvPicPr>
          <p:cNvPr id="126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610975" y="4000500"/>
            <a:ext cx="219075" cy="219075"/>
          </a:xfrm>
          <a:prstGeom prst="rect">
            <a:avLst/>
          </a:prstGeom>
        </p:spPr>
      </p:pic>
      <p:pic>
        <p:nvPicPr>
          <p:cNvPr id="127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096625" y="4010025"/>
            <a:ext cx="209550" cy="209550"/>
          </a:xfrm>
          <a:prstGeom prst="rect">
            <a:avLst/>
          </a:prstGeom>
        </p:spPr>
      </p:pic>
      <p:pic>
        <p:nvPicPr>
          <p:cNvPr id="128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706100" y="4086225"/>
            <a:ext cx="104775" cy="57150"/>
          </a:xfrm>
          <a:prstGeom prst="rect">
            <a:avLst/>
          </a:prstGeom>
        </p:spPr>
      </p:pic>
      <p:sp>
        <p:nvSpPr>
          <p:cNvPr id="129" name="Text 83"/>
          <p:cNvSpPr/>
          <p:nvPr/>
        </p:nvSpPr>
        <p:spPr>
          <a:xfrm>
            <a:off x="10001250" y="4010025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2"/>
              </a:lnSpc>
              <a:buNone/>
            </a:pPr>
            <a:r>
              <a:rPr lang="en-US" sz="1150" dirty="0">
                <a:solidFill>
                  <a:srgbClr val="707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Items</a:t>
            </a:r>
            <a:endParaRPr lang="en-US" sz="1150" dirty="0"/>
          </a:p>
        </p:txBody>
      </p:sp>
      <p:pic>
        <p:nvPicPr>
          <p:cNvPr id="130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705975" y="4029075"/>
            <a:ext cx="180975" cy="161925"/>
          </a:xfrm>
          <a:prstGeom prst="rect">
            <a:avLst/>
          </a:prstGeom>
        </p:spPr>
      </p:pic>
      <p:pic>
        <p:nvPicPr>
          <p:cNvPr id="131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00925" y="4086225"/>
            <a:ext cx="190500" cy="47625"/>
          </a:xfrm>
          <a:prstGeom prst="rect">
            <a:avLst/>
          </a:prstGeom>
        </p:spPr>
      </p:pic>
      <p:sp>
        <p:nvSpPr>
          <p:cNvPr id="132" name="Text 84"/>
          <p:cNvSpPr/>
          <p:nvPr/>
        </p:nvSpPr>
        <p:spPr>
          <a:xfrm>
            <a:off x="6734175" y="4010025"/>
            <a:ext cx="419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29"/>
              </a:lnSpc>
              <a:buNone/>
            </a:pPr>
            <a:r>
              <a:rPr lang="en-US" sz="1115" dirty="0">
                <a:solidFill>
                  <a:srgbClr val="767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</a:t>
            </a:r>
            <a:endParaRPr lang="en-US" sz="1115" dirty="0"/>
          </a:p>
        </p:txBody>
      </p:sp>
      <p:pic>
        <p:nvPicPr>
          <p:cNvPr id="133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400800" y="3990975"/>
            <a:ext cx="219075" cy="228600"/>
          </a:xfrm>
          <a:prstGeom prst="rect">
            <a:avLst/>
          </a:prstGeom>
        </p:spPr>
      </p:pic>
      <p:pic>
        <p:nvPicPr>
          <p:cNvPr id="134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962650" y="4076700"/>
            <a:ext cx="104775" cy="66675"/>
          </a:xfrm>
          <a:prstGeom prst="rect">
            <a:avLst/>
          </a:prstGeom>
        </p:spPr>
      </p:pic>
      <p:sp>
        <p:nvSpPr>
          <p:cNvPr id="135" name="Text 85"/>
          <p:cNvSpPr/>
          <p:nvPr/>
        </p:nvSpPr>
        <p:spPr>
          <a:xfrm>
            <a:off x="5410200" y="4010025"/>
            <a:ext cx="438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1138" dirty="0">
                <a:solidFill>
                  <a:srgbClr val="7272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138" dirty="0"/>
          </a:p>
        </p:txBody>
      </p:sp>
      <p:pic>
        <p:nvPicPr>
          <p:cNvPr id="136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076825" y="4000500"/>
            <a:ext cx="238125" cy="219075"/>
          </a:xfrm>
          <a:prstGeom prst="rect">
            <a:avLst/>
          </a:prstGeom>
        </p:spPr>
      </p:pic>
      <p:sp>
        <p:nvSpPr>
          <p:cNvPr id="137" name="Text 86"/>
          <p:cNvSpPr/>
          <p:nvPr/>
        </p:nvSpPr>
        <p:spPr>
          <a:xfrm>
            <a:off x="4581525" y="4010025"/>
            <a:ext cx="266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6"/>
              </a:lnSpc>
              <a:buNone/>
            </a:pPr>
            <a:r>
              <a:rPr lang="en-US" sz="1183" dirty="0">
                <a:solidFill>
                  <a:srgbClr val="7A7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</a:t>
            </a:r>
            <a:endParaRPr lang="en-US" sz="1183" dirty="0"/>
          </a:p>
        </p:txBody>
      </p:sp>
      <p:pic>
        <p:nvPicPr>
          <p:cNvPr id="138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286250" y="4010025"/>
            <a:ext cx="190500" cy="190500"/>
          </a:xfrm>
          <a:prstGeom prst="rect">
            <a:avLst/>
          </a:prstGeom>
        </p:spPr>
      </p:pic>
      <p:sp>
        <p:nvSpPr>
          <p:cNvPr id="139" name="Shape 87"/>
          <p:cNvSpPr/>
          <p:nvPr/>
        </p:nvSpPr>
        <p:spPr>
          <a:xfrm>
            <a:off x="2800350" y="3895725"/>
            <a:ext cx="1285875" cy="400050"/>
          </a:xfrm>
          <a:prstGeom prst="roundRect">
            <a:avLst>
              <a:gd name="adj" fmla="val 4167"/>
            </a:avLst>
          </a:prstGeom>
          <a:solidFill>
            <a:srgbClr val="017CFB"/>
          </a:solidFill>
          <a:ln w="9525">
            <a:solidFill>
              <a:srgbClr val="3F9AF7"/>
            </a:solidFill>
            <a:prstDash val="solid"/>
          </a:ln>
        </p:spPr>
      </p:sp>
      <p:pic>
        <p:nvPicPr>
          <p:cNvPr id="140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762375" y="4067175"/>
            <a:ext cx="123825" cy="76200"/>
          </a:xfrm>
          <a:prstGeom prst="rect">
            <a:avLst/>
          </a:prstGeom>
        </p:spPr>
      </p:pic>
      <p:pic>
        <p:nvPicPr>
          <p:cNvPr id="141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000375" y="4010025"/>
            <a:ext cx="180975" cy="171450"/>
          </a:xfrm>
          <a:prstGeom prst="rect">
            <a:avLst/>
          </a:prstGeom>
        </p:spPr>
      </p:pic>
      <p:sp>
        <p:nvSpPr>
          <p:cNvPr id="142" name="Text 88"/>
          <p:cNvSpPr/>
          <p:nvPr/>
        </p:nvSpPr>
        <p:spPr>
          <a:xfrm>
            <a:off x="3295650" y="4000500"/>
            <a:ext cx="342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1228" b="1" dirty="0">
                <a:solidFill>
                  <a:srgbClr val="ACD6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228" dirty="0"/>
          </a:p>
        </p:txBody>
      </p:sp>
      <p:pic>
        <p:nvPicPr>
          <p:cNvPr id="143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4201775" y="0"/>
            <a:ext cx="1724025" cy="1581150"/>
          </a:xfrm>
          <a:prstGeom prst="rect">
            <a:avLst/>
          </a:prstGeom>
        </p:spPr>
      </p:pic>
      <p:sp>
        <p:nvSpPr>
          <p:cNvPr id="144" name="Text 89"/>
          <p:cNvSpPr/>
          <p:nvPr/>
        </p:nvSpPr>
        <p:spPr>
          <a:xfrm>
            <a:off x="552450" y="1066800"/>
            <a:ext cx="11963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8"/>
              </a:lnSpc>
              <a:buNone/>
            </a:pPr>
            <a:r>
              <a:rPr lang="en-US" sz="2335" dirty="0">
                <a:solidFill>
                  <a:srgbClr val="7D82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MVP design using a standard SharePoint list filtered to the selected Use Case ID</a:t>
            </a:r>
            <a:endParaRPr lang="en-US" sz="2335" dirty="0"/>
          </a:p>
        </p:txBody>
      </p:sp>
      <p:sp>
        <p:nvSpPr>
          <p:cNvPr id="145" name="Text 90"/>
          <p:cNvSpPr/>
          <p:nvPr/>
        </p:nvSpPr>
        <p:spPr>
          <a:xfrm>
            <a:off x="552450" y="371475"/>
            <a:ext cx="110871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32"/>
              </a:lnSpc>
              <a:buNone/>
            </a:pPr>
            <a:r>
              <a:rPr lang="en-US" sz="3888" b="1" dirty="0">
                <a:solidFill>
                  <a:srgbClr val="1C1D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SharePoint List 2 – Submission Details</a:t>
            </a:r>
            <a:endParaRPr lang="en-US" sz="3888" dirty="0"/>
          </a:p>
        </p:txBody>
      </p:sp>
      <p:sp>
        <p:nvSpPr>
          <p:cNvPr id="146" name="Text 91"/>
          <p:cNvSpPr/>
          <p:nvPr/>
        </p:nvSpPr>
        <p:spPr>
          <a:xfrm>
            <a:off x="14754225" y="7620000"/>
            <a:ext cx="7143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9"/>
              </a:lnSpc>
              <a:buNone/>
            </a:pPr>
            <a:r>
              <a:rPr lang="en-US" sz="1002" dirty="0">
                <a:solidFill>
                  <a:srgbClr val="979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Oct 2026</a:t>
            </a:r>
            <a:endParaRPr lang="en-US" sz="1002" dirty="0"/>
          </a:p>
        </p:txBody>
      </p:sp>
      <p:sp>
        <p:nvSpPr>
          <p:cNvPr id="147" name="Text 92"/>
          <p:cNvSpPr/>
          <p:nvPr/>
        </p:nvSpPr>
        <p:spPr>
          <a:xfrm>
            <a:off x="14058900" y="7629525"/>
            <a:ext cx="419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961" dirty="0">
                <a:solidFill>
                  <a:srgbClr val="9392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Smith</a:t>
            </a:r>
            <a:endParaRPr lang="en-US" sz="961" dirty="0"/>
          </a:p>
        </p:txBody>
      </p:sp>
      <p:sp>
        <p:nvSpPr>
          <p:cNvPr id="148" name="Text 93"/>
          <p:cNvSpPr/>
          <p:nvPr/>
        </p:nvSpPr>
        <p:spPr>
          <a:xfrm>
            <a:off x="14754225" y="6667500"/>
            <a:ext cx="704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55"/>
              </a:lnSpc>
              <a:buNone/>
            </a:pPr>
            <a:r>
              <a:rPr lang="en-US" sz="988" dirty="0">
                <a:solidFill>
                  <a:srgbClr val="999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Oct 2026</a:t>
            </a:r>
            <a:endParaRPr lang="en-US" sz="988" dirty="0"/>
          </a:p>
        </p:txBody>
      </p:sp>
      <p:sp>
        <p:nvSpPr>
          <p:cNvPr id="149" name="Text 94"/>
          <p:cNvSpPr/>
          <p:nvPr/>
        </p:nvSpPr>
        <p:spPr>
          <a:xfrm>
            <a:off x="14058900" y="6677025"/>
            <a:ext cx="419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961" dirty="0">
                <a:solidFill>
                  <a:srgbClr val="9593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Smith</a:t>
            </a:r>
            <a:endParaRPr lang="en-US" sz="961" dirty="0"/>
          </a:p>
        </p:txBody>
      </p:sp>
      <p:sp>
        <p:nvSpPr>
          <p:cNvPr id="150" name="Text 95"/>
          <p:cNvSpPr/>
          <p:nvPr/>
        </p:nvSpPr>
        <p:spPr>
          <a:xfrm>
            <a:off x="14754225" y="5676900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45" dirty="0">
                <a:solidFill>
                  <a:srgbClr val="9A9A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Oct 2026</a:t>
            </a:r>
            <a:endParaRPr lang="en-US" sz="945" dirty="0"/>
          </a:p>
        </p:txBody>
      </p:sp>
      <p:sp>
        <p:nvSpPr>
          <p:cNvPr id="151" name="Text 96"/>
          <p:cNvSpPr/>
          <p:nvPr/>
        </p:nvSpPr>
        <p:spPr>
          <a:xfrm>
            <a:off x="14058900" y="5686425"/>
            <a:ext cx="409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5"/>
              </a:lnSpc>
              <a:buNone/>
            </a:pPr>
            <a:r>
              <a:rPr lang="en-US" sz="937" dirty="0">
                <a:solidFill>
                  <a:srgbClr val="979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Smith</a:t>
            </a:r>
            <a:endParaRPr lang="en-US" sz="937" dirty="0"/>
          </a:p>
        </p:txBody>
      </p:sp>
      <p:sp>
        <p:nvSpPr>
          <p:cNvPr id="152" name="Text 97"/>
          <p:cNvSpPr/>
          <p:nvPr/>
        </p:nvSpPr>
        <p:spPr>
          <a:xfrm>
            <a:off x="14811375" y="5143500"/>
            <a:ext cx="581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86" dirty="0">
                <a:solidFill>
                  <a:srgbClr val="6F7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</a:t>
            </a:r>
            <a:endParaRPr lang="en-US" sz="986" dirty="0"/>
          </a:p>
          <a:p>
            <a:pPr algn="l" indent="0" marL="0">
              <a:lnSpc>
                <a:spcPts val="1378"/>
              </a:lnSpc>
              <a:buNone/>
            </a:pPr>
            <a:r>
              <a:rPr lang="en-US" sz="986" dirty="0">
                <a:solidFill>
                  <a:srgbClr val="6F7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986" dirty="0"/>
          </a:p>
        </p:txBody>
      </p:sp>
      <p:sp>
        <p:nvSpPr>
          <p:cNvPr id="153" name="Text 98"/>
          <p:cNvSpPr/>
          <p:nvPr/>
        </p:nvSpPr>
        <p:spPr>
          <a:xfrm>
            <a:off x="14058900" y="5162550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1"/>
              </a:lnSpc>
              <a:buNone/>
            </a:pPr>
            <a:r>
              <a:rPr lang="en-US" sz="954" dirty="0">
                <a:solidFill>
                  <a:srgbClr val="6D6D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</a:t>
            </a:r>
            <a:endParaRPr lang="en-US" sz="95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0900" y="7629525"/>
            <a:ext cx="1104900" cy="133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4791075"/>
            <a:ext cx="15573375" cy="40481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8258175"/>
            <a:ext cx="15506700" cy="5619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8353425"/>
            <a:ext cx="28575" cy="400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8391525"/>
            <a:ext cx="333375" cy="32385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219200" y="8420100"/>
            <a:ext cx="1380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8"/>
              </a:lnSpc>
              <a:buNone/>
            </a:pPr>
            <a:r>
              <a:rPr lang="en-US" sz="1289" b="1" dirty="0">
                <a:solidFill>
                  <a:srgbClr val="4C56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</a:t>
            </a:r>
            <a:pPr algn="l" indent="0" marL="0">
              <a:lnSpc>
                <a:spcPts val="1448"/>
              </a:lnSpc>
              <a:buNone/>
            </a:pPr>
            <a:r>
              <a:rPr lang="en-US" sz="1289" dirty="0">
                <a:solidFill>
                  <a:srgbClr val="768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show the simple MVP flow for saving drafts, freezing questionnaire submissions, evaluating scores and rule triggers, updating the use case inventory, and sending notifications.</a:t>
            </a:r>
            <a:endParaRPr lang="en-US" sz="1289" dirty="0"/>
          </a:p>
        </p:txBody>
      </p:sp>
      <p:sp>
        <p:nvSpPr>
          <p:cNvPr id="9" name="Shape 1"/>
          <p:cNvSpPr/>
          <p:nvPr/>
        </p:nvSpPr>
        <p:spPr>
          <a:xfrm>
            <a:off x="10458450" y="6305550"/>
            <a:ext cx="2771775" cy="1695450"/>
          </a:xfrm>
          <a:prstGeom prst="roundRect">
            <a:avLst>
              <a:gd name="adj" fmla="val 16433"/>
            </a:avLst>
          </a:prstGeom>
          <a:solidFill>
            <a:srgbClr val="F2F8FE"/>
          </a:solidFill>
          <a:ln/>
        </p:spPr>
      </p:sp>
      <p:sp>
        <p:nvSpPr>
          <p:cNvPr id="10" name="Shape 2"/>
          <p:cNvSpPr/>
          <p:nvPr/>
        </p:nvSpPr>
        <p:spPr>
          <a:xfrm>
            <a:off x="10496550" y="6324600"/>
            <a:ext cx="2705100" cy="1619250"/>
          </a:xfrm>
          <a:prstGeom prst="roundRect">
            <a:avLst>
              <a:gd name="adj" fmla="val 8971"/>
            </a:avLst>
          </a:prstGeom>
          <a:solidFill>
            <a:srgbClr val="FDFDFE"/>
          </a:solidFill>
          <a:ln/>
        </p:spPr>
      </p:sp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6100" y="7686675"/>
            <a:ext cx="57150" cy="47625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6100" y="7496175"/>
            <a:ext cx="57150" cy="47625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06100" y="7296150"/>
            <a:ext cx="57150" cy="57150"/>
          </a:xfrm>
          <a:prstGeom prst="rect">
            <a:avLst/>
          </a:prstGeom>
        </p:spPr>
      </p:pic>
      <p:pic>
        <p:nvPicPr>
          <p:cNvPr id="1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6100" y="7115175"/>
            <a:ext cx="57150" cy="57150"/>
          </a:xfrm>
          <a:prstGeom prst="rect">
            <a:avLst/>
          </a:prstGeom>
        </p:spPr>
      </p:pic>
      <p:pic>
        <p:nvPicPr>
          <p:cNvPr id="1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6100" y="6943725"/>
            <a:ext cx="57150" cy="47625"/>
          </a:xfrm>
          <a:prstGeom prst="rect">
            <a:avLst/>
          </a:prstGeom>
        </p:spPr>
      </p:pic>
      <p:pic>
        <p:nvPicPr>
          <p:cNvPr id="1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06100" y="6762750"/>
            <a:ext cx="57150" cy="57150"/>
          </a:xfrm>
          <a:prstGeom prst="rect">
            <a:avLst/>
          </a:prstGeom>
        </p:spPr>
      </p:pic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06100" y="6591300"/>
            <a:ext cx="57150" cy="57150"/>
          </a:xfrm>
          <a:prstGeom prst="rect">
            <a:avLst/>
          </a:prstGeom>
        </p:spPr>
      </p:pic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06100" y="6419850"/>
            <a:ext cx="57150" cy="47625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10877550" y="7429500"/>
            <a:ext cx="22574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2"/>
              </a:lnSpc>
              <a:buNone/>
            </a:pPr>
            <a:r>
              <a:rPr lang="en-US" sz="1135" dirty="0">
                <a:solidFill>
                  <a:srgbClr val="787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TriggeredTeams</a:t>
            </a:r>
            <a:endParaRPr lang="en-US" sz="1135" dirty="0"/>
          </a:p>
          <a:p>
            <a:pPr algn="l" indent="0" marL="0">
              <a:lnSpc>
                <a:spcPts val="1192"/>
              </a:lnSpc>
              <a:buNone/>
            </a:pPr>
            <a:r>
              <a:rPr lang="en-US" sz="1135" dirty="0">
                <a:solidFill>
                  <a:srgbClr val="7879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TriageOutcome / Rating later in v2</a:t>
            </a:r>
            <a:endParaRPr lang="en-US" sz="1135" dirty="0"/>
          </a:p>
        </p:txBody>
      </p:sp>
      <p:sp>
        <p:nvSpPr>
          <p:cNvPr id="20" name="Text 4"/>
          <p:cNvSpPr/>
          <p:nvPr/>
        </p:nvSpPr>
        <p:spPr>
          <a:xfrm>
            <a:off x="10887075" y="7229475"/>
            <a:ext cx="1838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1113" dirty="0">
                <a:solidFill>
                  <a:srgbClr val="797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SecondLineReviewRequired</a:t>
            </a:r>
            <a:endParaRPr lang="en-US" sz="1113" dirty="0"/>
          </a:p>
        </p:txBody>
      </p:sp>
      <p:sp>
        <p:nvSpPr>
          <p:cNvPr id="21" name="Text 5"/>
          <p:cNvSpPr/>
          <p:nvPr/>
        </p:nvSpPr>
        <p:spPr>
          <a:xfrm>
            <a:off x="10887075" y="7058025"/>
            <a:ext cx="146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095" dirty="0">
                <a:solidFill>
                  <a:srgbClr val="7679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DealBreakerTriggered</a:t>
            </a:r>
            <a:endParaRPr lang="en-US" sz="1095" dirty="0"/>
          </a:p>
        </p:txBody>
      </p:sp>
      <p:sp>
        <p:nvSpPr>
          <p:cNvPr id="22" name="Text 6"/>
          <p:cNvSpPr/>
          <p:nvPr/>
        </p:nvSpPr>
        <p:spPr>
          <a:xfrm>
            <a:off x="10877550" y="6696075"/>
            <a:ext cx="1790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140" dirty="0">
                <a:solidFill>
                  <a:srgbClr val="7879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QuestionnaireVersion</a:t>
            </a:r>
            <a:endParaRPr lang="en-US" sz="114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140" dirty="0">
                <a:solidFill>
                  <a:srgbClr val="7879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TotalScore</a:t>
            </a:r>
            <a:endParaRPr lang="en-US" sz="1140" dirty="0"/>
          </a:p>
        </p:txBody>
      </p:sp>
      <p:sp>
        <p:nvSpPr>
          <p:cNvPr id="23" name="Text 7"/>
          <p:cNvSpPr/>
          <p:nvPr/>
        </p:nvSpPr>
        <p:spPr>
          <a:xfrm>
            <a:off x="10877550" y="6515100"/>
            <a:ext cx="1771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1118" dirty="0">
                <a:solidFill>
                  <a:srgbClr val="7E80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CurrentSubmissionVersion</a:t>
            </a:r>
            <a:endParaRPr lang="en-US" sz="1118" dirty="0"/>
          </a:p>
        </p:txBody>
      </p:sp>
      <p:sp>
        <p:nvSpPr>
          <p:cNvPr id="24" name="Text 8"/>
          <p:cNvSpPr/>
          <p:nvPr/>
        </p:nvSpPr>
        <p:spPr>
          <a:xfrm>
            <a:off x="10887075" y="6343650"/>
            <a:ext cx="1257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3"/>
              </a:lnSpc>
              <a:buNone/>
            </a:pPr>
            <a:r>
              <a:rPr lang="en-US" sz="1133" dirty="0">
                <a:solidFill>
                  <a:srgbClr val="7C7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= Submitted</a:t>
            </a:r>
            <a:endParaRPr lang="en-US" sz="1133" dirty="0"/>
          </a:p>
        </p:txBody>
      </p:sp>
      <p:sp>
        <p:nvSpPr>
          <p:cNvPr id="25" name="Shape 9"/>
          <p:cNvSpPr/>
          <p:nvPr/>
        </p:nvSpPr>
        <p:spPr>
          <a:xfrm>
            <a:off x="10496550" y="5562600"/>
            <a:ext cx="2714625" cy="742950"/>
          </a:xfrm>
          <a:prstGeom prst="roundRect">
            <a:avLst>
              <a:gd name="adj" fmla="val 5769"/>
            </a:avLst>
          </a:prstGeom>
          <a:solidFill>
            <a:srgbClr val="E7F3FD"/>
          </a:solidFill>
          <a:ln w="9525">
            <a:solidFill>
              <a:srgbClr val="D8E9FC"/>
            </a:solidFill>
            <a:prstDash val="solid"/>
          </a:ln>
        </p:spPr>
      </p:sp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29950" y="5715000"/>
            <a:ext cx="504825" cy="504825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44175" y="5610225"/>
            <a:ext cx="314325" cy="314325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10658475" y="5667375"/>
            <a:ext cx="114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185" dirty="0">
                <a:solidFill>
                  <a:srgbClr val="A5CD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85" dirty="0"/>
          </a:p>
        </p:txBody>
      </p:sp>
      <p:sp>
        <p:nvSpPr>
          <p:cNvPr id="29" name="Text 11"/>
          <p:cNvSpPr/>
          <p:nvPr/>
        </p:nvSpPr>
        <p:spPr>
          <a:xfrm>
            <a:off x="11725275" y="5734050"/>
            <a:ext cx="1066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997" b="1" dirty="0">
                <a:solidFill>
                  <a:srgbClr val="565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Use Case</a:t>
            </a:r>
            <a:endParaRPr lang="en-US" sz="997" dirty="0"/>
          </a:p>
          <a:p>
            <a:pPr algn="l" indent="0" marL="0">
              <a:lnSpc>
                <a:spcPts val="1325"/>
              </a:lnSpc>
              <a:buNone/>
            </a:pPr>
            <a:r>
              <a:rPr lang="en-US" sz="997" b="1" dirty="0">
                <a:solidFill>
                  <a:srgbClr val="565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997" dirty="0"/>
          </a:p>
        </p:txBody>
      </p:sp>
      <p:sp>
        <p:nvSpPr>
          <p:cNvPr id="30" name="Text 12"/>
          <p:cNvSpPr/>
          <p:nvPr/>
        </p:nvSpPr>
        <p:spPr>
          <a:xfrm>
            <a:off x="11096625" y="5857875"/>
            <a:ext cx="1333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1528" dirty="0">
                <a:solidFill>
                  <a:srgbClr val="AFD5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528" dirty="0"/>
          </a:p>
        </p:txBody>
      </p:sp>
      <p:sp>
        <p:nvSpPr>
          <p:cNvPr id="31" name="Shape 13"/>
          <p:cNvSpPr/>
          <p:nvPr/>
        </p:nvSpPr>
        <p:spPr>
          <a:xfrm>
            <a:off x="13430250" y="6276975"/>
            <a:ext cx="2171700" cy="1276350"/>
          </a:xfrm>
          <a:prstGeom prst="roundRect">
            <a:avLst>
              <a:gd name="adj" fmla="val 2239"/>
            </a:avLst>
          </a:prstGeom>
          <a:solidFill>
            <a:srgbClr val="FDFDFE"/>
          </a:solidFill>
          <a:ln w="28575">
            <a:solidFill>
              <a:srgbClr val="DEEFFD"/>
            </a:solidFill>
            <a:prstDash val="solid"/>
          </a:ln>
        </p:spPr>
      </p:sp>
      <p:pic>
        <p:nvPicPr>
          <p:cNvPr id="3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687425" y="6848475"/>
            <a:ext cx="57150" cy="47625"/>
          </a:xfrm>
          <a:prstGeom prst="rect">
            <a:avLst/>
          </a:prstGeom>
        </p:spPr>
      </p:pic>
      <p:pic>
        <p:nvPicPr>
          <p:cNvPr id="3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87425" y="6429375"/>
            <a:ext cx="57150" cy="57150"/>
          </a:xfrm>
          <a:prstGeom prst="rect">
            <a:avLst/>
          </a:prstGeom>
        </p:spPr>
      </p:pic>
      <p:sp>
        <p:nvSpPr>
          <p:cNvPr id="34" name="Shape 14"/>
          <p:cNvSpPr/>
          <p:nvPr/>
        </p:nvSpPr>
        <p:spPr>
          <a:xfrm>
            <a:off x="13430250" y="5562600"/>
            <a:ext cx="2171700" cy="733425"/>
          </a:xfrm>
          <a:prstGeom prst="roundRect">
            <a:avLst>
              <a:gd name="adj" fmla="val 4221"/>
            </a:avLst>
          </a:prstGeom>
          <a:solidFill>
            <a:srgbClr val="E8F3FD"/>
          </a:solidFill>
          <a:ln w="9525">
            <a:solidFill>
              <a:srgbClr val="CCE3FC"/>
            </a:solidFill>
            <a:prstDash val="solid"/>
          </a:ln>
        </p:spPr>
      </p:sp>
      <p:pic>
        <p:nvPicPr>
          <p:cNvPr id="3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925550" y="5810250"/>
            <a:ext cx="352425" cy="314325"/>
          </a:xfrm>
          <a:prstGeom prst="rect">
            <a:avLst/>
          </a:prstGeom>
        </p:spPr>
      </p:pic>
      <p:sp>
        <p:nvSpPr>
          <p:cNvPr id="36" name="Shape 15"/>
          <p:cNvSpPr/>
          <p:nvPr/>
        </p:nvSpPr>
        <p:spPr>
          <a:xfrm>
            <a:off x="13487400" y="5619750"/>
            <a:ext cx="304800" cy="295275"/>
          </a:xfrm>
          <a:prstGeom prst="roundRect">
            <a:avLst>
              <a:gd name="adj" fmla="val 50806"/>
            </a:avLst>
          </a:prstGeom>
          <a:solidFill>
            <a:srgbClr val="036EF4"/>
          </a:solidFill>
          <a:ln w="9525">
            <a:solidFill>
              <a:srgbClr val="428DFA"/>
            </a:solidFill>
            <a:prstDash val="solid"/>
          </a:ln>
        </p:spPr>
      </p:sp>
      <p:sp>
        <p:nvSpPr>
          <p:cNvPr id="37" name="Text 16"/>
          <p:cNvSpPr/>
          <p:nvPr/>
        </p:nvSpPr>
        <p:spPr>
          <a:xfrm>
            <a:off x="13592175" y="5676900"/>
            <a:ext cx="114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290" dirty="0">
                <a:solidFill>
                  <a:srgbClr val="AFD3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90" dirty="0"/>
          </a:p>
        </p:txBody>
      </p:sp>
      <p:sp>
        <p:nvSpPr>
          <p:cNvPr id="38" name="Text 17"/>
          <p:cNvSpPr/>
          <p:nvPr/>
        </p:nvSpPr>
        <p:spPr>
          <a:xfrm>
            <a:off x="14439900" y="5734050"/>
            <a:ext cx="11049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932" b="1" dirty="0">
                <a:solidFill>
                  <a:srgbClr val="5E67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confirmation/</a:t>
            </a:r>
            <a:endParaRPr lang="en-US" sz="932" dirty="0"/>
          </a:p>
          <a:p>
            <a:pPr algn="l" indent="0" marL="0">
              <a:lnSpc>
                <a:spcPts val="1239"/>
              </a:lnSpc>
              <a:buNone/>
            </a:pPr>
            <a:r>
              <a:rPr lang="en-US" sz="932" b="1" dirty="0">
                <a:solidFill>
                  <a:srgbClr val="5E67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AIRO emails</a:t>
            </a:r>
            <a:endParaRPr lang="en-US" sz="932" dirty="0"/>
          </a:p>
        </p:txBody>
      </p:sp>
      <p:sp>
        <p:nvSpPr>
          <p:cNvPr id="39" name="Text 18"/>
          <p:cNvSpPr/>
          <p:nvPr/>
        </p:nvSpPr>
        <p:spPr>
          <a:xfrm>
            <a:off x="13858875" y="6772275"/>
            <a:ext cx="14382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20" dirty="0">
                <a:solidFill>
                  <a:srgbClr val="717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AIRO notification</a:t>
            </a:r>
            <a:endParaRPr lang="en-US" sz="122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20" dirty="0">
                <a:solidFill>
                  <a:srgbClr val="717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including key results</a:t>
            </a:r>
            <a:endParaRPr lang="en-US" sz="1220" dirty="0"/>
          </a:p>
          <a:p>
            <a:pPr algn="l" indent="0" marL="0">
              <a:lnSpc>
                <a:spcPts val="1425"/>
              </a:lnSpc>
              <a:buNone/>
            </a:pPr>
            <a:r>
              <a:rPr lang="en-US" sz="1220" dirty="0">
                <a:solidFill>
                  <a:srgbClr val="717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triggers</a:t>
            </a:r>
            <a:endParaRPr lang="en-US" sz="1220" dirty="0"/>
          </a:p>
        </p:txBody>
      </p:sp>
      <p:sp>
        <p:nvSpPr>
          <p:cNvPr id="40" name="Text 19"/>
          <p:cNvSpPr/>
          <p:nvPr/>
        </p:nvSpPr>
        <p:spPr>
          <a:xfrm>
            <a:off x="13858875" y="6353175"/>
            <a:ext cx="1495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230" dirty="0">
                <a:solidFill>
                  <a:srgbClr val="7879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confirmation email to</a:t>
            </a:r>
            <a:endParaRPr lang="en-US" sz="1230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1230" dirty="0">
                <a:solidFill>
                  <a:srgbClr val="7879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submitter</a:t>
            </a:r>
            <a:endParaRPr lang="en-US" sz="1230" dirty="0"/>
          </a:p>
        </p:txBody>
      </p:sp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11175" y="6257925"/>
            <a:ext cx="228600" cy="200025"/>
          </a:xfrm>
          <a:prstGeom prst="rect">
            <a:avLst/>
          </a:prstGeom>
        </p:spPr>
      </p:pic>
      <p:pic>
        <p:nvPicPr>
          <p:cNvPr id="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7000" y="6257925"/>
            <a:ext cx="219075" cy="200025"/>
          </a:xfrm>
          <a:prstGeom prst="rect">
            <a:avLst/>
          </a:prstGeom>
        </p:spPr>
      </p:pic>
      <p:sp>
        <p:nvSpPr>
          <p:cNvPr id="43" name="Shape 20"/>
          <p:cNvSpPr/>
          <p:nvPr/>
        </p:nvSpPr>
        <p:spPr>
          <a:xfrm>
            <a:off x="2857500" y="7648575"/>
            <a:ext cx="3971925" cy="485775"/>
          </a:xfrm>
          <a:prstGeom prst="roundRect">
            <a:avLst>
              <a:gd name="adj" fmla="val 11765"/>
            </a:avLst>
          </a:prstGeom>
          <a:solidFill>
            <a:srgbClr val="E7F4FE"/>
          </a:solidFill>
          <a:ln w="9525">
            <a:solidFill>
              <a:srgbClr val="82B8FB"/>
            </a:solidFill>
            <a:prstDash val="solid"/>
          </a:ln>
        </p:spPr>
      </p:sp>
      <p:pic>
        <p:nvPicPr>
          <p:cNvPr id="4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71800" y="7734300"/>
            <a:ext cx="295275" cy="295275"/>
          </a:xfrm>
          <a:prstGeom prst="rect">
            <a:avLst/>
          </a:prstGeom>
        </p:spPr>
      </p:pic>
      <p:sp>
        <p:nvSpPr>
          <p:cNvPr id="45" name="Text 21"/>
          <p:cNvSpPr/>
          <p:nvPr/>
        </p:nvSpPr>
        <p:spPr>
          <a:xfrm>
            <a:off x="3381375" y="7696200"/>
            <a:ext cx="3314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73" b="1" dirty="0">
                <a:solidFill>
                  <a:srgbClr val="5760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Details</a:t>
            </a:r>
            <a:pPr algn="l" indent="0" marL="0">
              <a:lnSpc>
                <a:spcPts val="1500"/>
              </a:lnSpc>
              <a:buNone/>
            </a:pPr>
            <a:r>
              <a:rPr lang="en-US" sz="1163" dirty="0">
                <a:solidFill>
                  <a:srgbClr val="7081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immutable evidence of each</a:t>
            </a:r>
            <a:pPr algn="l" indent="0" marL="0">
              <a:lnSpc>
                <a:spcPts val="1500"/>
              </a:lnSpc>
              <a:buNone/>
            </a:pPr>
            <a:endParaRPr lang="en-US" sz="9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7081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formally submitted question and its evaluated result.</a:t>
            </a:r>
            <a:endParaRPr lang="en-US" sz="900" dirty="0"/>
          </a:p>
        </p:txBody>
      </p:sp>
      <p:sp>
        <p:nvSpPr>
          <p:cNvPr id="46" name="Shape 22"/>
          <p:cNvSpPr/>
          <p:nvPr/>
        </p:nvSpPr>
        <p:spPr>
          <a:xfrm>
            <a:off x="8077200" y="5934075"/>
            <a:ext cx="2209800" cy="1619250"/>
          </a:xfrm>
          <a:prstGeom prst="roundRect">
            <a:avLst>
              <a:gd name="adj" fmla="val 13088"/>
            </a:avLst>
          </a:prstGeom>
          <a:solidFill>
            <a:srgbClr val="FCFDFE"/>
          </a:solidFill>
          <a:ln w="19050">
            <a:solidFill>
              <a:srgbClr val="E3F1FD"/>
            </a:solidFill>
            <a:prstDash val="solid"/>
          </a:ln>
        </p:spPr>
      </p:sp>
      <p:pic>
        <p:nvPicPr>
          <p:cNvPr id="4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34375" y="7077075"/>
            <a:ext cx="57150" cy="57150"/>
          </a:xfrm>
          <a:prstGeom prst="rect">
            <a:avLst/>
          </a:prstGeom>
        </p:spPr>
      </p:pic>
      <p:pic>
        <p:nvPicPr>
          <p:cNvPr id="4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34375" y="6867525"/>
            <a:ext cx="57150" cy="57150"/>
          </a:xfrm>
          <a:prstGeom prst="rect">
            <a:avLst/>
          </a:prstGeom>
        </p:spPr>
      </p:pic>
      <p:pic>
        <p:nvPicPr>
          <p:cNvPr id="4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34375" y="6657975"/>
            <a:ext cx="57150" cy="57150"/>
          </a:xfrm>
          <a:prstGeom prst="rect">
            <a:avLst/>
          </a:prstGeom>
        </p:spPr>
      </p:pic>
      <p:pic>
        <p:nvPicPr>
          <p:cNvPr id="50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34375" y="6438900"/>
            <a:ext cx="57150" cy="57150"/>
          </a:xfrm>
          <a:prstGeom prst="rect">
            <a:avLst/>
          </a:prstGeom>
        </p:spPr>
      </p:pic>
      <p:sp>
        <p:nvSpPr>
          <p:cNvPr id="51" name="Shape 23"/>
          <p:cNvSpPr/>
          <p:nvPr/>
        </p:nvSpPr>
        <p:spPr>
          <a:xfrm>
            <a:off x="8086725" y="5562600"/>
            <a:ext cx="2190750" cy="742950"/>
          </a:xfrm>
          <a:prstGeom prst="roundRect">
            <a:avLst>
              <a:gd name="adj" fmla="val 3205"/>
            </a:avLst>
          </a:prstGeom>
          <a:solidFill>
            <a:srgbClr val="E7F2FD"/>
          </a:solidFill>
          <a:ln w="9525">
            <a:solidFill>
              <a:srgbClr val="DBEBFC"/>
            </a:solidFill>
            <a:prstDash val="solid"/>
          </a:ln>
        </p:spPr>
      </p:sp>
      <p:pic>
        <p:nvPicPr>
          <p:cNvPr id="5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77250" y="5810250"/>
            <a:ext cx="352425" cy="333375"/>
          </a:xfrm>
          <a:prstGeom prst="rect">
            <a:avLst/>
          </a:prstGeom>
        </p:spPr>
      </p:pic>
      <p:pic>
        <p:nvPicPr>
          <p:cNvPr id="5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34350" y="5610225"/>
            <a:ext cx="304800" cy="314325"/>
          </a:xfrm>
          <a:prstGeom prst="rect">
            <a:avLst/>
          </a:prstGeom>
        </p:spPr>
      </p:pic>
      <p:sp>
        <p:nvSpPr>
          <p:cNvPr id="54" name="Text 24"/>
          <p:cNvSpPr/>
          <p:nvPr/>
        </p:nvSpPr>
        <p:spPr>
          <a:xfrm>
            <a:off x="8229600" y="5667375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388" dirty="0">
                <a:solidFill>
                  <a:srgbClr val="B2D4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88" dirty="0"/>
          </a:p>
        </p:txBody>
      </p:sp>
      <p:sp>
        <p:nvSpPr>
          <p:cNvPr id="55" name="Text 25"/>
          <p:cNvSpPr/>
          <p:nvPr/>
        </p:nvSpPr>
        <p:spPr>
          <a:xfrm>
            <a:off x="8982075" y="5743575"/>
            <a:ext cx="1257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3"/>
              </a:lnSpc>
              <a:buNone/>
            </a:pPr>
            <a:r>
              <a:rPr lang="en-US" sz="886" b="1" dirty="0">
                <a:solidFill>
                  <a:srgbClr val="596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to use-case</a:t>
            </a:r>
            <a:endParaRPr lang="en-US" sz="886" dirty="0"/>
          </a:p>
          <a:p>
            <a:pPr algn="l" indent="0" marL="0">
              <a:lnSpc>
                <a:spcPts val="963"/>
              </a:lnSpc>
              <a:buNone/>
            </a:pPr>
            <a:r>
              <a:rPr lang="en-US" sz="886" b="1" dirty="0">
                <a:solidFill>
                  <a:srgbClr val="596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later in v2</a:t>
            </a:r>
            <a:endParaRPr lang="en-US" sz="886" dirty="0"/>
          </a:p>
        </p:txBody>
      </p:sp>
      <p:sp>
        <p:nvSpPr>
          <p:cNvPr id="56" name="Text 26"/>
          <p:cNvSpPr/>
          <p:nvPr/>
        </p:nvSpPr>
        <p:spPr>
          <a:xfrm>
            <a:off x="8505825" y="7000875"/>
            <a:ext cx="1200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7B7C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/ rationale</a:t>
            </a:r>
            <a:endParaRPr lang="en-US" sz="1200" dirty="0"/>
          </a:p>
        </p:txBody>
      </p:sp>
      <p:sp>
        <p:nvSpPr>
          <p:cNvPr id="57" name="Text 27"/>
          <p:cNvSpPr/>
          <p:nvPr/>
        </p:nvSpPr>
        <p:spPr>
          <a:xfrm>
            <a:off x="8505825" y="6791325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5"/>
              </a:lnSpc>
              <a:buNone/>
            </a:pPr>
            <a:r>
              <a:rPr lang="en-US" sz="1213" dirty="0">
                <a:solidFill>
                  <a:srgbClr val="6F71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second-line referrals</a:t>
            </a:r>
            <a:endParaRPr lang="en-US" sz="1213" dirty="0"/>
          </a:p>
        </p:txBody>
      </p:sp>
      <p:sp>
        <p:nvSpPr>
          <p:cNvPr id="58" name="Text 28"/>
          <p:cNvSpPr/>
          <p:nvPr/>
        </p:nvSpPr>
        <p:spPr>
          <a:xfrm>
            <a:off x="8505825" y="6581775"/>
            <a:ext cx="1343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40" dirty="0">
                <a:solidFill>
                  <a:srgbClr val="7C7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deal-breaker result</a:t>
            </a:r>
            <a:endParaRPr lang="en-US" sz="1140" dirty="0"/>
          </a:p>
        </p:txBody>
      </p:sp>
      <p:sp>
        <p:nvSpPr>
          <p:cNvPr id="59" name="Text 29"/>
          <p:cNvSpPr/>
          <p:nvPr/>
        </p:nvSpPr>
        <p:spPr>
          <a:xfrm>
            <a:off x="8505825" y="6362700"/>
            <a:ext cx="742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6"/>
              </a:lnSpc>
              <a:buNone/>
            </a:pPr>
            <a:r>
              <a:rPr lang="en-US" sz="1214" dirty="0">
                <a:solidFill>
                  <a:srgbClr val="7A7B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score</a:t>
            </a:r>
            <a:endParaRPr lang="en-US" sz="1214" dirty="0"/>
          </a:p>
        </p:txBody>
      </p:sp>
      <p:sp>
        <p:nvSpPr>
          <p:cNvPr id="60" name="Shape 30"/>
          <p:cNvSpPr/>
          <p:nvPr/>
        </p:nvSpPr>
        <p:spPr>
          <a:xfrm>
            <a:off x="5543550" y="6286500"/>
            <a:ext cx="2352675" cy="1276350"/>
          </a:xfrm>
          <a:prstGeom prst="roundRect">
            <a:avLst>
              <a:gd name="adj" fmla="val 2985"/>
            </a:avLst>
          </a:prstGeom>
          <a:solidFill>
            <a:srgbClr val="FDFDFE"/>
          </a:solidFill>
          <a:ln w="19050">
            <a:solidFill>
              <a:srgbClr val="EDF7FE"/>
            </a:solidFill>
            <a:prstDash val="solid"/>
          </a:ln>
        </p:spPr>
      </p:sp>
      <p:pic>
        <p:nvPicPr>
          <p:cNvPr id="6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800725" y="7381875"/>
            <a:ext cx="47625" cy="47625"/>
          </a:xfrm>
          <a:prstGeom prst="rect">
            <a:avLst/>
          </a:prstGeom>
        </p:spPr>
      </p:pic>
      <p:pic>
        <p:nvPicPr>
          <p:cNvPr id="6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00725" y="7181850"/>
            <a:ext cx="47625" cy="57150"/>
          </a:xfrm>
          <a:prstGeom prst="rect">
            <a:avLst/>
          </a:prstGeom>
        </p:spPr>
      </p:pic>
      <p:pic>
        <p:nvPicPr>
          <p:cNvPr id="63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800725" y="6991350"/>
            <a:ext cx="47625" cy="57150"/>
          </a:xfrm>
          <a:prstGeom prst="rect">
            <a:avLst/>
          </a:prstGeom>
        </p:spPr>
      </p:pic>
      <p:pic>
        <p:nvPicPr>
          <p:cNvPr id="6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800725" y="6800850"/>
            <a:ext cx="47625" cy="47625"/>
          </a:xfrm>
          <a:prstGeom prst="rect">
            <a:avLst/>
          </a:prstGeom>
        </p:spPr>
      </p:pic>
      <p:pic>
        <p:nvPicPr>
          <p:cNvPr id="6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00725" y="6610350"/>
            <a:ext cx="47625" cy="57150"/>
          </a:xfrm>
          <a:prstGeom prst="rect">
            <a:avLst/>
          </a:prstGeom>
        </p:spPr>
      </p:pic>
      <p:pic>
        <p:nvPicPr>
          <p:cNvPr id="6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800725" y="6429375"/>
            <a:ext cx="47625" cy="47625"/>
          </a:xfrm>
          <a:prstGeom prst="rect">
            <a:avLst/>
          </a:prstGeom>
        </p:spPr>
      </p:pic>
      <p:sp>
        <p:nvSpPr>
          <p:cNvPr id="67" name="Shape 31"/>
          <p:cNvSpPr/>
          <p:nvPr/>
        </p:nvSpPr>
        <p:spPr>
          <a:xfrm>
            <a:off x="5562600" y="5562600"/>
            <a:ext cx="2314575" cy="742950"/>
          </a:xfrm>
          <a:prstGeom prst="roundRect">
            <a:avLst>
              <a:gd name="adj" fmla="val 4808"/>
            </a:avLst>
          </a:prstGeom>
          <a:solidFill>
            <a:srgbClr val="E8F3FD"/>
          </a:solidFill>
          <a:ln w="9525">
            <a:solidFill>
              <a:srgbClr val="D7E9FC"/>
            </a:solidFill>
            <a:prstDash val="solid"/>
          </a:ln>
        </p:spPr>
      </p:sp>
      <p:pic>
        <p:nvPicPr>
          <p:cNvPr id="68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953125" y="5762625"/>
            <a:ext cx="400050" cy="409575"/>
          </a:xfrm>
          <a:prstGeom prst="rect">
            <a:avLst/>
          </a:prstGeom>
        </p:spPr>
      </p:pic>
      <p:pic>
        <p:nvPicPr>
          <p:cNvPr id="69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610225" y="5610225"/>
            <a:ext cx="304800" cy="314325"/>
          </a:xfrm>
          <a:prstGeom prst="rect">
            <a:avLst/>
          </a:prstGeom>
        </p:spPr>
      </p:pic>
      <p:sp>
        <p:nvSpPr>
          <p:cNvPr id="70" name="Text 32"/>
          <p:cNvSpPr/>
          <p:nvPr/>
        </p:nvSpPr>
        <p:spPr>
          <a:xfrm>
            <a:off x="5715000" y="5667375"/>
            <a:ext cx="114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185" dirty="0">
                <a:solidFill>
                  <a:srgbClr val="B1D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85" dirty="0"/>
          </a:p>
        </p:txBody>
      </p:sp>
      <p:sp>
        <p:nvSpPr>
          <p:cNvPr id="71" name="Text 33"/>
          <p:cNvSpPr/>
          <p:nvPr/>
        </p:nvSpPr>
        <p:spPr>
          <a:xfrm>
            <a:off x="6457950" y="5848350"/>
            <a:ext cx="1362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970" dirty="0">
                <a:solidFill>
                  <a:srgbClr val="5B62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each response</a:t>
            </a:r>
            <a:endParaRPr lang="en-US" sz="970" dirty="0"/>
          </a:p>
        </p:txBody>
      </p:sp>
      <p:sp>
        <p:nvSpPr>
          <p:cNvPr id="72" name="Text 34"/>
          <p:cNvSpPr/>
          <p:nvPr/>
        </p:nvSpPr>
        <p:spPr>
          <a:xfrm>
            <a:off x="5972175" y="7315200"/>
            <a:ext cx="819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2"/>
              </a:lnSpc>
              <a:buNone/>
            </a:pPr>
            <a:r>
              <a:rPr lang="en-US" sz="1161" dirty="0">
                <a:solidFill>
                  <a:srgbClr val="7677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RuleVersion</a:t>
            </a:r>
            <a:endParaRPr lang="en-US" sz="1161" dirty="0"/>
          </a:p>
        </p:txBody>
      </p:sp>
      <p:sp>
        <p:nvSpPr>
          <p:cNvPr id="73" name="Text 35"/>
          <p:cNvSpPr/>
          <p:nvPr/>
        </p:nvSpPr>
        <p:spPr>
          <a:xfrm>
            <a:off x="5962650" y="7115175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1"/>
              </a:lnSpc>
              <a:buNone/>
            </a:pPr>
            <a:r>
              <a:rPr lang="en-US" sz="1213" dirty="0">
                <a:solidFill>
                  <a:srgbClr val="757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TriggeredAction</a:t>
            </a:r>
            <a:endParaRPr lang="en-US" sz="1213" dirty="0"/>
          </a:p>
        </p:txBody>
      </p:sp>
      <p:sp>
        <p:nvSpPr>
          <p:cNvPr id="74" name="Text 36"/>
          <p:cNvSpPr/>
          <p:nvPr/>
        </p:nvSpPr>
        <p:spPr>
          <a:xfrm>
            <a:off x="5962650" y="6924675"/>
            <a:ext cx="1028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125" dirty="0">
                <a:solidFill>
                  <a:srgbClr val="6C6F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TriggeredTeam</a:t>
            </a:r>
            <a:endParaRPr lang="en-US" sz="1125" dirty="0"/>
          </a:p>
        </p:txBody>
      </p:sp>
      <p:sp>
        <p:nvSpPr>
          <p:cNvPr id="75" name="Text 37"/>
          <p:cNvSpPr/>
          <p:nvPr/>
        </p:nvSpPr>
        <p:spPr>
          <a:xfrm>
            <a:off x="5972175" y="6734175"/>
            <a:ext cx="14478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6"/>
              </a:lnSpc>
              <a:buNone/>
            </a:pPr>
            <a:r>
              <a:rPr lang="en-US" sz="1161" dirty="0">
                <a:solidFill>
                  <a:srgbClr val="717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SecondLineTriggered</a:t>
            </a:r>
            <a:endParaRPr lang="en-US" sz="1161" dirty="0"/>
          </a:p>
        </p:txBody>
      </p:sp>
      <p:sp>
        <p:nvSpPr>
          <p:cNvPr id="76" name="Text 38"/>
          <p:cNvSpPr/>
          <p:nvPr/>
        </p:nvSpPr>
        <p:spPr>
          <a:xfrm>
            <a:off x="5972175" y="6543675"/>
            <a:ext cx="1466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1"/>
              </a:lnSpc>
              <a:buNone/>
            </a:pPr>
            <a:r>
              <a:rPr lang="en-US" sz="1144" dirty="0">
                <a:solidFill>
                  <a:srgbClr val="777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DealBreakerTriggered</a:t>
            </a:r>
            <a:endParaRPr lang="en-US" sz="1144" dirty="0"/>
          </a:p>
        </p:txBody>
      </p:sp>
      <p:sp>
        <p:nvSpPr>
          <p:cNvPr id="77" name="Text 39"/>
          <p:cNvSpPr/>
          <p:nvPr/>
        </p:nvSpPr>
        <p:spPr>
          <a:xfrm>
            <a:off x="5962650" y="6353175"/>
            <a:ext cx="904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1143" dirty="0">
                <a:solidFill>
                  <a:srgbClr val="737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AnswerScore</a:t>
            </a:r>
            <a:endParaRPr lang="en-US" sz="1143" dirty="0"/>
          </a:p>
        </p:txBody>
      </p:sp>
      <p:pic>
        <p:nvPicPr>
          <p:cNvPr id="7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877175" y="6257925"/>
            <a:ext cx="190500" cy="190500"/>
          </a:xfrm>
          <a:prstGeom prst="rect">
            <a:avLst/>
          </a:prstGeom>
        </p:spPr>
      </p:pic>
      <p:sp>
        <p:nvSpPr>
          <p:cNvPr id="79" name="Shape 40"/>
          <p:cNvSpPr/>
          <p:nvPr/>
        </p:nvSpPr>
        <p:spPr>
          <a:xfrm>
            <a:off x="2971800" y="6315075"/>
            <a:ext cx="2371725" cy="1228725"/>
          </a:xfrm>
          <a:prstGeom prst="roundRect">
            <a:avLst>
              <a:gd name="adj" fmla="val 3101"/>
            </a:avLst>
          </a:prstGeom>
          <a:solidFill>
            <a:srgbClr val="FDFDFE"/>
          </a:solidFill>
          <a:ln/>
        </p:spPr>
      </p:sp>
      <p:pic>
        <p:nvPicPr>
          <p:cNvPr id="8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219450" y="7048500"/>
            <a:ext cx="57150" cy="57150"/>
          </a:xfrm>
          <a:prstGeom prst="rect">
            <a:avLst/>
          </a:prstGeom>
        </p:spPr>
      </p:pic>
      <p:pic>
        <p:nvPicPr>
          <p:cNvPr id="81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219450" y="6858000"/>
            <a:ext cx="57150" cy="57150"/>
          </a:xfrm>
          <a:prstGeom prst="rect">
            <a:avLst/>
          </a:prstGeom>
        </p:spPr>
      </p:pic>
      <p:pic>
        <p:nvPicPr>
          <p:cNvPr id="82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219450" y="6648450"/>
            <a:ext cx="57150" cy="57150"/>
          </a:xfrm>
          <a:prstGeom prst="rect">
            <a:avLst/>
          </a:prstGeom>
        </p:spPr>
      </p:pic>
      <p:pic>
        <p:nvPicPr>
          <p:cNvPr id="83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219450" y="6438900"/>
            <a:ext cx="57150" cy="57150"/>
          </a:xfrm>
          <a:prstGeom prst="rect">
            <a:avLst/>
          </a:prstGeom>
        </p:spPr>
      </p:pic>
      <p:sp>
        <p:nvSpPr>
          <p:cNvPr id="84" name="Shape 41"/>
          <p:cNvSpPr/>
          <p:nvPr/>
        </p:nvSpPr>
        <p:spPr>
          <a:xfrm>
            <a:off x="2990850" y="5562600"/>
            <a:ext cx="2371725" cy="742950"/>
          </a:xfrm>
          <a:prstGeom prst="roundRect">
            <a:avLst>
              <a:gd name="adj" fmla="val 6090"/>
            </a:avLst>
          </a:prstGeom>
          <a:solidFill>
            <a:srgbClr val="E6F2FD"/>
          </a:solidFill>
          <a:ln w="19050">
            <a:solidFill>
              <a:srgbClr val="E0EFFD"/>
            </a:solidFill>
            <a:prstDash val="solid"/>
          </a:ln>
        </p:spPr>
      </p:sp>
      <p:sp>
        <p:nvSpPr>
          <p:cNvPr id="85" name="Text 42"/>
          <p:cNvSpPr/>
          <p:nvPr/>
        </p:nvSpPr>
        <p:spPr>
          <a:xfrm>
            <a:off x="3971925" y="5734050"/>
            <a:ext cx="13430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67" b="1" dirty="0">
                <a:solidFill>
                  <a:srgbClr val="5F67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immutable</a:t>
            </a:r>
            <a:endParaRPr lang="en-US" sz="867" dirty="0"/>
          </a:p>
          <a:p>
            <a:pPr algn="l" indent="0" marL="0">
              <a:lnSpc>
                <a:spcPts val="1176"/>
              </a:lnSpc>
              <a:buNone/>
            </a:pPr>
            <a:r>
              <a:rPr lang="en-US" sz="867" b="1" dirty="0">
                <a:solidFill>
                  <a:srgbClr val="5F67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Details rows</a:t>
            </a:r>
            <a:endParaRPr lang="en-US" sz="867" dirty="0"/>
          </a:p>
        </p:txBody>
      </p:sp>
      <p:pic>
        <p:nvPicPr>
          <p:cNvPr id="86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486150" y="5772150"/>
            <a:ext cx="304800" cy="381000"/>
          </a:xfrm>
          <a:prstGeom prst="rect">
            <a:avLst/>
          </a:prstGeom>
        </p:spPr>
      </p:pic>
      <p:sp>
        <p:nvSpPr>
          <p:cNvPr id="87" name="Shape 43"/>
          <p:cNvSpPr/>
          <p:nvPr/>
        </p:nvSpPr>
        <p:spPr>
          <a:xfrm>
            <a:off x="3048000" y="5619750"/>
            <a:ext cx="323850" cy="314325"/>
          </a:xfrm>
          <a:prstGeom prst="roundRect">
            <a:avLst>
              <a:gd name="adj" fmla="val 50000"/>
            </a:avLst>
          </a:prstGeom>
          <a:solidFill>
            <a:srgbClr val="006DF7"/>
          </a:solidFill>
          <a:ln w="9525">
            <a:solidFill>
              <a:srgbClr val="3B88FB"/>
            </a:solidFill>
            <a:prstDash val="solid"/>
          </a:ln>
        </p:spPr>
      </p:sp>
      <p:sp>
        <p:nvSpPr>
          <p:cNvPr id="88" name="Text 44"/>
          <p:cNvSpPr/>
          <p:nvPr/>
        </p:nvSpPr>
        <p:spPr>
          <a:xfrm>
            <a:off x="3162300" y="5676900"/>
            <a:ext cx="114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418" dirty="0">
                <a:solidFill>
                  <a:srgbClr val="A2CB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18" dirty="0"/>
          </a:p>
        </p:txBody>
      </p:sp>
      <p:sp>
        <p:nvSpPr>
          <p:cNvPr id="89" name="Text 45"/>
          <p:cNvSpPr/>
          <p:nvPr/>
        </p:nvSpPr>
        <p:spPr>
          <a:xfrm>
            <a:off x="3390900" y="6953250"/>
            <a:ext cx="13620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8"/>
              </a:lnSpc>
              <a:buNone/>
            </a:pPr>
            <a:r>
              <a:rPr lang="en-US" sz="1050" dirty="0">
                <a:solidFill>
                  <a:srgbClr val="757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submission/version</a:t>
            </a:r>
            <a:endParaRPr lang="en-US" sz="1050" dirty="0"/>
          </a:p>
          <a:p>
            <a:pPr algn="l" indent="0" marL="0">
              <a:lnSpc>
                <a:spcPts val="1538"/>
              </a:lnSpc>
              <a:buNone/>
            </a:pPr>
            <a:r>
              <a:rPr lang="en-US" sz="1050" dirty="0">
                <a:solidFill>
                  <a:srgbClr val="757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1050" dirty="0"/>
          </a:p>
        </p:txBody>
      </p:sp>
      <p:sp>
        <p:nvSpPr>
          <p:cNvPr id="90" name="Text 46"/>
          <p:cNvSpPr/>
          <p:nvPr/>
        </p:nvSpPr>
        <p:spPr>
          <a:xfrm>
            <a:off x="3390900" y="6781800"/>
            <a:ext cx="619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9"/>
              </a:lnSpc>
              <a:buNone/>
            </a:pPr>
            <a:r>
              <a:rPr lang="en-US" sz="1233" dirty="0">
                <a:solidFill>
                  <a:srgbClr val="6C6E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rationale</a:t>
            </a:r>
            <a:endParaRPr lang="en-US" sz="1233" dirty="0"/>
          </a:p>
        </p:txBody>
      </p:sp>
      <p:sp>
        <p:nvSpPr>
          <p:cNvPr id="91" name="Text 47"/>
          <p:cNvSpPr/>
          <p:nvPr/>
        </p:nvSpPr>
        <p:spPr>
          <a:xfrm>
            <a:off x="3390900" y="6600825"/>
            <a:ext cx="5048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9"/>
              </a:lnSpc>
              <a:buNone/>
            </a:pPr>
            <a:r>
              <a:rPr lang="en-US" sz="1178" dirty="0">
                <a:solidFill>
                  <a:srgbClr val="7676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178" dirty="0"/>
          </a:p>
        </p:txBody>
      </p:sp>
      <p:sp>
        <p:nvSpPr>
          <p:cNvPr id="92" name="Text 48"/>
          <p:cNvSpPr/>
          <p:nvPr/>
        </p:nvSpPr>
        <p:spPr>
          <a:xfrm>
            <a:off x="3390900" y="636270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1"/>
              </a:lnSpc>
              <a:buNone/>
            </a:pPr>
            <a:r>
              <a:rPr lang="en-US" sz="1186" dirty="0">
                <a:solidFill>
                  <a:srgbClr val="7779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snapshot</a:t>
            </a:r>
            <a:endParaRPr lang="en-US" sz="1186" dirty="0"/>
          </a:p>
        </p:txBody>
      </p:sp>
      <p:pic>
        <p:nvPicPr>
          <p:cNvPr id="93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981450" y="7400925"/>
            <a:ext cx="219075" cy="247650"/>
          </a:xfrm>
          <a:prstGeom prst="rect">
            <a:avLst/>
          </a:prstGeom>
        </p:spPr>
      </p:pic>
      <p:pic>
        <p:nvPicPr>
          <p:cNvPr id="94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343525" y="6257925"/>
            <a:ext cx="200025" cy="200025"/>
          </a:xfrm>
          <a:prstGeom prst="rect">
            <a:avLst/>
          </a:prstGeom>
        </p:spPr>
      </p:pic>
      <p:sp>
        <p:nvSpPr>
          <p:cNvPr id="95" name="Shape 49"/>
          <p:cNvSpPr/>
          <p:nvPr/>
        </p:nvSpPr>
        <p:spPr>
          <a:xfrm>
            <a:off x="390525" y="6248400"/>
            <a:ext cx="2371725" cy="1295400"/>
          </a:xfrm>
          <a:prstGeom prst="roundRect">
            <a:avLst>
              <a:gd name="adj" fmla="val 2941"/>
            </a:avLst>
          </a:prstGeom>
          <a:solidFill>
            <a:srgbClr val="FDFDFE"/>
          </a:solidFill>
          <a:ln w="57150">
            <a:solidFill>
              <a:srgbClr val="E2F0FD"/>
            </a:solidFill>
            <a:prstDash val="solid"/>
          </a:ln>
        </p:spPr>
      </p:sp>
      <p:pic>
        <p:nvPicPr>
          <p:cNvPr id="9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00075" y="6858000"/>
            <a:ext cx="57150" cy="57150"/>
          </a:xfrm>
          <a:prstGeom prst="rect">
            <a:avLst/>
          </a:prstGeom>
        </p:spPr>
      </p:pic>
      <p:pic>
        <p:nvPicPr>
          <p:cNvPr id="9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0075" y="6438900"/>
            <a:ext cx="57150" cy="47625"/>
          </a:xfrm>
          <a:prstGeom prst="rect">
            <a:avLst/>
          </a:prstGeom>
        </p:spPr>
      </p:pic>
      <p:sp>
        <p:nvSpPr>
          <p:cNvPr id="98" name="Shape 50"/>
          <p:cNvSpPr/>
          <p:nvPr/>
        </p:nvSpPr>
        <p:spPr>
          <a:xfrm>
            <a:off x="390525" y="5562600"/>
            <a:ext cx="2362200" cy="742950"/>
          </a:xfrm>
          <a:prstGeom prst="roundRect">
            <a:avLst>
              <a:gd name="adj" fmla="val 5769"/>
            </a:avLst>
          </a:prstGeom>
          <a:solidFill>
            <a:srgbClr val="E7F2FD"/>
          </a:solidFill>
          <a:ln w="9525">
            <a:solidFill>
              <a:srgbClr val="D8E9FC"/>
            </a:solidFill>
            <a:prstDash val="solid"/>
          </a:ln>
        </p:spPr>
      </p:sp>
      <p:pic>
        <p:nvPicPr>
          <p:cNvPr id="99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52500" y="5762625"/>
            <a:ext cx="400050" cy="438150"/>
          </a:xfrm>
          <a:prstGeom prst="rect">
            <a:avLst/>
          </a:prstGeom>
        </p:spPr>
      </p:pic>
      <p:pic>
        <p:nvPicPr>
          <p:cNvPr id="100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66725" y="5619750"/>
            <a:ext cx="333375" cy="323850"/>
          </a:xfrm>
          <a:prstGeom prst="rect">
            <a:avLst/>
          </a:prstGeom>
        </p:spPr>
      </p:pic>
      <p:sp>
        <p:nvSpPr>
          <p:cNvPr id="101" name="Text 51"/>
          <p:cNvSpPr/>
          <p:nvPr/>
        </p:nvSpPr>
        <p:spPr>
          <a:xfrm>
            <a:off x="590550" y="567690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418" dirty="0">
                <a:solidFill>
                  <a:srgbClr val="B7D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18" dirty="0"/>
          </a:p>
        </p:txBody>
      </p:sp>
      <p:sp>
        <p:nvSpPr>
          <p:cNvPr id="102" name="Text 52"/>
          <p:cNvSpPr/>
          <p:nvPr/>
        </p:nvSpPr>
        <p:spPr>
          <a:xfrm>
            <a:off x="1428750" y="5838825"/>
            <a:ext cx="1200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943" b="1" dirty="0">
                <a:solidFill>
                  <a:srgbClr val="5760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submission</a:t>
            </a:r>
            <a:endParaRPr lang="en-US" sz="943" dirty="0"/>
          </a:p>
        </p:txBody>
      </p:sp>
      <p:sp>
        <p:nvSpPr>
          <p:cNvPr id="103" name="Text 53"/>
          <p:cNvSpPr/>
          <p:nvPr/>
        </p:nvSpPr>
        <p:spPr>
          <a:xfrm>
            <a:off x="771525" y="67818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4"/>
              </a:lnSpc>
              <a:buNone/>
            </a:pPr>
            <a:r>
              <a:rPr lang="en-US" sz="1217" dirty="0">
                <a:solidFill>
                  <a:srgbClr val="6C6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data format
</a:t>
            </a:r>
            <a:pPr algn="l" indent="0" marL="0">
              <a:lnSpc>
                <a:spcPts val="1484"/>
              </a:lnSpc>
              <a:buNone/>
            </a:pPr>
            <a:r>
              <a:rPr lang="en-US" sz="1217" dirty="0">
                <a:solidFill>
                  <a:srgbClr val="767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completeness</a:t>
            </a:r>
            <a:endParaRPr lang="en-US" sz="1217" dirty="0"/>
          </a:p>
        </p:txBody>
      </p:sp>
      <p:sp>
        <p:nvSpPr>
          <p:cNvPr id="104" name="Text 54"/>
          <p:cNvSpPr/>
          <p:nvPr/>
        </p:nvSpPr>
        <p:spPr>
          <a:xfrm>
            <a:off x="771525" y="6353175"/>
            <a:ext cx="1066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1"/>
              </a:lnSpc>
              <a:buNone/>
            </a:pPr>
            <a:r>
              <a:rPr lang="en-US" sz="1201" dirty="0">
                <a:solidFill>
                  <a:srgbClr val="7E7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required</a:t>
            </a:r>
            <a:endParaRPr lang="en-US" sz="1201" dirty="0"/>
          </a:p>
          <a:p>
            <a:pPr algn="l" indent="0" marL="0">
              <a:lnSpc>
                <a:spcPts val="1601"/>
              </a:lnSpc>
              <a:buNone/>
            </a:pPr>
            <a:r>
              <a:rPr lang="en-US" sz="1201" dirty="0">
                <a:solidFill>
                  <a:srgbClr val="7E7F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1201" dirty="0"/>
          </a:p>
        </p:txBody>
      </p:sp>
      <p:pic>
        <p:nvPicPr>
          <p:cNvPr id="105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752725" y="6257925"/>
            <a:ext cx="200025" cy="200025"/>
          </a:xfrm>
          <a:prstGeom prst="rect">
            <a:avLst/>
          </a:prstGeom>
        </p:spPr>
      </p:pic>
      <p:sp>
        <p:nvSpPr>
          <p:cNvPr id="106" name="Text 55"/>
          <p:cNvSpPr/>
          <p:nvPr/>
        </p:nvSpPr>
        <p:spPr>
          <a:xfrm>
            <a:off x="1181100" y="5248275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1621" dirty="0">
                <a:solidFill>
                  <a:srgbClr val="7885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workflow and evaluation</a:t>
            </a:r>
            <a:endParaRPr lang="en-US" sz="1621" dirty="0"/>
          </a:p>
        </p:txBody>
      </p:sp>
      <p:sp>
        <p:nvSpPr>
          <p:cNvPr id="107" name="Text 56"/>
          <p:cNvSpPr/>
          <p:nvPr/>
        </p:nvSpPr>
        <p:spPr>
          <a:xfrm>
            <a:off x="1190625" y="4953000"/>
            <a:ext cx="20478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965" b="1" dirty="0">
                <a:solidFill>
                  <a:srgbClr val="353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Automate</a:t>
            </a:r>
            <a:endParaRPr lang="en-US" sz="1965" dirty="0"/>
          </a:p>
        </p:txBody>
      </p:sp>
      <p:pic>
        <p:nvPicPr>
          <p:cNvPr id="108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66725" y="4953000"/>
            <a:ext cx="552450" cy="466725"/>
          </a:xfrm>
          <a:prstGeom prst="rect">
            <a:avLst/>
          </a:prstGeom>
        </p:spPr>
      </p:pic>
      <p:sp>
        <p:nvSpPr>
          <p:cNvPr id="109" name="Shape 57"/>
          <p:cNvSpPr/>
          <p:nvPr/>
        </p:nvSpPr>
        <p:spPr>
          <a:xfrm>
            <a:off x="2314575" y="3971925"/>
            <a:ext cx="11325225" cy="704850"/>
          </a:xfrm>
          <a:prstGeom prst="roundRect">
            <a:avLst>
              <a:gd name="adj" fmla="val 9459"/>
            </a:avLst>
          </a:prstGeom>
          <a:solidFill>
            <a:srgbClr val="F2EFFD"/>
          </a:solidFill>
          <a:ln w="9525">
            <a:solidFill>
              <a:srgbClr val="DEE0FB"/>
            </a:solidFill>
            <a:prstDash val="solid"/>
          </a:ln>
        </p:spPr>
      </p:sp>
      <p:pic>
        <p:nvPicPr>
          <p:cNvPr id="110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943850" y="4124325"/>
            <a:ext cx="19050" cy="409575"/>
          </a:xfrm>
          <a:prstGeom prst="rect">
            <a:avLst/>
          </a:prstGeom>
        </p:spPr>
      </p:pic>
      <p:pic>
        <p:nvPicPr>
          <p:cNvPr id="111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228975" y="4086225"/>
            <a:ext cx="19050" cy="485775"/>
          </a:xfrm>
          <a:prstGeom prst="rect">
            <a:avLst/>
          </a:prstGeom>
        </p:spPr>
      </p:pic>
      <p:pic>
        <p:nvPicPr>
          <p:cNvPr id="112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552700" y="4076700"/>
            <a:ext cx="495300" cy="485775"/>
          </a:xfrm>
          <a:prstGeom prst="rect">
            <a:avLst/>
          </a:prstGeom>
        </p:spPr>
      </p:pic>
      <p:sp>
        <p:nvSpPr>
          <p:cNvPr id="113" name="Text 58"/>
          <p:cNvSpPr/>
          <p:nvPr/>
        </p:nvSpPr>
        <p:spPr>
          <a:xfrm>
            <a:off x="8220075" y="4171950"/>
            <a:ext cx="410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buNone/>
            </a:pPr>
            <a:r>
              <a:rPr lang="en-US" sz="1222" dirty="0">
                <a:solidFill>
                  <a:srgbClr val="7678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submits the completed questionnaire in Power Apps.</a:t>
            </a:r>
            <a:endParaRPr lang="en-US" sz="1222" dirty="0"/>
          </a:p>
        </p:txBody>
      </p:sp>
      <p:sp>
        <p:nvSpPr>
          <p:cNvPr id="114" name="Text 59"/>
          <p:cNvSpPr/>
          <p:nvPr/>
        </p:nvSpPr>
        <p:spPr>
          <a:xfrm>
            <a:off x="3486150" y="4362450"/>
            <a:ext cx="3000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348" dirty="0">
                <a:solidFill>
                  <a:srgbClr val="8488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submits completed questionnaire</a:t>
            </a:r>
            <a:endParaRPr lang="en-US" sz="1348" dirty="0"/>
          </a:p>
        </p:txBody>
      </p:sp>
      <p:sp>
        <p:nvSpPr>
          <p:cNvPr id="115" name="Text 60"/>
          <p:cNvSpPr/>
          <p:nvPr/>
        </p:nvSpPr>
        <p:spPr>
          <a:xfrm>
            <a:off x="3486150" y="4076700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1684" b="1" dirty="0">
                <a:solidFill>
                  <a:srgbClr val="3F4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684" dirty="0"/>
          </a:p>
        </p:txBody>
      </p:sp>
      <p:pic>
        <p:nvPicPr>
          <p:cNvPr id="116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867650" y="4667250"/>
            <a:ext cx="200025" cy="190500"/>
          </a:xfrm>
          <a:prstGeom prst="rect">
            <a:avLst/>
          </a:prstGeom>
        </p:spPr>
      </p:pic>
      <p:pic>
        <p:nvPicPr>
          <p:cNvPr id="11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867650" y="3752850"/>
            <a:ext cx="190500" cy="200025"/>
          </a:xfrm>
          <a:prstGeom prst="rect">
            <a:avLst/>
          </a:prstGeom>
        </p:spPr>
      </p:pic>
      <p:sp>
        <p:nvSpPr>
          <p:cNvPr id="118" name="Shape 61"/>
          <p:cNvSpPr/>
          <p:nvPr/>
        </p:nvSpPr>
        <p:spPr>
          <a:xfrm>
            <a:off x="2314575" y="3009900"/>
            <a:ext cx="11325225" cy="742950"/>
          </a:xfrm>
          <a:prstGeom prst="roundRect">
            <a:avLst>
              <a:gd name="adj" fmla="val 10256"/>
            </a:avLst>
          </a:prstGeom>
          <a:solidFill>
            <a:srgbClr val="EBF8FB"/>
          </a:solidFill>
          <a:ln w="9525">
            <a:solidFill>
              <a:srgbClr val="D2EAF8"/>
            </a:solidFill>
            <a:prstDash val="solid"/>
          </a:ln>
        </p:spPr>
      </p:sp>
      <p:pic>
        <p:nvPicPr>
          <p:cNvPr id="119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943850" y="3181350"/>
            <a:ext cx="19050" cy="409575"/>
          </a:xfrm>
          <a:prstGeom prst="rect">
            <a:avLst/>
          </a:prstGeom>
        </p:spPr>
      </p:pic>
      <p:pic>
        <p:nvPicPr>
          <p:cNvPr id="120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514600" y="3095625"/>
            <a:ext cx="571500" cy="571500"/>
          </a:xfrm>
          <a:prstGeom prst="rect">
            <a:avLst/>
          </a:prstGeom>
        </p:spPr>
      </p:pic>
      <p:sp>
        <p:nvSpPr>
          <p:cNvPr id="121" name="Text 62"/>
          <p:cNvSpPr/>
          <p:nvPr/>
        </p:nvSpPr>
        <p:spPr>
          <a:xfrm>
            <a:off x="8220075" y="3143250"/>
            <a:ext cx="45053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737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responses are saved in the same Use Case Inventory row</a:t>
            </a:r>
            <a:endParaRPr lang="en-US" sz="12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737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(DraftResponsesJSON) so the user can resume later</a:t>
            </a:r>
            <a:endParaRPr lang="en-US" sz="1200" dirty="0"/>
          </a:p>
        </p:txBody>
      </p:sp>
      <p:sp>
        <p:nvSpPr>
          <p:cNvPr id="122" name="Text 63"/>
          <p:cNvSpPr/>
          <p:nvPr/>
        </p:nvSpPr>
        <p:spPr>
          <a:xfrm>
            <a:off x="3505200" y="3409950"/>
            <a:ext cx="3086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350" dirty="0">
                <a:solidFill>
                  <a:srgbClr val="7A8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responses stored for resume later</a:t>
            </a:r>
            <a:endParaRPr lang="en-US" sz="1350" dirty="0"/>
          </a:p>
        </p:txBody>
      </p:sp>
      <p:sp>
        <p:nvSpPr>
          <p:cNvPr id="123" name="Text 64"/>
          <p:cNvSpPr/>
          <p:nvPr/>
        </p:nvSpPr>
        <p:spPr>
          <a:xfrm>
            <a:off x="3505200" y="3133725"/>
            <a:ext cx="26479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613" b="1" dirty="0">
                <a:solidFill>
                  <a:srgbClr val="434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saved into same row</a:t>
            </a:r>
            <a:endParaRPr lang="en-US" sz="1613" dirty="0"/>
          </a:p>
        </p:txBody>
      </p:sp>
      <p:sp>
        <p:nvSpPr>
          <p:cNvPr id="124" name="Text 65"/>
          <p:cNvSpPr/>
          <p:nvPr/>
        </p:nvSpPr>
        <p:spPr>
          <a:xfrm>
            <a:off x="2590800" y="3267075"/>
            <a:ext cx="15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688" b="1" dirty="0">
                <a:solidFill>
                  <a:srgbClr val="C4E1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688" dirty="0"/>
          </a:p>
        </p:txBody>
      </p:sp>
      <p:sp>
        <p:nvSpPr>
          <p:cNvPr id="125" name="Shape 66"/>
          <p:cNvSpPr/>
          <p:nvPr/>
        </p:nvSpPr>
        <p:spPr>
          <a:xfrm>
            <a:off x="2324100" y="2085975"/>
            <a:ext cx="11315700" cy="714375"/>
          </a:xfrm>
          <a:prstGeom prst="roundRect">
            <a:avLst>
              <a:gd name="adj" fmla="val 10333"/>
            </a:avLst>
          </a:prstGeom>
          <a:solidFill>
            <a:srgbClr val="EEF8FC"/>
          </a:solidFill>
          <a:ln w="9525">
            <a:solidFill>
              <a:srgbClr val="D8EEF8"/>
            </a:solidFill>
            <a:prstDash val="solid"/>
          </a:ln>
        </p:spPr>
      </p:sp>
      <p:pic>
        <p:nvPicPr>
          <p:cNvPr id="126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943850" y="2238375"/>
            <a:ext cx="19050" cy="419100"/>
          </a:xfrm>
          <a:prstGeom prst="rect">
            <a:avLst/>
          </a:prstGeom>
        </p:spPr>
      </p:pic>
      <p:pic>
        <p:nvPicPr>
          <p:cNvPr id="127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2514600" y="2162175"/>
            <a:ext cx="571500" cy="561975"/>
          </a:xfrm>
          <a:prstGeom prst="rect">
            <a:avLst/>
          </a:prstGeom>
        </p:spPr>
      </p:pic>
      <p:sp>
        <p:nvSpPr>
          <p:cNvPr id="128" name="Text 67"/>
          <p:cNvSpPr/>
          <p:nvPr/>
        </p:nvSpPr>
        <p:spPr>
          <a:xfrm>
            <a:off x="8201025" y="2209800"/>
            <a:ext cx="45053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34" dirty="0">
                <a:solidFill>
                  <a:srgbClr val="727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row is created in the SharePoint Use Case Inventory list</a:t>
            </a:r>
            <a:endParaRPr lang="en-US" sz="1234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34" dirty="0">
                <a:solidFill>
                  <a:srgbClr val="727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triage is started, with Status = Draft.</a:t>
            </a:r>
            <a:endParaRPr lang="en-US" sz="1234" dirty="0"/>
          </a:p>
        </p:txBody>
      </p:sp>
      <p:sp>
        <p:nvSpPr>
          <p:cNvPr id="129" name="Text 68"/>
          <p:cNvSpPr/>
          <p:nvPr/>
        </p:nvSpPr>
        <p:spPr>
          <a:xfrm>
            <a:off x="3476625" y="2466975"/>
            <a:ext cx="3676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348" dirty="0">
                <a:solidFill>
                  <a:srgbClr val="818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case record created when triage begins</a:t>
            </a:r>
            <a:endParaRPr lang="en-US" sz="1348" dirty="0"/>
          </a:p>
        </p:txBody>
      </p:sp>
      <p:sp>
        <p:nvSpPr>
          <p:cNvPr id="130" name="Text 69"/>
          <p:cNvSpPr/>
          <p:nvPr/>
        </p:nvSpPr>
        <p:spPr>
          <a:xfrm>
            <a:off x="3467100" y="2181225"/>
            <a:ext cx="3933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3"/>
              </a:lnSpc>
              <a:buNone/>
            </a:pPr>
            <a:r>
              <a:rPr lang="en-US" sz="1600" b="1" dirty="0">
                <a:solidFill>
                  <a:srgbClr val="4144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Inventory row created at start</a:t>
            </a:r>
            <a:endParaRPr lang="en-US" sz="1600" dirty="0"/>
          </a:p>
        </p:txBody>
      </p:sp>
      <p:sp>
        <p:nvSpPr>
          <p:cNvPr id="131" name="Text 70"/>
          <p:cNvSpPr/>
          <p:nvPr/>
        </p:nvSpPr>
        <p:spPr>
          <a:xfrm>
            <a:off x="2590800" y="2324100"/>
            <a:ext cx="152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665" b="1" dirty="0">
                <a:solidFill>
                  <a:srgbClr val="C1DF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665" dirty="0"/>
          </a:p>
        </p:txBody>
      </p:sp>
      <p:pic>
        <p:nvPicPr>
          <p:cNvPr id="132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839075" y="2790825"/>
            <a:ext cx="238125" cy="209550"/>
          </a:xfrm>
          <a:prstGeom prst="rect">
            <a:avLst/>
          </a:prstGeom>
        </p:spPr>
      </p:pic>
      <p:pic>
        <p:nvPicPr>
          <p:cNvPr id="133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867650" y="1857375"/>
            <a:ext cx="190500" cy="200025"/>
          </a:xfrm>
          <a:prstGeom prst="rect">
            <a:avLst/>
          </a:prstGeom>
        </p:spPr>
      </p:pic>
      <p:pic>
        <p:nvPicPr>
          <p:cNvPr id="134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4220825" y="0"/>
            <a:ext cx="1704975" cy="1543050"/>
          </a:xfrm>
          <a:prstGeom prst="rect">
            <a:avLst/>
          </a:prstGeom>
        </p:spPr>
      </p:pic>
      <p:sp>
        <p:nvSpPr>
          <p:cNvPr id="135" name="Shape 71"/>
          <p:cNvSpPr/>
          <p:nvPr/>
        </p:nvSpPr>
        <p:spPr>
          <a:xfrm>
            <a:off x="2314575" y="1133475"/>
            <a:ext cx="11306175" cy="723900"/>
          </a:xfrm>
          <a:prstGeom prst="roundRect">
            <a:avLst>
              <a:gd name="adj" fmla="val 5263"/>
            </a:avLst>
          </a:prstGeom>
          <a:solidFill>
            <a:srgbClr val="F4F4FD"/>
          </a:solidFill>
          <a:ln w="9525">
            <a:solidFill>
              <a:srgbClr val="E0E6FB"/>
            </a:solidFill>
            <a:prstDash val="solid"/>
          </a:ln>
        </p:spPr>
      </p:sp>
      <p:pic>
        <p:nvPicPr>
          <p:cNvPr id="136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924800" y="1295400"/>
            <a:ext cx="19050" cy="419100"/>
          </a:xfrm>
          <a:prstGeom prst="rect">
            <a:avLst/>
          </a:prstGeom>
        </p:spPr>
      </p:pic>
      <p:pic>
        <p:nvPicPr>
          <p:cNvPr id="137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3219450" y="1371600"/>
            <a:ext cx="9525" cy="342900"/>
          </a:xfrm>
          <a:prstGeom prst="rect">
            <a:avLst/>
          </a:prstGeom>
        </p:spPr>
      </p:pic>
      <p:pic>
        <p:nvPicPr>
          <p:cNvPr id="138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533650" y="1257300"/>
            <a:ext cx="504825" cy="485775"/>
          </a:xfrm>
          <a:prstGeom prst="rect">
            <a:avLst/>
          </a:prstGeom>
        </p:spPr>
      </p:pic>
      <p:sp>
        <p:nvSpPr>
          <p:cNvPr id="139" name="Text 72"/>
          <p:cNvSpPr/>
          <p:nvPr/>
        </p:nvSpPr>
        <p:spPr>
          <a:xfrm>
            <a:off x="8172450" y="1276350"/>
            <a:ext cx="4648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210" dirty="0">
                <a:solidFill>
                  <a:srgbClr val="6E7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opens the Power Apps canvas app and completes the AI risk</a:t>
            </a:r>
            <a:endParaRPr lang="en-US" sz="1210" dirty="0"/>
          </a:p>
          <a:p>
            <a:pPr algn="l" indent="0" marL="0">
              <a:lnSpc>
                <a:spcPts val="1513"/>
              </a:lnSpc>
              <a:buNone/>
            </a:pPr>
            <a:r>
              <a:rPr lang="en-US" sz="1210" dirty="0">
                <a:solidFill>
                  <a:srgbClr val="6E7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 for a new or existing use case.</a:t>
            </a:r>
            <a:endParaRPr lang="en-US" sz="1210" dirty="0"/>
          </a:p>
        </p:txBody>
      </p:sp>
      <p:sp>
        <p:nvSpPr>
          <p:cNvPr id="140" name="Text 73"/>
          <p:cNvSpPr/>
          <p:nvPr/>
        </p:nvSpPr>
        <p:spPr>
          <a:xfrm>
            <a:off x="3467100" y="1533525"/>
            <a:ext cx="23812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375" dirty="0">
                <a:solidFill>
                  <a:srgbClr val="878C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completes questionnaire</a:t>
            </a:r>
            <a:endParaRPr lang="en-US" sz="1375" dirty="0"/>
          </a:p>
        </p:txBody>
      </p:sp>
      <p:sp>
        <p:nvSpPr>
          <p:cNvPr id="141" name="Text 74"/>
          <p:cNvSpPr/>
          <p:nvPr/>
        </p:nvSpPr>
        <p:spPr>
          <a:xfrm>
            <a:off x="3467100" y="1266825"/>
            <a:ext cx="1276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2"/>
              </a:lnSpc>
              <a:buNone/>
            </a:pPr>
            <a:r>
              <a:rPr lang="en-US" sz="1687" b="1" dirty="0">
                <a:solidFill>
                  <a:srgbClr val="2F2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Apps</a:t>
            </a:r>
            <a:endParaRPr lang="en-US" sz="1687" dirty="0"/>
          </a:p>
        </p:txBody>
      </p:sp>
      <p:sp>
        <p:nvSpPr>
          <p:cNvPr id="142" name="Text 75"/>
          <p:cNvSpPr/>
          <p:nvPr/>
        </p:nvSpPr>
        <p:spPr>
          <a:xfrm>
            <a:off x="495300" y="676275"/>
            <a:ext cx="11658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40" dirty="0">
                <a:solidFill>
                  <a:srgbClr val="7780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process flow from Power Apps questionnaire submission to SharePoint records and notifications</a:t>
            </a:r>
            <a:endParaRPr lang="en-US" sz="1740" dirty="0"/>
          </a:p>
        </p:txBody>
      </p:sp>
      <p:sp>
        <p:nvSpPr>
          <p:cNvPr id="143" name="Text 76"/>
          <p:cNvSpPr/>
          <p:nvPr/>
        </p:nvSpPr>
        <p:spPr>
          <a:xfrm>
            <a:off x="466725" y="85725"/>
            <a:ext cx="108204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468" b="1" dirty="0">
                <a:solidFill>
                  <a:srgbClr val="1D1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Triage — Submission and Evaluation Flow</a:t>
            </a:r>
            <a:endParaRPr lang="en-US" sz="346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9150" y="8420100"/>
            <a:ext cx="14306550" cy="523875"/>
          </a:xfrm>
          <a:prstGeom prst="rect">
            <a:avLst/>
          </a:prstGeom>
          <a:solidFill>
            <a:srgbClr val="E6F2FD"/>
          </a:solidFill>
          <a:ln w="47625">
            <a:solidFill>
              <a:srgbClr val="ECF4FD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8505825"/>
            <a:ext cx="333375" cy="3238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76400" y="8553450"/>
            <a:ext cx="12944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1"/>
              </a:lnSpc>
              <a:buNone/>
            </a:pPr>
            <a:r>
              <a:rPr lang="en-US" sz="1327" b="1" dirty="0">
                <a:solidFill>
                  <a:srgbClr val="5056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</a:t>
            </a:r>
            <a:pPr algn="l" indent="0" marL="0">
              <a:lnSpc>
                <a:spcPts val="1451"/>
              </a:lnSpc>
              <a:buNone/>
            </a:pPr>
            <a:r>
              <a:rPr lang="en-US" sz="1327" dirty="0">
                <a:solidFill>
                  <a:srgbClr val="6E7D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provide one Power Apps screen where the user starts a new triage or selects an existing use case, with status automatically controlling edit or read-only mode.</a:t>
            </a:r>
            <a:endParaRPr lang="en-US" sz="1327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25" y="4181475"/>
            <a:ext cx="12677775" cy="418147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2677775" y="7905750"/>
            <a:ext cx="1352550" cy="314325"/>
          </a:xfrm>
          <a:prstGeom prst="roundRect">
            <a:avLst>
              <a:gd name="adj" fmla="val 6818"/>
            </a:avLst>
          </a:prstGeom>
          <a:solidFill>
            <a:srgbClr val="016EFD"/>
          </a:solidFill>
          <a:ln w="9525">
            <a:solidFill>
              <a:srgbClr val="277FFA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3125450" y="7981950"/>
            <a:ext cx="466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1126" dirty="0">
                <a:solidFill>
                  <a:srgbClr val="8FC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126" dirty="0"/>
          </a:p>
        </p:txBody>
      </p:sp>
      <p:sp>
        <p:nvSpPr>
          <p:cNvPr id="9" name="Shape 4"/>
          <p:cNvSpPr/>
          <p:nvPr/>
        </p:nvSpPr>
        <p:spPr>
          <a:xfrm>
            <a:off x="11201400" y="7905750"/>
            <a:ext cx="1314450" cy="314325"/>
          </a:xfrm>
          <a:prstGeom prst="roundRect">
            <a:avLst>
              <a:gd name="adj" fmla="val 4545"/>
            </a:avLst>
          </a:prstGeom>
          <a:solidFill>
            <a:srgbClr val="FDFEFE"/>
          </a:solidFill>
          <a:ln w="9525">
            <a:solidFill>
              <a:srgbClr val="82B8FB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1534775" y="7972425"/>
            <a:ext cx="666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1035" dirty="0">
                <a:solidFill>
                  <a:srgbClr val="64A3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Draft</a:t>
            </a:r>
            <a:endParaRPr lang="en-US" sz="1035" dirty="0"/>
          </a:p>
        </p:txBody>
      </p:sp>
      <p:sp>
        <p:nvSpPr>
          <p:cNvPr id="11" name="Shape 6"/>
          <p:cNvSpPr/>
          <p:nvPr/>
        </p:nvSpPr>
        <p:spPr>
          <a:xfrm>
            <a:off x="9820275" y="7905750"/>
            <a:ext cx="1200150" cy="314325"/>
          </a:xfrm>
          <a:prstGeom prst="roundRect">
            <a:avLst>
              <a:gd name="adj" fmla="val 4545"/>
            </a:avLst>
          </a:prstGeom>
          <a:solidFill>
            <a:srgbClr val="FDFDFD"/>
          </a:solidFill>
          <a:ln w="9525">
            <a:solidFill>
              <a:srgbClr val="82B7F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163175" y="7981950"/>
            <a:ext cx="53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1047" dirty="0">
                <a:solidFill>
                  <a:srgbClr val="64A3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</a:t>
            </a:r>
            <a:endParaRPr lang="en-US" sz="1047" dirty="0"/>
          </a:p>
        </p:txBody>
      </p:sp>
      <p:sp>
        <p:nvSpPr>
          <p:cNvPr id="13" name="Text 8"/>
          <p:cNvSpPr/>
          <p:nvPr/>
        </p:nvSpPr>
        <p:spPr>
          <a:xfrm>
            <a:off x="1924050" y="7972425"/>
            <a:ext cx="2371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2"/>
              </a:lnSpc>
              <a:buNone/>
            </a:pPr>
            <a:r>
              <a:rPr lang="en-US" sz="1140" dirty="0">
                <a:solidFill>
                  <a:srgbClr val="777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of 6 required questions completed</a:t>
            </a:r>
            <a:endParaRPr lang="en-US" sz="1140" dirty="0"/>
          </a:p>
        </p:txBody>
      </p:sp>
      <p:sp>
        <p:nvSpPr>
          <p:cNvPr id="14" name="Shape 9"/>
          <p:cNvSpPr/>
          <p:nvPr/>
        </p:nvSpPr>
        <p:spPr>
          <a:xfrm>
            <a:off x="1657350" y="7810500"/>
            <a:ext cx="12592050" cy="28575"/>
          </a:xfrm>
          <a:prstGeom prst="rect">
            <a:avLst/>
          </a:prstGeom>
          <a:solidFill>
            <a:srgbClr val="F9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1924050" y="6772275"/>
            <a:ext cx="12172950" cy="1038225"/>
          </a:xfrm>
          <a:prstGeom prst="roundRect">
            <a:avLst>
              <a:gd name="adj" fmla="val 17431"/>
            </a:avLst>
          </a:prstGeom>
          <a:solidFill>
            <a:srgbClr val="FCFDFD"/>
          </a:solidFill>
          <a:ln w="9525">
            <a:solidFill>
              <a:srgbClr val="F3F7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134350" y="7229475"/>
            <a:ext cx="5667375" cy="438150"/>
          </a:xfrm>
          <a:prstGeom prst="roundRect">
            <a:avLst>
              <a:gd name="adj" fmla="val 6522"/>
            </a:avLst>
          </a:prstGeom>
          <a:solidFill>
            <a:srgbClr val="FEFDFD"/>
          </a:solidFill>
          <a:ln w="9525">
            <a:solidFill>
              <a:srgbClr val="CDD5E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0275" y="7505700"/>
            <a:ext cx="142875" cy="14287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181225" y="7400925"/>
            <a:ext cx="5638800" cy="295275"/>
          </a:xfrm>
          <a:prstGeom prst="roundRect">
            <a:avLst>
              <a:gd name="adj" fmla="val 4839"/>
            </a:avLst>
          </a:prstGeom>
          <a:solidFill>
            <a:srgbClr val="FDFDFD"/>
          </a:solidFill>
          <a:ln w="9525">
            <a:solidFill>
              <a:srgbClr val="CAD4E5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7515225"/>
            <a:ext cx="133350" cy="76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324100" y="7458075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1031" dirty="0">
                <a:solidFill>
                  <a:srgbClr val="A1AC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 option</a:t>
            </a:r>
            <a:endParaRPr lang="en-US" sz="1031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8325" y="7029450"/>
            <a:ext cx="57150" cy="5715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229225" y="6838950"/>
            <a:ext cx="104775" cy="114300"/>
          </a:xfrm>
          <a:prstGeom prst="rect">
            <a:avLst/>
          </a:prstGeom>
          <a:solidFill>
            <a:srgbClr val="FDFCFC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6877050"/>
            <a:ext cx="57150" cy="476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124825" y="6991350"/>
            <a:ext cx="1295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12" b="1" dirty="0">
                <a:solidFill>
                  <a:srgbClr val="666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rationale</a:t>
            </a:r>
            <a:endParaRPr lang="en-US" sz="1012" dirty="0"/>
          </a:p>
        </p:txBody>
      </p:sp>
      <p:sp>
        <p:nvSpPr>
          <p:cNvPr id="25" name="Text 16"/>
          <p:cNvSpPr/>
          <p:nvPr/>
        </p:nvSpPr>
        <p:spPr>
          <a:xfrm>
            <a:off x="2171700" y="7019925"/>
            <a:ext cx="46386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28"/>
              </a:lnSpc>
              <a:buNone/>
            </a:pPr>
            <a:r>
              <a:rPr lang="en-US" sz="697" dirty="0">
                <a:solidFill>
                  <a:srgbClr val="AB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Guidance: Consider whether the Al indirectly supports colleagues, communicates</a:t>
            </a:r>
            <a:endParaRPr lang="en-US" sz="697" dirty="0"/>
          </a:p>
          <a:p>
            <a:pPr algn="l" indent="0" marL="0">
              <a:lnSpc>
                <a:spcPts val="1028"/>
              </a:lnSpc>
              <a:buNone/>
            </a:pPr>
            <a:r>
              <a:rPr lang="en-US" sz="697" dirty="0">
                <a:solidFill>
                  <a:srgbClr val="ABB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Guidance: Consider whether the AI indirectly supports or directly with customers, or influences customer decisions.</a:t>
            </a:r>
            <a:endParaRPr lang="en-US" sz="697" dirty="0"/>
          </a:p>
        </p:txBody>
      </p:sp>
      <p:sp>
        <p:nvSpPr>
          <p:cNvPr id="26" name="Text 17"/>
          <p:cNvSpPr/>
          <p:nvPr/>
        </p:nvSpPr>
        <p:spPr>
          <a:xfrm>
            <a:off x="2171700" y="6829425"/>
            <a:ext cx="3048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1024" b="1" dirty="0">
                <a:solidFill>
                  <a:srgbClr val="676A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nature of the impact on customers?</a:t>
            </a:r>
            <a:endParaRPr lang="en-US" sz="1024" dirty="0"/>
          </a:p>
        </p:txBody>
      </p:sp>
      <p:sp>
        <p:nvSpPr>
          <p:cNvPr id="27" name="Shape 18"/>
          <p:cNvSpPr/>
          <p:nvPr/>
        </p:nvSpPr>
        <p:spPr>
          <a:xfrm>
            <a:off x="1866900" y="5895975"/>
            <a:ext cx="12230100" cy="809625"/>
          </a:xfrm>
          <a:prstGeom prst="roundRect">
            <a:avLst>
              <a:gd name="adj" fmla="val 4412"/>
            </a:avLst>
          </a:prstGeom>
          <a:solidFill>
            <a:srgbClr val="FDFDFE"/>
          </a:solidFill>
          <a:ln w="9525">
            <a:solidFill>
              <a:srgbClr val="E7EDF7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8134350" y="6191250"/>
            <a:ext cx="5667375" cy="400050"/>
          </a:xfrm>
          <a:prstGeom prst="roundRect">
            <a:avLst>
              <a:gd name="adj" fmla="val 3571"/>
            </a:avLst>
          </a:prstGeom>
          <a:solidFill>
            <a:srgbClr val="FEFDFD"/>
          </a:solidFill>
          <a:ln w="9525">
            <a:solidFill>
              <a:srgbClr val="C6D1E3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30275" y="6429375"/>
            <a:ext cx="123825" cy="13335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2181225" y="6191250"/>
            <a:ext cx="5648325" cy="304800"/>
          </a:xfrm>
          <a:prstGeom prst="roundRect">
            <a:avLst>
              <a:gd name="adj" fmla="val 6250"/>
            </a:avLst>
          </a:prstGeom>
          <a:solidFill>
            <a:srgbClr val="FDFDFD"/>
          </a:solidFill>
          <a:ln w="9525">
            <a:solidFill>
              <a:srgbClr val="CED7E6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6315075"/>
            <a:ext cx="133350" cy="762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2324100" y="6257925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75" dirty="0">
                <a:solidFill>
                  <a:srgbClr val="A3AD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 option</a:t>
            </a:r>
            <a:endParaRPr lang="en-US" sz="975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8325" y="5991225"/>
            <a:ext cx="57150" cy="66675"/>
          </a:xfrm>
          <a:prstGeom prst="rect">
            <a:avLst/>
          </a:prstGeom>
        </p:spPr>
      </p:pic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4650" y="5962650"/>
            <a:ext cx="104775" cy="133350"/>
          </a:xfrm>
          <a:prstGeom prst="rect">
            <a:avLst/>
          </a:prstGeom>
        </p:spPr>
      </p:pic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3700" y="6000750"/>
            <a:ext cx="57150" cy="5715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124825" y="5962650"/>
            <a:ext cx="1295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9"/>
              </a:lnSpc>
              <a:buNone/>
            </a:pPr>
            <a:r>
              <a:rPr lang="en-US" sz="1012" b="1" dirty="0">
                <a:solidFill>
                  <a:srgbClr val="646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rationale</a:t>
            </a:r>
            <a:endParaRPr lang="en-US" sz="1012" dirty="0"/>
          </a:p>
        </p:txBody>
      </p:sp>
      <p:sp>
        <p:nvSpPr>
          <p:cNvPr id="37" name="Text 23"/>
          <p:cNvSpPr/>
          <p:nvPr/>
        </p:nvSpPr>
        <p:spPr>
          <a:xfrm>
            <a:off x="2171700" y="5953125"/>
            <a:ext cx="454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1096" dirty="0">
                <a:solidFill>
                  <a:srgbClr val="696B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level of human involvement exists in the AI's output or decision? *</a:t>
            </a:r>
            <a:endParaRPr lang="en-US" sz="1096" dirty="0"/>
          </a:p>
        </p:txBody>
      </p:sp>
      <p:sp>
        <p:nvSpPr>
          <p:cNvPr id="38" name="Shape 24"/>
          <p:cNvSpPr/>
          <p:nvPr/>
        </p:nvSpPr>
        <p:spPr>
          <a:xfrm>
            <a:off x="1943100" y="5276850"/>
            <a:ext cx="12087225" cy="542925"/>
          </a:xfrm>
          <a:prstGeom prst="roundRect">
            <a:avLst>
              <a:gd name="adj" fmla="val 10526"/>
            </a:avLst>
          </a:prstGeom>
          <a:solidFill>
            <a:srgbClr val="E6F2FD"/>
          </a:solidFill>
          <a:ln/>
        </p:spPr>
      </p:sp>
      <p:sp>
        <p:nvSpPr>
          <p:cNvPr id="39" name="Text 25"/>
          <p:cNvSpPr/>
          <p:nvPr/>
        </p:nvSpPr>
        <p:spPr>
          <a:xfrm>
            <a:off x="2038350" y="5581650"/>
            <a:ext cx="29718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88" dirty="0">
                <a:solidFill>
                  <a:srgbClr val="97A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all required questions in this section.</a:t>
            </a:r>
            <a:endParaRPr lang="en-US" sz="1088" dirty="0"/>
          </a:p>
        </p:txBody>
      </p:sp>
      <p:sp>
        <p:nvSpPr>
          <p:cNvPr id="40" name="Text 26"/>
          <p:cNvSpPr/>
          <p:nvPr/>
        </p:nvSpPr>
        <p:spPr>
          <a:xfrm>
            <a:off x="2047875" y="5334000"/>
            <a:ext cx="1733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1603" b="1" dirty="0">
                <a:solidFill>
                  <a:srgbClr val="3D43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MATERIALITY</a:t>
            </a:r>
            <a:endParaRPr lang="en-US" sz="1603" dirty="0"/>
          </a:p>
        </p:txBody>
      </p:sp>
      <p:sp>
        <p:nvSpPr>
          <p:cNvPr id="41" name="Text 27"/>
          <p:cNvSpPr/>
          <p:nvPr/>
        </p:nvSpPr>
        <p:spPr>
          <a:xfrm>
            <a:off x="11734800" y="5000625"/>
            <a:ext cx="533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1242" dirty="0">
                <a:solidFill>
                  <a:srgbClr val="899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242" dirty="0"/>
          </a:p>
        </p:txBody>
      </p:sp>
      <p:sp>
        <p:nvSpPr>
          <p:cNvPr id="42" name="Text 28"/>
          <p:cNvSpPr/>
          <p:nvPr/>
        </p:nvSpPr>
        <p:spPr>
          <a:xfrm>
            <a:off x="9639300" y="5000625"/>
            <a:ext cx="361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1290" dirty="0">
                <a:solidFill>
                  <a:srgbClr val="859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290" dirty="0"/>
          </a:p>
        </p:txBody>
      </p:sp>
      <p:sp>
        <p:nvSpPr>
          <p:cNvPr id="43" name="Text 29"/>
          <p:cNvSpPr/>
          <p:nvPr/>
        </p:nvSpPr>
        <p:spPr>
          <a:xfrm>
            <a:off x="7391400" y="4991100"/>
            <a:ext cx="52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9"/>
              </a:lnSpc>
              <a:buNone/>
            </a:pPr>
            <a:r>
              <a:rPr lang="en-US" sz="1219" dirty="0">
                <a:solidFill>
                  <a:srgbClr val="849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</a:t>
            </a:r>
            <a:endParaRPr lang="en-US" sz="1219" dirty="0"/>
          </a:p>
        </p:txBody>
      </p:sp>
      <p:sp>
        <p:nvSpPr>
          <p:cNvPr id="44" name="Text 30"/>
          <p:cNvSpPr/>
          <p:nvPr/>
        </p:nvSpPr>
        <p:spPr>
          <a:xfrm>
            <a:off x="5181600" y="49911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35" dirty="0">
                <a:solidFill>
                  <a:srgbClr val="5B9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Materiality</a:t>
            </a:r>
            <a:endParaRPr lang="en-US" sz="1335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0" y="4705350"/>
            <a:ext cx="7153275" cy="257175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2419350" y="4943475"/>
            <a:ext cx="781050" cy="209550"/>
          </a:xfrm>
          <a:prstGeom prst="roundRect">
            <a:avLst>
              <a:gd name="adj" fmla="val 44318"/>
            </a:avLst>
          </a:prstGeom>
          <a:solidFill>
            <a:srgbClr val="E1F0FE"/>
          </a:solidFill>
          <a:ln w="9525">
            <a:solidFill>
              <a:srgbClr val="F0F7FD"/>
            </a:solidFill>
            <a:prstDash val="solid"/>
          </a:ln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33650" y="4991100"/>
            <a:ext cx="114300" cy="114300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2762250" y="4962525"/>
            <a:ext cx="333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1095" dirty="0">
                <a:solidFill>
                  <a:srgbClr val="60A1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095" dirty="0"/>
          </a:p>
        </p:txBody>
      </p:sp>
      <p:sp>
        <p:nvSpPr>
          <p:cNvPr id="49" name="Text 33"/>
          <p:cNvSpPr/>
          <p:nvPr/>
        </p:nvSpPr>
        <p:spPr>
          <a:xfrm>
            <a:off x="1933575" y="4962525"/>
            <a:ext cx="4476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1099" dirty="0">
                <a:solidFill>
                  <a:srgbClr val="A0AB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</a:t>
            </a:r>
            <a:endParaRPr lang="en-US" sz="1099" dirty="0"/>
          </a:p>
        </p:txBody>
      </p:sp>
      <p:sp>
        <p:nvSpPr>
          <p:cNvPr id="50" name="Text 34"/>
          <p:cNvSpPr/>
          <p:nvPr/>
        </p:nvSpPr>
        <p:spPr>
          <a:xfrm>
            <a:off x="12839700" y="4410075"/>
            <a:ext cx="1190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290" dirty="0">
                <a:solidFill>
                  <a:srgbClr val="849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AI-UC-00231</a:t>
            </a:r>
            <a:pPr algn="r" indent="0" marL="0">
              <a:lnSpc>
                <a:spcPts val="1950"/>
              </a:lnSpc>
              <a:buNone/>
            </a:pPr>
            <a:endParaRPr lang="en-US" sz="1065" dirty="0"/>
          </a:p>
          <a:p>
            <a:pPr algn="r" indent="0" marL="0">
              <a:lnSpc>
                <a:spcPts val="1950"/>
              </a:lnSpc>
              <a:buNone/>
            </a:pPr>
            <a:r>
              <a:rPr lang="en-US" sz="1065" dirty="0">
                <a:solidFill>
                  <a:srgbClr val="ABB5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 v1.0</a:t>
            </a:r>
            <a:endParaRPr lang="en-US" sz="1065" dirty="0"/>
          </a:p>
        </p:txBody>
      </p:sp>
      <p:sp>
        <p:nvSpPr>
          <p:cNvPr id="51" name="Text 35"/>
          <p:cNvSpPr/>
          <p:nvPr/>
        </p:nvSpPr>
        <p:spPr>
          <a:xfrm>
            <a:off x="1933575" y="4695825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050" b="1" dirty="0">
                <a:solidFill>
                  <a:srgbClr val="5E6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Risk Assistant</a:t>
            </a:r>
            <a:endParaRPr lang="en-US" sz="1050" dirty="0"/>
          </a:p>
        </p:txBody>
      </p:sp>
      <p:sp>
        <p:nvSpPr>
          <p:cNvPr id="52" name="Text 36"/>
          <p:cNvSpPr/>
          <p:nvPr/>
        </p:nvSpPr>
        <p:spPr>
          <a:xfrm>
            <a:off x="1933575" y="4305300"/>
            <a:ext cx="440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90"/>
              </a:lnSpc>
              <a:buNone/>
            </a:pPr>
            <a:r>
              <a:rPr lang="en-US" sz="2009" b="1" dirty="0">
                <a:solidFill>
                  <a:srgbClr val="2B2D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Risk Triage Questionnaire</a:t>
            </a:r>
            <a:endParaRPr lang="en-US" sz="2009" dirty="0"/>
          </a:p>
        </p:txBody>
      </p:sp>
      <p:sp>
        <p:nvSpPr>
          <p:cNvPr id="53" name="Shape 37"/>
          <p:cNvSpPr/>
          <p:nvPr/>
        </p:nvSpPr>
        <p:spPr>
          <a:xfrm>
            <a:off x="1600200" y="1828800"/>
            <a:ext cx="12706350" cy="2286000"/>
          </a:xfrm>
          <a:prstGeom prst="roundRect">
            <a:avLst>
              <a:gd name="adj" fmla="val 3333"/>
            </a:avLst>
          </a:prstGeom>
          <a:solidFill>
            <a:srgbClr val="FDFDFD"/>
          </a:solidFill>
          <a:ln w="9525">
            <a:solidFill>
              <a:srgbClr val="BCD1EB"/>
            </a:solidFill>
            <a:prstDash val="solid"/>
          </a:ln>
        </p:spPr>
      </p:sp>
      <p:sp>
        <p:nvSpPr>
          <p:cNvPr id="54" name="Shape 38"/>
          <p:cNvSpPr/>
          <p:nvPr/>
        </p:nvSpPr>
        <p:spPr>
          <a:xfrm>
            <a:off x="11525250" y="3409950"/>
            <a:ext cx="2343150" cy="342900"/>
          </a:xfrm>
          <a:prstGeom prst="roundRect">
            <a:avLst>
              <a:gd name="adj" fmla="val 16667"/>
            </a:avLst>
          </a:prstGeom>
          <a:solidFill>
            <a:srgbClr val="EFF2F6"/>
          </a:solidFill>
          <a:ln/>
        </p:spPr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58600" y="3514725"/>
            <a:ext cx="142875" cy="142875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11944350" y="3476625"/>
            <a:ext cx="1771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230" dirty="0">
                <a:solidFill>
                  <a:srgbClr val="8B9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= Read-only</a:t>
            </a:r>
            <a:endParaRPr lang="en-US" sz="1230" dirty="0"/>
          </a:p>
        </p:txBody>
      </p:sp>
      <p:sp>
        <p:nvSpPr>
          <p:cNvPr id="57" name="Shape 40"/>
          <p:cNvSpPr/>
          <p:nvPr/>
        </p:nvSpPr>
        <p:spPr>
          <a:xfrm>
            <a:off x="8705850" y="3409950"/>
            <a:ext cx="2533650" cy="342900"/>
          </a:xfrm>
          <a:prstGeom prst="roundRect">
            <a:avLst>
              <a:gd name="adj" fmla="val 16667"/>
            </a:avLst>
          </a:prstGeom>
          <a:solidFill>
            <a:srgbClr val="FDF2DD"/>
          </a:solidFill>
          <a:ln/>
        </p:spPr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39200" y="3514725"/>
            <a:ext cx="142875" cy="142875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9124950" y="3476625"/>
            <a:ext cx="1962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6"/>
              </a:lnSpc>
              <a:buNone/>
            </a:pPr>
            <a:r>
              <a:rPr lang="en-US" sz="1249" dirty="0">
                <a:solidFill>
                  <a:srgbClr val="D5A0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Requested = Edit</a:t>
            </a:r>
            <a:endParaRPr lang="en-US" sz="1249" dirty="0"/>
          </a:p>
        </p:txBody>
      </p:sp>
      <p:sp>
        <p:nvSpPr>
          <p:cNvPr id="60" name="Shape 42"/>
          <p:cNvSpPr/>
          <p:nvPr/>
        </p:nvSpPr>
        <p:spPr>
          <a:xfrm>
            <a:off x="11525250" y="2952750"/>
            <a:ext cx="2295525" cy="352425"/>
          </a:xfrm>
          <a:prstGeom prst="roundRect">
            <a:avLst>
              <a:gd name="adj" fmla="val 24324"/>
            </a:avLst>
          </a:prstGeom>
          <a:solidFill>
            <a:srgbClr val="E1F5E9"/>
          </a:solidFill>
          <a:ln w="9525">
            <a:solidFill>
              <a:srgbClr val="E9F5ED"/>
            </a:solidFill>
            <a:prstDash val="solid"/>
          </a:ln>
        </p:spPr>
      </p:sp>
      <p:pic>
        <p:nvPicPr>
          <p:cNvPr id="6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58600" y="3057525"/>
            <a:ext cx="142875" cy="142875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11953875" y="3019425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1281" dirty="0">
                <a:solidFill>
                  <a:srgbClr val="64B3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= Read-only</a:t>
            </a:r>
            <a:endParaRPr lang="en-US" sz="1281" dirty="0"/>
          </a:p>
        </p:txBody>
      </p:sp>
      <p:sp>
        <p:nvSpPr>
          <p:cNvPr id="63" name="Shape 44"/>
          <p:cNvSpPr/>
          <p:nvPr/>
        </p:nvSpPr>
        <p:spPr>
          <a:xfrm>
            <a:off x="8705850" y="2952750"/>
            <a:ext cx="1409700" cy="352425"/>
          </a:xfrm>
          <a:prstGeom prst="roundRect">
            <a:avLst>
              <a:gd name="adj" fmla="val 24324"/>
            </a:avLst>
          </a:prstGeom>
          <a:solidFill>
            <a:srgbClr val="E4F1FD"/>
          </a:solidFill>
          <a:ln w="9525">
            <a:solidFill>
              <a:srgbClr val="ECF4FD"/>
            </a:solidFill>
            <a:prstDash val="solid"/>
          </a:ln>
        </p:spPr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9200" y="3057525"/>
            <a:ext cx="142875" cy="142875"/>
          </a:xfrm>
          <a:prstGeom prst="rect">
            <a:avLst/>
          </a:prstGeom>
        </p:spPr>
      </p:pic>
      <p:sp>
        <p:nvSpPr>
          <p:cNvPr id="65" name="Text 45"/>
          <p:cNvSpPr/>
          <p:nvPr/>
        </p:nvSpPr>
        <p:spPr>
          <a:xfrm>
            <a:off x="9134475" y="3028950"/>
            <a:ext cx="828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1258" dirty="0">
                <a:solidFill>
                  <a:srgbClr val="5E9B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= Edit</a:t>
            </a:r>
            <a:endParaRPr lang="en-US" sz="1258" dirty="0"/>
          </a:p>
        </p:txBody>
      </p:sp>
      <p:sp>
        <p:nvSpPr>
          <p:cNvPr id="66" name="Shape 46"/>
          <p:cNvSpPr/>
          <p:nvPr/>
        </p:nvSpPr>
        <p:spPr>
          <a:xfrm>
            <a:off x="1933575" y="3000375"/>
            <a:ext cx="6334125" cy="419100"/>
          </a:xfrm>
          <a:prstGeom prst="roundRect">
            <a:avLst>
              <a:gd name="adj" fmla="val 3409"/>
            </a:avLst>
          </a:prstGeom>
          <a:solidFill>
            <a:srgbClr val="FDFEFD"/>
          </a:solidFill>
          <a:ln w="9525">
            <a:solidFill>
              <a:srgbClr val="C7D0E1"/>
            </a:solidFill>
            <a:prstDash val="solid"/>
          </a:ln>
        </p:spPr>
      </p:sp>
      <p:pic>
        <p:nvPicPr>
          <p:cNvPr id="6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53375" y="3171825"/>
            <a:ext cx="161925" cy="95250"/>
          </a:xfrm>
          <a:prstGeom prst="rect">
            <a:avLst/>
          </a:prstGeom>
        </p:spPr>
      </p:pic>
      <p:sp>
        <p:nvSpPr>
          <p:cNvPr id="68" name="Text 47"/>
          <p:cNvSpPr/>
          <p:nvPr/>
        </p:nvSpPr>
        <p:spPr>
          <a:xfrm>
            <a:off x="2095500" y="3095625"/>
            <a:ext cx="3476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275" dirty="0">
                <a:solidFill>
                  <a:srgbClr val="747A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Risk Assistant — AI-UC-0231 — Draft</a:t>
            </a:r>
            <a:endParaRPr lang="en-US" sz="1275" dirty="0"/>
          </a:p>
        </p:txBody>
      </p:sp>
      <p:pic>
        <p:nvPicPr>
          <p:cNvPr id="6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58200" y="2609850"/>
            <a:ext cx="19050" cy="1343025"/>
          </a:xfrm>
          <a:prstGeom prst="rect">
            <a:avLst/>
          </a:prstGeom>
        </p:spPr>
      </p:pic>
      <p:sp>
        <p:nvSpPr>
          <p:cNvPr id="70" name="Shape 48"/>
          <p:cNvSpPr/>
          <p:nvPr/>
        </p:nvSpPr>
        <p:spPr>
          <a:xfrm>
            <a:off x="11344275" y="1962150"/>
            <a:ext cx="2695575" cy="485775"/>
          </a:xfrm>
          <a:prstGeom prst="roundRect">
            <a:avLst>
              <a:gd name="adj" fmla="val 11765"/>
            </a:avLst>
          </a:prstGeom>
          <a:solidFill>
            <a:srgbClr val="016EFD"/>
          </a:solidFill>
          <a:ln w="9525">
            <a:solidFill>
              <a:srgbClr val="1B77F9"/>
            </a:solidFill>
            <a:prstDash val="solid"/>
          </a:ln>
        </p:spPr>
      </p:sp>
      <p:pic>
        <p:nvPicPr>
          <p:cNvPr id="7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01450" y="2105025"/>
            <a:ext cx="209550" cy="200025"/>
          </a:xfrm>
          <a:prstGeom prst="rect">
            <a:avLst/>
          </a:prstGeom>
        </p:spPr>
      </p:pic>
      <p:sp>
        <p:nvSpPr>
          <p:cNvPr id="72" name="Text 49"/>
          <p:cNvSpPr/>
          <p:nvPr/>
        </p:nvSpPr>
        <p:spPr>
          <a:xfrm>
            <a:off x="11991975" y="2085975"/>
            <a:ext cx="18002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7"/>
              </a:lnSpc>
              <a:buNone/>
            </a:pPr>
            <a:r>
              <a:rPr lang="en-US" sz="1415" dirty="0">
                <a:solidFill>
                  <a:srgbClr val="98C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New Risk Triage</a:t>
            </a:r>
            <a:endParaRPr lang="en-US" sz="1415" dirty="0"/>
          </a:p>
        </p:txBody>
      </p:sp>
      <p:sp>
        <p:nvSpPr>
          <p:cNvPr id="73" name="Text 50"/>
          <p:cNvSpPr/>
          <p:nvPr/>
        </p:nvSpPr>
        <p:spPr>
          <a:xfrm>
            <a:off x="1924050" y="3476625"/>
            <a:ext cx="6029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9"/>
              </a:lnSpc>
              <a:buNone/>
            </a:pPr>
            <a:r>
              <a:rPr lang="en-US" sz="1148" dirty="0">
                <a:solidFill>
                  <a:srgbClr val="AAB4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case status controls whether the questionnaire below is editable or read-only.</a:t>
            </a:r>
            <a:endParaRPr lang="en-US" sz="1148" dirty="0"/>
          </a:p>
        </p:txBody>
      </p:sp>
      <p:sp>
        <p:nvSpPr>
          <p:cNvPr id="74" name="Text 51"/>
          <p:cNvSpPr/>
          <p:nvPr/>
        </p:nvSpPr>
        <p:spPr>
          <a:xfrm>
            <a:off x="8705850" y="2638425"/>
            <a:ext cx="12096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2"/>
              </a:lnSpc>
              <a:buNone/>
            </a:pPr>
            <a:r>
              <a:rPr lang="en-US" sz="1177" b="1" dirty="0">
                <a:solidFill>
                  <a:srgbClr val="585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Status Key</a:t>
            </a:r>
            <a:endParaRPr lang="en-US" sz="1177" dirty="0"/>
          </a:p>
        </p:txBody>
      </p:sp>
      <p:sp>
        <p:nvSpPr>
          <p:cNvPr id="75" name="Text 52"/>
          <p:cNvSpPr/>
          <p:nvPr/>
        </p:nvSpPr>
        <p:spPr>
          <a:xfrm>
            <a:off x="1933575" y="27051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23" dirty="0">
                <a:solidFill>
                  <a:srgbClr val="5D60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My Existing Use Case</a:t>
            </a:r>
            <a:endParaRPr lang="en-US" sz="1223" dirty="0"/>
          </a:p>
        </p:txBody>
      </p:sp>
      <p:sp>
        <p:nvSpPr>
          <p:cNvPr id="76" name="Text 53"/>
          <p:cNvSpPr/>
          <p:nvPr/>
        </p:nvSpPr>
        <p:spPr>
          <a:xfrm>
            <a:off x="1933575" y="2333625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365" dirty="0">
                <a:solidFill>
                  <a:srgbClr val="97A4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 new triage or select one of your existing use cases.</a:t>
            </a:r>
            <a:endParaRPr lang="en-US" sz="1365" dirty="0"/>
          </a:p>
        </p:txBody>
      </p:sp>
      <p:sp>
        <p:nvSpPr>
          <p:cNvPr id="77" name="Text 54"/>
          <p:cNvSpPr/>
          <p:nvPr/>
        </p:nvSpPr>
        <p:spPr>
          <a:xfrm>
            <a:off x="1933575" y="1971675"/>
            <a:ext cx="3219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66"/>
              </a:lnSpc>
              <a:buNone/>
            </a:pPr>
            <a:r>
              <a:rPr lang="en-US" sz="2127" b="1" dirty="0">
                <a:solidFill>
                  <a:srgbClr val="2A2C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or Select Use Case</a:t>
            </a:r>
            <a:endParaRPr lang="en-US" sz="2127" dirty="0"/>
          </a:p>
        </p:txBody>
      </p:sp>
      <p:pic>
        <p:nvPicPr>
          <p:cNvPr id="7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820775" y="1524000"/>
            <a:ext cx="133350" cy="85725"/>
          </a:xfrm>
          <a:prstGeom prst="rect">
            <a:avLst/>
          </a:prstGeom>
        </p:spPr>
      </p:pic>
      <p:sp>
        <p:nvSpPr>
          <p:cNvPr id="79" name="Text 55"/>
          <p:cNvSpPr/>
          <p:nvPr/>
        </p:nvSpPr>
        <p:spPr>
          <a:xfrm>
            <a:off x="12677775" y="1457325"/>
            <a:ext cx="1047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4"/>
              </a:lnSpc>
              <a:buNone/>
            </a:pPr>
            <a:r>
              <a:rPr lang="en-US" sz="1160" dirty="0">
                <a:solidFill>
                  <a:srgbClr val="93B2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Welcome, John</a:t>
            </a:r>
            <a:endParaRPr lang="en-US" sz="1160" dirty="0"/>
          </a:p>
        </p:txBody>
      </p:sp>
      <p:pic>
        <p:nvPicPr>
          <p:cNvPr id="8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192000" y="1381125"/>
            <a:ext cx="352425" cy="352425"/>
          </a:xfrm>
          <a:prstGeom prst="rect">
            <a:avLst/>
          </a:prstGeom>
        </p:spPr>
      </p:pic>
      <p:sp>
        <p:nvSpPr>
          <p:cNvPr id="81" name="Text 56"/>
          <p:cNvSpPr/>
          <p:nvPr/>
        </p:nvSpPr>
        <p:spPr>
          <a:xfrm>
            <a:off x="2562225" y="1428750"/>
            <a:ext cx="14668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687" b="1" dirty="0">
                <a:solidFill>
                  <a:srgbClr val="D0DD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Triage</a:t>
            </a:r>
            <a:endParaRPr lang="en-US" sz="1687" dirty="0"/>
          </a:p>
        </p:txBody>
      </p:sp>
      <p:pic>
        <p:nvPicPr>
          <p:cNvPr id="8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71675" y="1390650"/>
            <a:ext cx="361950" cy="333375"/>
          </a:xfrm>
          <a:prstGeom prst="rect">
            <a:avLst/>
          </a:prstGeom>
        </p:spPr>
      </p:pic>
      <p:sp>
        <p:nvSpPr>
          <p:cNvPr id="83" name="Text 57"/>
          <p:cNvSpPr/>
          <p:nvPr/>
        </p:nvSpPr>
        <p:spPr>
          <a:xfrm>
            <a:off x="733425" y="704850"/>
            <a:ext cx="119157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49"/>
              </a:lnSpc>
              <a:buNone/>
            </a:pPr>
            <a:r>
              <a:rPr lang="en-US" sz="2112" dirty="0">
                <a:solidFill>
                  <a:srgbClr val="769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design using one split-screen Canvas App for My Use Cases and Risk Triage Questionnaire</a:t>
            </a:r>
            <a:endParaRPr lang="en-US" sz="2112" dirty="0"/>
          </a:p>
        </p:txBody>
      </p:sp>
      <p:sp>
        <p:nvSpPr>
          <p:cNvPr id="84" name="Text 58"/>
          <p:cNvSpPr/>
          <p:nvPr/>
        </p:nvSpPr>
        <p:spPr>
          <a:xfrm>
            <a:off x="742950" y="133350"/>
            <a:ext cx="120110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52"/>
              </a:lnSpc>
              <a:buNone/>
            </a:pPr>
            <a:r>
              <a:rPr lang="en-US" sz="3484" b="1" dirty="0">
                <a:solidFill>
                  <a:srgbClr val="2122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Apps — One-Screen Combined User Application</a:t>
            </a:r>
            <a:endParaRPr lang="en-US" sz="3484" dirty="0"/>
          </a:p>
        </p:txBody>
      </p:sp>
      <p:pic>
        <p:nvPicPr>
          <p:cNvPr id="85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4375" y="1104900"/>
            <a:ext cx="70485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266950"/>
            <a:ext cx="14039850" cy="66770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66750" y="8162925"/>
            <a:ext cx="14525625" cy="628650"/>
          </a:xfrm>
          <a:prstGeom prst="roundRect">
            <a:avLst>
              <a:gd name="adj" fmla="val 4545"/>
            </a:avLst>
          </a:prstGeom>
          <a:solidFill>
            <a:srgbClr val="E4F2FE"/>
          </a:solidFill>
          <a:ln w="9525">
            <a:solidFill>
              <a:srgbClr val="C3E0FC"/>
            </a:solidFill>
            <a:prstDash val="solid"/>
          </a:ln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8258175"/>
            <a:ext cx="438150" cy="4381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62125" y="8324850"/>
            <a:ext cx="11410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818" b="1" dirty="0">
                <a:solidFill>
                  <a:srgbClr val="2F34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</a:t>
            </a:r>
            <a:pPr algn="l" indent="0" marL="0">
              <a:lnSpc>
                <a:spcPts val="1716"/>
              </a:lnSpc>
              <a:buNone/>
            </a:pPr>
            <a:r>
              <a:rPr lang="en-US" sz="1592" dirty="0">
                <a:solidFill>
                  <a:srgbClr val="4D55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one simple inventory list for all use cases, using a native SharePoint action link to open filtered submission details.</a:t>
            </a:r>
            <a:endParaRPr lang="en-US" sz="1592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625" y="5210175"/>
            <a:ext cx="12306300" cy="257175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0668000" y="7372350"/>
            <a:ext cx="628650" cy="304800"/>
          </a:xfrm>
          <a:prstGeom prst="roundRect">
            <a:avLst>
              <a:gd name="adj" fmla="val 43750"/>
            </a:avLst>
          </a:prstGeom>
          <a:solidFill>
            <a:srgbClr val="E5FAE8"/>
          </a:solidFill>
          <a:ln w="9525">
            <a:solidFill>
              <a:srgbClr val="F5FCF6"/>
            </a:solidFill>
            <a:prstDash val="solid"/>
          </a:ln>
        </p:spPr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2775" y="7477125"/>
            <a:ext cx="104775" cy="10477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0925175" y="7448550"/>
            <a:ext cx="266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1087" dirty="0">
                <a:solidFill>
                  <a:srgbClr val="63B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087" dirty="0"/>
          </a:p>
        </p:txBody>
      </p:sp>
      <p:sp>
        <p:nvSpPr>
          <p:cNvPr id="11" name="Shape 4"/>
          <p:cNvSpPr/>
          <p:nvPr/>
        </p:nvSpPr>
        <p:spPr>
          <a:xfrm>
            <a:off x="6372225" y="7372350"/>
            <a:ext cx="1133475" cy="304800"/>
          </a:xfrm>
          <a:prstGeom prst="roundRect">
            <a:avLst>
              <a:gd name="adj" fmla="val 37500"/>
            </a:avLst>
          </a:prstGeom>
          <a:solidFill>
            <a:srgbClr val="EFE8FE"/>
          </a:solidFill>
          <a:ln/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050" y="7477125"/>
            <a:ext cx="104775" cy="10477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686550" y="7439025"/>
            <a:ext cx="6953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099" dirty="0">
                <a:solidFill>
                  <a:srgbClr val="996D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1099" dirty="0"/>
          </a:p>
        </p:txBody>
      </p:sp>
      <p:sp>
        <p:nvSpPr>
          <p:cNvPr id="14" name="Text 6"/>
          <p:cNvSpPr/>
          <p:nvPr/>
        </p:nvSpPr>
        <p:spPr>
          <a:xfrm>
            <a:off x="5676900" y="7439025"/>
            <a:ext cx="514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1033" dirty="0">
                <a:solidFill>
                  <a:srgbClr val="767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Brown</a:t>
            </a:r>
            <a:endParaRPr lang="en-US" sz="1033" dirty="0"/>
          </a:p>
        </p:txBody>
      </p:sp>
      <p:sp>
        <p:nvSpPr>
          <p:cNvPr id="15" name="Text 7"/>
          <p:cNvSpPr/>
          <p:nvPr/>
        </p:nvSpPr>
        <p:spPr>
          <a:xfrm>
            <a:off x="4381500" y="7439025"/>
            <a:ext cx="847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1"/>
              </a:lnSpc>
              <a:buNone/>
            </a:pPr>
            <a:r>
              <a:rPr lang="en-US" sz="1077" dirty="0">
                <a:solidFill>
                  <a:srgbClr val="7F8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Writer</a:t>
            </a:r>
            <a:endParaRPr lang="en-US" sz="1077" dirty="0"/>
          </a:p>
        </p:txBody>
      </p:sp>
      <p:sp>
        <p:nvSpPr>
          <p:cNvPr id="16" name="Text 8"/>
          <p:cNvSpPr/>
          <p:nvPr/>
        </p:nvSpPr>
        <p:spPr>
          <a:xfrm>
            <a:off x="3295650" y="7429500"/>
            <a:ext cx="781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1120" dirty="0">
                <a:solidFill>
                  <a:srgbClr val="7881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AI-UC-0218</a:t>
            </a:r>
            <a:endParaRPr lang="en-US" sz="1120" dirty="0"/>
          </a:p>
        </p:txBody>
      </p:sp>
      <p:sp>
        <p:nvSpPr>
          <p:cNvPr id="17" name="Shape 9"/>
          <p:cNvSpPr/>
          <p:nvPr/>
        </p:nvSpPr>
        <p:spPr>
          <a:xfrm>
            <a:off x="10658475" y="6905625"/>
            <a:ext cx="685800" cy="314325"/>
          </a:xfrm>
          <a:prstGeom prst="roundRect">
            <a:avLst>
              <a:gd name="adj" fmla="val 45455"/>
            </a:avLst>
          </a:prstGeom>
          <a:solidFill>
            <a:srgbClr val="FDF3D2"/>
          </a:solidFill>
          <a:ln w="9525">
            <a:solidFill>
              <a:srgbClr val="FEFAEF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10753725" y="6972300"/>
            <a:ext cx="495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60" dirty="0">
                <a:solidFill>
                  <a:srgbClr val="CD97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960" dirty="0"/>
          </a:p>
        </p:txBody>
      </p:sp>
      <p:sp>
        <p:nvSpPr>
          <p:cNvPr id="19" name="Shape 11"/>
          <p:cNvSpPr/>
          <p:nvPr/>
        </p:nvSpPr>
        <p:spPr>
          <a:xfrm>
            <a:off x="6372225" y="6905625"/>
            <a:ext cx="1323975" cy="314325"/>
          </a:xfrm>
          <a:prstGeom prst="roundRect">
            <a:avLst>
              <a:gd name="adj" fmla="val 39394"/>
            </a:avLst>
          </a:prstGeom>
          <a:solidFill>
            <a:srgbClr val="FDF3D3"/>
          </a:solidFill>
          <a:ln w="9525">
            <a:solidFill>
              <a:srgbClr val="FDF8E6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7010400"/>
            <a:ext cx="104775" cy="10477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581775" y="6972300"/>
            <a:ext cx="10668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91" dirty="0">
                <a:solidFill>
                  <a:srgbClr val="CD99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Requested</a:t>
            </a:r>
            <a:endParaRPr lang="en-US" sz="891" dirty="0"/>
          </a:p>
        </p:txBody>
      </p:sp>
      <p:sp>
        <p:nvSpPr>
          <p:cNvPr id="22" name="Text 13"/>
          <p:cNvSpPr/>
          <p:nvPr/>
        </p:nvSpPr>
        <p:spPr>
          <a:xfrm>
            <a:off x="5676900" y="6972300"/>
            <a:ext cx="495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0"/>
              </a:lnSpc>
              <a:buNone/>
            </a:pPr>
            <a:r>
              <a:rPr lang="en-US" sz="1012" dirty="0">
                <a:solidFill>
                  <a:srgbClr val="7B82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Green</a:t>
            </a:r>
            <a:endParaRPr lang="en-US" sz="1012" dirty="0"/>
          </a:p>
        </p:txBody>
      </p:sp>
      <p:sp>
        <p:nvSpPr>
          <p:cNvPr id="23" name="Text 14"/>
          <p:cNvSpPr/>
          <p:nvPr/>
        </p:nvSpPr>
        <p:spPr>
          <a:xfrm>
            <a:off x="4371975" y="6972300"/>
            <a:ext cx="914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5"/>
              </a:lnSpc>
              <a:buNone/>
            </a:pPr>
            <a:r>
              <a:rPr lang="en-US" sz="1031" dirty="0">
                <a:solidFill>
                  <a:srgbClr val="7F8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Assistant</a:t>
            </a:r>
            <a:endParaRPr lang="en-US" sz="1031" dirty="0"/>
          </a:p>
        </p:txBody>
      </p:sp>
      <p:sp>
        <p:nvSpPr>
          <p:cNvPr id="24" name="Text 15"/>
          <p:cNvSpPr/>
          <p:nvPr/>
        </p:nvSpPr>
        <p:spPr>
          <a:xfrm>
            <a:off x="3295650" y="6962775"/>
            <a:ext cx="7715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5"/>
              </a:lnSpc>
              <a:buNone/>
            </a:pPr>
            <a:r>
              <a:rPr lang="en-US" sz="1105" dirty="0">
                <a:solidFill>
                  <a:srgbClr val="7F8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AI-UC-0225</a:t>
            </a:r>
            <a:endParaRPr lang="en-US" sz="1105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34900" y="6591300"/>
            <a:ext cx="123825" cy="28575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53825" y="6591300"/>
            <a:ext cx="123825" cy="28575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15625" y="6591300"/>
            <a:ext cx="123825" cy="28575"/>
          </a:xfrm>
          <a:prstGeom prst="rect">
            <a:avLst/>
          </a:prstGeom>
        </p:spPr>
      </p:pic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0275" y="6591300"/>
            <a:ext cx="123825" cy="28575"/>
          </a:xfrm>
          <a:prstGeom prst="rect">
            <a:avLst/>
          </a:prstGeom>
        </p:spPr>
      </p:pic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8250" y="6591300"/>
            <a:ext cx="123825" cy="28575"/>
          </a:xfrm>
          <a:prstGeom prst="rect">
            <a:avLst/>
          </a:prstGeom>
        </p:spPr>
      </p:pic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48600" y="6591300"/>
            <a:ext cx="114300" cy="28575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6400800" y="6438900"/>
            <a:ext cx="838200" cy="314325"/>
          </a:xfrm>
          <a:prstGeom prst="roundRect">
            <a:avLst>
              <a:gd name="adj" fmla="val 47727"/>
            </a:avLst>
          </a:prstGeom>
          <a:solidFill>
            <a:srgbClr val="EFF3F8"/>
          </a:solidFill>
          <a:ln/>
        </p:spPr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4625" y="6534150"/>
            <a:ext cx="104775" cy="114300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6734175" y="6505575"/>
            <a:ext cx="323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0"/>
              </a:lnSpc>
              <a:buNone/>
            </a:pPr>
            <a:r>
              <a:rPr lang="en-US" sz="1111" dirty="0">
                <a:solidFill>
                  <a:srgbClr val="838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111" dirty="0"/>
          </a:p>
        </p:txBody>
      </p:sp>
      <p:sp>
        <p:nvSpPr>
          <p:cNvPr id="34" name="Text 18"/>
          <p:cNvSpPr/>
          <p:nvPr/>
        </p:nvSpPr>
        <p:spPr>
          <a:xfrm>
            <a:off x="5676900" y="6505575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8"/>
              </a:lnSpc>
              <a:buNone/>
            </a:pPr>
            <a:r>
              <a:rPr lang="en-US" sz="976" dirty="0">
                <a:solidFill>
                  <a:srgbClr val="8289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Jones</a:t>
            </a:r>
            <a:endParaRPr lang="en-US" sz="976" dirty="0"/>
          </a:p>
        </p:txBody>
      </p:sp>
      <p:sp>
        <p:nvSpPr>
          <p:cNvPr id="35" name="Text 19"/>
          <p:cNvSpPr/>
          <p:nvPr/>
        </p:nvSpPr>
        <p:spPr>
          <a:xfrm>
            <a:off x="4381500" y="6505575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1012" dirty="0">
                <a:solidFill>
                  <a:srgbClr val="828B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Lending Copilot</a:t>
            </a:r>
            <a:endParaRPr lang="en-US" sz="1012" dirty="0"/>
          </a:p>
        </p:txBody>
      </p:sp>
      <p:sp>
        <p:nvSpPr>
          <p:cNvPr id="36" name="Text 20"/>
          <p:cNvSpPr/>
          <p:nvPr/>
        </p:nvSpPr>
        <p:spPr>
          <a:xfrm>
            <a:off x="3295650" y="6496050"/>
            <a:ext cx="781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1120" dirty="0">
                <a:solidFill>
                  <a:srgbClr val="828A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AI-UC-0229</a:t>
            </a:r>
            <a:endParaRPr lang="en-US" sz="1120" dirty="0"/>
          </a:p>
        </p:txBody>
      </p:sp>
      <p:sp>
        <p:nvSpPr>
          <p:cNvPr id="37" name="Text 21"/>
          <p:cNvSpPr/>
          <p:nvPr/>
        </p:nvSpPr>
        <p:spPr>
          <a:xfrm>
            <a:off x="12525375" y="6038850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9"/>
              </a:lnSpc>
              <a:buNone/>
            </a:pPr>
            <a:r>
              <a:rPr lang="en-US" sz="1042" dirty="0">
                <a:solidFill>
                  <a:srgbClr val="7F86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042" dirty="0"/>
          </a:p>
        </p:txBody>
      </p:sp>
      <p:sp>
        <p:nvSpPr>
          <p:cNvPr id="38" name="Text 22"/>
          <p:cNvSpPr/>
          <p:nvPr/>
        </p:nvSpPr>
        <p:spPr>
          <a:xfrm>
            <a:off x="11553825" y="6048375"/>
            <a:ext cx="19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6"/>
              </a:lnSpc>
              <a:buNone/>
            </a:pPr>
            <a:r>
              <a:rPr lang="en-US" sz="1087" dirty="0">
                <a:solidFill>
                  <a:srgbClr val="858B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87" dirty="0"/>
          </a:p>
        </p:txBody>
      </p:sp>
      <p:sp>
        <p:nvSpPr>
          <p:cNvPr id="39" name="Shape 23"/>
          <p:cNvSpPr/>
          <p:nvPr/>
        </p:nvSpPr>
        <p:spPr>
          <a:xfrm>
            <a:off x="10658475" y="5981700"/>
            <a:ext cx="685800" cy="304800"/>
          </a:xfrm>
          <a:prstGeom prst="roundRect">
            <a:avLst>
              <a:gd name="adj" fmla="val 46875"/>
            </a:avLst>
          </a:prstGeom>
          <a:solidFill>
            <a:srgbClr val="FDF4D4"/>
          </a:solidFill>
          <a:ln w="9525">
            <a:solidFill>
              <a:srgbClr val="FDFAF0"/>
            </a:solidFill>
            <a:prstDash val="solid"/>
          </a:ln>
        </p:spPr>
      </p:sp>
      <p:sp>
        <p:nvSpPr>
          <p:cNvPr id="40" name="Text 24"/>
          <p:cNvSpPr/>
          <p:nvPr/>
        </p:nvSpPr>
        <p:spPr>
          <a:xfrm>
            <a:off x="10753725" y="6048375"/>
            <a:ext cx="495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93" dirty="0">
                <a:solidFill>
                  <a:srgbClr val="CE98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93" dirty="0"/>
          </a:p>
        </p:txBody>
      </p:sp>
      <p:sp>
        <p:nvSpPr>
          <p:cNvPr id="41" name="Shape 25"/>
          <p:cNvSpPr/>
          <p:nvPr/>
        </p:nvSpPr>
        <p:spPr>
          <a:xfrm>
            <a:off x="6400800" y="5972175"/>
            <a:ext cx="1133475" cy="314325"/>
          </a:xfrm>
          <a:prstGeom prst="roundRect">
            <a:avLst>
              <a:gd name="adj" fmla="val 45455"/>
            </a:avLst>
          </a:prstGeom>
          <a:solidFill>
            <a:srgbClr val="DFFAE3"/>
          </a:solidFill>
          <a:ln w="9525">
            <a:solidFill>
              <a:srgbClr val="EAFBEC"/>
            </a:solidFill>
            <a:prstDash val="solid"/>
          </a:ln>
        </p:spPr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24625" y="6076950"/>
            <a:ext cx="114300" cy="1143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724650" y="6038850"/>
            <a:ext cx="676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3"/>
              </a:lnSpc>
              <a:buNone/>
            </a:pPr>
            <a:r>
              <a:rPr lang="en-US" sz="1147" dirty="0">
                <a:solidFill>
                  <a:srgbClr val="67B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</a:t>
            </a:r>
            <a:endParaRPr lang="en-US" sz="1147" dirty="0"/>
          </a:p>
        </p:txBody>
      </p:sp>
      <p:sp>
        <p:nvSpPr>
          <p:cNvPr id="44" name="Text 27"/>
          <p:cNvSpPr/>
          <p:nvPr/>
        </p:nvSpPr>
        <p:spPr>
          <a:xfrm>
            <a:off x="5676900" y="6038850"/>
            <a:ext cx="457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31"/>
              </a:lnSpc>
              <a:buNone/>
            </a:pPr>
            <a:r>
              <a:rPr lang="en-US" sz="1042" dirty="0">
                <a:solidFill>
                  <a:srgbClr val="7D84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Smith</a:t>
            </a:r>
            <a:endParaRPr lang="en-US" sz="1042" dirty="0"/>
          </a:p>
        </p:txBody>
      </p:sp>
      <p:sp>
        <p:nvSpPr>
          <p:cNvPr id="45" name="Text 28"/>
          <p:cNvSpPr/>
          <p:nvPr/>
        </p:nvSpPr>
        <p:spPr>
          <a:xfrm>
            <a:off x="4371975" y="6038850"/>
            <a:ext cx="94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1015" dirty="0">
                <a:solidFill>
                  <a:srgbClr val="8188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Assistant</a:t>
            </a:r>
            <a:endParaRPr lang="en-US" sz="1015" dirty="0"/>
          </a:p>
        </p:txBody>
      </p:sp>
      <p:sp>
        <p:nvSpPr>
          <p:cNvPr id="46" name="Text 29"/>
          <p:cNvSpPr/>
          <p:nvPr/>
        </p:nvSpPr>
        <p:spPr>
          <a:xfrm>
            <a:off x="3295650" y="6029325"/>
            <a:ext cx="7715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4"/>
              </a:lnSpc>
              <a:buNone/>
            </a:pPr>
            <a:r>
              <a:rPr lang="en-US" sz="1117" dirty="0">
                <a:solidFill>
                  <a:srgbClr val="7C84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AI-UC-0231</a:t>
            </a:r>
            <a:endParaRPr lang="en-US" sz="1117" dirty="0"/>
          </a:p>
        </p:txBody>
      </p:sp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144500" y="5629275"/>
            <a:ext cx="114300" cy="66675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12515850" y="5391150"/>
            <a:ext cx="952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906" b="1" dirty="0">
                <a:solidFill>
                  <a:srgbClr val="656D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Triggered Teams
</a:t>
            </a:r>
            <a:pPr algn="l" indent="0" marL="0">
              <a:lnSpc>
                <a:spcPts val="1204"/>
              </a:lnSpc>
              <a:buNone/>
            </a:pPr>
            <a:r>
              <a:rPr lang="en-US" sz="906" b="1" dirty="0">
                <a:solidFill>
                  <a:srgbClr val="767F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(later v2)</a:t>
            </a:r>
            <a:endParaRPr lang="en-US" sz="906" dirty="0"/>
          </a:p>
        </p:txBody>
      </p:sp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25325" y="5629275"/>
            <a:ext cx="85725" cy="57150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11553825" y="5391150"/>
            <a:ext cx="7429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2" dirty="0">
                <a:solidFill>
                  <a:srgbClr val="636B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Breaker
</a:t>
            </a:r>
            <a:pPr algn="l" indent="0" marL="0">
              <a:lnSpc>
                <a:spcPts val="1425"/>
              </a:lnSpc>
              <a:buNone/>
            </a:pPr>
            <a:r>
              <a:rPr lang="en-US" sz="952" dirty="0">
                <a:solidFill>
                  <a:srgbClr val="727B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(later v2)</a:t>
            </a:r>
            <a:endParaRPr lang="en-US" sz="952" dirty="0"/>
          </a:p>
        </p:txBody>
      </p:sp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77600" y="5629275"/>
            <a:ext cx="66675" cy="47625"/>
          </a:xfrm>
          <a:prstGeom prst="rect">
            <a:avLst/>
          </a:prstGeom>
        </p:spPr>
      </p:pic>
      <p:sp>
        <p:nvSpPr>
          <p:cNvPr id="52" name="Text 32"/>
          <p:cNvSpPr/>
          <p:nvPr/>
        </p:nvSpPr>
        <p:spPr>
          <a:xfrm>
            <a:off x="10706100" y="5391150"/>
            <a:ext cx="5524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2"/>
              </a:lnSpc>
              <a:buNone/>
            </a:pPr>
            <a:r>
              <a:rPr lang="en-US" sz="1055" b="1" dirty="0">
                <a:solidFill>
                  <a:srgbClr val="6970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Tier</a:t>
            </a:r>
            <a:pPr algn="l" indent="0" marL="0">
              <a:lnSpc>
                <a:spcPts val="1422"/>
              </a:lnSpc>
              <a:buNone/>
            </a:pPr>
            <a:endParaRPr lang="en-US" sz="1055" dirty="0"/>
          </a:p>
          <a:p>
            <a:pPr algn="l" indent="0" marL="0">
              <a:lnSpc>
                <a:spcPts val="1422"/>
              </a:lnSpc>
              <a:buNone/>
            </a:pPr>
            <a:r>
              <a:rPr lang="en-US" sz="1055" dirty="0">
                <a:solidFill>
                  <a:srgbClr val="747B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(later v2)</a:t>
            </a:r>
            <a:endParaRPr lang="en-US" sz="1055" dirty="0"/>
          </a:p>
        </p:txBody>
      </p:sp>
      <p:pic>
        <p:nvPicPr>
          <p:cNvPr id="5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01300" y="5629275"/>
            <a:ext cx="76200" cy="57150"/>
          </a:xfrm>
          <a:prstGeom prst="rect">
            <a:avLst/>
          </a:prstGeom>
        </p:spPr>
      </p:pic>
      <p:sp>
        <p:nvSpPr>
          <p:cNvPr id="54" name="Text 33"/>
          <p:cNvSpPr/>
          <p:nvPr/>
        </p:nvSpPr>
        <p:spPr>
          <a:xfrm>
            <a:off x="9801225" y="5391150"/>
            <a:ext cx="6667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4"/>
              </a:lnSpc>
              <a:buNone/>
            </a:pPr>
            <a:r>
              <a:rPr lang="en-US" sz="1012" dirty="0">
                <a:solidFill>
                  <a:srgbClr val="5C61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Score
</a:t>
            </a:r>
            <a:pPr algn="l" indent="0" marL="0">
              <a:lnSpc>
                <a:spcPts val="1374"/>
              </a:lnSpc>
              <a:buNone/>
            </a:pPr>
            <a:r>
              <a:rPr lang="en-US" sz="1012" dirty="0">
                <a:solidFill>
                  <a:srgbClr val="7279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(later v2)</a:t>
            </a:r>
            <a:endParaRPr lang="en-US" sz="1012" dirty="0"/>
          </a:p>
        </p:txBody>
      </p:sp>
      <p:pic>
        <p:nvPicPr>
          <p:cNvPr id="5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63075" y="5743575"/>
            <a:ext cx="114300" cy="66675"/>
          </a:xfrm>
          <a:prstGeom prst="rect">
            <a:avLst/>
          </a:prstGeom>
        </p:spPr>
      </p:pic>
      <p:sp>
        <p:nvSpPr>
          <p:cNvPr id="56" name="Text 34"/>
          <p:cNvSpPr/>
          <p:nvPr/>
        </p:nvSpPr>
        <p:spPr>
          <a:xfrm>
            <a:off x="8839200" y="5295900"/>
            <a:ext cx="69532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8"/>
              </a:lnSpc>
              <a:buNone/>
            </a:pPr>
            <a:r>
              <a:rPr lang="en-US" sz="937" b="1" dirty="0">
                <a:solidFill>
                  <a:srgbClr val="626A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937" dirty="0"/>
          </a:p>
          <a:p>
            <a:pPr algn="l" indent="0" marL="0">
              <a:lnSpc>
                <a:spcPts val="1278"/>
              </a:lnSpc>
              <a:buNone/>
            </a:pPr>
            <a:r>
              <a:rPr lang="en-US" sz="937" b="1" dirty="0">
                <a:solidFill>
                  <a:srgbClr val="626A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</a:t>
            </a:r>
            <a:endParaRPr lang="en-US" sz="937" dirty="0"/>
          </a:p>
          <a:p>
            <a:pPr algn="l" indent="0" marL="0">
              <a:lnSpc>
                <a:spcPts val="1278"/>
              </a:lnSpc>
              <a:buNone/>
            </a:pPr>
            <a:r>
              <a:rPr lang="en-US" sz="937" b="1" dirty="0">
                <a:solidFill>
                  <a:srgbClr val="626A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937" dirty="0"/>
          </a:p>
        </p:txBody>
      </p:sp>
      <p:pic>
        <p:nvPicPr>
          <p:cNvPr id="5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34375" y="5629275"/>
            <a:ext cx="114300" cy="66675"/>
          </a:xfrm>
          <a:prstGeom prst="rect">
            <a:avLst/>
          </a:prstGeom>
        </p:spPr>
      </p:pic>
      <p:sp>
        <p:nvSpPr>
          <p:cNvPr id="58" name="Text 35"/>
          <p:cNvSpPr/>
          <p:nvPr/>
        </p:nvSpPr>
        <p:spPr>
          <a:xfrm>
            <a:off x="7820025" y="5391150"/>
            <a:ext cx="8096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6"/>
              </a:lnSpc>
              <a:buNone/>
            </a:pPr>
            <a:r>
              <a:rPr lang="en-US" sz="918" b="1" dirty="0">
                <a:solidFill>
                  <a:srgbClr val="676D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
</a:t>
            </a:r>
            <a:pPr algn="l" indent="0" marL="0">
              <a:lnSpc>
                <a:spcPts val="1446"/>
              </a:lnSpc>
              <a:buNone/>
            </a:pPr>
            <a:r>
              <a:rPr lang="en-US" sz="1077" b="1" dirty="0">
                <a:solidFill>
                  <a:srgbClr val="676D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918" dirty="0"/>
          </a:p>
        </p:txBody>
      </p:sp>
      <p:pic>
        <p:nvPicPr>
          <p:cNvPr id="5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86575" y="5543550"/>
            <a:ext cx="114300" cy="66675"/>
          </a:xfrm>
          <a:prstGeom prst="rect">
            <a:avLst/>
          </a:prstGeom>
        </p:spPr>
      </p:pic>
      <p:pic>
        <p:nvPicPr>
          <p:cNvPr id="6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43625" y="5562600"/>
            <a:ext cx="57150" cy="38100"/>
          </a:xfrm>
          <a:prstGeom prst="rect">
            <a:avLst/>
          </a:prstGeom>
        </p:spPr>
      </p:pic>
      <p:pic>
        <p:nvPicPr>
          <p:cNvPr id="6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43525" y="5543550"/>
            <a:ext cx="114300" cy="66675"/>
          </a:xfrm>
          <a:prstGeom prst="rect">
            <a:avLst/>
          </a:prstGeom>
        </p:spPr>
      </p:pic>
      <p:pic>
        <p:nvPicPr>
          <p:cNvPr id="6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67175" y="5543550"/>
            <a:ext cx="104775" cy="66675"/>
          </a:xfrm>
          <a:prstGeom prst="rect">
            <a:avLst/>
          </a:prstGeom>
        </p:spPr>
      </p:pic>
      <p:sp>
        <p:nvSpPr>
          <p:cNvPr id="63" name="Text 36"/>
          <p:cNvSpPr/>
          <p:nvPr/>
        </p:nvSpPr>
        <p:spPr>
          <a:xfrm>
            <a:off x="8686800" y="4743450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298" dirty="0">
                <a:solidFill>
                  <a:srgbClr val="717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filter</a:t>
            </a:r>
            <a:endParaRPr lang="en-US" sz="1298" dirty="0"/>
          </a:p>
        </p:txBody>
      </p:sp>
      <p:pic>
        <p:nvPicPr>
          <p:cNvPr id="6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10575" y="4762500"/>
            <a:ext cx="171450" cy="171450"/>
          </a:xfrm>
          <a:prstGeom prst="rect">
            <a:avLst/>
          </a:prstGeom>
        </p:spPr>
      </p:pic>
      <p:sp>
        <p:nvSpPr>
          <p:cNvPr id="65" name="Shape 37"/>
          <p:cNvSpPr/>
          <p:nvPr/>
        </p:nvSpPr>
        <p:spPr>
          <a:xfrm>
            <a:off x="7219950" y="4638675"/>
            <a:ext cx="1000125" cy="419100"/>
          </a:xfrm>
          <a:prstGeom prst="roundRect">
            <a:avLst>
              <a:gd name="adj" fmla="val 43182"/>
            </a:avLst>
          </a:prstGeom>
          <a:solidFill>
            <a:srgbClr val="EBF6FD"/>
          </a:solidFill>
          <a:ln/>
        </p:spPr>
      </p:sp>
      <p:pic>
        <p:nvPicPr>
          <p:cNvPr id="6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43850" y="4819650"/>
            <a:ext cx="123825" cy="66675"/>
          </a:xfrm>
          <a:prstGeom prst="rect">
            <a:avLst/>
          </a:prstGeom>
        </p:spPr>
      </p:pic>
      <p:sp>
        <p:nvSpPr>
          <p:cNvPr id="67" name="Text 38"/>
          <p:cNvSpPr/>
          <p:nvPr/>
        </p:nvSpPr>
        <p:spPr>
          <a:xfrm>
            <a:off x="7362825" y="4752975"/>
            <a:ext cx="5048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7"/>
              </a:lnSpc>
              <a:buNone/>
            </a:pPr>
            <a:r>
              <a:rPr lang="en-US" sz="1276" dirty="0">
                <a:solidFill>
                  <a:srgbClr val="5D66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276" dirty="0"/>
          </a:p>
        </p:txBody>
      </p:sp>
      <p:sp>
        <p:nvSpPr>
          <p:cNvPr id="68" name="Shape 39"/>
          <p:cNvSpPr/>
          <p:nvPr/>
        </p:nvSpPr>
        <p:spPr>
          <a:xfrm>
            <a:off x="6105525" y="4638675"/>
            <a:ext cx="981075" cy="419100"/>
          </a:xfrm>
          <a:prstGeom prst="roundRect">
            <a:avLst>
              <a:gd name="adj" fmla="val 19886"/>
            </a:avLst>
          </a:prstGeom>
          <a:solidFill>
            <a:srgbClr val="EEF5FB"/>
          </a:solidFill>
          <a:ln/>
        </p:spPr>
      </p:sp>
      <p:pic>
        <p:nvPicPr>
          <p:cNvPr id="6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10375" y="4819650"/>
            <a:ext cx="123825" cy="66675"/>
          </a:xfrm>
          <a:prstGeom prst="rect">
            <a:avLst/>
          </a:prstGeom>
        </p:spPr>
      </p:pic>
      <p:sp>
        <p:nvSpPr>
          <p:cNvPr id="70" name="Text 40"/>
          <p:cNvSpPr/>
          <p:nvPr/>
        </p:nvSpPr>
        <p:spPr>
          <a:xfrm>
            <a:off x="6267450" y="4752975"/>
            <a:ext cx="457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1232" dirty="0">
                <a:solidFill>
                  <a:srgbClr val="646B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232" dirty="0"/>
          </a:p>
        </p:txBody>
      </p:sp>
      <p:sp>
        <p:nvSpPr>
          <p:cNvPr id="71" name="Shape 41"/>
          <p:cNvSpPr/>
          <p:nvPr/>
        </p:nvSpPr>
        <p:spPr>
          <a:xfrm>
            <a:off x="3190875" y="4638675"/>
            <a:ext cx="2771775" cy="419100"/>
          </a:xfrm>
          <a:prstGeom prst="roundRect">
            <a:avLst>
              <a:gd name="adj" fmla="val 3409"/>
            </a:avLst>
          </a:prstGeom>
          <a:solidFill>
            <a:srgbClr val="FDFDFD"/>
          </a:solidFill>
          <a:ln w="9525">
            <a:solidFill>
              <a:srgbClr val="DCE1F0"/>
            </a:solidFill>
            <a:prstDash val="solid"/>
          </a:ln>
        </p:spPr>
      </p:sp>
      <p:pic>
        <p:nvPicPr>
          <p:cNvPr id="7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343275" y="4743450"/>
            <a:ext cx="219075" cy="209550"/>
          </a:xfrm>
          <a:prstGeom prst="rect">
            <a:avLst/>
          </a:prstGeom>
        </p:spPr>
      </p:pic>
      <p:sp>
        <p:nvSpPr>
          <p:cNvPr id="73" name="Text 42"/>
          <p:cNvSpPr/>
          <p:nvPr/>
        </p:nvSpPr>
        <p:spPr>
          <a:xfrm>
            <a:off x="3686175" y="474345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1214" dirty="0">
                <a:solidFill>
                  <a:srgbClr val="8A8F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this list</a:t>
            </a:r>
            <a:endParaRPr lang="en-US" sz="1214" dirty="0"/>
          </a:p>
        </p:txBody>
      </p:sp>
      <p:sp>
        <p:nvSpPr>
          <p:cNvPr id="74" name="Shape 43"/>
          <p:cNvSpPr/>
          <p:nvPr/>
        </p:nvSpPr>
        <p:spPr>
          <a:xfrm>
            <a:off x="3048000" y="3876675"/>
            <a:ext cx="10591800" cy="628650"/>
          </a:xfrm>
          <a:prstGeom prst="rect">
            <a:avLst/>
          </a:prstGeom>
          <a:solidFill>
            <a:srgbClr val="FDFDFD"/>
          </a:solidFill>
          <a:ln w="28575">
            <a:solidFill>
              <a:srgbClr val="F9FBFC"/>
            </a:solidFill>
            <a:prstDash val="solid"/>
          </a:ln>
        </p:spPr>
      </p:sp>
      <p:pic>
        <p:nvPicPr>
          <p:cNvPr id="7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173075" y="4124325"/>
            <a:ext cx="190500" cy="190500"/>
          </a:xfrm>
          <a:prstGeom prst="rect">
            <a:avLst/>
          </a:prstGeom>
        </p:spPr>
      </p:pic>
      <p:pic>
        <p:nvPicPr>
          <p:cNvPr id="7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677775" y="4105275"/>
            <a:ext cx="238125" cy="228600"/>
          </a:xfrm>
          <a:prstGeom prst="rect">
            <a:avLst/>
          </a:prstGeom>
        </p:spPr>
      </p:pic>
      <p:pic>
        <p:nvPicPr>
          <p:cNvPr id="77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163425" y="4114800"/>
            <a:ext cx="219075" cy="209550"/>
          </a:xfrm>
          <a:prstGeom prst="rect">
            <a:avLst/>
          </a:prstGeom>
        </p:spPr>
      </p:pic>
      <p:pic>
        <p:nvPicPr>
          <p:cNvPr id="7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706225" y="4181475"/>
            <a:ext cx="114300" cy="76200"/>
          </a:xfrm>
          <a:prstGeom prst="rect">
            <a:avLst/>
          </a:prstGeom>
        </p:spPr>
      </p:pic>
      <p:pic>
        <p:nvPicPr>
          <p:cNvPr id="7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610850" y="4133850"/>
            <a:ext cx="200025" cy="161925"/>
          </a:xfrm>
          <a:prstGeom prst="rect">
            <a:avLst/>
          </a:prstGeom>
        </p:spPr>
      </p:pic>
      <p:pic>
        <p:nvPicPr>
          <p:cNvPr id="8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15300" y="4191000"/>
            <a:ext cx="180975" cy="47625"/>
          </a:xfrm>
          <a:prstGeom prst="rect">
            <a:avLst/>
          </a:prstGeom>
        </p:spPr>
      </p:pic>
      <p:pic>
        <p:nvPicPr>
          <p:cNvPr id="8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010400" y="4086225"/>
            <a:ext cx="238125" cy="247650"/>
          </a:xfrm>
          <a:prstGeom prst="rect">
            <a:avLst/>
          </a:prstGeom>
        </p:spPr>
      </p:pic>
      <p:pic>
        <p:nvPicPr>
          <p:cNvPr id="8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53200" y="4191000"/>
            <a:ext cx="123825" cy="66675"/>
          </a:xfrm>
          <a:prstGeom prst="rect">
            <a:avLst/>
          </a:prstGeom>
        </p:spPr>
      </p:pic>
      <p:pic>
        <p:nvPicPr>
          <p:cNvPr id="83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619750" y="4095750"/>
            <a:ext cx="247650" cy="238125"/>
          </a:xfrm>
          <a:prstGeom prst="rect">
            <a:avLst/>
          </a:prstGeom>
        </p:spPr>
      </p:pic>
      <p:pic>
        <p:nvPicPr>
          <p:cNvPr id="84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781550" y="4105275"/>
            <a:ext cx="200025" cy="209550"/>
          </a:xfrm>
          <a:prstGeom prst="rect">
            <a:avLst/>
          </a:prstGeom>
        </p:spPr>
      </p:pic>
      <p:sp>
        <p:nvSpPr>
          <p:cNvPr id="85" name="Shape 44"/>
          <p:cNvSpPr/>
          <p:nvPr/>
        </p:nvSpPr>
        <p:spPr>
          <a:xfrm>
            <a:off x="3190875" y="3990975"/>
            <a:ext cx="1371600" cy="428625"/>
          </a:xfrm>
          <a:prstGeom prst="roundRect">
            <a:avLst>
              <a:gd name="adj" fmla="val 3333"/>
            </a:avLst>
          </a:prstGeom>
          <a:solidFill>
            <a:srgbClr val="006BFC"/>
          </a:solidFill>
          <a:ln w="9525">
            <a:solidFill>
              <a:srgbClr val="1D79FB"/>
            </a:solidFill>
            <a:prstDash val="solid"/>
          </a:ln>
        </p:spPr>
      </p:sp>
      <p:pic>
        <p:nvPicPr>
          <p:cNvPr id="86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219575" y="4181475"/>
            <a:ext cx="114300" cy="76200"/>
          </a:xfrm>
          <a:prstGeom prst="rect">
            <a:avLst/>
          </a:prstGeom>
        </p:spPr>
      </p:pic>
      <p:pic>
        <p:nvPicPr>
          <p:cNvPr id="87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429000" y="4114800"/>
            <a:ext cx="190500" cy="190500"/>
          </a:xfrm>
          <a:prstGeom prst="rect">
            <a:avLst/>
          </a:prstGeom>
        </p:spPr>
      </p:pic>
      <p:sp>
        <p:nvSpPr>
          <p:cNvPr id="88" name="Text 45"/>
          <p:cNvSpPr/>
          <p:nvPr/>
        </p:nvSpPr>
        <p:spPr>
          <a:xfrm>
            <a:off x="3762375" y="4114800"/>
            <a:ext cx="3429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1309" dirty="0">
                <a:solidFill>
                  <a:srgbClr val="9DC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309" dirty="0"/>
          </a:p>
        </p:txBody>
      </p:sp>
      <p:sp>
        <p:nvSpPr>
          <p:cNvPr id="89" name="Text 46"/>
          <p:cNvSpPr/>
          <p:nvPr/>
        </p:nvSpPr>
        <p:spPr>
          <a:xfrm>
            <a:off x="10934700" y="4114800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17"/>
              </a:lnSpc>
              <a:buNone/>
            </a:pPr>
            <a:r>
              <a:rPr lang="en-US" sz="1281" dirty="0">
                <a:solidFill>
                  <a:srgbClr val="7277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Items</a:t>
            </a:r>
            <a:endParaRPr lang="en-US" sz="1281" dirty="0"/>
          </a:p>
        </p:txBody>
      </p:sp>
      <p:sp>
        <p:nvSpPr>
          <p:cNvPr id="90" name="Text 47"/>
          <p:cNvSpPr/>
          <p:nvPr/>
        </p:nvSpPr>
        <p:spPr>
          <a:xfrm>
            <a:off x="7362825" y="41148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215" dirty="0">
                <a:solidFill>
                  <a:srgbClr val="757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</a:t>
            </a:r>
            <a:endParaRPr lang="en-US" sz="1215" dirty="0"/>
          </a:p>
        </p:txBody>
      </p:sp>
      <p:sp>
        <p:nvSpPr>
          <p:cNvPr id="91" name="Text 48"/>
          <p:cNvSpPr/>
          <p:nvPr/>
        </p:nvSpPr>
        <p:spPr>
          <a:xfrm>
            <a:off x="5972175" y="4114800"/>
            <a:ext cx="485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1284" dirty="0">
                <a:solidFill>
                  <a:srgbClr val="6268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284" dirty="0"/>
          </a:p>
        </p:txBody>
      </p:sp>
      <p:sp>
        <p:nvSpPr>
          <p:cNvPr id="92" name="Text 49"/>
          <p:cNvSpPr/>
          <p:nvPr/>
        </p:nvSpPr>
        <p:spPr>
          <a:xfrm>
            <a:off x="5076825" y="4114800"/>
            <a:ext cx="29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1309" dirty="0">
                <a:solidFill>
                  <a:srgbClr val="6D73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</a:t>
            </a:r>
            <a:endParaRPr lang="en-US" sz="1309" dirty="0"/>
          </a:p>
        </p:txBody>
      </p:sp>
      <p:pic>
        <p:nvPicPr>
          <p:cNvPr id="9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000375" y="4486275"/>
            <a:ext cx="10648950" cy="57150"/>
          </a:xfrm>
          <a:prstGeom prst="rect">
            <a:avLst/>
          </a:prstGeom>
        </p:spPr>
      </p:pic>
      <p:sp>
        <p:nvSpPr>
          <p:cNvPr id="94" name="Text 50"/>
          <p:cNvSpPr/>
          <p:nvPr/>
        </p:nvSpPr>
        <p:spPr>
          <a:xfrm>
            <a:off x="1304925" y="6067425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1237" dirty="0">
                <a:solidFill>
                  <a:srgbClr val="62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contents</a:t>
            </a:r>
            <a:endParaRPr lang="en-US" sz="1237" dirty="0"/>
          </a:p>
        </p:txBody>
      </p:sp>
      <p:pic>
        <p:nvPicPr>
          <p:cNvPr id="95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66775" y="6048375"/>
            <a:ext cx="209550" cy="276225"/>
          </a:xfrm>
          <a:prstGeom prst="rect">
            <a:avLst/>
          </a:prstGeom>
        </p:spPr>
      </p:pic>
      <p:sp>
        <p:nvSpPr>
          <p:cNvPr id="96" name="Text 51"/>
          <p:cNvSpPr/>
          <p:nvPr/>
        </p:nvSpPr>
        <p:spPr>
          <a:xfrm>
            <a:off x="1304925" y="5562600"/>
            <a:ext cx="838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8"/>
              </a:lnSpc>
              <a:buNone/>
            </a:pPr>
            <a:r>
              <a:rPr lang="en-US" sz="1267" dirty="0">
                <a:solidFill>
                  <a:srgbClr val="6267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1267" dirty="0"/>
          </a:p>
        </p:txBody>
      </p:sp>
      <p:pic>
        <p:nvPicPr>
          <p:cNvPr id="97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76300" y="5543550"/>
            <a:ext cx="180975" cy="228600"/>
          </a:xfrm>
          <a:prstGeom prst="rect">
            <a:avLst/>
          </a:prstGeom>
        </p:spPr>
      </p:pic>
      <p:sp>
        <p:nvSpPr>
          <p:cNvPr id="98" name="Text 52"/>
          <p:cNvSpPr/>
          <p:nvPr/>
        </p:nvSpPr>
        <p:spPr>
          <a:xfrm>
            <a:off x="1304925" y="5114925"/>
            <a:ext cx="1009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1297" dirty="0">
                <a:solidFill>
                  <a:srgbClr val="696E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297" dirty="0"/>
          </a:p>
        </p:txBody>
      </p:sp>
      <p:sp>
        <p:nvSpPr>
          <p:cNvPr id="99" name="Text 53"/>
          <p:cNvSpPr/>
          <p:nvPr/>
        </p:nvSpPr>
        <p:spPr>
          <a:xfrm>
            <a:off x="1304925" y="4886325"/>
            <a:ext cx="10191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242" dirty="0">
                <a:solidFill>
                  <a:srgbClr val="6166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</a:t>
            </a:r>
            <a:endParaRPr lang="en-US" sz="1242" dirty="0"/>
          </a:p>
        </p:txBody>
      </p:sp>
      <p:pic>
        <p:nvPicPr>
          <p:cNvPr id="100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66775" y="4981575"/>
            <a:ext cx="200025" cy="180975"/>
          </a:xfrm>
          <a:prstGeom prst="rect">
            <a:avLst/>
          </a:prstGeom>
        </p:spPr>
      </p:pic>
      <p:sp>
        <p:nvSpPr>
          <p:cNvPr id="101" name="Text 54"/>
          <p:cNvSpPr/>
          <p:nvPr/>
        </p:nvSpPr>
        <p:spPr>
          <a:xfrm>
            <a:off x="1295400" y="4448175"/>
            <a:ext cx="1362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1224" dirty="0">
                <a:solidFill>
                  <a:srgbClr val="666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Details</a:t>
            </a:r>
            <a:endParaRPr lang="en-US" sz="1224" dirty="0"/>
          </a:p>
        </p:txBody>
      </p:sp>
      <p:pic>
        <p:nvPicPr>
          <p:cNvPr id="102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66775" y="4467225"/>
            <a:ext cx="200025" cy="171450"/>
          </a:xfrm>
          <a:prstGeom prst="rect">
            <a:avLst/>
          </a:prstGeom>
        </p:spPr>
      </p:pic>
      <p:sp>
        <p:nvSpPr>
          <p:cNvPr id="103" name="Shape 55"/>
          <p:cNvSpPr/>
          <p:nvPr/>
        </p:nvSpPr>
        <p:spPr>
          <a:xfrm>
            <a:off x="666750" y="3790950"/>
            <a:ext cx="2295525" cy="485775"/>
          </a:xfrm>
          <a:prstGeom prst="roundRect">
            <a:avLst>
              <a:gd name="adj" fmla="val 1471"/>
            </a:avLst>
          </a:prstGeom>
          <a:solidFill>
            <a:srgbClr val="E0F0FD"/>
          </a:solidFill>
          <a:ln/>
        </p:spPr>
      </p:sp>
      <p:sp>
        <p:nvSpPr>
          <p:cNvPr id="104" name="Text 56"/>
          <p:cNvSpPr/>
          <p:nvPr/>
        </p:nvSpPr>
        <p:spPr>
          <a:xfrm>
            <a:off x="1295400" y="3952875"/>
            <a:ext cx="1543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73" b="1" dirty="0">
                <a:solidFill>
                  <a:srgbClr val="545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 Case Inventory</a:t>
            </a:r>
            <a:endParaRPr lang="en-US" sz="1073" dirty="0"/>
          </a:p>
        </p:txBody>
      </p:sp>
      <p:pic>
        <p:nvPicPr>
          <p:cNvPr id="105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66775" y="3962400"/>
            <a:ext cx="200025" cy="171450"/>
          </a:xfrm>
          <a:prstGeom prst="rect">
            <a:avLst/>
          </a:prstGeom>
        </p:spPr>
      </p:pic>
      <p:pic>
        <p:nvPicPr>
          <p:cNvPr id="106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57225" y="3790950"/>
            <a:ext cx="47625" cy="504825"/>
          </a:xfrm>
          <a:prstGeom prst="rect">
            <a:avLst/>
          </a:prstGeom>
        </p:spPr>
      </p:pic>
      <p:sp>
        <p:nvSpPr>
          <p:cNvPr id="107" name="Text 57"/>
          <p:cNvSpPr/>
          <p:nvPr/>
        </p:nvSpPr>
        <p:spPr>
          <a:xfrm>
            <a:off x="3133725" y="3314700"/>
            <a:ext cx="35909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92"/>
              </a:lnSpc>
              <a:buNone/>
            </a:pPr>
            <a:r>
              <a:rPr lang="en-US" sz="2587" b="1" dirty="0">
                <a:solidFill>
                  <a:srgbClr val="252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 Case Inventory</a:t>
            </a:r>
            <a:endParaRPr lang="en-US" sz="2587" dirty="0"/>
          </a:p>
        </p:txBody>
      </p:sp>
      <p:sp>
        <p:nvSpPr>
          <p:cNvPr id="108" name="Text 58"/>
          <p:cNvSpPr/>
          <p:nvPr/>
        </p:nvSpPr>
        <p:spPr>
          <a:xfrm>
            <a:off x="1304925" y="3390900"/>
            <a:ext cx="447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1282" dirty="0">
                <a:solidFill>
                  <a:srgbClr val="696D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282" dirty="0"/>
          </a:p>
        </p:txBody>
      </p:sp>
      <p:pic>
        <p:nvPicPr>
          <p:cNvPr id="109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66775" y="3371850"/>
            <a:ext cx="200025" cy="228600"/>
          </a:xfrm>
          <a:prstGeom prst="rect">
            <a:avLst/>
          </a:prstGeom>
        </p:spPr>
      </p:pic>
      <p:pic>
        <p:nvPicPr>
          <p:cNvPr id="110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962275" y="3162300"/>
            <a:ext cx="38100" cy="4762500"/>
          </a:xfrm>
          <a:prstGeom prst="rect">
            <a:avLst/>
          </a:prstGeom>
        </p:spPr>
      </p:pic>
      <p:sp>
        <p:nvSpPr>
          <p:cNvPr id="111" name="Text 59"/>
          <p:cNvSpPr/>
          <p:nvPr/>
        </p:nvSpPr>
        <p:spPr>
          <a:xfrm>
            <a:off x="13220700" y="2647950"/>
            <a:ext cx="828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97"/>
              </a:lnSpc>
              <a:buNone/>
            </a:pPr>
            <a:r>
              <a:rPr lang="en-US" sz="1256" dirty="0">
                <a:solidFill>
                  <a:srgbClr val="727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members</a:t>
            </a:r>
            <a:endParaRPr lang="en-US" sz="1256" dirty="0"/>
          </a:p>
        </p:txBody>
      </p:sp>
      <p:pic>
        <p:nvPicPr>
          <p:cNvPr id="11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2906375" y="2657475"/>
            <a:ext cx="209550" cy="180975"/>
          </a:xfrm>
          <a:prstGeom prst="rect">
            <a:avLst/>
          </a:prstGeom>
        </p:spPr>
      </p:pic>
      <p:sp>
        <p:nvSpPr>
          <p:cNvPr id="113" name="Text 60"/>
          <p:cNvSpPr/>
          <p:nvPr/>
        </p:nvSpPr>
        <p:spPr>
          <a:xfrm>
            <a:off x="11696700" y="2647950"/>
            <a:ext cx="971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9"/>
              </a:lnSpc>
              <a:buNone/>
            </a:pPr>
            <a:r>
              <a:rPr lang="en-US" sz="1297" dirty="0">
                <a:solidFill>
                  <a:srgbClr val="6C7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following</a:t>
            </a:r>
            <a:endParaRPr lang="en-US" sz="1297" dirty="0"/>
          </a:p>
        </p:txBody>
      </p:sp>
      <p:pic>
        <p:nvPicPr>
          <p:cNvPr id="114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1382375" y="2667000"/>
            <a:ext cx="190500" cy="180975"/>
          </a:xfrm>
          <a:prstGeom prst="rect">
            <a:avLst/>
          </a:prstGeom>
        </p:spPr>
      </p:pic>
      <p:sp>
        <p:nvSpPr>
          <p:cNvPr id="115" name="Text 61"/>
          <p:cNvSpPr/>
          <p:nvPr/>
        </p:nvSpPr>
        <p:spPr>
          <a:xfrm>
            <a:off x="1752600" y="2562225"/>
            <a:ext cx="16573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904" b="1" dirty="0">
                <a:solidFill>
                  <a:srgbClr val="2829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Triage</a:t>
            </a:r>
            <a:endParaRPr lang="en-US" sz="1904" dirty="0"/>
          </a:p>
        </p:txBody>
      </p:sp>
      <p:sp>
        <p:nvSpPr>
          <p:cNvPr id="116" name="Shape 62"/>
          <p:cNvSpPr/>
          <p:nvPr/>
        </p:nvSpPr>
        <p:spPr>
          <a:xfrm>
            <a:off x="885825" y="2438400"/>
            <a:ext cx="609600" cy="600075"/>
          </a:xfrm>
          <a:prstGeom prst="roundRect">
            <a:avLst>
              <a:gd name="adj" fmla="val 10317"/>
            </a:avLst>
          </a:prstGeom>
          <a:solidFill>
            <a:srgbClr val="0073D9"/>
          </a:solidFill>
          <a:ln w="9525">
            <a:solidFill>
              <a:srgbClr val="0F6CD7"/>
            </a:solidFill>
            <a:prstDash val="solid"/>
          </a:ln>
        </p:spPr>
      </p:sp>
      <p:sp>
        <p:nvSpPr>
          <p:cNvPr id="117" name="Text 63"/>
          <p:cNvSpPr/>
          <p:nvPr/>
        </p:nvSpPr>
        <p:spPr>
          <a:xfrm>
            <a:off x="1019175" y="2590800"/>
            <a:ext cx="3524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2205" dirty="0">
                <a:solidFill>
                  <a:srgbClr val="D2E8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</a:t>
            </a:r>
            <a:endParaRPr lang="en-US" sz="2205" dirty="0"/>
          </a:p>
        </p:txBody>
      </p:sp>
      <p:sp>
        <p:nvSpPr>
          <p:cNvPr id="118" name="Shape 64"/>
          <p:cNvSpPr/>
          <p:nvPr/>
        </p:nvSpPr>
        <p:spPr>
          <a:xfrm>
            <a:off x="13668375" y="2943225"/>
            <a:ext cx="2095500" cy="1800225"/>
          </a:xfrm>
          <a:prstGeom prst="roundRect">
            <a:avLst>
              <a:gd name="adj" fmla="val 3704"/>
            </a:avLst>
          </a:prstGeom>
          <a:solidFill>
            <a:srgbClr val="ECF6FE"/>
          </a:solidFill>
          <a:ln w="19050">
            <a:solidFill>
              <a:srgbClr val="6AADFC"/>
            </a:solidFill>
            <a:prstDash val="solid"/>
          </a:ln>
        </p:spPr>
      </p:sp>
      <p:sp>
        <p:nvSpPr>
          <p:cNvPr id="119" name="Text 65"/>
          <p:cNvSpPr/>
          <p:nvPr/>
        </p:nvSpPr>
        <p:spPr>
          <a:xfrm>
            <a:off x="12525375" y="74390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4"/>
              </a:lnSpc>
              <a:buNone/>
            </a:pPr>
            <a:r>
              <a:rPr lang="en-US" sz="1087" dirty="0">
                <a:solidFill>
                  <a:srgbClr val="7A82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1087" dirty="0"/>
          </a:p>
        </p:txBody>
      </p:sp>
      <p:sp>
        <p:nvSpPr>
          <p:cNvPr id="120" name="Text 66"/>
          <p:cNvSpPr/>
          <p:nvPr/>
        </p:nvSpPr>
        <p:spPr>
          <a:xfrm>
            <a:off x="11553825" y="7439025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05"/>
              </a:lnSpc>
              <a:buNone/>
            </a:pPr>
            <a:r>
              <a:rPr lang="en-US" sz="1087" dirty="0">
                <a:solidFill>
                  <a:srgbClr val="828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87" dirty="0"/>
          </a:p>
        </p:txBody>
      </p:sp>
      <p:sp>
        <p:nvSpPr>
          <p:cNvPr id="121" name="Text 67"/>
          <p:cNvSpPr/>
          <p:nvPr/>
        </p:nvSpPr>
        <p:spPr>
          <a:xfrm>
            <a:off x="9810750" y="7429500"/>
            <a:ext cx="95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18"/>
              </a:lnSpc>
              <a:buNone/>
            </a:pPr>
            <a:r>
              <a:rPr lang="en-US" sz="1309" dirty="0">
                <a:solidFill>
                  <a:srgbClr val="7075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309" dirty="0"/>
          </a:p>
        </p:txBody>
      </p:sp>
      <p:sp>
        <p:nvSpPr>
          <p:cNvPr id="122" name="Text 68"/>
          <p:cNvSpPr/>
          <p:nvPr/>
        </p:nvSpPr>
        <p:spPr>
          <a:xfrm>
            <a:off x="8848725" y="7439025"/>
            <a:ext cx="161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1125" dirty="0">
                <a:solidFill>
                  <a:srgbClr val="8D9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</a:t>
            </a:r>
            <a:endParaRPr lang="en-US" sz="1125" dirty="0"/>
          </a:p>
        </p:txBody>
      </p:sp>
      <p:sp>
        <p:nvSpPr>
          <p:cNvPr id="123" name="Text 69"/>
          <p:cNvSpPr/>
          <p:nvPr/>
        </p:nvSpPr>
        <p:spPr>
          <a:xfrm>
            <a:off x="7839075" y="7439025"/>
            <a:ext cx="2000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80"/>
              </a:lnSpc>
              <a:buNone/>
            </a:pPr>
            <a:r>
              <a:rPr lang="en-US" sz="1099" dirty="0">
                <a:solidFill>
                  <a:srgbClr val="777D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</a:t>
            </a:r>
            <a:endParaRPr lang="en-US" sz="1099" dirty="0"/>
          </a:p>
        </p:txBody>
      </p:sp>
      <p:sp>
        <p:nvSpPr>
          <p:cNvPr id="124" name="Text 70"/>
          <p:cNvSpPr/>
          <p:nvPr/>
        </p:nvSpPr>
        <p:spPr>
          <a:xfrm>
            <a:off x="12515850" y="6972300"/>
            <a:ext cx="819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1039" dirty="0">
                <a:solidFill>
                  <a:srgbClr val="8189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Conduct Risk</a:t>
            </a:r>
            <a:endParaRPr lang="en-US" sz="1039" dirty="0"/>
          </a:p>
        </p:txBody>
      </p:sp>
      <p:sp>
        <p:nvSpPr>
          <p:cNvPr id="125" name="Text 71"/>
          <p:cNvSpPr/>
          <p:nvPr/>
        </p:nvSpPr>
        <p:spPr>
          <a:xfrm>
            <a:off x="11553825" y="6972300"/>
            <a:ext cx="190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3"/>
              </a:lnSpc>
              <a:buNone/>
            </a:pPr>
            <a:r>
              <a:rPr lang="en-US" sz="1087" dirty="0">
                <a:solidFill>
                  <a:srgbClr val="7F86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087" dirty="0"/>
          </a:p>
        </p:txBody>
      </p:sp>
      <p:sp>
        <p:nvSpPr>
          <p:cNvPr id="126" name="Text 72"/>
          <p:cNvSpPr/>
          <p:nvPr/>
        </p:nvSpPr>
        <p:spPr>
          <a:xfrm>
            <a:off x="9820275" y="6972300"/>
            <a:ext cx="16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12"/>
              </a:lnSpc>
              <a:buNone/>
            </a:pPr>
            <a:r>
              <a:rPr lang="en-US" sz="1112" dirty="0">
                <a:solidFill>
                  <a:srgbClr val="7C82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12" dirty="0"/>
          </a:p>
        </p:txBody>
      </p:sp>
      <p:sp>
        <p:nvSpPr>
          <p:cNvPr id="127" name="Text 73"/>
          <p:cNvSpPr/>
          <p:nvPr/>
        </p:nvSpPr>
        <p:spPr>
          <a:xfrm>
            <a:off x="8839200" y="697230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1240" dirty="0">
                <a:solidFill>
                  <a:srgbClr val="888D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</a:t>
            </a:r>
            <a:endParaRPr lang="en-US" sz="1240" dirty="0"/>
          </a:p>
        </p:txBody>
      </p:sp>
      <p:sp>
        <p:nvSpPr>
          <p:cNvPr id="128" name="Text 74"/>
          <p:cNvSpPr/>
          <p:nvPr/>
        </p:nvSpPr>
        <p:spPr>
          <a:xfrm>
            <a:off x="7839075" y="6972300"/>
            <a:ext cx="2000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4"/>
              </a:lnSpc>
              <a:buNone/>
            </a:pPr>
            <a:r>
              <a:rPr lang="en-US" sz="1099" dirty="0">
                <a:solidFill>
                  <a:srgbClr val="7B8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</a:t>
            </a:r>
            <a:endParaRPr lang="en-US" sz="1099" dirty="0"/>
          </a:p>
        </p:txBody>
      </p:sp>
      <p:sp>
        <p:nvSpPr>
          <p:cNvPr id="129" name="Text 75"/>
          <p:cNvSpPr/>
          <p:nvPr/>
        </p:nvSpPr>
        <p:spPr>
          <a:xfrm>
            <a:off x="9820275" y="6038850"/>
            <a:ext cx="16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1112" dirty="0">
                <a:solidFill>
                  <a:srgbClr val="757B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112" dirty="0"/>
          </a:p>
        </p:txBody>
      </p:sp>
      <p:sp>
        <p:nvSpPr>
          <p:cNvPr id="130" name="Text 76"/>
          <p:cNvSpPr/>
          <p:nvPr/>
        </p:nvSpPr>
        <p:spPr>
          <a:xfrm>
            <a:off x="8839200" y="6048375"/>
            <a:ext cx="171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68"/>
              </a:lnSpc>
              <a:buNone/>
            </a:pPr>
            <a:r>
              <a:rPr lang="en-US" sz="1162" dirty="0">
                <a:solidFill>
                  <a:srgbClr val="8A9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1162" dirty="0"/>
          </a:p>
        </p:txBody>
      </p:sp>
      <p:sp>
        <p:nvSpPr>
          <p:cNvPr id="131" name="Text 77"/>
          <p:cNvSpPr/>
          <p:nvPr/>
        </p:nvSpPr>
        <p:spPr>
          <a:xfrm>
            <a:off x="7839075" y="603885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1047" dirty="0">
                <a:solidFill>
                  <a:srgbClr val="787D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47" dirty="0"/>
          </a:p>
        </p:txBody>
      </p:sp>
      <p:sp>
        <p:nvSpPr>
          <p:cNvPr id="132" name="Text 78"/>
          <p:cNvSpPr/>
          <p:nvPr/>
        </p:nvSpPr>
        <p:spPr>
          <a:xfrm>
            <a:off x="6429375" y="5495925"/>
            <a:ext cx="390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1043" dirty="0">
                <a:solidFill>
                  <a:srgbClr val="6B6F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43" dirty="0"/>
          </a:p>
        </p:txBody>
      </p:sp>
      <p:sp>
        <p:nvSpPr>
          <p:cNvPr id="133" name="Text 79"/>
          <p:cNvSpPr/>
          <p:nvPr/>
        </p:nvSpPr>
        <p:spPr>
          <a:xfrm>
            <a:off x="5676900" y="5495925"/>
            <a:ext cx="419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1011" b="1" dirty="0">
                <a:solidFill>
                  <a:srgbClr val="626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011" dirty="0"/>
          </a:p>
        </p:txBody>
      </p:sp>
      <p:sp>
        <p:nvSpPr>
          <p:cNvPr id="134" name="Text 80"/>
          <p:cNvSpPr/>
          <p:nvPr/>
        </p:nvSpPr>
        <p:spPr>
          <a:xfrm>
            <a:off x="4381500" y="5495925"/>
            <a:ext cx="895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909" b="1" dirty="0">
                <a:solidFill>
                  <a:srgbClr val="676A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Name</a:t>
            </a:r>
            <a:endParaRPr lang="en-US" sz="909" dirty="0"/>
          </a:p>
        </p:txBody>
      </p:sp>
      <p:sp>
        <p:nvSpPr>
          <p:cNvPr id="135" name="Text 81"/>
          <p:cNvSpPr/>
          <p:nvPr/>
        </p:nvSpPr>
        <p:spPr>
          <a:xfrm>
            <a:off x="3305175" y="5486400"/>
            <a:ext cx="695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916" b="1" dirty="0">
                <a:solidFill>
                  <a:srgbClr val="646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ID</a:t>
            </a:r>
            <a:endParaRPr lang="en-US" sz="916" dirty="0"/>
          </a:p>
        </p:txBody>
      </p:sp>
      <p:sp>
        <p:nvSpPr>
          <p:cNvPr id="136" name="Text 82"/>
          <p:cNvSpPr/>
          <p:nvPr/>
        </p:nvSpPr>
        <p:spPr>
          <a:xfrm>
            <a:off x="13716000" y="7439025"/>
            <a:ext cx="1466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4"/>
              </a:lnSpc>
              <a:buNone/>
            </a:pPr>
            <a:r>
              <a:rPr lang="en-US" sz="1017" dirty="0">
                <a:solidFill>
                  <a:srgbClr val="6199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Submission Details</a:t>
            </a:r>
            <a:endParaRPr lang="en-US" sz="1017" dirty="0"/>
          </a:p>
        </p:txBody>
      </p:sp>
      <p:pic>
        <p:nvPicPr>
          <p:cNvPr id="137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3735050" y="6591300"/>
            <a:ext cx="47625" cy="28575"/>
          </a:xfrm>
          <a:prstGeom prst="rect">
            <a:avLst/>
          </a:prstGeom>
        </p:spPr>
      </p:pic>
      <p:sp>
        <p:nvSpPr>
          <p:cNvPr id="138" name="Text 83"/>
          <p:cNvSpPr/>
          <p:nvPr/>
        </p:nvSpPr>
        <p:spPr>
          <a:xfrm>
            <a:off x="13716000" y="603885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4"/>
              </a:lnSpc>
              <a:buNone/>
            </a:pPr>
            <a:r>
              <a:rPr lang="en-US" sz="1017" dirty="0">
                <a:solidFill>
                  <a:srgbClr val="68A1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Submission Details</a:t>
            </a:r>
            <a:endParaRPr lang="en-US" sz="1017" dirty="0"/>
          </a:p>
        </p:txBody>
      </p:sp>
      <p:pic>
        <p:nvPicPr>
          <p:cNvPr id="139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4878050" y="5210175"/>
            <a:ext cx="447675" cy="742950"/>
          </a:xfrm>
          <a:prstGeom prst="rect">
            <a:avLst/>
          </a:prstGeom>
        </p:spPr>
      </p:pic>
      <p:sp>
        <p:nvSpPr>
          <p:cNvPr id="140" name="Text 84"/>
          <p:cNvSpPr/>
          <p:nvPr/>
        </p:nvSpPr>
        <p:spPr>
          <a:xfrm>
            <a:off x="13716000" y="5495925"/>
            <a:ext cx="409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96"/>
              </a:lnSpc>
              <a:buNone/>
            </a:pPr>
            <a:r>
              <a:rPr lang="en-US" sz="982" b="1" dirty="0">
                <a:solidFill>
                  <a:srgbClr val="5D62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82" dirty="0"/>
          </a:p>
        </p:txBody>
      </p:sp>
      <p:sp>
        <p:nvSpPr>
          <p:cNvPr id="141" name="Text 85"/>
          <p:cNvSpPr/>
          <p:nvPr/>
        </p:nvSpPr>
        <p:spPr>
          <a:xfrm>
            <a:off x="13849350" y="3476625"/>
            <a:ext cx="1733550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8"/>
              </a:lnSpc>
              <a:buNone/>
            </a:pPr>
            <a:r>
              <a:rPr lang="en-US" sz="1200" dirty="0">
                <a:solidFill>
                  <a:srgbClr val="646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link opens the</a:t>
            </a:r>
            <a:endParaRPr lang="en-US" sz="120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200" dirty="0">
                <a:solidFill>
                  <a:srgbClr val="646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Submission</a:t>
            </a:r>
            <a:endParaRPr lang="en-US" sz="120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200" dirty="0">
                <a:solidFill>
                  <a:srgbClr val="646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 SharePoint list</a:t>
            </a:r>
            <a:endParaRPr lang="en-US" sz="120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200" dirty="0">
                <a:solidFill>
                  <a:srgbClr val="646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to the selected</a:t>
            </a:r>
            <a:endParaRPr lang="en-US" sz="1200" dirty="0"/>
          </a:p>
          <a:p>
            <a:pPr algn="l" indent="0" marL="0">
              <a:lnSpc>
                <a:spcPts val="1838"/>
              </a:lnSpc>
              <a:buNone/>
            </a:pPr>
            <a:r>
              <a:rPr lang="en-US" sz="1200" dirty="0">
                <a:solidFill>
                  <a:srgbClr val="646A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ID.</a:t>
            </a:r>
            <a:endParaRPr lang="en-US" sz="1200" dirty="0"/>
          </a:p>
        </p:txBody>
      </p:sp>
      <p:pic>
        <p:nvPicPr>
          <p:cNvPr id="142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3849350" y="3076575"/>
            <a:ext cx="314325" cy="314325"/>
          </a:xfrm>
          <a:prstGeom prst="rect">
            <a:avLst/>
          </a:prstGeom>
        </p:spPr>
      </p:pic>
      <p:sp>
        <p:nvSpPr>
          <p:cNvPr id="143" name="Shape 86"/>
          <p:cNvSpPr/>
          <p:nvPr/>
        </p:nvSpPr>
        <p:spPr>
          <a:xfrm>
            <a:off x="647700" y="1619250"/>
            <a:ext cx="13754100" cy="666750"/>
          </a:xfrm>
          <a:prstGeom prst="roundRect">
            <a:avLst>
              <a:gd name="adj" fmla="val 2857"/>
            </a:avLst>
          </a:prstGeom>
          <a:solidFill>
            <a:srgbClr val="006DD4"/>
          </a:solidFill>
          <a:ln w="9525">
            <a:solidFill>
              <a:srgbClr val="237FD6"/>
            </a:solidFill>
            <a:prstDash val="solid"/>
          </a:ln>
        </p:spPr>
      </p:sp>
      <p:sp>
        <p:nvSpPr>
          <p:cNvPr id="144" name="Shape 87"/>
          <p:cNvSpPr/>
          <p:nvPr/>
        </p:nvSpPr>
        <p:spPr>
          <a:xfrm>
            <a:off x="13763625" y="1752600"/>
            <a:ext cx="428625" cy="428625"/>
          </a:xfrm>
          <a:prstGeom prst="roundRect">
            <a:avLst>
              <a:gd name="adj" fmla="val 48889"/>
            </a:avLst>
          </a:prstGeom>
          <a:solidFill>
            <a:srgbClr val="0072D5"/>
          </a:solidFill>
          <a:ln w="19050">
            <a:solidFill>
              <a:srgbClr val="AFD2E9"/>
            </a:solidFill>
            <a:prstDash val="solid"/>
          </a:ln>
        </p:spPr>
      </p:sp>
      <p:sp>
        <p:nvSpPr>
          <p:cNvPr id="145" name="Text 88"/>
          <p:cNvSpPr/>
          <p:nvPr/>
        </p:nvSpPr>
        <p:spPr>
          <a:xfrm>
            <a:off x="13868400" y="1847850"/>
            <a:ext cx="2381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1489" dirty="0">
                <a:solidFill>
                  <a:srgbClr val="A7D1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</a:t>
            </a:r>
            <a:endParaRPr lang="en-US" sz="1489" dirty="0"/>
          </a:p>
        </p:txBody>
      </p:sp>
      <p:pic>
        <p:nvPicPr>
          <p:cNvPr id="146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3211175" y="1857375"/>
            <a:ext cx="133350" cy="209550"/>
          </a:xfrm>
          <a:prstGeom prst="rect">
            <a:avLst/>
          </a:prstGeom>
        </p:spPr>
      </p:pic>
      <p:pic>
        <p:nvPicPr>
          <p:cNvPr id="147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2582525" y="1847850"/>
            <a:ext cx="238125" cy="238125"/>
          </a:xfrm>
          <a:prstGeom prst="rect">
            <a:avLst/>
          </a:prstGeom>
        </p:spPr>
      </p:pic>
      <p:pic>
        <p:nvPicPr>
          <p:cNvPr id="14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1991975" y="1857375"/>
            <a:ext cx="257175" cy="219075"/>
          </a:xfrm>
          <a:prstGeom prst="rect">
            <a:avLst/>
          </a:prstGeom>
        </p:spPr>
      </p:pic>
      <p:sp>
        <p:nvSpPr>
          <p:cNvPr id="149" name="Shape 89"/>
          <p:cNvSpPr/>
          <p:nvPr/>
        </p:nvSpPr>
        <p:spPr>
          <a:xfrm>
            <a:off x="4772025" y="1800225"/>
            <a:ext cx="4772025" cy="361950"/>
          </a:xfrm>
          <a:prstGeom prst="roundRect">
            <a:avLst>
              <a:gd name="adj" fmla="val 3947"/>
            </a:avLst>
          </a:prstGeom>
          <a:solidFill>
            <a:srgbClr val="EDF7FD"/>
          </a:solidFill>
          <a:ln w="9525">
            <a:solidFill>
              <a:srgbClr val="DDEDFA"/>
            </a:solidFill>
            <a:prstDash val="solid"/>
          </a:ln>
        </p:spPr>
      </p:sp>
      <p:pic>
        <p:nvPicPr>
          <p:cNvPr id="150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962525" y="1876425"/>
            <a:ext cx="209550" cy="209550"/>
          </a:xfrm>
          <a:prstGeom prst="rect">
            <a:avLst/>
          </a:prstGeom>
        </p:spPr>
      </p:pic>
      <p:sp>
        <p:nvSpPr>
          <p:cNvPr id="151" name="Text 90"/>
          <p:cNvSpPr/>
          <p:nvPr/>
        </p:nvSpPr>
        <p:spPr>
          <a:xfrm>
            <a:off x="5324475" y="1876425"/>
            <a:ext cx="1181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5"/>
              </a:lnSpc>
              <a:buNone/>
            </a:pPr>
            <a:r>
              <a:rPr lang="en-US" sz="1317" dirty="0">
                <a:solidFill>
                  <a:srgbClr val="6790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this site</a:t>
            </a:r>
            <a:endParaRPr lang="en-US" sz="1317" dirty="0"/>
          </a:p>
        </p:txBody>
      </p:sp>
      <p:pic>
        <p:nvPicPr>
          <p:cNvPr id="152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85825" y="1847850"/>
            <a:ext cx="219075" cy="228600"/>
          </a:xfrm>
          <a:prstGeom prst="rect">
            <a:avLst/>
          </a:prstGeom>
        </p:spPr>
      </p:pic>
      <p:sp>
        <p:nvSpPr>
          <p:cNvPr id="153" name="Text 91"/>
          <p:cNvSpPr/>
          <p:nvPr/>
        </p:nvSpPr>
        <p:spPr>
          <a:xfrm>
            <a:off x="1381125" y="1838325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3"/>
              </a:lnSpc>
              <a:buNone/>
            </a:pPr>
            <a:r>
              <a:rPr lang="en-US" sz="1571" dirty="0">
                <a:solidFill>
                  <a:srgbClr val="AAD1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1571" dirty="0"/>
          </a:p>
        </p:txBody>
      </p:sp>
      <p:pic>
        <p:nvPicPr>
          <p:cNvPr id="154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95325" y="1343025"/>
            <a:ext cx="723900" cy="76200"/>
          </a:xfrm>
          <a:prstGeom prst="rect">
            <a:avLst/>
          </a:prstGeom>
        </p:spPr>
      </p:pic>
      <p:sp>
        <p:nvSpPr>
          <p:cNvPr id="155" name="Text 92"/>
          <p:cNvSpPr/>
          <p:nvPr/>
        </p:nvSpPr>
        <p:spPr>
          <a:xfrm>
            <a:off x="13716000" y="69723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1017" dirty="0">
                <a:solidFill>
                  <a:srgbClr val="5F9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Submission Details</a:t>
            </a:r>
            <a:endParaRPr lang="en-US" sz="1017" dirty="0"/>
          </a:p>
        </p:txBody>
      </p:sp>
      <p:sp>
        <p:nvSpPr>
          <p:cNvPr id="156" name="Text 93"/>
          <p:cNvSpPr/>
          <p:nvPr/>
        </p:nvSpPr>
        <p:spPr>
          <a:xfrm>
            <a:off x="695325" y="914400"/>
            <a:ext cx="13096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815" dirty="0">
                <a:solidFill>
                  <a:srgbClr val="748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MVP design using a standard SharePoint list with built-in filtering and a link to submission details</a:t>
            </a:r>
            <a:endParaRPr lang="en-US" sz="1815" dirty="0"/>
          </a:p>
        </p:txBody>
      </p:sp>
      <p:sp>
        <p:nvSpPr>
          <p:cNvPr id="157" name="Text 94"/>
          <p:cNvSpPr/>
          <p:nvPr/>
        </p:nvSpPr>
        <p:spPr>
          <a:xfrm>
            <a:off x="714375" y="295275"/>
            <a:ext cx="109442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18"/>
              </a:lnSpc>
              <a:buNone/>
            </a:pPr>
            <a:r>
              <a:rPr lang="en-US" sz="3751" b="1" dirty="0">
                <a:solidFill>
                  <a:srgbClr val="1E1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SharePoint List 1 — Use Case Inventory</a:t>
            </a:r>
            <a:endParaRPr lang="en-US" sz="375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2026-10-08T07:22:39Z</dcterms:created>
  <dcterms:modified xsi:type="dcterms:W3CDTF">2026-10-08T07:22:39Z</dcterms:modified>
</cp:coreProperties>
</file>