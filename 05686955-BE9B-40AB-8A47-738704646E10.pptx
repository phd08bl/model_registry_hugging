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925800" cy="8963025"/>
  <p:notesSz cx="8963025" cy="15925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e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jpe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jpe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jpe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jpe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EFEFE"/>
          </a:solidFill>
          <a:ln/>
        </p:spPr>
      </p:sp>
      <p:sp>
        <p:nvSpPr>
          <p:cNvPr id="3" name="Shape 1"/>
          <p:cNvSpPr/>
          <p:nvPr/>
        </p:nvSpPr>
        <p:spPr>
          <a:xfrm>
            <a:off x="400050" y="7810500"/>
            <a:ext cx="15106650" cy="1009650"/>
          </a:xfrm>
          <a:prstGeom prst="roundRect">
            <a:avLst>
              <a:gd name="adj" fmla="val 5660"/>
            </a:avLst>
          </a:prstGeom>
          <a:solidFill>
            <a:srgbClr val="05391C"/>
          </a:solidFill>
          <a:ln w="9525">
            <a:solidFill>
              <a:srgbClr val="2746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57400" y="7981950"/>
            <a:ext cx="10239375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71"/>
              </a:lnSpc>
              <a:buNone/>
            </a:pPr>
            <a:r>
              <a:rPr lang="en-US" sz="1944" b="1" dirty="0">
                <a:solidFill>
                  <a:srgbClr val="BFD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Together, these outputs support a control-by-design approach: clearer definitions,</a:t>
            </a:r>
            <a:endParaRPr lang="en-US" sz="1944" dirty="0"/>
          </a:p>
          <a:p>
            <a:pPr algn="l" indent="0" marL="0">
              <a:lnSpc>
                <a:spcPts val="2371"/>
              </a:lnSpc>
              <a:buNone/>
            </a:pPr>
            <a:r>
              <a:rPr lang="en-US" sz="1944" b="1" dirty="0">
                <a:solidFill>
                  <a:srgbClr val="BFD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proportionate triage, shared evidence expectations and understood accountabilities.</a:t>
            </a:r>
            <a:endParaRPr lang="en-US" sz="1944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" y="7810500"/>
            <a:ext cx="923925" cy="933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68150" y="2390775"/>
            <a:ext cx="3648075" cy="5238750"/>
          </a:xfrm>
          <a:prstGeom prst="roundRect">
            <a:avLst>
              <a:gd name="adj" fmla="val 4178"/>
            </a:avLst>
          </a:prstGeom>
          <a:solidFill>
            <a:srgbClr val="F7FAF7"/>
          </a:solidFill>
          <a:ln w="9525">
            <a:solidFill>
              <a:srgbClr val="DDE2D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7225" y="6743700"/>
            <a:ext cx="104775" cy="952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7225" y="5800725"/>
            <a:ext cx="104775" cy="952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7225" y="4610100"/>
            <a:ext cx="104775" cy="952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39600" y="4343400"/>
            <a:ext cx="3324225" cy="7620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9650" y="2600325"/>
            <a:ext cx="1609725" cy="1228725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2334875" y="6638925"/>
            <a:ext cx="27432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8"/>
              </a:lnSpc>
              <a:buNone/>
            </a:pPr>
            <a:r>
              <a:rPr lang="en-US" sz="1625" dirty="0">
                <a:solidFill>
                  <a:srgbClr val="424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reduce duplication and</a:t>
            </a:r>
            <a:endParaRPr lang="en-US" sz="1625" dirty="0"/>
          </a:p>
          <a:p>
            <a:pPr algn="l" indent="0" marL="0">
              <a:lnSpc>
                <a:spcPts val="1918"/>
              </a:lnSpc>
              <a:buNone/>
            </a:pPr>
            <a:r>
              <a:rPr lang="en-US" sz="1625" dirty="0">
                <a:solidFill>
                  <a:srgbClr val="424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end-to-end</a:t>
            </a:r>
            <a:endParaRPr lang="en-US" sz="1625" dirty="0"/>
          </a:p>
          <a:p>
            <a:pPr algn="l" indent="0" marL="0">
              <a:lnSpc>
                <a:spcPts val="1918"/>
              </a:lnSpc>
              <a:buNone/>
            </a:pPr>
            <a:r>
              <a:rPr lang="en-US" sz="1625" dirty="0">
                <a:solidFill>
                  <a:srgbClr val="424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cOordination.</a:t>
            </a:r>
            <a:endParaRPr lang="en-US" sz="1625" dirty="0"/>
          </a:p>
        </p:txBody>
      </p:sp>
      <p:sp>
        <p:nvSpPr>
          <p:cNvPr id="13" name="Text 5"/>
          <p:cNvSpPr/>
          <p:nvPr/>
        </p:nvSpPr>
        <p:spPr>
          <a:xfrm>
            <a:off x="12334875" y="5695950"/>
            <a:ext cx="238125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3"/>
              </a:lnSpc>
              <a:buNone/>
            </a:pPr>
            <a:r>
              <a:rPr lang="en-US" sz="1612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clearer decision</a:t>
            </a:r>
            <a:endParaRPr lang="en-US" sz="1612" dirty="0"/>
          </a:p>
          <a:p>
            <a:pPr algn="l" indent="0" marL="0">
              <a:lnSpc>
                <a:spcPts val="2033"/>
              </a:lnSpc>
              <a:buNone/>
            </a:pPr>
            <a:r>
              <a:rPr lang="en-US" sz="1612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rights, approvals and</a:t>
            </a:r>
            <a:endParaRPr lang="en-US" sz="1612" dirty="0"/>
          </a:p>
          <a:p>
            <a:pPr algn="l" indent="0" marL="0">
              <a:lnSpc>
                <a:spcPts val="2033"/>
              </a:lnSpc>
              <a:buNone/>
            </a:pPr>
            <a:r>
              <a:rPr lang="en-US" sz="1612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points.</a:t>
            </a:r>
            <a:endParaRPr lang="en-US" sz="1612" dirty="0"/>
          </a:p>
        </p:txBody>
      </p:sp>
      <p:sp>
        <p:nvSpPr>
          <p:cNvPr id="14" name="Text 6"/>
          <p:cNvSpPr/>
          <p:nvPr/>
        </p:nvSpPr>
        <p:spPr>
          <a:xfrm>
            <a:off x="12334875" y="4495800"/>
            <a:ext cx="280987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5"/>
              </a:lnSpc>
              <a:buNone/>
            </a:pPr>
            <a:r>
              <a:rPr lang="en-US" sz="1551" dirty="0">
                <a:solidFill>
                  <a:srgbClr val="5253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Clarifies ownership, review and</a:t>
            </a:r>
            <a:endParaRPr lang="en-US" sz="1551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551" dirty="0">
                <a:solidFill>
                  <a:srgbClr val="5253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responsibilities</a:t>
            </a:r>
            <a:endParaRPr lang="en-US" sz="1551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551" dirty="0">
                <a:solidFill>
                  <a:srgbClr val="5253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1LoD, MRO and</a:t>
            </a:r>
            <a:endParaRPr lang="en-US" sz="1551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551" dirty="0">
                <a:solidFill>
                  <a:srgbClr val="5253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 2LoD teams.</a:t>
            </a:r>
            <a:endParaRPr lang="en-US" sz="1551" dirty="0"/>
          </a:p>
        </p:txBody>
      </p:sp>
      <p:sp>
        <p:nvSpPr>
          <p:cNvPr id="15" name="Text 7"/>
          <p:cNvSpPr/>
          <p:nvPr/>
        </p:nvSpPr>
        <p:spPr>
          <a:xfrm>
            <a:off x="12106275" y="3971925"/>
            <a:ext cx="22288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2078" b="1" dirty="0">
                <a:solidFill>
                  <a:srgbClr val="292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Accountabilities</a:t>
            </a:r>
            <a:endParaRPr lang="en-US" sz="2078" dirty="0"/>
          </a:p>
        </p:txBody>
      </p:sp>
      <p:sp>
        <p:nvSpPr>
          <p:cNvPr id="16" name="Shape 8"/>
          <p:cNvSpPr/>
          <p:nvPr/>
        </p:nvSpPr>
        <p:spPr>
          <a:xfrm>
            <a:off x="8086725" y="2390775"/>
            <a:ext cx="3514725" cy="5238750"/>
          </a:xfrm>
          <a:prstGeom prst="roundRect">
            <a:avLst>
              <a:gd name="adj" fmla="val 4065"/>
            </a:avLst>
          </a:prstGeom>
          <a:solidFill>
            <a:srgbClr val="F7F9F7"/>
          </a:solidFill>
          <a:ln w="9525">
            <a:solidFill>
              <a:srgbClr val="DAE0D9"/>
            </a:solidFill>
            <a:prstDash val="solid"/>
          </a:ln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5800" y="6505575"/>
            <a:ext cx="95250" cy="95250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5800" y="5562600"/>
            <a:ext cx="95250" cy="95250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5800" y="4610100"/>
            <a:ext cx="95250" cy="95250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8175" y="4343400"/>
            <a:ext cx="3171825" cy="76200"/>
          </a:xfrm>
          <a:prstGeom prst="rect">
            <a:avLst/>
          </a:prstGeom>
        </p:spPr>
      </p:pic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43950" y="2524125"/>
            <a:ext cx="1343025" cy="137160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8543925" y="6400800"/>
            <a:ext cx="26289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81"/>
              </a:lnSpc>
              <a:buNone/>
            </a:pPr>
            <a:r>
              <a:rPr lang="en-US" sz="1650" dirty="0">
                <a:solidFill>
                  <a:srgbClr val="515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consistent routing</a:t>
            </a:r>
            <a:endParaRPr lang="en-US" sz="1650" dirty="0"/>
          </a:p>
          <a:p>
            <a:pPr algn="l" indent="0" marL="0">
              <a:lnSpc>
                <a:spcPts val="2081"/>
              </a:lnSpc>
              <a:buNone/>
            </a:pPr>
            <a:r>
              <a:rPr lang="en-US" sz="1650" dirty="0">
                <a:solidFill>
                  <a:srgbClr val="515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the appropriate</a:t>
            </a:r>
            <a:endParaRPr lang="en-US" sz="1650" dirty="0"/>
          </a:p>
          <a:p>
            <a:pPr algn="l" indent="0" marL="0">
              <a:lnSpc>
                <a:spcPts val="2081"/>
              </a:lnSpc>
              <a:buNone/>
            </a:pPr>
            <a:r>
              <a:rPr lang="en-US" sz="1650" dirty="0">
                <a:solidFill>
                  <a:srgbClr val="515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pathway.</a:t>
            </a:r>
            <a:endParaRPr lang="en-US" sz="1650" dirty="0"/>
          </a:p>
        </p:txBody>
      </p:sp>
      <p:sp>
        <p:nvSpPr>
          <p:cNvPr id="23" name="Text 10"/>
          <p:cNvSpPr/>
          <p:nvPr/>
        </p:nvSpPr>
        <p:spPr>
          <a:xfrm>
            <a:off x="8543925" y="5448300"/>
            <a:ext cx="260985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63" dirty="0">
                <a:solidFill>
                  <a:srgbClr val="48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Identifies relevant 2LoD</a:t>
            </a:r>
            <a:endParaRPr lang="en-US" sz="1563" dirty="0"/>
          </a:p>
          <a:p>
            <a:pPr algn="l" indent="0" marL="0">
              <a:lnSpc>
                <a:spcPts val="2070"/>
              </a:lnSpc>
              <a:buNone/>
            </a:pPr>
            <a:r>
              <a:rPr lang="en-US" sz="1563" dirty="0">
                <a:solidFill>
                  <a:srgbClr val="48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and sets out evidence</a:t>
            </a:r>
            <a:endParaRPr lang="en-US" sz="1563" dirty="0"/>
          </a:p>
          <a:p>
            <a:pPr algn="l" indent="0" marL="0">
              <a:lnSpc>
                <a:spcPts val="2070"/>
              </a:lnSpc>
              <a:buNone/>
            </a:pPr>
            <a:r>
              <a:rPr lang="en-US" sz="1563" dirty="0">
                <a:solidFill>
                  <a:srgbClr val="48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upfront.</a:t>
            </a:r>
            <a:endParaRPr lang="en-US" sz="1563" dirty="0"/>
          </a:p>
        </p:txBody>
      </p:sp>
      <p:sp>
        <p:nvSpPr>
          <p:cNvPr id="24" name="Text 11"/>
          <p:cNvSpPr/>
          <p:nvPr/>
        </p:nvSpPr>
        <p:spPr>
          <a:xfrm>
            <a:off x="8553450" y="4495800"/>
            <a:ext cx="25431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81"/>
              </a:lnSpc>
              <a:buNone/>
            </a:pPr>
            <a:r>
              <a:rPr lang="en-US" sz="1568" dirty="0">
                <a:solidFill>
                  <a:srgbClr val="515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a single front-door</a:t>
            </a:r>
            <a:endParaRPr lang="en-US" sz="1568" dirty="0"/>
          </a:p>
          <a:p>
            <a:pPr algn="l" indent="0" marL="0">
              <a:lnSpc>
                <a:spcPts val="1981"/>
              </a:lnSpc>
              <a:buNone/>
            </a:pPr>
            <a:r>
              <a:rPr lang="en-US" sz="1568" dirty="0">
                <a:solidFill>
                  <a:srgbClr val="515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for assessing AI</a:t>
            </a:r>
            <a:endParaRPr lang="en-US" sz="1568" dirty="0"/>
          </a:p>
          <a:p>
            <a:pPr algn="l" indent="0" marL="0">
              <a:lnSpc>
                <a:spcPts val="1981"/>
              </a:lnSpc>
              <a:buNone/>
            </a:pPr>
            <a:r>
              <a:rPr lang="en-US" sz="1568" dirty="0">
                <a:solidFill>
                  <a:srgbClr val="515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cases.</a:t>
            </a:r>
            <a:endParaRPr lang="en-US" sz="1568" dirty="0"/>
          </a:p>
        </p:txBody>
      </p:sp>
      <p:sp>
        <p:nvSpPr>
          <p:cNvPr id="25" name="Text 12"/>
          <p:cNvSpPr/>
          <p:nvPr/>
        </p:nvSpPr>
        <p:spPr>
          <a:xfrm>
            <a:off x="8343900" y="3952875"/>
            <a:ext cx="904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</a:t>
            </a:r>
            <a:endParaRPr lang="en-US" sz="2250" dirty="0"/>
          </a:p>
        </p:txBody>
      </p:sp>
      <p:sp>
        <p:nvSpPr>
          <p:cNvPr id="26" name="Shape 13"/>
          <p:cNvSpPr/>
          <p:nvPr/>
        </p:nvSpPr>
        <p:spPr>
          <a:xfrm>
            <a:off x="4191000" y="2390775"/>
            <a:ext cx="3638550" cy="5238750"/>
          </a:xfrm>
          <a:prstGeom prst="roundRect">
            <a:avLst>
              <a:gd name="adj" fmla="val 3338"/>
            </a:avLst>
          </a:prstGeom>
          <a:solidFill>
            <a:srgbClr val="F7FAF7"/>
          </a:solidFill>
          <a:ln w="9525">
            <a:solidFill>
              <a:srgbClr val="DDE2DC"/>
            </a:solidFill>
            <a:prstDash val="solid"/>
          </a:ln>
        </p:spPr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0075" y="6648450"/>
            <a:ext cx="95250" cy="95250"/>
          </a:xfrm>
          <a:prstGeom prst="rect">
            <a:avLst/>
          </a:prstGeom>
        </p:spPr>
      </p:pic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0075" y="5762625"/>
            <a:ext cx="95250" cy="95250"/>
          </a:xfrm>
          <a:prstGeom prst="rect">
            <a:avLst/>
          </a:prstGeom>
        </p:spPr>
      </p:pic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0075" y="4610100"/>
            <a:ext cx="104775" cy="95250"/>
          </a:xfrm>
          <a:prstGeom prst="rect">
            <a:avLst/>
          </a:prstGeom>
        </p:spPr>
      </p:pic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71975" y="4343400"/>
            <a:ext cx="3238500" cy="76200"/>
          </a:xfrm>
          <a:prstGeom prst="rect">
            <a:avLst/>
          </a:prstGeom>
        </p:spPr>
      </p:pic>
      <p:pic>
        <p:nvPicPr>
          <p:cNvPr id="3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38725" y="2571750"/>
            <a:ext cx="1238250" cy="1209675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4648200" y="6543675"/>
            <a:ext cx="28860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53" dirty="0">
                <a:solidFill>
                  <a:srgbClr val="636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identify where additiona</a:t>
            </a:r>
            <a:endParaRPr lang="en-US" sz="1653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653" dirty="0">
                <a:solidFill>
                  <a:srgbClr val="636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or approvals are</a:t>
            </a:r>
            <a:endParaRPr lang="en-US" sz="1653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653" dirty="0">
                <a:solidFill>
                  <a:srgbClr val="636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required.</a:t>
            </a:r>
            <a:endParaRPr lang="en-US" sz="1653" dirty="0"/>
          </a:p>
        </p:txBody>
      </p:sp>
      <p:sp>
        <p:nvSpPr>
          <p:cNvPr id="33" name="Text 15"/>
          <p:cNvSpPr/>
          <p:nvPr/>
        </p:nvSpPr>
        <p:spPr>
          <a:xfrm>
            <a:off x="4657725" y="5657850"/>
            <a:ext cx="2667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636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proportionate</a:t>
            </a:r>
            <a:endParaRPr lang="en-US" sz="1636" dirty="0"/>
          </a:p>
          <a:p>
            <a:pPr algn="l" indent="0" marL="0">
              <a:lnSpc>
                <a:spcPts val="1932"/>
              </a:lnSpc>
              <a:buNone/>
            </a:pPr>
            <a:r>
              <a:rPr lang="en-US" sz="1636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oversight aligned to risk and</a:t>
            </a:r>
            <a:endParaRPr lang="en-US" sz="1636" dirty="0"/>
          </a:p>
          <a:p>
            <a:pPr algn="l" indent="0" marL="0">
              <a:lnSpc>
                <a:spcPts val="1932"/>
              </a:lnSpc>
              <a:buNone/>
            </a:pPr>
            <a:r>
              <a:rPr lang="en-US" sz="1636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materiality.</a:t>
            </a:r>
            <a:endParaRPr lang="en-US" sz="1636" dirty="0"/>
          </a:p>
        </p:txBody>
      </p:sp>
      <p:sp>
        <p:nvSpPr>
          <p:cNvPr id="34" name="Text 16"/>
          <p:cNvSpPr/>
          <p:nvPr/>
        </p:nvSpPr>
        <p:spPr>
          <a:xfrm>
            <a:off x="4648200" y="4505325"/>
            <a:ext cx="2847975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1275" dirty="0">
                <a:solidFill>
                  <a:srgbClr val="5252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Clarifies which use cases can</a:t>
            </a:r>
            <a:endParaRPr lang="en-US" sz="1275" dirty="0"/>
          </a:p>
          <a:p>
            <a:pPr algn="l" indent="0" marL="0">
              <a:lnSpc>
                <a:spcPts val="2009"/>
              </a:lnSpc>
              <a:buNone/>
            </a:pPr>
            <a:r>
              <a:rPr lang="en-US" sz="1275" dirty="0">
                <a:solidFill>
                  <a:srgbClr val="5252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proceed through lighter</a:t>
            </a:r>
            <a:endParaRPr lang="en-US" sz="1275" dirty="0"/>
          </a:p>
          <a:p>
            <a:pPr algn="l" indent="0" marL="0">
              <a:lnSpc>
                <a:spcPts val="2009"/>
              </a:lnSpc>
              <a:buNone/>
            </a:pPr>
            <a:r>
              <a:rPr lang="en-US" sz="1275" dirty="0">
                <a:solidFill>
                  <a:srgbClr val="5252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which require</a:t>
            </a:r>
            <a:endParaRPr lang="en-US" sz="1275" dirty="0"/>
          </a:p>
          <a:p>
            <a:pPr algn="l" indent="0" marL="0">
              <a:lnSpc>
                <a:spcPts val="2009"/>
              </a:lnSpc>
              <a:buNone/>
            </a:pPr>
            <a:r>
              <a:rPr lang="en-US" sz="1275" dirty="0">
                <a:solidFill>
                  <a:srgbClr val="5252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enhanced review or escalation</a:t>
            </a:r>
            <a:endParaRPr lang="en-US" sz="1275" dirty="0"/>
          </a:p>
        </p:txBody>
      </p:sp>
      <p:sp>
        <p:nvSpPr>
          <p:cNvPr id="35" name="Text 17"/>
          <p:cNvSpPr/>
          <p:nvPr/>
        </p:nvSpPr>
        <p:spPr>
          <a:xfrm>
            <a:off x="4457700" y="3962400"/>
            <a:ext cx="1266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340" b="1" dirty="0">
                <a:solidFill>
                  <a:srgbClr val="2F2F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Appetite</a:t>
            </a:r>
            <a:endParaRPr lang="en-US" sz="2340" dirty="0"/>
          </a:p>
        </p:txBody>
      </p:sp>
      <p:sp>
        <p:nvSpPr>
          <p:cNvPr id="36" name="Shape 18"/>
          <p:cNvSpPr/>
          <p:nvPr/>
        </p:nvSpPr>
        <p:spPr>
          <a:xfrm>
            <a:off x="390525" y="2390775"/>
            <a:ext cx="3533775" cy="5238750"/>
          </a:xfrm>
          <a:prstGeom prst="roundRect">
            <a:avLst>
              <a:gd name="adj" fmla="val 3571"/>
            </a:avLst>
          </a:prstGeom>
          <a:solidFill>
            <a:srgbClr val="F7FAF7"/>
          </a:solidFill>
          <a:ln w="9525">
            <a:solidFill>
              <a:srgbClr val="D8DFD8"/>
            </a:solidFill>
            <a:prstDash val="solid"/>
          </a:ln>
        </p:spPr>
      </p:sp>
      <p:pic>
        <p:nvPicPr>
          <p:cNvPr id="3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6610350"/>
            <a:ext cx="95250" cy="95250"/>
          </a:xfrm>
          <a:prstGeom prst="rect">
            <a:avLst/>
          </a:prstGeom>
        </p:spPr>
      </p:pic>
      <p:pic>
        <p:nvPicPr>
          <p:cNvPr id="3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5600700"/>
            <a:ext cx="95250" cy="95250"/>
          </a:xfrm>
          <a:prstGeom prst="rect">
            <a:avLst/>
          </a:prstGeom>
        </p:spPr>
      </p:pic>
      <p:pic>
        <p:nvPicPr>
          <p:cNvPr id="3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4619625"/>
            <a:ext cx="95250" cy="95250"/>
          </a:xfrm>
          <a:prstGeom prst="rect">
            <a:avLst/>
          </a:prstGeom>
        </p:spPr>
      </p:pic>
      <p:pic>
        <p:nvPicPr>
          <p:cNvPr id="4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0550" y="4333875"/>
            <a:ext cx="3095625" cy="85725"/>
          </a:xfrm>
          <a:prstGeom prst="rect">
            <a:avLst/>
          </a:prstGeom>
        </p:spPr>
      </p:pic>
      <p:pic>
        <p:nvPicPr>
          <p:cNvPr id="4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4900" y="2562225"/>
            <a:ext cx="1238250" cy="1209675"/>
          </a:xfrm>
          <a:prstGeom prst="rect">
            <a:avLst/>
          </a:prstGeom>
        </p:spPr>
      </p:pic>
      <p:sp>
        <p:nvSpPr>
          <p:cNvPr id="42" name="Text 19"/>
          <p:cNvSpPr/>
          <p:nvPr/>
        </p:nvSpPr>
        <p:spPr>
          <a:xfrm>
            <a:off x="933450" y="6496050"/>
            <a:ext cx="24193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688" dirty="0">
                <a:solidFill>
                  <a:srgbClr val="4C4D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more consistent</a:t>
            </a:r>
            <a:endParaRPr lang="en-US" sz="1688" dirty="0"/>
          </a:p>
          <a:p>
            <a:pPr algn="l" indent="0" marL="0">
              <a:lnSpc>
                <a:spcPts val="2090"/>
              </a:lnSpc>
              <a:buNone/>
            </a:pPr>
            <a:r>
              <a:rPr lang="en-US" sz="1688" dirty="0">
                <a:solidFill>
                  <a:srgbClr val="4C4D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and evidence</a:t>
            </a:r>
            <a:endParaRPr lang="en-US" sz="1688" dirty="0"/>
          </a:p>
          <a:p>
            <a:pPr algn="l" indent="0" marL="0">
              <a:lnSpc>
                <a:spcPts val="2090"/>
              </a:lnSpc>
              <a:buNone/>
            </a:pPr>
            <a:r>
              <a:rPr lang="en-US" sz="1688" dirty="0">
                <a:solidFill>
                  <a:srgbClr val="4C4D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expectations.</a:t>
            </a:r>
            <a:endParaRPr lang="en-US" sz="1688" dirty="0"/>
          </a:p>
        </p:txBody>
      </p:sp>
      <p:sp>
        <p:nvSpPr>
          <p:cNvPr id="43" name="Text 20"/>
          <p:cNvSpPr/>
          <p:nvPr/>
        </p:nvSpPr>
        <p:spPr>
          <a:xfrm>
            <a:off x="933450" y="5495925"/>
            <a:ext cx="2638425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3"/>
              </a:lnSpc>
              <a:buNone/>
            </a:pPr>
            <a:r>
              <a:rPr lang="en-US" sz="1663" dirty="0">
                <a:solidFill>
                  <a:srgbClr val="4F4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consistent</a:t>
            </a:r>
            <a:endParaRPr lang="en-US" sz="1663" dirty="0"/>
          </a:p>
          <a:p>
            <a:pPr algn="l" indent="0" marL="0">
              <a:lnSpc>
                <a:spcPts val="1963"/>
              </a:lnSpc>
              <a:buNone/>
            </a:pPr>
            <a:r>
              <a:rPr lang="en-US" sz="1663" dirty="0">
                <a:solidFill>
                  <a:srgbClr val="4F4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materiality assessment and</a:t>
            </a:r>
            <a:endParaRPr lang="en-US" sz="1663" dirty="0"/>
          </a:p>
          <a:p>
            <a:pPr algn="l" indent="0" marL="0">
              <a:lnSpc>
                <a:spcPts val="1963"/>
              </a:lnSpc>
              <a:buNone/>
            </a:pPr>
            <a:r>
              <a:rPr lang="en-US" sz="1663" dirty="0">
                <a:solidFill>
                  <a:srgbClr val="4F4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categorisation.</a:t>
            </a:r>
            <a:endParaRPr lang="en-US" sz="1663" dirty="0"/>
          </a:p>
        </p:txBody>
      </p:sp>
      <p:sp>
        <p:nvSpPr>
          <p:cNvPr id="44" name="Text 21"/>
          <p:cNvSpPr/>
          <p:nvPr/>
        </p:nvSpPr>
        <p:spPr>
          <a:xfrm>
            <a:off x="933450" y="4514850"/>
            <a:ext cx="273367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5"/>
              </a:lnSpc>
              <a:buNone/>
            </a:pPr>
            <a:r>
              <a:rPr lang="en-US" sz="1626" dirty="0">
                <a:solidFill>
                  <a:srgbClr val="4E4E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a common language</a:t>
            </a:r>
            <a:endParaRPr lang="en-US" sz="1626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626" dirty="0">
                <a:solidFill>
                  <a:srgbClr val="4E4E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AI, GenAI, agentic AI and</a:t>
            </a:r>
            <a:endParaRPr lang="en-US" sz="1626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626" dirty="0">
                <a:solidFill>
                  <a:srgbClr val="4E4E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system types.</a:t>
            </a:r>
            <a:endParaRPr lang="en-US" sz="1626" dirty="0"/>
          </a:p>
        </p:txBody>
      </p:sp>
      <p:sp>
        <p:nvSpPr>
          <p:cNvPr id="45" name="Text 22"/>
          <p:cNvSpPr/>
          <p:nvPr/>
        </p:nvSpPr>
        <p:spPr>
          <a:xfrm>
            <a:off x="685800" y="3971925"/>
            <a:ext cx="1524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2"/>
              </a:lnSpc>
              <a:buNone/>
            </a:pPr>
            <a:r>
              <a:rPr lang="en-US" sz="2253" b="1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Definitions</a:t>
            </a:r>
            <a:endParaRPr lang="en-US" sz="2253" dirty="0"/>
          </a:p>
        </p:txBody>
      </p:sp>
      <p:sp>
        <p:nvSpPr>
          <p:cNvPr id="46" name="Text 23"/>
          <p:cNvSpPr/>
          <p:nvPr/>
        </p:nvSpPr>
        <p:spPr>
          <a:xfrm>
            <a:off x="1905000" y="3343275"/>
            <a:ext cx="400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59"/>
              </a:lnSpc>
              <a:buNone/>
            </a:pPr>
            <a:r>
              <a:rPr lang="en-US" sz="2362" b="1" dirty="0">
                <a:solidFill>
                  <a:srgbClr val="D7E5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</a:t>
            </a:r>
            <a:endParaRPr lang="en-US" sz="2362" dirty="0"/>
          </a:p>
        </p:txBody>
      </p:sp>
      <p:sp>
        <p:nvSpPr>
          <p:cNvPr id="47" name="Shape 24"/>
          <p:cNvSpPr/>
          <p:nvPr/>
        </p:nvSpPr>
        <p:spPr>
          <a:xfrm>
            <a:off x="381000" y="1143000"/>
            <a:ext cx="15144750" cy="1019175"/>
          </a:xfrm>
          <a:prstGeom prst="rect">
            <a:avLst/>
          </a:prstGeom>
          <a:solidFill>
            <a:srgbClr val="E9F2E8"/>
          </a:solidFill>
          <a:ln w="9525">
            <a:solidFill>
              <a:srgbClr val="EFF4ED"/>
            </a:solidFill>
            <a:prstDash val="solid"/>
          </a:ln>
        </p:spPr>
      </p:sp>
      <p:pic>
        <p:nvPicPr>
          <p:cNvPr id="4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" y="1238250"/>
            <a:ext cx="800100" cy="800100"/>
          </a:xfrm>
          <a:prstGeom prst="rect">
            <a:avLst/>
          </a:prstGeom>
        </p:spPr>
      </p:pic>
      <p:sp>
        <p:nvSpPr>
          <p:cNvPr id="49" name="Text 25"/>
          <p:cNvSpPr/>
          <p:nvPr/>
        </p:nvSpPr>
        <p:spPr>
          <a:xfrm>
            <a:off x="1733550" y="1295400"/>
            <a:ext cx="120110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98"/>
              </a:lnSpc>
              <a:buNone/>
            </a:pPr>
            <a:r>
              <a:rPr lang="en-US" sz="2046" b="1" dirty="0">
                <a:solidFill>
                  <a:srgbClr val="385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PwC WS1 outputs translate Al governance expectations into practical definitions, risk appetite</a:t>
            </a:r>
            <a:endParaRPr lang="en-US" sz="2046" dirty="0"/>
          </a:p>
          <a:p>
            <a:pPr algn="l" indent="0" marL="0">
              <a:lnSpc>
                <a:spcPts val="2498"/>
              </a:lnSpc>
              <a:buNone/>
            </a:pPr>
            <a:r>
              <a:rPr lang="en-US" sz="2046" b="1" dirty="0">
                <a:solidFill>
                  <a:srgbClr val="385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 logic and clearer accountabilities.</a:t>
            </a:r>
            <a:endParaRPr lang="en-US" sz="2046" dirty="0"/>
          </a:p>
        </p:txBody>
      </p:sp>
      <p:pic>
        <p:nvPicPr>
          <p:cNvPr id="5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744700" y="180975"/>
            <a:ext cx="914400" cy="800100"/>
          </a:xfrm>
          <a:prstGeom prst="rect">
            <a:avLst/>
          </a:prstGeom>
        </p:spPr>
      </p:pic>
      <p:pic>
        <p:nvPicPr>
          <p:cNvPr id="5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468350" y="981075"/>
            <a:ext cx="2028825" cy="76200"/>
          </a:xfrm>
          <a:prstGeom prst="rect">
            <a:avLst/>
          </a:prstGeom>
        </p:spPr>
      </p:pic>
      <p:sp>
        <p:nvSpPr>
          <p:cNvPr id="52" name="Text 26"/>
          <p:cNvSpPr/>
          <p:nvPr/>
        </p:nvSpPr>
        <p:spPr>
          <a:xfrm>
            <a:off x="13496925" y="609600"/>
            <a:ext cx="112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915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GROUP</a:t>
            </a:r>
            <a:endParaRPr lang="en-US" sz="915" dirty="0"/>
          </a:p>
        </p:txBody>
      </p:sp>
      <p:sp>
        <p:nvSpPr>
          <p:cNvPr id="53" name="Text 27"/>
          <p:cNvSpPr/>
          <p:nvPr/>
        </p:nvSpPr>
        <p:spPr>
          <a:xfrm>
            <a:off x="13496925" y="266700"/>
            <a:ext cx="1152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2"/>
              </a:lnSpc>
              <a:buNone/>
            </a:pPr>
            <a:r>
              <a:rPr lang="en-US" sz="217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LLOYDS</a:t>
            </a:r>
            <a:endParaRPr lang="en-US" sz="2170" dirty="0"/>
          </a:p>
        </p:txBody>
      </p:sp>
      <p:sp>
        <p:nvSpPr>
          <p:cNvPr id="54" name="Text 28"/>
          <p:cNvSpPr/>
          <p:nvPr/>
        </p:nvSpPr>
        <p:spPr>
          <a:xfrm>
            <a:off x="390525" y="285750"/>
            <a:ext cx="1225867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943"/>
              </a:lnSpc>
              <a:buNone/>
            </a:pPr>
            <a:r>
              <a:rPr lang="en-US" sz="3712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PwC Outputs Enabling the New Way of Working</a:t>
            </a:r>
            <a:endParaRPr lang="en-US" sz="371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2026-07-16T15:14:36Z</dcterms:created>
  <dcterms:modified xsi:type="dcterms:W3CDTF">2026-07-16T15:14:36Z</dcterms:modified>
</cp:coreProperties>
</file>