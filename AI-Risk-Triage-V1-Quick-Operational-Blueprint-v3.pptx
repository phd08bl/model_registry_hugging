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1" d="100"/>
          <a:sy n="151" d="100"/>
        </p:scale>
        <p:origin x="288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Version 1 uses a focused Power App because the Model Owner questionnaire </a:t>
            </a:r>
            <a:r>
              <a:rPr lang="en-GB" dirty="0"/>
              <a:t>need to</a:t>
            </a:r>
            <a:r>
              <a:rPr dirty="0"/>
              <a:t> load the approved configurable question template. Standard SharePoint views and </a:t>
            </a:r>
            <a:r>
              <a:rPr lang="en-GB" dirty="0"/>
              <a:t>lists</a:t>
            </a:r>
            <a:r>
              <a:rPr dirty="0"/>
              <a:t> support AIRO review initially. The system calculates and proposes. AI Risk Oversight reviews and confirms.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quickest implementation uses one focused Power App for Model Owner intake because the questions must load from a versioned configuration template. Authorised </a:t>
            </a:r>
            <a:r>
              <a:rPr lang="en-GB" dirty="0"/>
              <a:t>user</a:t>
            </a:r>
            <a:r>
              <a:rPr dirty="0"/>
              <a:t> maintain draft configurations in controlled SharePoint </a:t>
            </a:r>
            <a:r>
              <a:rPr lang="en-GB" dirty="0"/>
              <a:t>folder</a:t>
            </a:r>
            <a:r>
              <a:rPr dirty="0"/>
              <a:t>. Standard SharePoint views and </a:t>
            </a:r>
            <a:r>
              <a:rPr lang="en-GB" dirty="0"/>
              <a:t>lists</a:t>
            </a:r>
            <a:r>
              <a:rPr dirty="0"/>
              <a:t> support AIRO review unless user demonstrates a clear need for a tailored review app.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workbench runs separately from live Case processing. AIRO selects a frozen historical dataset and compares the current approved rules with a candidate version. Calibration tests alignment with confirmed outcomes. Backtesting quantifies how historical Cases would change. Sensitivity analysis shows which Cases depend heavily on weights or thresholds. Regression tests protect approved golden Cases and expected controls. The workbench produces evidence for a decision but cannot update production rules directly. AIRO approves a new version, and the live workflow records that version on every new calculation.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long-term architecture adds </a:t>
            </a:r>
            <a:r>
              <a:rPr lang="en-GB" dirty="0"/>
              <a:t>an agentic AI </a:t>
            </a:r>
            <a:r>
              <a:rPr dirty="0"/>
              <a:t>Coordinator on top of the deterministic Version 1 foundation. The Coordinator observes persisted Case State, identifies unresolved objectives and asks the Policy Supervisor which actions are permitted. It may then use an LLM router to select among approved evidence-processing tools. Every output must pass schema, citation, permission and consistency checks before it updates authoritative state. AIRO continues to own protected decisions and reviews exceptions. Confirmed facts and evidence can form a shared knowledge layer for Independent Validation, reducing repeated questions and improving handover. Integration should use controlled APIs or event interfaces when hosting becomes available.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矩形 31">
            <a:extLst>
              <a:ext uri="{FF2B5EF4-FFF2-40B4-BE49-F238E27FC236}">
                <a16:creationId xmlns:a16="http://schemas.microsoft.com/office/drawing/2014/main" id="{8903BCC0-E35C-4DBA-8F35-AEA92E5CBEFE}"/>
              </a:ext>
            </a:extLst>
          </p:cNvPr>
          <p:cNvSpPr>
            <a:spLocks noGrp="1"/>
          </p:cNvSpPr>
          <p:nvPr/>
        </p:nvSpPr>
        <p:spPr>
          <a:xfrm>
            <a:off x="533400" y="361950"/>
            <a:ext cx="11125200" cy="533400"/>
          </a:xfrm>
          <a:prstGeom prst="rect">
            <a:avLst/>
          </a:prstGeom>
          <a:noFill/>
          <a:ln w="0">
            <a:noFill/>
          </a:ln>
        </p:spPr>
        <p:txBody>
          <a:bodyPr lIns="19050" tIns="19050" rIns="19050" bIns="19050" anchor="t">
            <a:normAutofit/>
          </a:bodyPr>
          <a:lstStyle/>
          <a:p>
            <a:pPr algn="l">
              <a:defRPr sz="3000" b="1">
                <a:solidFill>
                  <a:srgbClr val="102A43"/>
                </a:solidFill>
                <a:latin typeface="Bitstream Charter"/>
                <a:ea typeface="Bitstream Charter"/>
                <a:cs typeface="Bitstream Charter"/>
              </a:defRPr>
            </a:pPr>
            <a:r>
              <a:rPr sz="3000" b="1">
                <a:solidFill>
                  <a:srgbClr val="102A43"/>
                </a:solidFill>
                <a:latin typeface="Bitstream Charter"/>
                <a:ea typeface="Bitstream Charter"/>
                <a:cs typeface="Bitstream Charter"/>
              </a:rPr>
              <a:t>AI Risk Triage Version 1</a:t>
            </a:r>
          </a:p>
        </p:txBody>
      </p:sp>
      <p:sp>
        <p:nvSpPr>
          <p:cNvPr id="2" name="矩形 1">
            <a:extLst>
              <a:ext uri="{FF2B5EF4-FFF2-40B4-BE49-F238E27FC236}">
                <a16:creationId xmlns:a16="http://schemas.microsoft.com/office/drawing/2014/main" id="{94010718-66B1-4D2E-BC47-DD09A5EF712E}"/>
              </a:ext>
            </a:extLst>
          </p:cNvPr>
          <p:cNvSpPr>
            <a:spLocks noGrp="1"/>
          </p:cNvSpPr>
          <p:nvPr/>
        </p:nvSpPr>
        <p:spPr>
          <a:xfrm>
            <a:off x="552450" y="933450"/>
            <a:ext cx="8572500" cy="323850"/>
          </a:xfrm>
          <a:prstGeom prst="rect">
            <a:avLst/>
          </a:prstGeom>
          <a:noFill/>
          <a:ln w="0">
            <a:noFill/>
          </a:ln>
        </p:spPr>
        <p:txBody>
          <a:bodyPr lIns="19050" tIns="19050" rIns="19050" bIns="19050" anchor="t">
            <a:normAutofit/>
          </a:bodyPr>
          <a:lstStyle/>
          <a:p>
            <a:pPr algn="l">
              <a:defRPr sz="1500" b="0">
                <a:solidFill>
                  <a:srgbClr val="526574"/>
                </a:solidFill>
                <a:latin typeface="Bitstream Charter"/>
                <a:ea typeface="Bitstream Charter"/>
                <a:cs typeface="Bitstream Charter"/>
              </a:defRPr>
            </a:pPr>
            <a:r>
              <a:rPr sz="1500" b="0">
                <a:solidFill>
                  <a:srgbClr val="526574"/>
                </a:solidFill>
                <a:latin typeface="Bitstream Charter"/>
                <a:ea typeface="Bitstream Charter"/>
                <a:cs typeface="Bitstream Charter"/>
              </a:rPr>
              <a:t>Quick operational workflow using existing Microsoft 365 capabilities</a:t>
            </a:r>
          </a:p>
        </p:txBody>
      </p:sp>
      <p:sp>
        <p:nvSpPr>
          <p:cNvPr id="3" name="矩形 2">
            <a:extLst>
              <a:ext uri="{FF2B5EF4-FFF2-40B4-BE49-F238E27FC236}">
                <a16:creationId xmlns:a16="http://schemas.microsoft.com/office/drawing/2014/main" id="{199F8598-4CEF-4712-8B1A-F2462EC6A63A}"/>
              </a:ext>
            </a:extLst>
          </p:cNvPr>
          <p:cNvSpPr>
            <a:spLocks noGrp="1"/>
          </p:cNvSpPr>
          <p:nvPr/>
        </p:nvSpPr>
        <p:spPr>
          <a:xfrm>
            <a:off x="9563100" y="476250"/>
            <a:ext cx="2095500" cy="304800"/>
          </a:xfrm>
          <a:prstGeom prst="rect">
            <a:avLst/>
          </a:prstGeom>
          <a:noFill/>
          <a:ln w="0">
            <a:noFill/>
          </a:ln>
        </p:spPr>
        <p:txBody>
          <a:bodyPr lIns="19050" tIns="19050" rIns="19050" bIns="19050" anchor="t">
            <a:normAutofit fontScale="92500" lnSpcReduction="20000"/>
          </a:bodyPr>
          <a:lstStyle/>
          <a:p>
            <a:pPr algn="r">
              <a:defRPr sz="1125" b="1">
                <a:solidFill>
                  <a:srgbClr val="6B5B95"/>
                </a:solidFill>
                <a:latin typeface="Bitstream Charter"/>
                <a:ea typeface="Bitstream Charter"/>
                <a:cs typeface="Bitstream Charter"/>
              </a:defRPr>
            </a:pPr>
            <a:r>
              <a:rPr lang="en-GB" sz="1125" b="1" dirty="0">
                <a:solidFill>
                  <a:srgbClr val="6B5B95"/>
                </a:solidFill>
                <a:latin typeface="Bitstream Charter"/>
                <a:ea typeface="Bitstream Charter"/>
                <a:cs typeface="Bitstream Charter"/>
              </a:rPr>
              <a:t>First version</a:t>
            </a:r>
          </a:p>
          <a:p>
            <a:pPr algn="r">
              <a:defRPr sz="1125" b="1">
                <a:solidFill>
                  <a:srgbClr val="6B5B95"/>
                </a:solidFill>
                <a:latin typeface="Bitstream Charter"/>
                <a:ea typeface="Bitstream Charter"/>
                <a:cs typeface="Bitstream Charter"/>
              </a:defRPr>
            </a:pPr>
            <a:r>
              <a:rPr sz="1125" b="1" dirty="0">
                <a:solidFill>
                  <a:srgbClr val="6B5B95"/>
                </a:solidFill>
                <a:latin typeface="Bitstream Charter"/>
                <a:ea typeface="Bitstream Charter"/>
                <a:cs typeface="Bitstream Charter"/>
              </a:rPr>
              <a:t>NO LLMS OR AGENTS</a:t>
            </a:r>
          </a:p>
        </p:txBody>
      </p:sp>
      <p:sp>
        <p:nvSpPr>
          <p:cNvPr id="4" name="矩形: 圆角 3">
            <a:extLst>
              <a:ext uri="{FF2B5EF4-FFF2-40B4-BE49-F238E27FC236}">
                <a16:creationId xmlns:a16="http://schemas.microsoft.com/office/drawing/2014/main" id="{30202999-B7FB-44FA-99D6-2F464F26197B}"/>
              </a:ext>
            </a:extLst>
          </p:cNvPr>
          <p:cNvSpPr>
            <a:spLocks noGrp="1"/>
          </p:cNvSpPr>
          <p:nvPr/>
        </p:nvSpPr>
        <p:spPr>
          <a:xfrm>
            <a:off x="523875" y="1619250"/>
            <a:ext cx="2381250" cy="3143250"/>
          </a:xfrm>
          <a:prstGeom prst="roundRect">
            <a:avLst>
              <a:gd name="adj" fmla="val 5600"/>
            </a:avLst>
          </a:prstGeom>
          <a:solidFill>
            <a:srgbClr val="EAF2F8"/>
          </a:solidFill>
          <a:ln w="9525">
            <a:solidFill>
              <a:srgbClr val="C8D3DC"/>
            </a:solidFill>
            <a:prstDash val="solid"/>
          </a:ln>
        </p:spPr>
      </p:sp>
      <p:sp>
        <p:nvSpPr>
          <p:cNvPr id="5" name="椭圆 4">
            <a:extLst>
              <a:ext uri="{FF2B5EF4-FFF2-40B4-BE49-F238E27FC236}">
                <a16:creationId xmlns:a16="http://schemas.microsoft.com/office/drawing/2014/main" id="{65CD9D39-DBE9-456D-B55D-A86DAFBDDA63}"/>
              </a:ext>
            </a:extLst>
          </p:cNvPr>
          <p:cNvSpPr>
            <a:spLocks noGrp="1"/>
          </p:cNvSpPr>
          <p:nvPr/>
        </p:nvSpPr>
        <p:spPr>
          <a:xfrm>
            <a:off x="695325" y="1809750"/>
            <a:ext cx="400050" cy="400050"/>
          </a:xfrm>
          <a:prstGeom prst="ellipse">
            <a:avLst/>
          </a:prstGeom>
          <a:solidFill>
            <a:srgbClr val="2F6B9A"/>
          </a:solidFill>
          <a:ln w="0">
            <a:solidFill>
              <a:srgbClr val="2F6B9A"/>
            </a:solidFill>
          </a:ln>
        </p:spPr>
        <p:txBody>
          <a:bodyPr lIns="0" tIns="0" rIns="0" bIns="0" anchor="ctr">
            <a:noAutofit/>
          </a:bodyPr>
          <a:lstStyle/>
          <a:p>
            <a:pPr algn="ct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1</a:t>
            </a:r>
          </a:p>
        </p:txBody>
      </p:sp>
      <p:sp>
        <p:nvSpPr>
          <p:cNvPr id="6" name="矩形 5">
            <a:extLst>
              <a:ext uri="{FF2B5EF4-FFF2-40B4-BE49-F238E27FC236}">
                <a16:creationId xmlns:a16="http://schemas.microsoft.com/office/drawing/2014/main" id="{A93152C9-8076-4FA6-AAF6-0A2476386CC8}"/>
              </a:ext>
            </a:extLst>
          </p:cNvPr>
          <p:cNvSpPr>
            <a:spLocks noGrp="1"/>
          </p:cNvSpPr>
          <p:nvPr/>
        </p:nvSpPr>
        <p:spPr>
          <a:xfrm>
            <a:off x="1209675" y="1781175"/>
            <a:ext cx="1524000" cy="495300"/>
          </a:xfrm>
          <a:prstGeom prst="rect">
            <a:avLst/>
          </a:prstGeom>
          <a:noFill/>
          <a:ln w="0">
            <a:noFill/>
          </a:ln>
        </p:spPr>
        <p:txBody>
          <a:bodyPr lIns="19050" tIns="19050" rIns="19050" bIns="19050" anchor="ctr">
            <a:normAutofit fontScale="94456" lnSpcReduction="10000"/>
          </a:bodyPr>
          <a:lstStyle/>
          <a:p>
            <a:pPr algn="l">
              <a:defRPr sz="1725" b="1">
                <a:solidFill>
                  <a:srgbClr val="102A43"/>
                </a:solidFill>
                <a:latin typeface="Bitstream Charter"/>
                <a:ea typeface="Bitstream Charter"/>
                <a:cs typeface="Bitstream Charter"/>
              </a:defRPr>
            </a:pPr>
            <a:r>
              <a:rPr sz="1725" b="1" dirty="0">
                <a:solidFill>
                  <a:srgbClr val="102A43"/>
                </a:solidFill>
                <a:latin typeface="Bitstream Charter"/>
                <a:ea typeface="Bitstream Charter"/>
                <a:cs typeface="Bitstream Charter"/>
              </a:rPr>
              <a:t>Model Owner intake</a:t>
            </a:r>
          </a:p>
        </p:txBody>
      </p:sp>
      <p:sp>
        <p:nvSpPr>
          <p:cNvPr id="7" name="矩形 6">
            <a:extLst>
              <a:ext uri="{FF2B5EF4-FFF2-40B4-BE49-F238E27FC236}">
                <a16:creationId xmlns:a16="http://schemas.microsoft.com/office/drawing/2014/main" id="{84DB5D4A-EB36-494C-BF48-C9EC4582C17A}"/>
              </a:ext>
            </a:extLst>
          </p:cNvPr>
          <p:cNvSpPr>
            <a:spLocks noGrp="1"/>
          </p:cNvSpPr>
          <p:nvPr/>
        </p:nvSpPr>
        <p:spPr>
          <a:xfrm>
            <a:off x="714375" y="2362200"/>
            <a:ext cx="2000250" cy="323850"/>
          </a:xfrm>
          <a:prstGeom prst="rect">
            <a:avLst/>
          </a:prstGeom>
          <a:noFill/>
          <a:ln w="0">
            <a:noFill/>
          </a:ln>
        </p:spPr>
        <p:txBody>
          <a:bodyPr lIns="19050" tIns="19050" rIns="19050" bIns="19050" anchor="ctr">
            <a:normAutofit/>
          </a:bodyPr>
          <a:lstStyle/>
          <a:p>
            <a:pPr algn="l">
              <a:defRPr sz="1125" b="1">
                <a:solidFill>
                  <a:srgbClr val="2F6B9A"/>
                </a:solidFill>
                <a:latin typeface="Bitstream Charter"/>
                <a:ea typeface="Bitstream Charter"/>
                <a:cs typeface="Bitstream Charter"/>
              </a:defRPr>
            </a:pPr>
            <a:r>
              <a:rPr sz="1125" b="1" dirty="0">
                <a:solidFill>
                  <a:srgbClr val="2F6B9A"/>
                </a:solidFill>
                <a:latin typeface="Bitstream Charter"/>
                <a:ea typeface="Bitstream Charter"/>
                <a:cs typeface="Bitstream Charter"/>
              </a:rPr>
              <a:t>Power App</a:t>
            </a:r>
          </a:p>
        </p:txBody>
      </p:sp>
      <p:sp>
        <p:nvSpPr>
          <p:cNvPr id="8" name="矩形 7">
            <a:extLst>
              <a:ext uri="{FF2B5EF4-FFF2-40B4-BE49-F238E27FC236}">
                <a16:creationId xmlns:a16="http://schemas.microsoft.com/office/drawing/2014/main" id="{09794EB7-F54A-41D9-921C-3987DB578420}"/>
              </a:ext>
            </a:extLst>
          </p:cNvPr>
          <p:cNvSpPr>
            <a:spLocks noGrp="1"/>
          </p:cNvSpPr>
          <p:nvPr/>
        </p:nvSpPr>
        <p:spPr>
          <a:xfrm>
            <a:off x="714375" y="2800350"/>
            <a:ext cx="2000250" cy="1752600"/>
          </a:xfrm>
          <a:prstGeom prst="rect">
            <a:avLst/>
          </a:prstGeom>
          <a:noFill/>
          <a:ln w="0">
            <a:noFill/>
          </a:ln>
        </p:spPr>
        <p:txBody>
          <a:bodyPr lIns="19050" tIns="19050" rIns="19050" bIns="19050" anchor="t">
            <a:normAutofit fontScale="99721"/>
          </a:bodyPr>
          <a:lstStyle/>
          <a:p>
            <a:pPr algn="l">
              <a:defRPr sz="1275" b="0">
                <a:solidFill>
                  <a:srgbClr val="1D2B36"/>
                </a:solidFill>
                <a:latin typeface="Bitstream Charter"/>
                <a:ea typeface="Bitstream Charter"/>
                <a:cs typeface="Bitstream Charter"/>
              </a:defRPr>
            </a:pPr>
            <a:r>
              <a:rPr sz="1275" b="0" dirty="0">
                <a:solidFill>
                  <a:srgbClr val="1D2B36"/>
                </a:solidFill>
                <a:latin typeface="Bitstream Charter"/>
                <a:ea typeface="Bitstream Charter"/>
                <a:cs typeface="Bitstream Charter"/>
              </a:rPr>
              <a:t>Load questions from the approved active template.</a:t>
            </a:r>
          </a:p>
          <a:p>
            <a:endParaRPr sz="1275" b="0" dirty="0">
              <a:solidFill>
                <a:srgbClr val="1D2B36"/>
              </a:solidFill>
              <a:latin typeface="Bitstream Charter"/>
              <a:ea typeface="Bitstream Charter"/>
              <a:cs typeface="Bitstream Charter"/>
            </a:endParaRPr>
          </a:p>
          <a:p>
            <a:pPr algn="l">
              <a:defRPr sz="1275" b="0">
                <a:solidFill>
                  <a:srgbClr val="1D2B36"/>
                </a:solidFill>
                <a:latin typeface="Bitstream Charter"/>
                <a:ea typeface="Bitstream Charter"/>
                <a:cs typeface="Bitstream Charter"/>
              </a:defRPr>
            </a:pPr>
            <a:r>
              <a:rPr sz="1275" b="0" dirty="0">
                <a:solidFill>
                  <a:srgbClr val="1D2B36"/>
                </a:solidFill>
                <a:latin typeface="Bitstream Charter"/>
                <a:ea typeface="Bitstream Charter"/>
                <a:cs typeface="Bitstream Charter"/>
              </a:rPr>
              <a:t>Capture multiple-choice answers, rationale, use-case details and evidence.</a:t>
            </a:r>
          </a:p>
          <a:p>
            <a:endParaRPr sz="1275" b="0" dirty="0">
              <a:solidFill>
                <a:srgbClr val="1D2B36"/>
              </a:solidFill>
              <a:latin typeface="Bitstream Charter"/>
              <a:ea typeface="Bitstream Charter"/>
              <a:cs typeface="Bitstream Charter"/>
            </a:endParaRPr>
          </a:p>
          <a:p>
            <a:pPr algn="l">
              <a:defRPr sz="1275" b="0">
                <a:solidFill>
                  <a:srgbClr val="1D2B36"/>
                </a:solidFill>
                <a:latin typeface="Bitstream Charter"/>
                <a:ea typeface="Bitstream Charter"/>
                <a:cs typeface="Bitstream Charter"/>
              </a:defRPr>
            </a:pPr>
            <a:r>
              <a:rPr sz="1275" b="0" dirty="0">
                <a:solidFill>
                  <a:srgbClr val="1D2B36"/>
                </a:solidFill>
                <a:latin typeface="Bitstream Charter"/>
                <a:ea typeface="Bitstream Charter"/>
                <a:cs typeface="Bitstream Charter"/>
              </a:rPr>
              <a:t>Save draft and submit.</a:t>
            </a:r>
          </a:p>
        </p:txBody>
      </p:sp>
      <p:sp>
        <p:nvSpPr>
          <p:cNvPr id="9" name="矩形: 圆角 8">
            <a:extLst>
              <a:ext uri="{FF2B5EF4-FFF2-40B4-BE49-F238E27FC236}">
                <a16:creationId xmlns:a16="http://schemas.microsoft.com/office/drawing/2014/main" id="{923E8F02-F135-4D9B-B1CE-ECAD83FBCA16}"/>
              </a:ext>
            </a:extLst>
          </p:cNvPr>
          <p:cNvSpPr>
            <a:spLocks noGrp="1"/>
          </p:cNvSpPr>
          <p:nvPr/>
        </p:nvSpPr>
        <p:spPr>
          <a:xfrm>
            <a:off x="3333750" y="1619250"/>
            <a:ext cx="2381250" cy="3143250"/>
          </a:xfrm>
          <a:prstGeom prst="roundRect">
            <a:avLst>
              <a:gd name="adj" fmla="val 5600"/>
            </a:avLst>
          </a:prstGeom>
          <a:solidFill>
            <a:srgbClr val="E7F4F2"/>
          </a:solidFill>
          <a:ln w="9525">
            <a:solidFill>
              <a:srgbClr val="C8D3DC"/>
            </a:solidFill>
            <a:prstDash val="solid"/>
          </a:ln>
        </p:spPr>
      </p:sp>
      <p:sp>
        <p:nvSpPr>
          <p:cNvPr id="10" name="椭圆 9">
            <a:extLst>
              <a:ext uri="{FF2B5EF4-FFF2-40B4-BE49-F238E27FC236}">
                <a16:creationId xmlns:a16="http://schemas.microsoft.com/office/drawing/2014/main" id="{2F783229-9EF3-4DDC-9B27-255F83E29F2C}"/>
              </a:ext>
            </a:extLst>
          </p:cNvPr>
          <p:cNvSpPr>
            <a:spLocks noGrp="1"/>
          </p:cNvSpPr>
          <p:nvPr/>
        </p:nvSpPr>
        <p:spPr>
          <a:xfrm>
            <a:off x="3505200" y="1809750"/>
            <a:ext cx="400050" cy="400050"/>
          </a:xfrm>
          <a:prstGeom prst="ellipse">
            <a:avLst/>
          </a:prstGeom>
          <a:solidFill>
            <a:srgbClr val="187B78"/>
          </a:solidFill>
          <a:ln w="0">
            <a:solidFill>
              <a:srgbClr val="187B78"/>
            </a:solidFill>
          </a:ln>
        </p:spPr>
        <p:txBody>
          <a:bodyPr lIns="0" tIns="0" rIns="0" bIns="0" anchor="ctr">
            <a:noAutofit/>
          </a:bodyPr>
          <a:lstStyle/>
          <a:p>
            <a:pPr algn="ct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2</a:t>
            </a:r>
          </a:p>
        </p:txBody>
      </p:sp>
      <p:sp>
        <p:nvSpPr>
          <p:cNvPr id="11" name="矩形 10">
            <a:extLst>
              <a:ext uri="{FF2B5EF4-FFF2-40B4-BE49-F238E27FC236}">
                <a16:creationId xmlns:a16="http://schemas.microsoft.com/office/drawing/2014/main" id="{F700E4F7-944F-43A8-87BA-02FAFAD6AD48}"/>
              </a:ext>
            </a:extLst>
          </p:cNvPr>
          <p:cNvSpPr>
            <a:spLocks noGrp="1"/>
          </p:cNvSpPr>
          <p:nvPr/>
        </p:nvSpPr>
        <p:spPr>
          <a:xfrm>
            <a:off x="4019550" y="1781175"/>
            <a:ext cx="1524000" cy="495300"/>
          </a:xfrm>
          <a:prstGeom prst="rect">
            <a:avLst/>
          </a:prstGeom>
          <a:noFill/>
          <a:ln w="0">
            <a:noFill/>
          </a:ln>
        </p:spPr>
        <p:txBody>
          <a:bodyPr lIns="19050" tIns="19050" rIns="19050" bIns="19050" anchor="ctr">
            <a:normAutofit fontScale="96224"/>
          </a:bodyPr>
          <a:lstStyle/>
          <a:p>
            <a:pPr algn="l">
              <a:defRPr sz="1725" b="1">
                <a:solidFill>
                  <a:srgbClr val="102A43"/>
                </a:solidFill>
                <a:latin typeface="Bitstream Charter"/>
                <a:ea typeface="Bitstream Charter"/>
                <a:cs typeface="Bitstream Charter"/>
              </a:defRPr>
            </a:pPr>
            <a:r>
              <a:rPr sz="1725" b="1">
                <a:solidFill>
                  <a:srgbClr val="102A43"/>
                </a:solidFill>
                <a:latin typeface="Bitstream Charter"/>
                <a:ea typeface="Bitstream Charter"/>
                <a:cs typeface="Bitstream Charter"/>
              </a:rPr>
              <a:t>System proposal</a:t>
            </a:r>
          </a:p>
        </p:txBody>
      </p:sp>
      <p:sp>
        <p:nvSpPr>
          <p:cNvPr id="12" name="矩形 11">
            <a:extLst>
              <a:ext uri="{FF2B5EF4-FFF2-40B4-BE49-F238E27FC236}">
                <a16:creationId xmlns:a16="http://schemas.microsoft.com/office/drawing/2014/main" id="{2ED8B723-2C93-43EC-A211-EBA4D9670935}"/>
              </a:ext>
            </a:extLst>
          </p:cNvPr>
          <p:cNvSpPr>
            <a:spLocks noGrp="1"/>
          </p:cNvSpPr>
          <p:nvPr/>
        </p:nvSpPr>
        <p:spPr>
          <a:xfrm>
            <a:off x="3524250" y="2362200"/>
            <a:ext cx="2000250" cy="323850"/>
          </a:xfrm>
          <a:prstGeom prst="rect">
            <a:avLst/>
          </a:prstGeom>
          <a:noFill/>
          <a:ln w="0">
            <a:noFill/>
          </a:ln>
        </p:spPr>
        <p:txBody>
          <a:bodyPr lIns="19050" tIns="19050" rIns="19050" bIns="19050" anchor="ctr">
            <a:normAutofit/>
          </a:bodyPr>
          <a:lstStyle/>
          <a:p>
            <a:pPr algn="l">
              <a:defRPr sz="1125" b="1">
                <a:solidFill>
                  <a:srgbClr val="187B78"/>
                </a:solidFill>
                <a:latin typeface="Bitstream Charter"/>
                <a:ea typeface="Bitstream Charter"/>
                <a:cs typeface="Bitstream Charter"/>
              </a:defRPr>
            </a:pPr>
            <a:r>
              <a:rPr sz="1125" b="1" dirty="0">
                <a:solidFill>
                  <a:srgbClr val="187B78"/>
                </a:solidFill>
                <a:latin typeface="Bitstream Charter"/>
                <a:ea typeface="Bitstream Charter"/>
                <a:cs typeface="Bitstream Charter"/>
              </a:rPr>
              <a:t>Power Automate</a:t>
            </a:r>
          </a:p>
        </p:txBody>
      </p:sp>
      <p:sp>
        <p:nvSpPr>
          <p:cNvPr id="13" name="矩形 12">
            <a:extLst>
              <a:ext uri="{FF2B5EF4-FFF2-40B4-BE49-F238E27FC236}">
                <a16:creationId xmlns:a16="http://schemas.microsoft.com/office/drawing/2014/main" id="{A90E8E3A-3044-44BB-814E-1459B0A96C40}"/>
              </a:ext>
            </a:extLst>
          </p:cNvPr>
          <p:cNvSpPr>
            <a:spLocks noGrp="1"/>
          </p:cNvSpPr>
          <p:nvPr/>
        </p:nvSpPr>
        <p:spPr>
          <a:xfrm>
            <a:off x="3524250" y="2800350"/>
            <a:ext cx="2000250" cy="1752600"/>
          </a:xfrm>
          <a:prstGeom prst="rect">
            <a:avLst/>
          </a:prstGeom>
          <a:noFill/>
          <a:ln w="0">
            <a:noFill/>
          </a:ln>
        </p:spPr>
        <p:txBody>
          <a:bodyPr lIns="19050" tIns="19050" rIns="19050" bIns="19050" anchor="t">
            <a:normAutofit fontScale="91079"/>
          </a:bodyPr>
          <a:lstStyle/>
          <a:p>
            <a:pPr algn="l">
              <a:defRPr sz="1275" b="0">
                <a:solidFill>
                  <a:srgbClr val="1D2B36"/>
                </a:solidFill>
                <a:latin typeface="Bitstream Charter"/>
                <a:ea typeface="Bitstream Charter"/>
                <a:cs typeface="Bitstream Charter"/>
              </a:defRPr>
            </a:pPr>
            <a:r>
              <a:rPr sz="1275" b="0">
                <a:solidFill>
                  <a:srgbClr val="1D2B36"/>
                </a:solidFill>
                <a:latin typeface="Bitstream Charter"/>
                <a:ea typeface="Bitstream Charter"/>
                <a:cs typeface="Bitstream Charter"/>
              </a:rPr>
              <a:t>Validate required information.</a:t>
            </a:r>
          </a:p>
          <a:p>
            <a:endParaRPr sz="1275" b="0">
              <a:solidFill>
                <a:srgbClr val="1D2B36"/>
              </a:solidFill>
              <a:latin typeface="Bitstream Charter"/>
              <a:ea typeface="Bitstream Charter"/>
              <a:cs typeface="Bitstream Charter"/>
            </a:endParaRPr>
          </a:p>
          <a:p>
            <a:pPr algn="l">
              <a:defRPr sz="1275" b="0">
                <a:solidFill>
                  <a:srgbClr val="1D2B36"/>
                </a:solidFill>
                <a:latin typeface="Bitstream Charter"/>
                <a:ea typeface="Bitstream Charter"/>
                <a:cs typeface="Bitstream Charter"/>
              </a:defRPr>
            </a:pPr>
            <a:r>
              <a:rPr sz="1275" b="0">
                <a:solidFill>
                  <a:srgbClr val="1D2B36"/>
                </a:solidFill>
                <a:latin typeface="Bitstream Charter"/>
                <a:ea typeface="Bitstream Charter"/>
                <a:cs typeface="Bitstream Charter"/>
              </a:rPr>
              <a:t>Freeze the input and rule versions.</a:t>
            </a:r>
          </a:p>
          <a:p>
            <a:endParaRPr sz="1275" b="0">
              <a:solidFill>
                <a:srgbClr val="1D2B36"/>
              </a:solidFill>
              <a:latin typeface="Bitstream Charter"/>
              <a:ea typeface="Bitstream Charter"/>
              <a:cs typeface="Bitstream Charter"/>
            </a:endParaRPr>
          </a:p>
          <a:p>
            <a:pPr algn="l">
              <a:defRPr sz="1275" b="0">
                <a:solidFill>
                  <a:srgbClr val="1D2B36"/>
                </a:solidFill>
                <a:latin typeface="Bitstream Charter"/>
                <a:ea typeface="Bitstream Charter"/>
                <a:cs typeface="Bitstream Charter"/>
              </a:defRPr>
            </a:pPr>
            <a:r>
              <a:rPr sz="1275" b="0">
                <a:solidFill>
                  <a:srgbClr val="1D2B36"/>
                </a:solidFill>
                <a:latin typeface="Bitstream Charter"/>
                <a:ea typeface="Bitstream Charter"/>
                <a:cs typeface="Bitstream Charter"/>
              </a:rPr>
              <a:t>Calculate score and rating.</a:t>
            </a:r>
          </a:p>
          <a:p>
            <a:endParaRPr sz="1275" b="0">
              <a:solidFill>
                <a:srgbClr val="1D2B36"/>
              </a:solidFill>
              <a:latin typeface="Bitstream Charter"/>
              <a:ea typeface="Bitstream Charter"/>
              <a:cs typeface="Bitstream Charter"/>
            </a:endParaRPr>
          </a:p>
          <a:p>
            <a:pPr algn="l">
              <a:defRPr sz="1275" b="0">
                <a:solidFill>
                  <a:srgbClr val="1D2B36"/>
                </a:solidFill>
                <a:latin typeface="Bitstream Charter"/>
                <a:ea typeface="Bitstream Charter"/>
                <a:cs typeface="Bitstream Charter"/>
              </a:defRPr>
            </a:pPr>
            <a:r>
              <a:rPr sz="1275" b="0">
                <a:solidFill>
                  <a:srgbClr val="1D2B36"/>
                </a:solidFill>
                <a:latin typeface="Bitstream Charter"/>
                <a:ea typeface="Bitstream Charter"/>
                <a:cs typeface="Bitstream Charter"/>
              </a:rPr>
              <a:t>Identify deal-breakers and proposed 2LoD triagers.</a:t>
            </a:r>
          </a:p>
        </p:txBody>
      </p:sp>
      <p:sp>
        <p:nvSpPr>
          <p:cNvPr id="14" name="矩形: 圆角 13">
            <a:extLst>
              <a:ext uri="{FF2B5EF4-FFF2-40B4-BE49-F238E27FC236}">
                <a16:creationId xmlns:a16="http://schemas.microsoft.com/office/drawing/2014/main" id="{BD15018F-A6B2-447E-BE01-8DC8237A2D50}"/>
              </a:ext>
            </a:extLst>
          </p:cNvPr>
          <p:cNvSpPr>
            <a:spLocks noGrp="1"/>
          </p:cNvSpPr>
          <p:nvPr/>
        </p:nvSpPr>
        <p:spPr>
          <a:xfrm>
            <a:off x="6143625" y="1619250"/>
            <a:ext cx="2381250" cy="3143250"/>
          </a:xfrm>
          <a:prstGeom prst="roundRect">
            <a:avLst>
              <a:gd name="adj" fmla="val 5600"/>
            </a:avLst>
          </a:prstGeom>
          <a:solidFill>
            <a:srgbClr val="FFF4DE"/>
          </a:solidFill>
          <a:ln w="9525">
            <a:solidFill>
              <a:srgbClr val="C8D3DC"/>
            </a:solidFill>
            <a:prstDash val="solid"/>
          </a:ln>
        </p:spPr>
      </p:sp>
      <p:sp>
        <p:nvSpPr>
          <p:cNvPr id="15" name="椭圆 14">
            <a:extLst>
              <a:ext uri="{FF2B5EF4-FFF2-40B4-BE49-F238E27FC236}">
                <a16:creationId xmlns:a16="http://schemas.microsoft.com/office/drawing/2014/main" id="{395E9E95-1D3F-4F32-9E85-52B0761C0CC9}"/>
              </a:ext>
            </a:extLst>
          </p:cNvPr>
          <p:cNvSpPr>
            <a:spLocks noGrp="1"/>
          </p:cNvSpPr>
          <p:nvPr/>
        </p:nvSpPr>
        <p:spPr>
          <a:xfrm>
            <a:off x="6315075" y="1809750"/>
            <a:ext cx="400050" cy="400050"/>
          </a:xfrm>
          <a:prstGeom prst="ellipse">
            <a:avLst/>
          </a:prstGeom>
          <a:solidFill>
            <a:srgbClr val="A56317"/>
          </a:solidFill>
          <a:ln w="0">
            <a:solidFill>
              <a:srgbClr val="A56317"/>
            </a:solidFill>
          </a:ln>
        </p:spPr>
        <p:txBody>
          <a:bodyPr lIns="0" tIns="0" rIns="0" bIns="0" anchor="ctr">
            <a:noAutofit/>
          </a:bodyPr>
          <a:lstStyle/>
          <a:p>
            <a:pPr algn="ct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3</a:t>
            </a:r>
          </a:p>
        </p:txBody>
      </p:sp>
      <p:sp>
        <p:nvSpPr>
          <p:cNvPr id="16" name="矩形 15">
            <a:extLst>
              <a:ext uri="{FF2B5EF4-FFF2-40B4-BE49-F238E27FC236}">
                <a16:creationId xmlns:a16="http://schemas.microsoft.com/office/drawing/2014/main" id="{AD4AFEE9-BC34-4554-B3C0-439DD1ACCE89}"/>
              </a:ext>
            </a:extLst>
          </p:cNvPr>
          <p:cNvSpPr>
            <a:spLocks noGrp="1"/>
          </p:cNvSpPr>
          <p:nvPr/>
        </p:nvSpPr>
        <p:spPr>
          <a:xfrm>
            <a:off x="6829425" y="1781175"/>
            <a:ext cx="1524000" cy="495300"/>
          </a:xfrm>
          <a:prstGeom prst="rect">
            <a:avLst/>
          </a:prstGeom>
          <a:noFill/>
          <a:ln w="0">
            <a:noFill/>
          </a:ln>
        </p:spPr>
        <p:txBody>
          <a:bodyPr lIns="19050" tIns="19050" rIns="19050" bIns="19050" anchor="ctr">
            <a:normAutofit/>
          </a:bodyPr>
          <a:lstStyle/>
          <a:p>
            <a:pPr algn="l">
              <a:defRPr sz="1725" b="1">
                <a:solidFill>
                  <a:srgbClr val="102A43"/>
                </a:solidFill>
                <a:latin typeface="Bitstream Charter"/>
                <a:ea typeface="Bitstream Charter"/>
                <a:cs typeface="Bitstream Charter"/>
              </a:defRPr>
            </a:pPr>
            <a:r>
              <a:rPr sz="1725" b="1">
                <a:solidFill>
                  <a:srgbClr val="102A43"/>
                </a:solidFill>
                <a:latin typeface="Bitstream Charter"/>
                <a:ea typeface="Bitstream Charter"/>
                <a:cs typeface="Bitstream Charter"/>
              </a:rPr>
              <a:t>AIRO review</a:t>
            </a:r>
          </a:p>
        </p:txBody>
      </p:sp>
      <p:sp>
        <p:nvSpPr>
          <p:cNvPr id="17" name="矩形 16">
            <a:extLst>
              <a:ext uri="{FF2B5EF4-FFF2-40B4-BE49-F238E27FC236}">
                <a16:creationId xmlns:a16="http://schemas.microsoft.com/office/drawing/2014/main" id="{9BEC6ED5-372D-4ED6-B615-4766C2EC5BF5}"/>
              </a:ext>
            </a:extLst>
          </p:cNvPr>
          <p:cNvSpPr>
            <a:spLocks noGrp="1"/>
          </p:cNvSpPr>
          <p:nvPr/>
        </p:nvSpPr>
        <p:spPr>
          <a:xfrm>
            <a:off x="6334125" y="2352675"/>
            <a:ext cx="2000250" cy="438150"/>
          </a:xfrm>
          <a:prstGeom prst="rect">
            <a:avLst/>
          </a:prstGeom>
          <a:noFill/>
          <a:ln w="0">
            <a:noFill/>
          </a:ln>
        </p:spPr>
        <p:txBody>
          <a:bodyPr lIns="19050" tIns="19050" rIns="19050" bIns="19050" anchor="ctr">
            <a:noAutofit/>
          </a:bodyPr>
          <a:lstStyle/>
          <a:p>
            <a:pPr algn="l">
              <a:defRPr sz="1125" b="1">
                <a:solidFill>
                  <a:srgbClr val="A56317"/>
                </a:solidFill>
                <a:latin typeface="Bitstream Charter"/>
                <a:ea typeface="Bitstream Charter"/>
                <a:cs typeface="Bitstream Charter"/>
              </a:defRPr>
            </a:pPr>
            <a:r>
              <a:rPr lang="en-GB" sz="1130" b="1" dirty="0">
                <a:solidFill>
                  <a:srgbClr val="A56317"/>
                </a:solidFill>
                <a:latin typeface="Bitstream Charter"/>
                <a:ea typeface="Bitstream Charter"/>
                <a:cs typeface="Bitstream Charter"/>
              </a:rPr>
              <a:t>SharePoint / Power App with Power Automate </a:t>
            </a:r>
            <a:endParaRPr sz="1130" b="1" dirty="0">
              <a:solidFill>
                <a:srgbClr val="A56317"/>
              </a:solidFill>
              <a:latin typeface="Bitstream Charter"/>
              <a:ea typeface="Bitstream Charter"/>
              <a:cs typeface="Bitstream Charter"/>
            </a:endParaRPr>
          </a:p>
        </p:txBody>
      </p:sp>
      <p:sp>
        <p:nvSpPr>
          <p:cNvPr id="18" name="矩形 17">
            <a:extLst>
              <a:ext uri="{FF2B5EF4-FFF2-40B4-BE49-F238E27FC236}">
                <a16:creationId xmlns:a16="http://schemas.microsoft.com/office/drawing/2014/main" id="{8A897103-DAD8-46DB-89E9-A97FA3351489}"/>
              </a:ext>
            </a:extLst>
          </p:cNvPr>
          <p:cNvSpPr>
            <a:spLocks noGrp="1"/>
          </p:cNvSpPr>
          <p:nvPr/>
        </p:nvSpPr>
        <p:spPr>
          <a:xfrm>
            <a:off x="6334125" y="2800350"/>
            <a:ext cx="2000250" cy="1752600"/>
          </a:xfrm>
          <a:prstGeom prst="rect">
            <a:avLst/>
          </a:prstGeom>
          <a:noFill/>
          <a:ln w="0">
            <a:noFill/>
          </a:ln>
        </p:spPr>
        <p:txBody>
          <a:bodyPr lIns="19050" tIns="19050" rIns="19050" bIns="19050" anchor="t">
            <a:normAutofit fontScale="98039"/>
          </a:bodyPr>
          <a:lstStyle/>
          <a:p>
            <a:pPr algn="l">
              <a:defRPr sz="1275" b="0">
                <a:solidFill>
                  <a:srgbClr val="1D2B36"/>
                </a:solidFill>
                <a:latin typeface="Bitstream Charter"/>
                <a:ea typeface="Bitstream Charter"/>
                <a:cs typeface="Bitstream Charter"/>
              </a:defRPr>
            </a:pPr>
            <a:r>
              <a:rPr lang="en-GB" sz="1275" b="0" dirty="0">
                <a:solidFill>
                  <a:srgbClr val="1D2B36"/>
                </a:solidFill>
                <a:latin typeface="Bitstream Charter"/>
                <a:ea typeface="Bitstream Charter"/>
                <a:cs typeface="Bitstream Charter"/>
              </a:rPr>
              <a:t>Review answers, rationale and evidence.</a:t>
            </a:r>
          </a:p>
          <a:p>
            <a:endParaRPr lang="en-GB" sz="1275" b="0" dirty="0">
              <a:solidFill>
                <a:srgbClr val="1D2B36"/>
              </a:solidFill>
              <a:latin typeface="Bitstream Charter"/>
              <a:ea typeface="Bitstream Charter"/>
              <a:cs typeface="Bitstream Charter"/>
            </a:endParaRPr>
          </a:p>
          <a:p>
            <a:pPr algn="l">
              <a:defRPr sz="1275" b="0">
                <a:solidFill>
                  <a:srgbClr val="1D2B36"/>
                </a:solidFill>
                <a:latin typeface="Bitstream Charter"/>
                <a:ea typeface="Bitstream Charter"/>
                <a:cs typeface="Bitstream Charter"/>
              </a:defRPr>
            </a:pPr>
            <a:r>
              <a:rPr lang="en-GB" sz="1275" b="0" dirty="0">
                <a:solidFill>
                  <a:srgbClr val="1D2B36"/>
                </a:solidFill>
                <a:latin typeface="Bitstream Charter"/>
                <a:ea typeface="Bitstream Charter"/>
                <a:cs typeface="Bitstream Charter"/>
              </a:rPr>
              <a:t>Inspect score breakdown, reason, deal-breakers and proposed triagers.</a:t>
            </a:r>
          </a:p>
          <a:p>
            <a:endParaRPr lang="en-GB" sz="1275" b="0" dirty="0">
              <a:solidFill>
                <a:srgbClr val="1D2B36"/>
              </a:solidFill>
              <a:latin typeface="Bitstream Charter"/>
              <a:ea typeface="Bitstream Charter"/>
              <a:cs typeface="Bitstream Charter"/>
            </a:endParaRPr>
          </a:p>
          <a:p>
            <a:pPr algn="l">
              <a:defRPr sz="1275" b="0">
                <a:solidFill>
                  <a:srgbClr val="1D2B36"/>
                </a:solidFill>
                <a:latin typeface="Bitstream Charter"/>
                <a:ea typeface="Bitstream Charter"/>
                <a:cs typeface="Bitstream Charter"/>
              </a:defRPr>
            </a:pPr>
            <a:r>
              <a:rPr lang="en-GB" sz="1275" b="0" dirty="0">
                <a:solidFill>
                  <a:srgbClr val="1D2B36"/>
                </a:solidFill>
                <a:latin typeface="Bitstream Charter"/>
                <a:ea typeface="Bitstream Charter"/>
                <a:cs typeface="Bitstream Charter"/>
              </a:rPr>
              <a:t>Confirm, update, request information or escalate.</a:t>
            </a:r>
          </a:p>
        </p:txBody>
      </p:sp>
      <p:sp>
        <p:nvSpPr>
          <p:cNvPr id="19" name="矩形: 圆角 18">
            <a:extLst>
              <a:ext uri="{FF2B5EF4-FFF2-40B4-BE49-F238E27FC236}">
                <a16:creationId xmlns:a16="http://schemas.microsoft.com/office/drawing/2014/main" id="{01D5303E-4266-4576-B2D2-C68C80F7ED95}"/>
              </a:ext>
            </a:extLst>
          </p:cNvPr>
          <p:cNvSpPr>
            <a:spLocks noGrp="1"/>
          </p:cNvSpPr>
          <p:nvPr/>
        </p:nvSpPr>
        <p:spPr>
          <a:xfrm>
            <a:off x="8953500" y="1619250"/>
            <a:ext cx="2381250" cy="3143250"/>
          </a:xfrm>
          <a:prstGeom prst="roundRect">
            <a:avLst>
              <a:gd name="adj" fmla="val 5600"/>
            </a:avLst>
          </a:prstGeom>
          <a:solidFill>
            <a:srgbClr val="F0ECF7"/>
          </a:solidFill>
          <a:ln w="9525">
            <a:solidFill>
              <a:srgbClr val="C8D3DC"/>
            </a:solidFill>
            <a:prstDash val="solid"/>
          </a:ln>
        </p:spPr>
      </p:sp>
      <p:sp>
        <p:nvSpPr>
          <p:cNvPr id="20" name="椭圆 19">
            <a:extLst>
              <a:ext uri="{FF2B5EF4-FFF2-40B4-BE49-F238E27FC236}">
                <a16:creationId xmlns:a16="http://schemas.microsoft.com/office/drawing/2014/main" id="{44682376-FDA0-4A5F-9B34-415C7CAFF449}"/>
              </a:ext>
            </a:extLst>
          </p:cNvPr>
          <p:cNvSpPr>
            <a:spLocks noGrp="1"/>
          </p:cNvSpPr>
          <p:nvPr/>
        </p:nvSpPr>
        <p:spPr>
          <a:xfrm>
            <a:off x="9124950" y="1809750"/>
            <a:ext cx="400050" cy="400050"/>
          </a:xfrm>
          <a:prstGeom prst="ellipse">
            <a:avLst/>
          </a:prstGeom>
          <a:solidFill>
            <a:srgbClr val="6B5B95"/>
          </a:solidFill>
          <a:ln w="0">
            <a:solidFill>
              <a:srgbClr val="6B5B95"/>
            </a:solidFill>
          </a:ln>
        </p:spPr>
        <p:txBody>
          <a:bodyPr lIns="0" tIns="0" rIns="0" bIns="0" anchor="ctr">
            <a:noAutofit/>
          </a:bodyPr>
          <a:lstStyle/>
          <a:p>
            <a:pPr algn="ct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4</a:t>
            </a:r>
          </a:p>
        </p:txBody>
      </p:sp>
      <p:sp>
        <p:nvSpPr>
          <p:cNvPr id="21" name="矩形 20">
            <a:extLst>
              <a:ext uri="{FF2B5EF4-FFF2-40B4-BE49-F238E27FC236}">
                <a16:creationId xmlns:a16="http://schemas.microsoft.com/office/drawing/2014/main" id="{56871D3A-EEF9-40B7-AA5E-03139CE9E218}"/>
              </a:ext>
            </a:extLst>
          </p:cNvPr>
          <p:cNvSpPr>
            <a:spLocks noGrp="1"/>
          </p:cNvSpPr>
          <p:nvPr/>
        </p:nvSpPr>
        <p:spPr>
          <a:xfrm>
            <a:off x="9639300" y="1781175"/>
            <a:ext cx="1524000" cy="495300"/>
          </a:xfrm>
          <a:prstGeom prst="rect">
            <a:avLst/>
          </a:prstGeom>
          <a:noFill/>
          <a:ln w="0">
            <a:noFill/>
          </a:ln>
        </p:spPr>
        <p:txBody>
          <a:bodyPr lIns="19050" tIns="19050" rIns="19050" bIns="19050" anchor="ctr">
            <a:normAutofit fontScale="94456" lnSpcReduction="10000"/>
          </a:bodyPr>
          <a:lstStyle/>
          <a:p>
            <a:pPr algn="l">
              <a:defRPr sz="1725" b="1">
                <a:solidFill>
                  <a:srgbClr val="102A43"/>
                </a:solidFill>
                <a:latin typeface="Bitstream Charter"/>
                <a:ea typeface="Bitstream Charter"/>
                <a:cs typeface="Bitstream Charter"/>
              </a:defRPr>
            </a:pPr>
            <a:r>
              <a:rPr sz="1725" b="1">
                <a:solidFill>
                  <a:srgbClr val="102A43"/>
                </a:solidFill>
                <a:latin typeface="Bitstream Charter"/>
                <a:ea typeface="Bitstream Charter"/>
                <a:cs typeface="Bitstream Charter"/>
              </a:rPr>
              <a:t>Final result and actions</a:t>
            </a:r>
          </a:p>
        </p:txBody>
      </p:sp>
      <p:sp>
        <p:nvSpPr>
          <p:cNvPr id="22" name="矩形 21">
            <a:extLst>
              <a:ext uri="{FF2B5EF4-FFF2-40B4-BE49-F238E27FC236}">
                <a16:creationId xmlns:a16="http://schemas.microsoft.com/office/drawing/2014/main" id="{D395A1BE-CC2C-4025-8CFA-5BEEAE932B8E}"/>
              </a:ext>
            </a:extLst>
          </p:cNvPr>
          <p:cNvSpPr>
            <a:spLocks noGrp="1"/>
          </p:cNvSpPr>
          <p:nvPr/>
        </p:nvSpPr>
        <p:spPr>
          <a:xfrm>
            <a:off x="9144000" y="2362200"/>
            <a:ext cx="2000250" cy="323850"/>
          </a:xfrm>
          <a:prstGeom prst="rect">
            <a:avLst/>
          </a:prstGeom>
          <a:noFill/>
          <a:ln w="0">
            <a:noFill/>
          </a:ln>
        </p:spPr>
        <p:txBody>
          <a:bodyPr lIns="19050" tIns="19050" rIns="19050" bIns="19050" anchor="ctr">
            <a:normAutofit/>
          </a:bodyPr>
          <a:lstStyle/>
          <a:p>
            <a:pPr algn="l">
              <a:defRPr sz="1125" b="1">
                <a:solidFill>
                  <a:srgbClr val="6B5B95"/>
                </a:solidFill>
                <a:latin typeface="Bitstream Charter"/>
                <a:ea typeface="Bitstream Charter"/>
                <a:cs typeface="Bitstream Charter"/>
              </a:defRPr>
            </a:pPr>
            <a:r>
              <a:rPr sz="1125" b="1">
                <a:solidFill>
                  <a:srgbClr val="6B5B95"/>
                </a:solidFill>
                <a:latin typeface="Bitstream Charter"/>
                <a:ea typeface="Bitstream Charter"/>
                <a:cs typeface="Bitstream Charter"/>
              </a:rPr>
              <a:t>Power Automate</a:t>
            </a:r>
          </a:p>
        </p:txBody>
      </p:sp>
      <p:sp>
        <p:nvSpPr>
          <p:cNvPr id="23" name="矩形 22">
            <a:extLst>
              <a:ext uri="{FF2B5EF4-FFF2-40B4-BE49-F238E27FC236}">
                <a16:creationId xmlns:a16="http://schemas.microsoft.com/office/drawing/2014/main" id="{8FD66DA9-FDC7-49B7-8E77-A1FD48F23ACD}"/>
              </a:ext>
            </a:extLst>
          </p:cNvPr>
          <p:cNvSpPr>
            <a:spLocks noGrp="1"/>
          </p:cNvSpPr>
          <p:nvPr/>
        </p:nvSpPr>
        <p:spPr>
          <a:xfrm>
            <a:off x="9144000" y="2800350"/>
            <a:ext cx="2000250" cy="1752600"/>
          </a:xfrm>
          <a:prstGeom prst="rect">
            <a:avLst/>
          </a:prstGeom>
          <a:noFill/>
          <a:ln w="0">
            <a:noFill/>
          </a:ln>
        </p:spPr>
        <p:txBody>
          <a:bodyPr lIns="19050" tIns="19050" rIns="19050" bIns="19050" anchor="t">
            <a:normAutofit fontScale="98039"/>
          </a:bodyPr>
          <a:lstStyle/>
          <a:p>
            <a:pPr algn="l">
              <a:defRPr sz="1275" b="0">
                <a:solidFill>
                  <a:srgbClr val="1D2B36"/>
                </a:solidFill>
                <a:latin typeface="Bitstream Charter"/>
                <a:ea typeface="Bitstream Charter"/>
                <a:cs typeface="Bitstream Charter"/>
              </a:defRPr>
            </a:pPr>
            <a:r>
              <a:rPr sz="1275" b="0" dirty="0">
                <a:solidFill>
                  <a:srgbClr val="1D2B36"/>
                </a:solidFill>
                <a:latin typeface="Bitstream Charter"/>
                <a:ea typeface="Bitstream Charter"/>
                <a:cs typeface="Bitstream Charter"/>
              </a:rPr>
              <a:t>Store the confirmed decision separately from the proposal.</a:t>
            </a:r>
          </a:p>
          <a:p>
            <a:endParaRPr lang="en-GB" sz="1275" b="0" dirty="0">
              <a:solidFill>
                <a:srgbClr val="1D2B36"/>
              </a:solidFill>
              <a:latin typeface="Bitstream Charter"/>
              <a:ea typeface="Bitstream Charter"/>
              <a:cs typeface="Bitstream Charter"/>
            </a:endParaRPr>
          </a:p>
          <a:p>
            <a:pPr algn="l">
              <a:defRPr sz="1275" b="0">
                <a:solidFill>
                  <a:srgbClr val="1D2B36"/>
                </a:solidFill>
                <a:latin typeface="Bitstream Charter"/>
                <a:ea typeface="Bitstream Charter"/>
                <a:cs typeface="Bitstream Charter"/>
              </a:defRPr>
            </a:pPr>
            <a:r>
              <a:rPr lang="en-GB" sz="1275" b="0" dirty="0">
                <a:solidFill>
                  <a:srgbClr val="1D2B36"/>
                </a:solidFill>
                <a:latin typeface="Bitstream Charter"/>
                <a:ea typeface="Bitstream Charter"/>
                <a:cs typeface="Bitstream Charter"/>
              </a:rPr>
              <a:t>Generate the final pack.</a:t>
            </a:r>
          </a:p>
          <a:p>
            <a:endParaRPr sz="1275" b="0" dirty="0">
              <a:solidFill>
                <a:srgbClr val="1D2B36"/>
              </a:solidFill>
              <a:latin typeface="Bitstream Charter"/>
              <a:ea typeface="Bitstream Charter"/>
              <a:cs typeface="Bitstream Charter"/>
            </a:endParaRPr>
          </a:p>
          <a:p>
            <a:pPr algn="l">
              <a:defRPr sz="1275" b="0">
                <a:solidFill>
                  <a:srgbClr val="1D2B36"/>
                </a:solidFill>
                <a:latin typeface="Bitstream Charter"/>
                <a:ea typeface="Bitstream Charter"/>
                <a:cs typeface="Bitstream Charter"/>
              </a:defRPr>
            </a:pPr>
            <a:r>
              <a:rPr lang="en-GB" sz="1275" b="0" dirty="0">
                <a:solidFill>
                  <a:srgbClr val="1D2B36"/>
                </a:solidFill>
                <a:latin typeface="Bitstream Charter"/>
                <a:ea typeface="Bitstream Charter"/>
                <a:cs typeface="Bitstream Charter"/>
              </a:rPr>
              <a:t>Send approved notifications, approved emails and create follow-up actions.</a:t>
            </a:r>
          </a:p>
        </p:txBody>
      </p:sp>
      <p:sp>
        <p:nvSpPr>
          <p:cNvPr id="24" name="箭头: 右 23">
            <a:extLst>
              <a:ext uri="{FF2B5EF4-FFF2-40B4-BE49-F238E27FC236}">
                <a16:creationId xmlns:a16="http://schemas.microsoft.com/office/drawing/2014/main" id="{075C33CB-D69C-4C09-92F7-CB950480EB5D}"/>
              </a:ext>
            </a:extLst>
          </p:cNvPr>
          <p:cNvSpPr>
            <a:spLocks noGrp="1"/>
          </p:cNvSpPr>
          <p:nvPr/>
        </p:nvSpPr>
        <p:spPr>
          <a:xfrm>
            <a:off x="2981325" y="3028950"/>
            <a:ext cx="266700" cy="228600"/>
          </a:xfrm>
          <a:prstGeom prst="rightArrow">
            <a:avLst/>
          </a:prstGeom>
          <a:solidFill>
            <a:srgbClr val="2F6B9A"/>
          </a:solidFill>
          <a:ln w="0">
            <a:solidFill>
              <a:srgbClr val="2F6B9A"/>
            </a:solidFill>
          </a:ln>
        </p:spPr>
      </p:sp>
      <p:sp>
        <p:nvSpPr>
          <p:cNvPr id="25" name="箭头: 右 24">
            <a:extLst>
              <a:ext uri="{FF2B5EF4-FFF2-40B4-BE49-F238E27FC236}">
                <a16:creationId xmlns:a16="http://schemas.microsoft.com/office/drawing/2014/main" id="{75713876-0209-4E1F-AF25-DCFB82843DA6}"/>
              </a:ext>
            </a:extLst>
          </p:cNvPr>
          <p:cNvSpPr>
            <a:spLocks noGrp="1"/>
          </p:cNvSpPr>
          <p:nvPr/>
        </p:nvSpPr>
        <p:spPr>
          <a:xfrm>
            <a:off x="5791200" y="3028950"/>
            <a:ext cx="266700" cy="228600"/>
          </a:xfrm>
          <a:prstGeom prst="rightArrow">
            <a:avLst/>
          </a:prstGeom>
          <a:solidFill>
            <a:srgbClr val="2F6B9A"/>
          </a:solidFill>
          <a:ln w="0">
            <a:solidFill>
              <a:srgbClr val="2F6B9A"/>
            </a:solidFill>
          </a:ln>
        </p:spPr>
      </p:sp>
      <p:sp>
        <p:nvSpPr>
          <p:cNvPr id="26" name="箭头: 右 25">
            <a:extLst>
              <a:ext uri="{FF2B5EF4-FFF2-40B4-BE49-F238E27FC236}">
                <a16:creationId xmlns:a16="http://schemas.microsoft.com/office/drawing/2014/main" id="{F44EADD0-4758-4156-92C3-7F43036D0958}"/>
              </a:ext>
            </a:extLst>
          </p:cNvPr>
          <p:cNvSpPr>
            <a:spLocks noGrp="1"/>
          </p:cNvSpPr>
          <p:nvPr/>
        </p:nvSpPr>
        <p:spPr>
          <a:xfrm>
            <a:off x="8601075" y="3028950"/>
            <a:ext cx="266700" cy="228600"/>
          </a:xfrm>
          <a:prstGeom prst="rightArrow">
            <a:avLst/>
          </a:prstGeom>
          <a:solidFill>
            <a:srgbClr val="2F6B9A"/>
          </a:solidFill>
          <a:ln w="0">
            <a:solidFill>
              <a:srgbClr val="2F6B9A"/>
            </a:solidFill>
          </a:ln>
        </p:spPr>
      </p:sp>
      <p:sp>
        <p:nvSpPr>
          <p:cNvPr id="30" name="矩形: 圆角 29">
            <a:extLst>
              <a:ext uri="{FF2B5EF4-FFF2-40B4-BE49-F238E27FC236}">
                <a16:creationId xmlns:a16="http://schemas.microsoft.com/office/drawing/2014/main" id="{3D15DCA2-914B-406F-B3A0-C27D4E9C2837}"/>
              </a:ext>
            </a:extLst>
          </p:cNvPr>
          <p:cNvSpPr>
            <a:spLocks noGrp="1"/>
          </p:cNvSpPr>
          <p:nvPr/>
        </p:nvSpPr>
        <p:spPr>
          <a:xfrm>
            <a:off x="523875" y="5924550"/>
            <a:ext cx="11096625" cy="457200"/>
          </a:xfrm>
          <a:prstGeom prst="roundRect">
            <a:avLst>
              <a:gd name="adj" fmla="val 16667"/>
            </a:avLst>
          </a:prstGeom>
          <a:solidFill>
            <a:srgbClr val="102A43"/>
          </a:solidFill>
          <a:ln w="9525">
            <a:solidFill>
              <a:srgbClr val="102A43"/>
            </a:solidFill>
            <a:prstDash val="solid"/>
          </a:ln>
        </p:spPr>
      </p:sp>
      <p:sp>
        <p:nvSpPr>
          <p:cNvPr id="31" name="矩形 30">
            <a:extLst>
              <a:ext uri="{FF2B5EF4-FFF2-40B4-BE49-F238E27FC236}">
                <a16:creationId xmlns:a16="http://schemas.microsoft.com/office/drawing/2014/main" id="{174D6FB1-09B8-4D7A-813B-916D9A9577C3}"/>
              </a:ext>
            </a:extLst>
          </p:cNvPr>
          <p:cNvSpPr>
            <a:spLocks noGrp="1"/>
          </p:cNvSpPr>
          <p:nvPr/>
        </p:nvSpPr>
        <p:spPr>
          <a:xfrm>
            <a:off x="723900" y="6010275"/>
            <a:ext cx="10668000" cy="285750"/>
          </a:xfrm>
          <a:prstGeom prst="rect">
            <a:avLst/>
          </a:prstGeom>
          <a:noFill/>
          <a:ln w="0">
            <a:noFill/>
          </a:ln>
        </p:spPr>
        <p:txBody>
          <a:bodyPr lIns="19050" tIns="19050" rIns="19050" bIns="19050" anchor="ctr">
            <a:normAutofit fontScale="99138"/>
          </a:bodyPr>
          <a:lstStyle/>
          <a:p>
            <a:pPr algn="ct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Use Power Apps for configurable Model Owner intake. Keep AIRO review and configuration administration in SharePoint unless testing shows a clear gap.</a:t>
            </a:r>
          </a:p>
        </p:txBody>
      </p:sp>
    </p:spTree>
    <p:extLst>
      <p:ext uri="{BB962C8B-B14F-4D97-AF65-F5344CB8AC3E}">
        <p14:creationId xmlns:p14="http://schemas.microsoft.com/office/powerpoint/2010/main" val="505318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矩形 41">
            <a:extLst>
              <a:ext uri="{FF2B5EF4-FFF2-40B4-BE49-F238E27FC236}">
                <a16:creationId xmlns:a16="http://schemas.microsoft.com/office/drawing/2014/main" id="{C15E1CD9-EB65-4C65-A6DB-105B1E71F8F3}"/>
              </a:ext>
            </a:extLst>
          </p:cNvPr>
          <p:cNvSpPr>
            <a:spLocks noGrp="1"/>
          </p:cNvSpPr>
          <p:nvPr/>
        </p:nvSpPr>
        <p:spPr>
          <a:xfrm>
            <a:off x="533400" y="361950"/>
            <a:ext cx="7810500" cy="533400"/>
          </a:xfrm>
          <a:prstGeom prst="rect">
            <a:avLst/>
          </a:prstGeom>
          <a:noFill/>
          <a:ln w="0">
            <a:noFill/>
          </a:ln>
        </p:spPr>
        <p:txBody>
          <a:bodyPr lIns="19050" tIns="19050" rIns="19050" bIns="19050" anchor="t">
            <a:normAutofit/>
          </a:bodyPr>
          <a:lstStyle/>
          <a:p>
            <a:pPr algn="l">
              <a:defRPr sz="3000" b="1">
                <a:solidFill>
                  <a:srgbClr val="102A43"/>
                </a:solidFill>
                <a:latin typeface="Bitstream Charter"/>
                <a:ea typeface="Bitstream Charter"/>
                <a:cs typeface="Bitstream Charter"/>
              </a:defRPr>
            </a:pPr>
            <a:r>
              <a:rPr sz="3000" b="1">
                <a:solidFill>
                  <a:srgbClr val="102A43"/>
                </a:solidFill>
                <a:latin typeface="Bitstream Charter"/>
                <a:ea typeface="Bitstream Charter"/>
                <a:cs typeface="Bitstream Charter"/>
              </a:rPr>
              <a:t>Technical blueprint</a:t>
            </a:r>
          </a:p>
        </p:txBody>
      </p:sp>
      <p:sp>
        <p:nvSpPr>
          <p:cNvPr id="2" name="矩形 1">
            <a:extLst>
              <a:ext uri="{FF2B5EF4-FFF2-40B4-BE49-F238E27FC236}">
                <a16:creationId xmlns:a16="http://schemas.microsoft.com/office/drawing/2014/main" id="{B555D65A-AD63-4BF5-8722-CE675313959E}"/>
              </a:ext>
            </a:extLst>
          </p:cNvPr>
          <p:cNvSpPr>
            <a:spLocks noGrp="1"/>
          </p:cNvSpPr>
          <p:nvPr/>
        </p:nvSpPr>
        <p:spPr>
          <a:xfrm>
            <a:off x="552450" y="933450"/>
            <a:ext cx="8382000" cy="304800"/>
          </a:xfrm>
          <a:prstGeom prst="rect">
            <a:avLst/>
          </a:prstGeom>
          <a:noFill/>
          <a:ln w="0">
            <a:noFill/>
          </a:ln>
        </p:spPr>
        <p:txBody>
          <a:bodyPr lIns="19050" tIns="19050" rIns="19050" bIns="19050" anchor="t">
            <a:normAutofit/>
          </a:bodyPr>
          <a:lstStyle/>
          <a:p>
            <a:pPr algn="l">
              <a:defRPr sz="1500" b="0">
                <a:solidFill>
                  <a:srgbClr val="526574"/>
                </a:solidFill>
                <a:latin typeface="Bitstream Charter"/>
                <a:ea typeface="Bitstream Charter"/>
                <a:cs typeface="Bitstream Charter"/>
              </a:defRPr>
            </a:pPr>
            <a:r>
              <a:rPr sz="1500" b="0">
                <a:solidFill>
                  <a:srgbClr val="526574"/>
                </a:solidFill>
                <a:latin typeface="Bitstream Charter"/>
                <a:ea typeface="Bitstream Charter"/>
                <a:cs typeface="Bitstream Charter"/>
              </a:rPr>
              <a:t>Configuration stays separate from live Case data and AIRO decisions</a:t>
            </a:r>
          </a:p>
        </p:txBody>
      </p:sp>
      <p:sp>
        <p:nvSpPr>
          <p:cNvPr id="3" name="矩形 2">
            <a:extLst>
              <a:ext uri="{FF2B5EF4-FFF2-40B4-BE49-F238E27FC236}">
                <a16:creationId xmlns:a16="http://schemas.microsoft.com/office/drawing/2014/main" id="{3D360763-B0F5-4F8C-8C69-507D1EA7F7F6}"/>
              </a:ext>
            </a:extLst>
          </p:cNvPr>
          <p:cNvSpPr>
            <a:spLocks noGrp="1"/>
          </p:cNvSpPr>
          <p:nvPr/>
        </p:nvSpPr>
        <p:spPr>
          <a:xfrm>
            <a:off x="552450" y="1466850"/>
            <a:ext cx="1714500" cy="266700"/>
          </a:xfrm>
          <a:prstGeom prst="rect">
            <a:avLst/>
          </a:prstGeom>
          <a:noFill/>
          <a:ln w="0">
            <a:noFill/>
          </a:ln>
        </p:spPr>
        <p:txBody>
          <a:bodyPr lIns="19050" tIns="19050" rIns="19050" bIns="19050" anchor="t">
            <a:normAutofit/>
          </a:bodyPr>
          <a:lstStyle/>
          <a:p>
            <a:pPr algn="l">
              <a:defRPr sz="1125" b="1">
                <a:solidFill>
                  <a:srgbClr val="2F6B9A"/>
                </a:solidFill>
                <a:latin typeface="Bitstream Charter"/>
                <a:ea typeface="Bitstream Charter"/>
                <a:cs typeface="Bitstream Charter"/>
              </a:defRPr>
            </a:pPr>
            <a:r>
              <a:rPr sz="1125" b="1">
                <a:solidFill>
                  <a:srgbClr val="2F6B9A"/>
                </a:solidFill>
                <a:latin typeface="Bitstream Charter"/>
                <a:ea typeface="Bitstream Charter"/>
                <a:cs typeface="Bitstream Charter"/>
              </a:rPr>
              <a:t>USER EXPERIENCE</a:t>
            </a:r>
          </a:p>
        </p:txBody>
      </p:sp>
      <p:sp>
        <p:nvSpPr>
          <p:cNvPr id="4" name="矩形: 圆角 3">
            <a:extLst>
              <a:ext uri="{FF2B5EF4-FFF2-40B4-BE49-F238E27FC236}">
                <a16:creationId xmlns:a16="http://schemas.microsoft.com/office/drawing/2014/main" id="{7F0E8D90-5558-4EF5-9428-0F33AED03CB7}"/>
              </a:ext>
            </a:extLst>
          </p:cNvPr>
          <p:cNvSpPr>
            <a:spLocks noGrp="1"/>
          </p:cNvSpPr>
          <p:nvPr/>
        </p:nvSpPr>
        <p:spPr>
          <a:xfrm>
            <a:off x="2190750" y="1333500"/>
            <a:ext cx="2524125" cy="685800"/>
          </a:xfrm>
          <a:prstGeom prst="roundRect">
            <a:avLst>
              <a:gd name="adj" fmla="val 13889"/>
            </a:avLst>
          </a:prstGeom>
          <a:solidFill>
            <a:srgbClr val="EAF2F8"/>
          </a:solidFill>
          <a:ln w="9525">
            <a:solidFill>
              <a:srgbClr val="C8D3DC"/>
            </a:solidFill>
            <a:prstDash val="solid"/>
          </a:ln>
        </p:spPr>
      </p:sp>
      <p:sp>
        <p:nvSpPr>
          <p:cNvPr id="5" name="矩形 4">
            <a:extLst>
              <a:ext uri="{FF2B5EF4-FFF2-40B4-BE49-F238E27FC236}">
                <a16:creationId xmlns:a16="http://schemas.microsoft.com/office/drawing/2014/main" id="{899EEDF2-74A3-439C-B0C9-133D84723077}"/>
              </a:ext>
            </a:extLst>
          </p:cNvPr>
          <p:cNvSpPr>
            <a:spLocks noGrp="1"/>
          </p:cNvSpPr>
          <p:nvPr/>
        </p:nvSpPr>
        <p:spPr>
          <a:xfrm>
            <a:off x="2343150" y="1466850"/>
            <a:ext cx="2219325" cy="438150"/>
          </a:xfrm>
          <a:prstGeom prst="rect">
            <a:avLst/>
          </a:prstGeom>
          <a:noFill/>
          <a:ln w="0">
            <a:noFill/>
          </a:ln>
        </p:spPr>
        <p:txBody>
          <a:bodyPr lIns="19050" tIns="19050" rIns="19050" bIns="19050" anchor="ctr">
            <a:normAutofit fontScale="91442"/>
          </a:bodyPr>
          <a:lstStyle/>
          <a:p>
            <a:pPr algn="l">
              <a:defRPr sz="1350" b="1">
                <a:solidFill>
                  <a:srgbClr val="102A43"/>
                </a:solidFill>
                <a:latin typeface="Bitstream Charter"/>
                <a:ea typeface="Bitstream Charter"/>
                <a:cs typeface="Bitstream Charter"/>
              </a:defRPr>
            </a:pPr>
            <a:r>
              <a:rPr sz="1350" b="1">
                <a:solidFill>
                  <a:srgbClr val="102A43"/>
                </a:solidFill>
                <a:latin typeface="Bitstream Charter"/>
                <a:ea typeface="Bitstream Charter"/>
                <a:cs typeface="Bitstream Charter"/>
              </a:rPr>
              <a:t>Model Owner intake</a:t>
            </a:r>
          </a:p>
          <a:p>
            <a:pPr algn="l">
              <a:defRPr sz="1350" b="1">
                <a:solidFill>
                  <a:srgbClr val="102A43"/>
                </a:solidFill>
                <a:latin typeface="Bitstream Charter"/>
                <a:ea typeface="Bitstream Charter"/>
                <a:cs typeface="Bitstream Charter"/>
              </a:defRPr>
            </a:pPr>
            <a:r>
              <a:rPr sz="1350" b="1">
                <a:solidFill>
                  <a:srgbClr val="102A43"/>
                </a:solidFill>
                <a:latin typeface="Bitstream Charter"/>
                <a:ea typeface="Bitstream Charter"/>
                <a:cs typeface="Bitstream Charter"/>
              </a:rPr>
              <a:t>Power App loads active template</a:t>
            </a:r>
          </a:p>
        </p:txBody>
      </p:sp>
      <p:sp>
        <p:nvSpPr>
          <p:cNvPr id="6" name="矩形: 圆角 5">
            <a:extLst>
              <a:ext uri="{FF2B5EF4-FFF2-40B4-BE49-F238E27FC236}">
                <a16:creationId xmlns:a16="http://schemas.microsoft.com/office/drawing/2014/main" id="{744F6835-310F-4957-BF63-C3FF08BB25B1}"/>
              </a:ext>
            </a:extLst>
          </p:cNvPr>
          <p:cNvSpPr>
            <a:spLocks noGrp="1"/>
          </p:cNvSpPr>
          <p:nvPr/>
        </p:nvSpPr>
        <p:spPr>
          <a:xfrm>
            <a:off x="7000875" y="1333500"/>
            <a:ext cx="2524125" cy="685800"/>
          </a:xfrm>
          <a:prstGeom prst="roundRect">
            <a:avLst>
              <a:gd name="adj" fmla="val 13889"/>
            </a:avLst>
          </a:prstGeom>
          <a:solidFill>
            <a:srgbClr val="FFF4DE"/>
          </a:solidFill>
          <a:ln w="9525">
            <a:solidFill>
              <a:srgbClr val="C8D3DC"/>
            </a:solidFill>
            <a:prstDash val="solid"/>
          </a:ln>
        </p:spPr>
      </p:sp>
      <p:sp>
        <p:nvSpPr>
          <p:cNvPr id="7" name="矩形 6">
            <a:extLst>
              <a:ext uri="{FF2B5EF4-FFF2-40B4-BE49-F238E27FC236}">
                <a16:creationId xmlns:a16="http://schemas.microsoft.com/office/drawing/2014/main" id="{E2ACC3B5-D547-4F6C-91F1-01540BAC9985}"/>
              </a:ext>
            </a:extLst>
          </p:cNvPr>
          <p:cNvSpPr>
            <a:spLocks noGrp="1"/>
          </p:cNvSpPr>
          <p:nvPr/>
        </p:nvSpPr>
        <p:spPr>
          <a:xfrm>
            <a:off x="7153275" y="1466850"/>
            <a:ext cx="2219325" cy="438150"/>
          </a:xfrm>
          <a:prstGeom prst="rect">
            <a:avLst/>
          </a:prstGeom>
          <a:noFill/>
          <a:ln w="0">
            <a:noFill/>
          </a:ln>
        </p:spPr>
        <p:txBody>
          <a:bodyPr lIns="19050" tIns="19050" rIns="19050" bIns="19050" anchor="ctr">
            <a:normAutofit fontScale="82675" lnSpcReduction="10000"/>
          </a:bodyPr>
          <a:lstStyle/>
          <a:p>
            <a:pPr algn="l">
              <a:defRPr sz="1350" b="1">
                <a:solidFill>
                  <a:srgbClr val="102A43"/>
                </a:solidFill>
                <a:latin typeface="Bitstream Charter"/>
                <a:ea typeface="Bitstream Charter"/>
                <a:cs typeface="Bitstream Charter"/>
              </a:defRPr>
            </a:pPr>
            <a:r>
              <a:rPr sz="1350" b="1">
                <a:solidFill>
                  <a:srgbClr val="102A43"/>
                </a:solidFill>
                <a:latin typeface="Bitstream Charter"/>
                <a:ea typeface="Bitstream Charter"/>
                <a:cs typeface="Bitstream Charter"/>
              </a:rPr>
              <a:t>AIRO review</a:t>
            </a:r>
          </a:p>
          <a:p>
            <a:pPr algn="l">
              <a:defRPr sz="1350" b="1">
                <a:solidFill>
                  <a:srgbClr val="102A43"/>
                </a:solidFill>
                <a:latin typeface="Bitstream Charter"/>
                <a:ea typeface="Bitstream Charter"/>
                <a:cs typeface="Bitstream Charter"/>
              </a:defRPr>
            </a:pPr>
            <a:r>
              <a:rPr sz="1350" b="1">
                <a:solidFill>
                  <a:srgbClr val="102A43"/>
                </a:solidFill>
                <a:latin typeface="Bitstream Charter"/>
                <a:ea typeface="Bitstream Charter"/>
                <a:cs typeface="Bitstream Charter"/>
              </a:rPr>
              <a:t>SharePoint views and standard form</a:t>
            </a:r>
          </a:p>
        </p:txBody>
      </p:sp>
      <p:sp>
        <p:nvSpPr>
          <p:cNvPr id="8" name="矩形: 圆角 7">
            <a:extLst>
              <a:ext uri="{FF2B5EF4-FFF2-40B4-BE49-F238E27FC236}">
                <a16:creationId xmlns:a16="http://schemas.microsoft.com/office/drawing/2014/main" id="{D894C5DD-BC9B-4120-85FE-B6B14ECCF06E}"/>
              </a:ext>
            </a:extLst>
          </p:cNvPr>
          <p:cNvSpPr>
            <a:spLocks noGrp="1"/>
          </p:cNvSpPr>
          <p:nvPr/>
        </p:nvSpPr>
        <p:spPr>
          <a:xfrm>
            <a:off x="9858375" y="1333500"/>
            <a:ext cx="1714500" cy="685800"/>
          </a:xfrm>
          <a:prstGeom prst="roundRect">
            <a:avLst>
              <a:gd name="adj" fmla="val 13889"/>
            </a:avLst>
          </a:prstGeom>
          <a:solidFill>
            <a:srgbClr val="F5F8FA"/>
          </a:solidFill>
          <a:ln w="9525">
            <a:solidFill>
              <a:srgbClr val="526574"/>
            </a:solidFill>
            <a:prstDash val="dash"/>
          </a:ln>
        </p:spPr>
      </p:sp>
      <p:sp>
        <p:nvSpPr>
          <p:cNvPr id="9" name="矩形 8">
            <a:extLst>
              <a:ext uri="{FF2B5EF4-FFF2-40B4-BE49-F238E27FC236}">
                <a16:creationId xmlns:a16="http://schemas.microsoft.com/office/drawing/2014/main" id="{788D8AC9-4F70-4ACD-8F09-D7A9A73CCC06}"/>
              </a:ext>
            </a:extLst>
          </p:cNvPr>
          <p:cNvSpPr>
            <a:spLocks noGrp="1"/>
          </p:cNvSpPr>
          <p:nvPr/>
        </p:nvSpPr>
        <p:spPr>
          <a:xfrm>
            <a:off x="10001250" y="1466850"/>
            <a:ext cx="1428750" cy="438150"/>
          </a:xfrm>
          <a:prstGeom prst="rect">
            <a:avLst/>
          </a:prstGeom>
          <a:noFill/>
          <a:ln w="0">
            <a:noFill/>
          </a:ln>
        </p:spPr>
        <p:txBody>
          <a:bodyPr lIns="19050" tIns="19050" rIns="19050" bIns="19050" anchor="ctr">
            <a:normAutofit fontScale="77385" lnSpcReduction="20000"/>
          </a:bodyPr>
          <a:lstStyle/>
          <a:p>
            <a:pPr algn="ctr">
              <a:defRPr sz="1275" b="1">
                <a:solidFill>
                  <a:srgbClr val="526574"/>
                </a:solidFill>
                <a:latin typeface="Bitstream Charter"/>
                <a:ea typeface="Bitstream Charter"/>
                <a:cs typeface="Bitstream Charter"/>
              </a:defRPr>
            </a:pPr>
            <a:r>
              <a:rPr sz="1275" b="1">
                <a:solidFill>
                  <a:srgbClr val="526574"/>
                </a:solidFill>
                <a:latin typeface="Bitstream Charter"/>
                <a:ea typeface="Bitstream Charter"/>
                <a:cs typeface="Bitstream Charter"/>
              </a:rPr>
              <a:t>Optional later</a:t>
            </a:r>
          </a:p>
          <a:p>
            <a:pPr algn="ctr">
              <a:defRPr sz="1275" b="1">
                <a:solidFill>
                  <a:srgbClr val="526574"/>
                </a:solidFill>
                <a:latin typeface="Bitstream Charter"/>
                <a:ea typeface="Bitstream Charter"/>
                <a:cs typeface="Bitstream Charter"/>
              </a:defRPr>
            </a:pPr>
            <a:r>
              <a:rPr sz="1275" b="1">
                <a:solidFill>
                  <a:srgbClr val="526574"/>
                </a:solidFill>
                <a:latin typeface="Bitstream Charter"/>
                <a:ea typeface="Bitstream Charter"/>
                <a:cs typeface="Bitstream Charter"/>
              </a:rPr>
              <a:t>AIRO review Power App</a:t>
            </a:r>
          </a:p>
        </p:txBody>
      </p:sp>
      <p:sp>
        <p:nvSpPr>
          <p:cNvPr id="10" name="矩形 9">
            <a:extLst>
              <a:ext uri="{FF2B5EF4-FFF2-40B4-BE49-F238E27FC236}">
                <a16:creationId xmlns:a16="http://schemas.microsoft.com/office/drawing/2014/main" id="{C7C631A1-0CA8-4EEC-9376-A429C1FACD0C}"/>
              </a:ext>
            </a:extLst>
          </p:cNvPr>
          <p:cNvSpPr>
            <a:spLocks noGrp="1"/>
          </p:cNvSpPr>
          <p:nvPr/>
        </p:nvSpPr>
        <p:spPr>
          <a:xfrm>
            <a:off x="552450" y="2647950"/>
            <a:ext cx="1524000" cy="266700"/>
          </a:xfrm>
          <a:prstGeom prst="rect">
            <a:avLst/>
          </a:prstGeom>
          <a:noFill/>
          <a:ln w="0">
            <a:noFill/>
          </a:ln>
        </p:spPr>
        <p:txBody>
          <a:bodyPr lIns="19050" tIns="19050" rIns="19050" bIns="19050" anchor="t">
            <a:normAutofit/>
          </a:bodyPr>
          <a:lstStyle/>
          <a:p>
            <a:pPr algn="l">
              <a:defRPr sz="1125" b="1">
                <a:solidFill>
                  <a:srgbClr val="187B78"/>
                </a:solidFill>
                <a:latin typeface="Bitstream Charter"/>
                <a:ea typeface="Bitstream Charter"/>
                <a:cs typeface="Bitstream Charter"/>
              </a:defRPr>
            </a:pPr>
            <a:r>
              <a:rPr sz="1125" b="1">
                <a:solidFill>
                  <a:srgbClr val="187B78"/>
                </a:solidFill>
                <a:latin typeface="Bitstream Charter"/>
                <a:ea typeface="Bitstream Charter"/>
                <a:cs typeface="Bitstream Charter"/>
              </a:rPr>
              <a:t>PROCESSING</a:t>
            </a:r>
          </a:p>
        </p:txBody>
      </p:sp>
      <p:sp>
        <p:nvSpPr>
          <p:cNvPr id="11" name="矩形: 圆角 10">
            <a:extLst>
              <a:ext uri="{FF2B5EF4-FFF2-40B4-BE49-F238E27FC236}">
                <a16:creationId xmlns:a16="http://schemas.microsoft.com/office/drawing/2014/main" id="{7911C82A-F5C8-407B-88CE-3FBB46AFCDDA}"/>
              </a:ext>
            </a:extLst>
          </p:cNvPr>
          <p:cNvSpPr>
            <a:spLocks noGrp="1"/>
          </p:cNvSpPr>
          <p:nvPr/>
        </p:nvSpPr>
        <p:spPr>
          <a:xfrm>
            <a:off x="2190750" y="2381250"/>
            <a:ext cx="9382125" cy="1028700"/>
          </a:xfrm>
          <a:prstGeom prst="roundRect">
            <a:avLst>
              <a:gd name="adj" fmla="val 11111"/>
            </a:avLst>
          </a:prstGeom>
          <a:solidFill>
            <a:srgbClr val="E7F4F2"/>
          </a:solidFill>
          <a:ln w="9525">
            <a:solidFill>
              <a:srgbClr val="C8D3DC"/>
            </a:solidFill>
            <a:prstDash val="solid"/>
          </a:ln>
        </p:spPr>
      </p:sp>
      <p:sp>
        <p:nvSpPr>
          <p:cNvPr id="12" name="矩形: 圆角 11">
            <a:extLst>
              <a:ext uri="{FF2B5EF4-FFF2-40B4-BE49-F238E27FC236}">
                <a16:creationId xmlns:a16="http://schemas.microsoft.com/office/drawing/2014/main" id="{7FE885A3-811B-4420-858E-FA64BAA92F1D}"/>
              </a:ext>
            </a:extLst>
          </p:cNvPr>
          <p:cNvSpPr>
            <a:spLocks noGrp="1"/>
          </p:cNvSpPr>
          <p:nvPr/>
        </p:nvSpPr>
        <p:spPr>
          <a:xfrm>
            <a:off x="2476500" y="2619375"/>
            <a:ext cx="1809750" cy="552450"/>
          </a:xfrm>
          <a:prstGeom prst="roundRect">
            <a:avLst>
              <a:gd name="adj" fmla="val 13793"/>
            </a:avLst>
          </a:prstGeom>
          <a:solidFill>
            <a:srgbClr val="FFFFFF"/>
          </a:solidFill>
          <a:ln w="9525">
            <a:solidFill>
              <a:srgbClr val="187B78"/>
            </a:solidFill>
            <a:prstDash val="solid"/>
          </a:ln>
        </p:spPr>
      </p:sp>
      <p:sp>
        <p:nvSpPr>
          <p:cNvPr id="13" name="矩形 12">
            <a:extLst>
              <a:ext uri="{FF2B5EF4-FFF2-40B4-BE49-F238E27FC236}">
                <a16:creationId xmlns:a16="http://schemas.microsoft.com/office/drawing/2014/main" id="{202455C3-B144-4263-8BC1-CFEF3FE80502}"/>
              </a:ext>
            </a:extLst>
          </p:cNvPr>
          <p:cNvSpPr>
            <a:spLocks noGrp="1"/>
          </p:cNvSpPr>
          <p:nvPr/>
        </p:nvSpPr>
        <p:spPr>
          <a:xfrm>
            <a:off x="2571750" y="2695575"/>
            <a:ext cx="1619250" cy="400050"/>
          </a:xfrm>
          <a:prstGeom prst="rect">
            <a:avLst/>
          </a:prstGeom>
          <a:noFill/>
          <a:ln w="0">
            <a:noFill/>
          </a:ln>
        </p:spPr>
        <p:txBody>
          <a:bodyPr lIns="19050" tIns="19050" rIns="19050" bIns="19050" anchor="ctr">
            <a:normAutofit fontScale="98958" lnSpcReduction="10000"/>
          </a:bodyPr>
          <a:lstStyle/>
          <a:p>
            <a:pPr algn="ctr">
              <a:defRPr sz="1200" b="1">
                <a:solidFill>
                  <a:srgbClr val="1D2B36"/>
                </a:solidFill>
                <a:latin typeface="Bitstream Charter"/>
                <a:ea typeface="Bitstream Charter"/>
                <a:cs typeface="Bitstream Charter"/>
              </a:defRPr>
            </a:pPr>
            <a:r>
              <a:rPr sz="1200" b="1">
                <a:solidFill>
                  <a:srgbClr val="1D2B36"/>
                </a:solidFill>
                <a:latin typeface="Bitstream Charter"/>
                <a:ea typeface="Bitstream Charter"/>
                <a:cs typeface="Bitstream Charter"/>
              </a:rPr>
              <a:t>Validate submission</a:t>
            </a:r>
          </a:p>
          <a:p>
            <a:pPr algn="ctr">
              <a:defRPr sz="1200" b="1">
                <a:solidFill>
                  <a:srgbClr val="1D2B36"/>
                </a:solidFill>
                <a:latin typeface="Bitstream Charter"/>
                <a:ea typeface="Bitstream Charter"/>
                <a:cs typeface="Bitstream Charter"/>
              </a:defRPr>
            </a:pPr>
            <a:r>
              <a:rPr sz="1200" b="1">
                <a:solidFill>
                  <a:srgbClr val="1D2B36"/>
                </a:solidFill>
                <a:latin typeface="Bitstream Charter"/>
                <a:ea typeface="Bitstream Charter"/>
                <a:cs typeface="Bitstream Charter"/>
              </a:rPr>
              <a:t>and assign versions</a:t>
            </a:r>
          </a:p>
        </p:txBody>
      </p:sp>
      <p:sp>
        <p:nvSpPr>
          <p:cNvPr id="14" name="矩形: 圆角 13">
            <a:extLst>
              <a:ext uri="{FF2B5EF4-FFF2-40B4-BE49-F238E27FC236}">
                <a16:creationId xmlns:a16="http://schemas.microsoft.com/office/drawing/2014/main" id="{5A5107D5-99ED-4259-956D-4268137B6EC4}"/>
              </a:ext>
            </a:extLst>
          </p:cNvPr>
          <p:cNvSpPr>
            <a:spLocks noGrp="1"/>
          </p:cNvSpPr>
          <p:nvPr/>
        </p:nvSpPr>
        <p:spPr>
          <a:xfrm>
            <a:off x="4667250" y="2619375"/>
            <a:ext cx="1809750" cy="552450"/>
          </a:xfrm>
          <a:prstGeom prst="roundRect">
            <a:avLst>
              <a:gd name="adj" fmla="val 13793"/>
            </a:avLst>
          </a:prstGeom>
          <a:solidFill>
            <a:srgbClr val="FFFFFF"/>
          </a:solidFill>
          <a:ln w="9525">
            <a:solidFill>
              <a:srgbClr val="187B78"/>
            </a:solidFill>
            <a:prstDash val="solid"/>
          </a:ln>
        </p:spPr>
      </p:sp>
      <p:sp>
        <p:nvSpPr>
          <p:cNvPr id="15" name="矩形 14">
            <a:extLst>
              <a:ext uri="{FF2B5EF4-FFF2-40B4-BE49-F238E27FC236}">
                <a16:creationId xmlns:a16="http://schemas.microsoft.com/office/drawing/2014/main" id="{5029E0B2-05F5-428B-AAD6-CE49E424A8A6}"/>
              </a:ext>
            </a:extLst>
          </p:cNvPr>
          <p:cNvSpPr>
            <a:spLocks noGrp="1"/>
          </p:cNvSpPr>
          <p:nvPr/>
        </p:nvSpPr>
        <p:spPr>
          <a:xfrm>
            <a:off x="4762500" y="2695575"/>
            <a:ext cx="1619250" cy="400050"/>
          </a:xfrm>
          <a:prstGeom prst="rect">
            <a:avLst/>
          </a:prstGeom>
          <a:noFill/>
          <a:ln w="0">
            <a:noFill/>
          </a:ln>
        </p:spPr>
        <p:txBody>
          <a:bodyPr lIns="19050" tIns="19050" rIns="19050" bIns="19050" anchor="ctr">
            <a:normAutofit fontScale="98958" lnSpcReduction="10000"/>
          </a:bodyPr>
          <a:lstStyle/>
          <a:p>
            <a:pPr algn="ctr">
              <a:defRPr sz="1200" b="1">
                <a:solidFill>
                  <a:srgbClr val="1D2B36"/>
                </a:solidFill>
                <a:latin typeface="Bitstream Charter"/>
                <a:ea typeface="Bitstream Charter"/>
                <a:cs typeface="Bitstream Charter"/>
              </a:defRPr>
            </a:pPr>
            <a:r>
              <a:rPr sz="1200" b="1">
                <a:solidFill>
                  <a:srgbClr val="1D2B36"/>
                </a:solidFill>
                <a:latin typeface="Bitstream Charter"/>
                <a:ea typeface="Bitstream Charter"/>
                <a:cs typeface="Bitstream Charter"/>
              </a:rPr>
              <a:t>Load approved</a:t>
            </a:r>
          </a:p>
          <a:p>
            <a:pPr algn="ctr">
              <a:defRPr sz="1200" b="1">
                <a:solidFill>
                  <a:srgbClr val="1D2B36"/>
                </a:solidFill>
                <a:latin typeface="Bitstream Charter"/>
                <a:ea typeface="Bitstream Charter"/>
                <a:cs typeface="Bitstream Charter"/>
              </a:defRPr>
            </a:pPr>
            <a:r>
              <a:rPr sz="1200" b="1">
                <a:solidFill>
                  <a:srgbClr val="1D2B36"/>
                </a:solidFill>
                <a:latin typeface="Bitstream Charter"/>
                <a:ea typeface="Bitstream Charter"/>
                <a:cs typeface="Bitstream Charter"/>
              </a:rPr>
              <a:t>configuration</a:t>
            </a:r>
          </a:p>
        </p:txBody>
      </p:sp>
      <p:sp>
        <p:nvSpPr>
          <p:cNvPr id="16" name="矩形: 圆角 15">
            <a:extLst>
              <a:ext uri="{FF2B5EF4-FFF2-40B4-BE49-F238E27FC236}">
                <a16:creationId xmlns:a16="http://schemas.microsoft.com/office/drawing/2014/main" id="{97DE4C78-312D-4684-ACDC-1FE5F3C38CE0}"/>
              </a:ext>
            </a:extLst>
          </p:cNvPr>
          <p:cNvSpPr>
            <a:spLocks noGrp="1"/>
          </p:cNvSpPr>
          <p:nvPr/>
        </p:nvSpPr>
        <p:spPr>
          <a:xfrm>
            <a:off x="6858000" y="2619375"/>
            <a:ext cx="1809750" cy="552450"/>
          </a:xfrm>
          <a:prstGeom prst="roundRect">
            <a:avLst>
              <a:gd name="adj" fmla="val 13793"/>
            </a:avLst>
          </a:prstGeom>
          <a:solidFill>
            <a:srgbClr val="FFFFFF"/>
          </a:solidFill>
          <a:ln w="9525">
            <a:solidFill>
              <a:srgbClr val="187B78"/>
            </a:solidFill>
            <a:prstDash val="solid"/>
          </a:ln>
        </p:spPr>
      </p:sp>
      <p:sp>
        <p:nvSpPr>
          <p:cNvPr id="17" name="矩形 16">
            <a:extLst>
              <a:ext uri="{FF2B5EF4-FFF2-40B4-BE49-F238E27FC236}">
                <a16:creationId xmlns:a16="http://schemas.microsoft.com/office/drawing/2014/main" id="{BBBBDFD7-BD26-42B9-8520-F085E8249D5E}"/>
              </a:ext>
            </a:extLst>
          </p:cNvPr>
          <p:cNvSpPr>
            <a:spLocks noGrp="1"/>
          </p:cNvSpPr>
          <p:nvPr/>
        </p:nvSpPr>
        <p:spPr>
          <a:xfrm>
            <a:off x="6953250" y="2695575"/>
            <a:ext cx="1619250" cy="400050"/>
          </a:xfrm>
          <a:prstGeom prst="rect">
            <a:avLst/>
          </a:prstGeom>
          <a:noFill/>
          <a:ln w="0">
            <a:noFill/>
          </a:ln>
        </p:spPr>
        <p:txBody>
          <a:bodyPr lIns="19050" tIns="19050" rIns="19050" bIns="19050" anchor="ctr">
            <a:normAutofit fontScale="98958" lnSpcReduction="10000"/>
          </a:bodyPr>
          <a:lstStyle/>
          <a:p>
            <a:pPr algn="ctr">
              <a:defRPr sz="1200" b="1">
                <a:solidFill>
                  <a:srgbClr val="1D2B36"/>
                </a:solidFill>
                <a:latin typeface="Bitstream Charter"/>
                <a:ea typeface="Bitstream Charter"/>
                <a:cs typeface="Bitstream Charter"/>
              </a:defRPr>
            </a:pPr>
            <a:r>
              <a:rPr sz="1200" b="1">
                <a:solidFill>
                  <a:srgbClr val="1D2B36"/>
                </a:solidFill>
                <a:latin typeface="Bitstream Charter"/>
                <a:ea typeface="Bitstream Charter"/>
                <a:cs typeface="Bitstream Charter"/>
              </a:rPr>
              <a:t>Apply deterministic</a:t>
            </a:r>
          </a:p>
          <a:p>
            <a:pPr algn="ctr">
              <a:defRPr sz="1200" b="1">
                <a:solidFill>
                  <a:srgbClr val="1D2B36"/>
                </a:solidFill>
                <a:latin typeface="Bitstream Charter"/>
                <a:ea typeface="Bitstream Charter"/>
                <a:cs typeface="Bitstream Charter"/>
              </a:defRPr>
            </a:pPr>
            <a:r>
              <a:rPr sz="1200" b="1">
                <a:solidFill>
                  <a:srgbClr val="1D2B36"/>
                </a:solidFill>
                <a:latin typeface="Bitstream Charter"/>
                <a:ea typeface="Bitstream Charter"/>
                <a:cs typeface="Bitstream Charter"/>
              </a:rPr>
              <a:t>triage rules</a:t>
            </a:r>
          </a:p>
        </p:txBody>
      </p:sp>
      <p:sp>
        <p:nvSpPr>
          <p:cNvPr id="18" name="矩形: 圆角 17">
            <a:extLst>
              <a:ext uri="{FF2B5EF4-FFF2-40B4-BE49-F238E27FC236}">
                <a16:creationId xmlns:a16="http://schemas.microsoft.com/office/drawing/2014/main" id="{88DA31E8-01F9-4B19-B586-12D054DFC5D3}"/>
              </a:ext>
            </a:extLst>
          </p:cNvPr>
          <p:cNvSpPr>
            <a:spLocks noGrp="1"/>
          </p:cNvSpPr>
          <p:nvPr/>
        </p:nvSpPr>
        <p:spPr>
          <a:xfrm>
            <a:off x="9048750" y="2619375"/>
            <a:ext cx="1809750" cy="552450"/>
          </a:xfrm>
          <a:prstGeom prst="roundRect">
            <a:avLst>
              <a:gd name="adj" fmla="val 13793"/>
            </a:avLst>
          </a:prstGeom>
          <a:solidFill>
            <a:srgbClr val="FFFFFF"/>
          </a:solidFill>
          <a:ln w="9525">
            <a:solidFill>
              <a:srgbClr val="187B78"/>
            </a:solidFill>
            <a:prstDash val="solid"/>
          </a:ln>
        </p:spPr>
      </p:sp>
      <p:sp>
        <p:nvSpPr>
          <p:cNvPr id="19" name="矩形 18">
            <a:extLst>
              <a:ext uri="{FF2B5EF4-FFF2-40B4-BE49-F238E27FC236}">
                <a16:creationId xmlns:a16="http://schemas.microsoft.com/office/drawing/2014/main" id="{C3B29DBD-C55E-46F5-93AA-29A2E263C4EA}"/>
              </a:ext>
            </a:extLst>
          </p:cNvPr>
          <p:cNvSpPr>
            <a:spLocks noGrp="1"/>
          </p:cNvSpPr>
          <p:nvPr/>
        </p:nvSpPr>
        <p:spPr>
          <a:xfrm>
            <a:off x="9144000" y="2695575"/>
            <a:ext cx="1619250" cy="400050"/>
          </a:xfrm>
          <a:prstGeom prst="rect">
            <a:avLst/>
          </a:prstGeom>
          <a:noFill/>
          <a:ln w="0">
            <a:noFill/>
          </a:ln>
        </p:spPr>
        <p:txBody>
          <a:bodyPr lIns="19050" tIns="19050" rIns="19050" bIns="19050" anchor="ctr">
            <a:normAutofit fontScale="95391"/>
          </a:bodyPr>
          <a:lstStyle/>
          <a:p>
            <a:pPr algn="ctr">
              <a:defRPr sz="1200" b="1">
                <a:solidFill>
                  <a:srgbClr val="1D2B36"/>
                </a:solidFill>
                <a:latin typeface="Bitstream Charter"/>
                <a:ea typeface="Bitstream Charter"/>
                <a:cs typeface="Bitstream Charter"/>
              </a:defRPr>
            </a:pPr>
            <a:r>
              <a:rPr sz="1200" b="1">
                <a:solidFill>
                  <a:srgbClr val="1D2B36"/>
                </a:solidFill>
                <a:latin typeface="Bitstream Charter"/>
                <a:ea typeface="Bitstream Charter"/>
                <a:cs typeface="Bitstream Charter"/>
              </a:rPr>
              <a:t>Generate proposal and</a:t>
            </a:r>
          </a:p>
          <a:p>
            <a:pPr algn="ctr">
              <a:defRPr sz="1200" b="1">
                <a:solidFill>
                  <a:srgbClr val="1D2B36"/>
                </a:solidFill>
                <a:latin typeface="Bitstream Charter"/>
                <a:ea typeface="Bitstream Charter"/>
                <a:cs typeface="Bitstream Charter"/>
              </a:defRPr>
            </a:pPr>
            <a:r>
              <a:rPr sz="1200" b="1">
                <a:solidFill>
                  <a:srgbClr val="1D2B36"/>
                </a:solidFill>
                <a:latin typeface="Bitstream Charter"/>
                <a:ea typeface="Bitstream Charter"/>
                <a:cs typeface="Bitstream Charter"/>
              </a:rPr>
              <a:t>execute approved actions</a:t>
            </a:r>
          </a:p>
        </p:txBody>
      </p:sp>
      <p:sp>
        <p:nvSpPr>
          <p:cNvPr id="20" name="箭头: 右 19">
            <a:extLst>
              <a:ext uri="{FF2B5EF4-FFF2-40B4-BE49-F238E27FC236}">
                <a16:creationId xmlns:a16="http://schemas.microsoft.com/office/drawing/2014/main" id="{AB5EE634-F54C-4DF7-BEE9-C7EC7E8632C8}"/>
              </a:ext>
            </a:extLst>
          </p:cNvPr>
          <p:cNvSpPr>
            <a:spLocks noGrp="1"/>
          </p:cNvSpPr>
          <p:nvPr/>
        </p:nvSpPr>
        <p:spPr>
          <a:xfrm>
            <a:off x="4381500" y="2790825"/>
            <a:ext cx="190500" cy="190500"/>
          </a:xfrm>
          <a:prstGeom prst="rightArrow">
            <a:avLst/>
          </a:prstGeom>
          <a:solidFill>
            <a:srgbClr val="187B78"/>
          </a:solidFill>
          <a:ln w="0">
            <a:solidFill>
              <a:srgbClr val="187B78"/>
            </a:solidFill>
          </a:ln>
        </p:spPr>
      </p:sp>
      <p:sp>
        <p:nvSpPr>
          <p:cNvPr id="21" name="箭头: 右 20">
            <a:extLst>
              <a:ext uri="{FF2B5EF4-FFF2-40B4-BE49-F238E27FC236}">
                <a16:creationId xmlns:a16="http://schemas.microsoft.com/office/drawing/2014/main" id="{7DF033F4-4CD5-451A-834C-F278277D015E}"/>
              </a:ext>
            </a:extLst>
          </p:cNvPr>
          <p:cNvSpPr>
            <a:spLocks noGrp="1"/>
          </p:cNvSpPr>
          <p:nvPr/>
        </p:nvSpPr>
        <p:spPr>
          <a:xfrm>
            <a:off x="6572250" y="2790825"/>
            <a:ext cx="190500" cy="190500"/>
          </a:xfrm>
          <a:prstGeom prst="rightArrow">
            <a:avLst/>
          </a:prstGeom>
          <a:solidFill>
            <a:srgbClr val="187B78"/>
          </a:solidFill>
          <a:ln w="0">
            <a:solidFill>
              <a:srgbClr val="187B78"/>
            </a:solidFill>
          </a:ln>
        </p:spPr>
      </p:sp>
      <p:sp>
        <p:nvSpPr>
          <p:cNvPr id="22" name="箭头: 右 21">
            <a:extLst>
              <a:ext uri="{FF2B5EF4-FFF2-40B4-BE49-F238E27FC236}">
                <a16:creationId xmlns:a16="http://schemas.microsoft.com/office/drawing/2014/main" id="{CA15A691-B7AA-4E54-AF9F-60BB4A144D7E}"/>
              </a:ext>
            </a:extLst>
          </p:cNvPr>
          <p:cNvSpPr>
            <a:spLocks noGrp="1"/>
          </p:cNvSpPr>
          <p:nvPr/>
        </p:nvSpPr>
        <p:spPr>
          <a:xfrm>
            <a:off x="8763000" y="2790825"/>
            <a:ext cx="190500" cy="190500"/>
          </a:xfrm>
          <a:prstGeom prst="rightArrow">
            <a:avLst/>
          </a:prstGeom>
          <a:solidFill>
            <a:srgbClr val="187B78"/>
          </a:solidFill>
          <a:ln w="0">
            <a:solidFill>
              <a:srgbClr val="187B78"/>
            </a:solidFill>
          </a:ln>
        </p:spPr>
      </p:sp>
      <p:sp>
        <p:nvSpPr>
          <p:cNvPr id="23" name="矩形 22">
            <a:extLst>
              <a:ext uri="{FF2B5EF4-FFF2-40B4-BE49-F238E27FC236}">
                <a16:creationId xmlns:a16="http://schemas.microsoft.com/office/drawing/2014/main" id="{C579319A-4EA6-4C77-BF30-06523CE5CEE2}"/>
              </a:ext>
            </a:extLst>
          </p:cNvPr>
          <p:cNvSpPr>
            <a:spLocks noGrp="1"/>
          </p:cNvSpPr>
          <p:nvPr/>
        </p:nvSpPr>
        <p:spPr>
          <a:xfrm>
            <a:off x="552450" y="4143375"/>
            <a:ext cx="1524000" cy="266700"/>
          </a:xfrm>
          <a:prstGeom prst="rect">
            <a:avLst/>
          </a:prstGeom>
          <a:noFill/>
          <a:ln w="0">
            <a:noFill/>
          </a:ln>
        </p:spPr>
        <p:txBody>
          <a:bodyPr lIns="19050" tIns="19050" rIns="19050" bIns="19050" anchor="t">
            <a:normAutofit/>
          </a:bodyPr>
          <a:lstStyle/>
          <a:p>
            <a:pPr algn="l">
              <a:defRPr sz="1125" b="1">
                <a:solidFill>
                  <a:srgbClr val="6B5B95"/>
                </a:solidFill>
                <a:latin typeface="Bitstream Charter"/>
                <a:ea typeface="Bitstream Charter"/>
                <a:cs typeface="Bitstream Charter"/>
              </a:defRPr>
            </a:pPr>
            <a:r>
              <a:rPr sz="1125" b="1">
                <a:solidFill>
                  <a:srgbClr val="6B5B95"/>
                </a:solidFill>
                <a:latin typeface="Bitstream Charter"/>
                <a:ea typeface="Bitstream Charter"/>
                <a:cs typeface="Bitstream Charter"/>
              </a:rPr>
              <a:t>SHAREPOINT</a:t>
            </a:r>
          </a:p>
        </p:txBody>
      </p:sp>
      <p:sp>
        <p:nvSpPr>
          <p:cNvPr id="24" name="矩形: 圆角 23">
            <a:extLst>
              <a:ext uri="{FF2B5EF4-FFF2-40B4-BE49-F238E27FC236}">
                <a16:creationId xmlns:a16="http://schemas.microsoft.com/office/drawing/2014/main" id="{67C29E3C-A72A-4252-9B31-DD4B440CA0FA}"/>
              </a:ext>
            </a:extLst>
          </p:cNvPr>
          <p:cNvSpPr>
            <a:spLocks noGrp="1"/>
          </p:cNvSpPr>
          <p:nvPr/>
        </p:nvSpPr>
        <p:spPr>
          <a:xfrm>
            <a:off x="2190750" y="3857625"/>
            <a:ext cx="2809875" cy="1200150"/>
          </a:xfrm>
          <a:prstGeom prst="roundRect">
            <a:avLst>
              <a:gd name="adj" fmla="val 7937"/>
            </a:avLst>
          </a:prstGeom>
          <a:solidFill>
            <a:srgbClr val="EAF2F8"/>
          </a:solidFill>
          <a:ln w="9525">
            <a:solidFill>
              <a:srgbClr val="C8D3DC"/>
            </a:solidFill>
            <a:prstDash val="solid"/>
          </a:ln>
        </p:spPr>
      </p:sp>
      <p:sp>
        <p:nvSpPr>
          <p:cNvPr id="25" name="矩形 24">
            <a:extLst>
              <a:ext uri="{FF2B5EF4-FFF2-40B4-BE49-F238E27FC236}">
                <a16:creationId xmlns:a16="http://schemas.microsoft.com/office/drawing/2014/main" id="{129CBD00-689D-4BEA-AFC8-891BD60DF83A}"/>
              </a:ext>
            </a:extLst>
          </p:cNvPr>
          <p:cNvSpPr>
            <a:spLocks noGrp="1"/>
          </p:cNvSpPr>
          <p:nvPr/>
        </p:nvSpPr>
        <p:spPr>
          <a:xfrm>
            <a:off x="2362200" y="4010025"/>
            <a:ext cx="2457450" cy="266700"/>
          </a:xfrm>
          <a:prstGeom prst="rect">
            <a:avLst/>
          </a:prstGeom>
          <a:noFill/>
          <a:ln w="0">
            <a:noFill/>
          </a:ln>
        </p:spPr>
        <p:txBody>
          <a:bodyPr lIns="19050" tIns="19050" rIns="19050" bIns="19050" anchor="t">
            <a:normAutofit/>
          </a:bodyPr>
          <a:lstStyle/>
          <a:p>
            <a:pPr algn="l">
              <a:defRPr sz="1500" b="1">
                <a:solidFill>
                  <a:srgbClr val="102A43"/>
                </a:solidFill>
                <a:latin typeface="Bitstream Charter"/>
                <a:ea typeface="Bitstream Charter"/>
                <a:cs typeface="Bitstream Charter"/>
              </a:defRPr>
            </a:pPr>
            <a:r>
              <a:rPr sz="1500" b="1">
                <a:solidFill>
                  <a:srgbClr val="102A43"/>
                </a:solidFill>
                <a:latin typeface="Bitstream Charter"/>
                <a:ea typeface="Bitstream Charter"/>
                <a:cs typeface="Bitstream Charter"/>
              </a:rPr>
              <a:t>Live Case records</a:t>
            </a:r>
          </a:p>
        </p:txBody>
      </p:sp>
      <p:sp>
        <p:nvSpPr>
          <p:cNvPr id="26" name="矩形 25">
            <a:extLst>
              <a:ext uri="{FF2B5EF4-FFF2-40B4-BE49-F238E27FC236}">
                <a16:creationId xmlns:a16="http://schemas.microsoft.com/office/drawing/2014/main" id="{494C7992-25A6-474D-B2B5-3F2FE5083BB8}"/>
              </a:ext>
            </a:extLst>
          </p:cNvPr>
          <p:cNvSpPr>
            <a:spLocks noGrp="1"/>
          </p:cNvSpPr>
          <p:nvPr/>
        </p:nvSpPr>
        <p:spPr>
          <a:xfrm>
            <a:off x="2362200" y="4343400"/>
            <a:ext cx="2457450" cy="590550"/>
          </a:xfrm>
          <a:prstGeom prst="rect">
            <a:avLst/>
          </a:prstGeom>
          <a:noFill/>
          <a:ln w="0">
            <a:noFill/>
          </a:ln>
        </p:spPr>
        <p:txBody>
          <a:bodyPr lIns="19050" tIns="19050" rIns="19050" bIns="19050" anchor="t">
            <a:normAutofit/>
          </a:bodyPr>
          <a:lstStyle/>
          <a:p>
            <a:pPr algn="l">
              <a:defRPr sz="1200" b="0">
                <a:solidFill>
                  <a:srgbClr val="1D2B36"/>
                </a:solidFill>
                <a:latin typeface="Bitstream Charter"/>
                <a:ea typeface="Bitstream Charter"/>
                <a:cs typeface="Bitstream Charter"/>
              </a:defRPr>
            </a:pPr>
            <a:r>
              <a:rPr sz="1200" b="0">
                <a:solidFill>
                  <a:srgbClr val="1D2B36"/>
                </a:solidFill>
                <a:latin typeface="Bitstream Charter"/>
                <a:ea typeface="Bitstream Charter"/>
                <a:cs typeface="Bitstream Charter"/>
              </a:rPr>
              <a:t>Case and answers</a:t>
            </a:r>
          </a:p>
          <a:p>
            <a:pPr algn="l">
              <a:defRPr sz="1200" b="0">
                <a:solidFill>
                  <a:srgbClr val="1D2B36"/>
                </a:solidFill>
                <a:latin typeface="Bitstream Charter"/>
                <a:ea typeface="Bitstream Charter"/>
                <a:cs typeface="Bitstream Charter"/>
              </a:defRPr>
            </a:pPr>
            <a:r>
              <a:rPr sz="1200" b="0">
                <a:solidFill>
                  <a:srgbClr val="1D2B36"/>
                </a:solidFill>
                <a:latin typeface="Bitstream Charter"/>
                <a:ea typeface="Bitstream Charter"/>
                <a:cs typeface="Bitstream Charter"/>
              </a:rPr>
              <a:t>Rationale and evidence</a:t>
            </a:r>
          </a:p>
          <a:p>
            <a:pPr algn="l">
              <a:defRPr sz="1200" b="0">
                <a:solidFill>
                  <a:srgbClr val="1D2B36"/>
                </a:solidFill>
                <a:latin typeface="Bitstream Charter"/>
                <a:ea typeface="Bitstream Charter"/>
                <a:cs typeface="Bitstream Charter"/>
              </a:defRPr>
            </a:pPr>
            <a:r>
              <a:rPr sz="1200" b="0">
                <a:solidFill>
                  <a:srgbClr val="1D2B36"/>
                </a:solidFill>
                <a:latin typeface="Bitstream Charter"/>
                <a:ea typeface="Bitstream Charter"/>
                <a:cs typeface="Bitstream Charter"/>
              </a:rPr>
              <a:t>Proposal and matched rules</a:t>
            </a:r>
          </a:p>
        </p:txBody>
      </p:sp>
      <p:sp>
        <p:nvSpPr>
          <p:cNvPr id="27" name="矩形: 圆角 26">
            <a:extLst>
              <a:ext uri="{FF2B5EF4-FFF2-40B4-BE49-F238E27FC236}">
                <a16:creationId xmlns:a16="http://schemas.microsoft.com/office/drawing/2014/main" id="{A3B31145-ED56-42B0-A642-3CB57BA45F7A}"/>
              </a:ext>
            </a:extLst>
          </p:cNvPr>
          <p:cNvSpPr>
            <a:spLocks noGrp="1"/>
          </p:cNvSpPr>
          <p:nvPr/>
        </p:nvSpPr>
        <p:spPr>
          <a:xfrm>
            <a:off x="5286375" y="3857625"/>
            <a:ext cx="3000375" cy="1200150"/>
          </a:xfrm>
          <a:prstGeom prst="roundRect">
            <a:avLst>
              <a:gd name="adj" fmla="val 7937"/>
            </a:avLst>
          </a:prstGeom>
          <a:solidFill>
            <a:srgbClr val="F0ECF7"/>
          </a:solidFill>
          <a:ln w="9525">
            <a:solidFill>
              <a:srgbClr val="C8D3DC"/>
            </a:solidFill>
            <a:prstDash val="solid"/>
          </a:ln>
        </p:spPr>
      </p:sp>
      <p:sp>
        <p:nvSpPr>
          <p:cNvPr id="28" name="矩形 27">
            <a:extLst>
              <a:ext uri="{FF2B5EF4-FFF2-40B4-BE49-F238E27FC236}">
                <a16:creationId xmlns:a16="http://schemas.microsoft.com/office/drawing/2014/main" id="{A4D21FE3-D40C-4271-9734-513C83CD7C6E}"/>
              </a:ext>
            </a:extLst>
          </p:cNvPr>
          <p:cNvSpPr>
            <a:spLocks noGrp="1"/>
          </p:cNvSpPr>
          <p:nvPr/>
        </p:nvSpPr>
        <p:spPr>
          <a:xfrm>
            <a:off x="5457825" y="4010025"/>
            <a:ext cx="2657475" cy="266700"/>
          </a:xfrm>
          <a:prstGeom prst="rect">
            <a:avLst/>
          </a:prstGeom>
          <a:noFill/>
          <a:ln w="0">
            <a:noFill/>
          </a:ln>
        </p:spPr>
        <p:txBody>
          <a:bodyPr lIns="19050" tIns="19050" rIns="19050" bIns="19050" anchor="t">
            <a:normAutofit/>
          </a:bodyPr>
          <a:lstStyle/>
          <a:p>
            <a:pPr algn="l">
              <a:defRPr sz="1500" b="1">
                <a:solidFill>
                  <a:srgbClr val="102A43"/>
                </a:solidFill>
                <a:latin typeface="Bitstream Charter"/>
                <a:ea typeface="Bitstream Charter"/>
                <a:cs typeface="Bitstream Charter"/>
              </a:defRPr>
            </a:pPr>
            <a:r>
              <a:rPr sz="1500" b="1">
                <a:solidFill>
                  <a:srgbClr val="102A43"/>
                </a:solidFill>
                <a:latin typeface="Bitstream Charter"/>
                <a:ea typeface="Bitstream Charter"/>
                <a:cs typeface="Bitstream Charter"/>
              </a:rPr>
              <a:t>Versioned configuration</a:t>
            </a:r>
          </a:p>
        </p:txBody>
      </p:sp>
      <p:sp>
        <p:nvSpPr>
          <p:cNvPr id="29" name="矩形 28">
            <a:extLst>
              <a:ext uri="{FF2B5EF4-FFF2-40B4-BE49-F238E27FC236}">
                <a16:creationId xmlns:a16="http://schemas.microsoft.com/office/drawing/2014/main" id="{F8460F53-A34F-498A-B831-128D94EF56E3}"/>
              </a:ext>
            </a:extLst>
          </p:cNvPr>
          <p:cNvSpPr>
            <a:spLocks noGrp="1"/>
          </p:cNvSpPr>
          <p:nvPr/>
        </p:nvSpPr>
        <p:spPr>
          <a:xfrm>
            <a:off x="5457825" y="4343400"/>
            <a:ext cx="2657475" cy="590550"/>
          </a:xfrm>
          <a:prstGeom prst="rect">
            <a:avLst/>
          </a:prstGeom>
          <a:noFill/>
          <a:ln w="0">
            <a:noFill/>
          </a:ln>
        </p:spPr>
        <p:txBody>
          <a:bodyPr lIns="19050" tIns="19050" rIns="19050" bIns="19050" anchor="t">
            <a:normAutofit/>
          </a:bodyPr>
          <a:lstStyle/>
          <a:p>
            <a:pPr algn="l">
              <a:defRPr sz="1200" b="0">
                <a:solidFill>
                  <a:srgbClr val="1D2B36"/>
                </a:solidFill>
                <a:latin typeface="Bitstream Charter"/>
                <a:ea typeface="Bitstream Charter"/>
                <a:cs typeface="Bitstream Charter"/>
              </a:defRPr>
            </a:pPr>
            <a:r>
              <a:rPr sz="1200" b="0">
                <a:solidFill>
                  <a:srgbClr val="1D2B36"/>
                </a:solidFill>
                <a:latin typeface="Bitstream Charter"/>
                <a:ea typeface="Bitstream Charter"/>
                <a:cs typeface="Bitstream Charter"/>
              </a:rPr>
              <a:t>Question templates and choices</a:t>
            </a:r>
          </a:p>
          <a:p>
            <a:pPr algn="l">
              <a:defRPr sz="1200" b="0">
                <a:solidFill>
                  <a:srgbClr val="1D2B36"/>
                </a:solidFill>
                <a:latin typeface="Bitstream Charter"/>
                <a:ea typeface="Bitstream Charter"/>
                <a:cs typeface="Bitstream Charter"/>
              </a:defRPr>
            </a:pPr>
            <a:r>
              <a:rPr sz="1200" b="0">
                <a:solidFill>
                  <a:srgbClr val="1D2B36"/>
                </a:solidFill>
                <a:latin typeface="Bitstream Charter"/>
                <a:ea typeface="Bitstream Charter"/>
                <a:cs typeface="Bitstream Charter"/>
              </a:rPr>
              <a:t>Scores and rating bands</a:t>
            </a:r>
          </a:p>
          <a:p>
            <a:pPr algn="l">
              <a:defRPr sz="1200" b="0">
                <a:solidFill>
                  <a:srgbClr val="1D2B36"/>
                </a:solidFill>
                <a:latin typeface="Bitstream Charter"/>
                <a:ea typeface="Bitstream Charter"/>
                <a:cs typeface="Bitstream Charter"/>
              </a:defRPr>
            </a:pPr>
            <a:r>
              <a:rPr sz="1200" b="0">
                <a:solidFill>
                  <a:srgbClr val="1D2B36"/>
                </a:solidFill>
                <a:latin typeface="Bitstream Charter"/>
                <a:ea typeface="Bitstream Charter"/>
                <a:cs typeface="Bitstream Charter"/>
              </a:rPr>
              <a:t>Deal-breakers and 2LoD rules</a:t>
            </a:r>
          </a:p>
        </p:txBody>
      </p:sp>
      <p:sp>
        <p:nvSpPr>
          <p:cNvPr id="30" name="矩形: 圆角 29">
            <a:extLst>
              <a:ext uri="{FF2B5EF4-FFF2-40B4-BE49-F238E27FC236}">
                <a16:creationId xmlns:a16="http://schemas.microsoft.com/office/drawing/2014/main" id="{E82FF16A-5790-4089-A94F-EDCB238EF545}"/>
              </a:ext>
            </a:extLst>
          </p:cNvPr>
          <p:cNvSpPr>
            <a:spLocks noGrp="1"/>
          </p:cNvSpPr>
          <p:nvPr/>
        </p:nvSpPr>
        <p:spPr>
          <a:xfrm>
            <a:off x="8572500" y="3857625"/>
            <a:ext cx="3000375" cy="1200150"/>
          </a:xfrm>
          <a:prstGeom prst="roundRect">
            <a:avLst>
              <a:gd name="adj" fmla="val 7937"/>
            </a:avLst>
          </a:prstGeom>
          <a:solidFill>
            <a:srgbClr val="FFF4DE"/>
          </a:solidFill>
          <a:ln w="9525">
            <a:solidFill>
              <a:srgbClr val="C8D3DC"/>
            </a:solidFill>
            <a:prstDash val="solid"/>
          </a:ln>
        </p:spPr>
      </p:sp>
      <p:sp>
        <p:nvSpPr>
          <p:cNvPr id="31" name="矩形 30">
            <a:extLst>
              <a:ext uri="{FF2B5EF4-FFF2-40B4-BE49-F238E27FC236}">
                <a16:creationId xmlns:a16="http://schemas.microsoft.com/office/drawing/2014/main" id="{00932B71-458F-4B7A-9424-F7931FB10A6B}"/>
              </a:ext>
            </a:extLst>
          </p:cNvPr>
          <p:cNvSpPr>
            <a:spLocks noGrp="1"/>
          </p:cNvSpPr>
          <p:nvPr/>
        </p:nvSpPr>
        <p:spPr>
          <a:xfrm>
            <a:off x="8743950" y="4010025"/>
            <a:ext cx="2657475" cy="266700"/>
          </a:xfrm>
          <a:prstGeom prst="rect">
            <a:avLst/>
          </a:prstGeom>
          <a:noFill/>
          <a:ln w="0">
            <a:noFill/>
          </a:ln>
        </p:spPr>
        <p:txBody>
          <a:bodyPr lIns="19050" tIns="19050" rIns="19050" bIns="19050" anchor="t">
            <a:normAutofit/>
          </a:bodyPr>
          <a:lstStyle/>
          <a:p>
            <a:pPr algn="l">
              <a:defRPr sz="1500" b="1">
                <a:solidFill>
                  <a:srgbClr val="102A43"/>
                </a:solidFill>
                <a:latin typeface="Bitstream Charter"/>
                <a:ea typeface="Bitstream Charter"/>
                <a:cs typeface="Bitstream Charter"/>
              </a:defRPr>
            </a:pPr>
            <a:r>
              <a:rPr sz="1500" b="1">
                <a:solidFill>
                  <a:srgbClr val="102A43"/>
                </a:solidFill>
                <a:latin typeface="Bitstream Charter"/>
                <a:ea typeface="Bitstream Charter"/>
                <a:cs typeface="Bitstream Charter"/>
              </a:rPr>
              <a:t>Decision and audit records</a:t>
            </a:r>
          </a:p>
        </p:txBody>
      </p:sp>
      <p:sp>
        <p:nvSpPr>
          <p:cNvPr id="32" name="矩形 31">
            <a:extLst>
              <a:ext uri="{FF2B5EF4-FFF2-40B4-BE49-F238E27FC236}">
                <a16:creationId xmlns:a16="http://schemas.microsoft.com/office/drawing/2014/main" id="{CF562B27-D372-4666-A490-0BAC1151042D}"/>
              </a:ext>
            </a:extLst>
          </p:cNvPr>
          <p:cNvSpPr>
            <a:spLocks noGrp="1"/>
          </p:cNvSpPr>
          <p:nvPr/>
        </p:nvSpPr>
        <p:spPr>
          <a:xfrm>
            <a:off x="8743950" y="4343400"/>
            <a:ext cx="2657475" cy="590550"/>
          </a:xfrm>
          <a:prstGeom prst="rect">
            <a:avLst/>
          </a:prstGeom>
          <a:noFill/>
          <a:ln w="0">
            <a:noFill/>
          </a:ln>
        </p:spPr>
        <p:txBody>
          <a:bodyPr lIns="19050" tIns="19050" rIns="19050" bIns="19050" anchor="t">
            <a:normAutofit/>
          </a:bodyPr>
          <a:lstStyle/>
          <a:p>
            <a:pPr algn="l">
              <a:defRPr sz="1200" b="0">
                <a:solidFill>
                  <a:srgbClr val="1D2B36"/>
                </a:solidFill>
                <a:latin typeface="Bitstream Charter"/>
                <a:ea typeface="Bitstream Charter"/>
                <a:cs typeface="Bitstream Charter"/>
              </a:defRPr>
            </a:pPr>
            <a:r>
              <a:rPr sz="1200" b="0">
                <a:solidFill>
                  <a:srgbClr val="1D2B36"/>
                </a:solidFill>
                <a:latin typeface="Bitstream Charter"/>
                <a:ea typeface="Bitstream Charter"/>
                <a:cs typeface="Bitstream Charter"/>
              </a:rPr>
              <a:t>AIRO confirmation or override</a:t>
            </a:r>
          </a:p>
          <a:p>
            <a:pPr algn="l">
              <a:defRPr sz="1200" b="0">
                <a:solidFill>
                  <a:srgbClr val="1D2B36"/>
                </a:solidFill>
                <a:latin typeface="Bitstream Charter"/>
                <a:ea typeface="Bitstream Charter"/>
                <a:cs typeface="Bitstream Charter"/>
              </a:defRPr>
            </a:pPr>
            <a:r>
              <a:rPr sz="1200" b="0">
                <a:solidFill>
                  <a:srgbClr val="1D2B36"/>
                </a:solidFill>
                <a:latin typeface="Bitstream Charter"/>
                <a:ea typeface="Bitstream Charter"/>
                <a:cs typeface="Bitstream Charter"/>
              </a:rPr>
              <a:t>Final result and actions</a:t>
            </a:r>
          </a:p>
          <a:p>
            <a:pPr algn="l">
              <a:defRPr sz="1200" b="0">
                <a:solidFill>
                  <a:srgbClr val="1D2B36"/>
                </a:solidFill>
                <a:latin typeface="Bitstream Charter"/>
                <a:ea typeface="Bitstream Charter"/>
                <a:cs typeface="Bitstream Charter"/>
              </a:defRPr>
            </a:pPr>
            <a:r>
              <a:rPr sz="1200" b="0">
                <a:solidFill>
                  <a:srgbClr val="1D2B36"/>
                </a:solidFill>
                <a:latin typeface="Bitstream Charter"/>
                <a:ea typeface="Bitstream Charter"/>
                <a:cs typeface="Bitstream Charter"/>
              </a:rPr>
              <a:t>Append-oriented audit events</a:t>
            </a:r>
          </a:p>
        </p:txBody>
      </p:sp>
      <p:sp>
        <p:nvSpPr>
          <p:cNvPr id="33" name="箭头: 下 32">
            <a:extLst>
              <a:ext uri="{FF2B5EF4-FFF2-40B4-BE49-F238E27FC236}">
                <a16:creationId xmlns:a16="http://schemas.microsoft.com/office/drawing/2014/main" id="{6FB7099F-30EC-40AF-8CF2-739940734F76}"/>
              </a:ext>
            </a:extLst>
          </p:cNvPr>
          <p:cNvSpPr>
            <a:spLocks noGrp="1"/>
          </p:cNvSpPr>
          <p:nvPr/>
        </p:nvSpPr>
        <p:spPr>
          <a:xfrm>
            <a:off x="3352800" y="2085975"/>
            <a:ext cx="209550" cy="238125"/>
          </a:xfrm>
          <a:prstGeom prst="downArrow">
            <a:avLst/>
          </a:prstGeom>
          <a:solidFill>
            <a:srgbClr val="2F6B9A"/>
          </a:solidFill>
          <a:ln w="0">
            <a:solidFill>
              <a:srgbClr val="2F6B9A"/>
            </a:solidFill>
          </a:ln>
        </p:spPr>
      </p:sp>
      <p:sp>
        <p:nvSpPr>
          <p:cNvPr id="34" name="箭头: 上 33">
            <a:extLst>
              <a:ext uri="{FF2B5EF4-FFF2-40B4-BE49-F238E27FC236}">
                <a16:creationId xmlns:a16="http://schemas.microsoft.com/office/drawing/2014/main" id="{0DE6A0C8-8EB3-4470-9DB9-F10E24A61696}"/>
              </a:ext>
            </a:extLst>
          </p:cNvPr>
          <p:cNvSpPr>
            <a:spLocks noGrp="1"/>
          </p:cNvSpPr>
          <p:nvPr/>
        </p:nvSpPr>
        <p:spPr>
          <a:xfrm>
            <a:off x="8096250" y="2085975"/>
            <a:ext cx="209550" cy="238125"/>
          </a:xfrm>
          <a:prstGeom prst="upArrow">
            <a:avLst/>
          </a:prstGeom>
          <a:solidFill>
            <a:srgbClr val="A56317"/>
          </a:solidFill>
          <a:ln w="0">
            <a:solidFill>
              <a:srgbClr val="A56317"/>
            </a:solidFill>
          </a:ln>
        </p:spPr>
      </p:sp>
      <p:sp>
        <p:nvSpPr>
          <p:cNvPr id="35" name="箭头: 下 34">
            <a:extLst>
              <a:ext uri="{FF2B5EF4-FFF2-40B4-BE49-F238E27FC236}">
                <a16:creationId xmlns:a16="http://schemas.microsoft.com/office/drawing/2014/main" id="{1B747E7D-B2A4-4987-A703-09202DC29D02}"/>
              </a:ext>
            </a:extLst>
          </p:cNvPr>
          <p:cNvSpPr>
            <a:spLocks noGrp="1"/>
          </p:cNvSpPr>
          <p:nvPr/>
        </p:nvSpPr>
        <p:spPr>
          <a:xfrm>
            <a:off x="3476625" y="3524250"/>
            <a:ext cx="209550" cy="238125"/>
          </a:xfrm>
          <a:prstGeom prst="downArrow">
            <a:avLst/>
          </a:prstGeom>
          <a:solidFill>
            <a:srgbClr val="2F6B9A"/>
          </a:solidFill>
          <a:ln w="0">
            <a:solidFill>
              <a:srgbClr val="2F6B9A"/>
            </a:solidFill>
          </a:ln>
        </p:spPr>
      </p:sp>
      <p:sp>
        <p:nvSpPr>
          <p:cNvPr id="36" name="箭头: 上 35">
            <a:extLst>
              <a:ext uri="{FF2B5EF4-FFF2-40B4-BE49-F238E27FC236}">
                <a16:creationId xmlns:a16="http://schemas.microsoft.com/office/drawing/2014/main" id="{06633D17-C05D-42F4-A927-9B9BAD018BA8}"/>
              </a:ext>
            </a:extLst>
          </p:cNvPr>
          <p:cNvSpPr>
            <a:spLocks noGrp="1"/>
          </p:cNvSpPr>
          <p:nvPr/>
        </p:nvSpPr>
        <p:spPr>
          <a:xfrm>
            <a:off x="6667500" y="3524250"/>
            <a:ext cx="209550" cy="238125"/>
          </a:xfrm>
          <a:prstGeom prst="upArrow">
            <a:avLst/>
          </a:prstGeom>
          <a:solidFill>
            <a:srgbClr val="6B5B95"/>
          </a:solidFill>
          <a:ln w="0">
            <a:solidFill>
              <a:srgbClr val="6B5B95"/>
            </a:solidFill>
          </a:ln>
        </p:spPr>
      </p:sp>
      <p:sp>
        <p:nvSpPr>
          <p:cNvPr id="37" name="箭头: 下 36">
            <a:extLst>
              <a:ext uri="{FF2B5EF4-FFF2-40B4-BE49-F238E27FC236}">
                <a16:creationId xmlns:a16="http://schemas.microsoft.com/office/drawing/2014/main" id="{E38A5E0D-67CA-4DE2-A3C6-D47C473F2163}"/>
              </a:ext>
            </a:extLst>
          </p:cNvPr>
          <p:cNvSpPr>
            <a:spLocks noGrp="1"/>
          </p:cNvSpPr>
          <p:nvPr/>
        </p:nvSpPr>
        <p:spPr>
          <a:xfrm>
            <a:off x="9048750" y="3524250"/>
            <a:ext cx="209550" cy="238125"/>
          </a:xfrm>
          <a:prstGeom prst="downArrow">
            <a:avLst/>
          </a:prstGeom>
          <a:solidFill>
            <a:srgbClr val="A56317"/>
          </a:solidFill>
          <a:ln w="0">
            <a:solidFill>
              <a:srgbClr val="A56317"/>
            </a:solidFill>
          </a:ln>
        </p:spPr>
      </p:sp>
      <p:sp>
        <p:nvSpPr>
          <p:cNvPr id="38" name="箭头: 左 37">
            <a:extLst>
              <a:ext uri="{FF2B5EF4-FFF2-40B4-BE49-F238E27FC236}">
                <a16:creationId xmlns:a16="http://schemas.microsoft.com/office/drawing/2014/main" id="{40A2BF3C-5945-46C0-BB84-3579DDCBB1B9}"/>
              </a:ext>
            </a:extLst>
          </p:cNvPr>
          <p:cNvSpPr>
            <a:spLocks noGrp="1"/>
          </p:cNvSpPr>
          <p:nvPr/>
        </p:nvSpPr>
        <p:spPr>
          <a:xfrm>
            <a:off x="9582150" y="1581150"/>
            <a:ext cx="219075" cy="171450"/>
          </a:xfrm>
          <a:prstGeom prst="leftArrow">
            <a:avLst/>
          </a:prstGeom>
          <a:solidFill>
            <a:srgbClr val="526574"/>
          </a:solidFill>
          <a:ln w="0">
            <a:solidFill>
              <a:srgbClr val="526574"/>
            </a:solidFill>
          </a:ln>
        </p:spPr>
      </p:sp>
      <p:sp>
        <p:nvSpPr>
          <p:cNvPr id="39" name="矩形: 圆角 38">
            <a:extLst>
              <a:ext uri="{FF2B5EF4-FFF2-40B4-BE49-F238E27FC236}">
                <a16:creationId xmlns:a16="http://schemas.microsoft.com/office/drawing/2014/main" id="{516DFA21-E1E1-42B5-8C7F-E22730FEA3F3}"/>
              </a:ext>
            </a:extLst>
          </p:cNvPr>
          <p:cNvSpPr>
            <a:spLocks noGrp="1"/>
          </p:cNvSpPr>
          <p:nvPr/>
        </p:nvSpPr>
        <p:spPr>
          <a:xfrm>
            <a:off x="552450" y="5476875"/>
            <a:ext cx="11020425" cy="819150"/>
          </a:xfrm>
          <a:prstGeom prst="roundRect">
            <a:avLst>
              <a:gd name="adj" fmla="val 11628"/>
            </a:avLst>
          </a:prstGeom>
          <a:solidFill>
            <a:srgbClr val="F5F8FA"/>
          </a:solidFill>
          <a:ln w="9525">
            <a:solidFill>
              <a:srgbClr val="C8D3DC"/>
            </a:solidFill>
            <a:prstDash val="solid"/>
          </a:ln>
        </p:spPr>
      </p:sp>
      <p:sp>
        <p:nvSpPr>
          <p:cNvPr id="40" name="矩形 39">
            <a:extLst>
              <a:ext uri="{FF2B5EF4-FFF2-40B4-BE49-F238E27FC236}">
                <a16:creationId xmlns:a16="http://schemas.microsoft.com/office/drawing/2014/main" id="{0BD293A8-FCAD-4018-8B6D-2B345171CBA4}"/>
              </a:ext>
            </a:extLst>
          </p:cNvPr>
          <p:cNvSpPr>
            <a:spLocks noGrp="1"/>
          </p:cNvSpPr>
          <p:nvPr/>
        </p:nvSpPr>
        <p:spPr>
          <a:xfrm>
            <a:off x="733425" y="5619750"/>
            <a:ext cx="1714500" cy="266700"/>
          </a:xfrm>
          <a:prstGeom prst="rect">
            <a:avLst/>
          </a:prstGeom>
          <a:noFill/>
          <a:ln w="0">
            <a:noFill/>
          </a:ln>
        </p:spPr>
        <p:txBody>
          <a:bodyPr lIns="19050" tIns="19050" rIns="19050" bIns="19050" anchor="t">
            <a:normAutofit/>
          </a:bodyPr>
          <a:lstStyle/>
          <a:p>
            <a:pPr algn="l">
              <a:defRPr sz="1350" b="1">
                <a:solidFill>
                  <a:srgbClr val="102A43"/>
                </a:solidFill>
                <a:latin typeface="Bitstream Charter"/>
                <a:ea typeface="Bitstream Charter"/>
                <a:cs typeface="Bitstream Charter"/>
              </a:defRPr>
            </a:pPr>
            <a:r>
              <a:rPr sz="1350" b="1">
                <a:solidFill>
                  <a:srgbClr val="102A43"/>
                </a:solidFill>
                <a:latin typeface="Bitstream Charter"/>
                <a:ea typeface="Bitstream Charter"/>
                <a:cs typeface="Bitstream Charter"/>
              </a:rPr>
              <a:t>Required controls</a:t>
            </a:r>
          </a:p>
        </p:txBody>
      </p:sp>
      <p:sp>
        <p:nvSpPr>
          <p:cNvPr id="41" name="矩形 40">
            <a:extLst>
              <a:ext uri="{FF2B5EF4-FFF2-40B4-BE49-F238E27FC236}">
                <a16:creationId xmlns:a16="http://schemas.microsoft.com/office/drawing/2014/main" id="{33BE4CC7-CB06-4C3C-93C8-B14DE5B7BEDB}"/>
              </a:ext>
            </a:extLst>
          </p:cNvPr>
          <p:cNvSpPr>
            <a:spLocks noGrp="1"/>
          </p:cNvSpPr>
          <p:nvPr/>
        </p:nvSpPr>
        <p:spPr>
          <a:xfrm>
            <a:off x="2476500" y="5591175"/>
            <a:ext cx="8858250" cy="514350"/>
          </a:xfrm>
          <a:prstGeom prst="rect">
            <a:avLst/>
          </a:prstGeom>
          <a:noFill/>
          <a:ln w="0">
            <a:noFill/>
          </a:ln>
        </p:spPr>
        <p:txBody>
          <a:bodyPr lIns="19050" tIns="19050" rIns="19050" bIns="19050" anchor="ctr">
            <a:normAutofit/>
          </a:bodyPr>
          <a:lstStyle/>
          <a:p>
            <a:pPr algn="l">
              <a:defRPr sz="1125" b="0">
                <a:solidFill>
                  <a:srgbClr val="1D2B36"/>
                </a:solidFill>
                <a:latin typeface="Bitstream Charter"/>
                <a:ea typeface="Bitstream Charter"/>
                <a:cs typeface="Bitstream Charter"/>
              </a:defRPr>
            </a:pPr>
            <a:r>
              <a:rPr sz="1125" b="0">
                <a:solidFill>
                  <a:srgbClr val="1D2B36"/>
                </a:solidFill>
                <a:latin typeface="Bitstream Charter"/>
                <a:ea typeface="Bitstream Charter"/>
                <a:cs typeface="Bitstream Charter"/>
              </a:rPr>
              <a:t>One approved rule set per calculation    •    Input and rule versions frozen on the Case    •    Proposal kept separate from AIRO decision</a:t>
            </a:r>
          </a:p>
          <a:p>
            <a:pPr algn="l">
              <a:defRPr sz="1125" b="0">
                <a:solidFill>
                  <a:srgbClr val="1D2B36"/>
                </a:solidFill>
                <a:latin typeface="Bitstream Charter"/>
                <a:ea typeface="Bitstream Charter"/>
                <a:cs typeface="Bitstream Charter"/>
              </a:defRPr>
            </a:pPr>
            <a:r>
              <a:rPr sz="1125" b="0">
                <a:solidFill>
                  <a:srgbClr val="1D2B36"/>
                </a:solidFill>
                <a:latin typeface="Bitstream Charter"/>
                <a:ea typeface="Bitstream Charter"/>
                <a:cs typeface="Bitstream Charter"/>
              </a:rPr>
              <a:t>Matched rules and reason codes retained    •    Stale results blocked    •    Duplicate actions prevented    •    Full audit trail</a:t>
            </a:r>
          </a:p>
        </p:txBody>
      </p:sp>
      <p:sp>
        <p:nvSpPr>
          <p:cNvPr id="43" name="矩形 42">
            <a:extLst>
              <a:ext uri="{FF2B5EF4-FFF2-40B4-BE49-F238E27FC236}">
                <a16:creationId xmlns:a16="http://schemas.microsoft.com/office/drawing/2014/main" id="{3BD2B2EE-FBC3-31F4-F06C-F883C9C451D7}"/>
              </a:ext>
            </a:extLst>
          </p:cNvPr>
          <p:cNvSpPr>
            <a:spLocks noGrp="1"/>
          </p:cNvSpPr>
          <p:nvPr/>
        </p:nvSpPr>
        <p:spPr>
          <a:xfrm>
            <a:off x="9563100" y="476250"/>
            <a:ext cx="2095500" cy="304800"/>
          </a:xfrm>
          <a:prstGeom prst="rect">
            <a:avLst/>
          </a:prstGeom>
          <a:noFill/>
          <a:ln w="0">
            <a:noFill/>
          </a:ln>
        </p:spPr>
        <p:txBody>
          <a:bodyPr lIns="19050" tIns="19050" rIns="19050" bIns="19050" anchor="t">
            <a:normAutofit fontScale="92500" lnSpcReduction="20000"/>
          </a:bodyPr>
          <a:lstStyle/>
          <a:p>
            <a:pPr algn="r">
              <a:defRPr sz="1125" b="1">
                <a:solidFill>
                  <a:srgbClr val="6B5B95"/>
                </a:solidFill>
                <a:latin typeface="Bitstream Charter"/>
                <a:ea typeface="Bitstream Charter"/>
                <a:cs typeface="Bitstream Charter"/>
              </a:defRPr>
            </a:pPr>
            <a:r>
              <a:rPr lang="en-GB" sz="1125" b="1" dirty="0">
                <a:solidFill>
                  <a:srgbClr val="6B5B95"/>
                </a:solidFill>
                <a:latin typeface="Bitstream Charter"/>
                <a:ea typeface="Bitstream Charter"/>
                <a:cs typeface="Bitstream Charter"/>
              </a:rPr>
              <a:t>First version</a:t>
            </a:r>
          </a:p>
          <a:p>
            <a:pPr algn="r">
              <a:defRPr sz="1125" b="1">
                <a:solidFill>
                  <a:srgbClr val="6B5B95"/>
                </a:solidFill>
                <a:latin typeface="Bitstream Charter"/>
                <a:ea typeface="Bitstream Charter"/>
                <a:cs typeface="Bitstream Charter"/>
              </a:defRPr>
            </a:pPr>
            <a:r>
              <a:rPr sz="1125" b="1" dirty="0">
                <a:solidFill>
                  <a:srgbClr val="6B5B95"/>
                </a:solidFill>
                <a:latin typeface="Bitstream Charter"/>
                <a:ea typeface="Bitstream Charter"/>
                <a:cs typeface="Bitstream Charter"/>
              </a:rPr>
              <a:t>NO LLMS OR AGENTS</a:t>
            </a:r>
          </a:p>
        </p:txBody>
      </p:sp>
      <p:sp>
        <p:nvSpPr>
          <p:cNvPr id="45" name="文本框 44">
            <a:extLst>
              <a:ext uri="{FF2B5EF4-FFF2-40B4-BE49-F238E27FC236}">
                <a16:creationId xmlns:a16="http://schemas.microsoft.com/office/drawing/2014/main" id="{12734248-D72C-EB72-90C8-408BD77ABE2B}"/>
              </a:ext>
            </a:extLst>
          </p:cNvPr>
          <p:cNvSpPr txBox="1"/>
          <p:nvPr/>
        </p:nvSpPr>
        <p:spPr>
          <a:xfrm>
            <a:off x="3048000" y="3296272"/>
            <a:ext cx="6096000" cy="26545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125" b="1">
                <a:solidFill>
                  <a:srgbClr val="2F6B9A"/>
                </a:solidFill>
                <a:latin typeface="Bitstream Charter"/>
                <a:ea typeface="Bitstream Charter"/>
                <a:cs typeface="Bitstream Charter"/>
              </a:defRPr>
            </a:pPr>
            <a:r>
              <a:rPr kumimoji="0" lang="en-GB" sz="1125" b="1" i="0" u="none" strike="noStrike" kern="1200" cap="none" spc="0" normalizeH="0" baseline="0" noProof="0" dirty="0">
                <a:ln>
                  <a:noFill/>
                </a:ln>
                <a:solidFill>
                  <a:srgbClr val="2F6B9A"/>
                </a:solidFill>
                <a:effectLst/>
                <a:uLnTx/>
                <a:uFillTx/>
                <a:latin typeface="Bitstream Charter"/>
                <a:ea typeface="Bitstream Charter"/>
                <a:cs typeface="Bitstream Charter"/>
              </a:rPr>
              <a:t>Power App</a:t>
            </a:r>
          </a:p>
        </p:txBody>
      </p:sp>
      <p:sp>
        <p:nvSpPr>
          <p:cNvPr id="47" name="文本框 46">
            <a:extLst>
              <a:ext uri="{FF2B5EF4-FFF2-40B4-BE49-F238E27FC236}">
                <a16:creationId xmlns:a16="http://schemas.microsoft.com/office/drawing/2014/main" id="{3CDCDDCB-633E-8853-FE5A-FCB414B27C06}"/>
              </a:ext>
            </a:extLst>
          </p:cNvPr>
          <p:cNvSpPr txBox="1"/>
          <p:nvPr/>
        </p:nvSpPr>
        <p:spPr>
          <a:xfrm>
            <a:off x="3048000" y="3296272"/>
            <a:ext cx="6096000" cy="26545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125" b="1">
                <a:solidFill>
                  <a:srgbClr val="2F6B9A"/>
                </a:solidFill>
                <a:latin typeface="Bitstream Charter"/>
                <a:ea typeface="Bitstream Charter"/>
                <a:cs typeface="Bitstream Charter"/>
              </a:defRPr>
            </a:pPr>
            <a:r>
              <a:rPr kumimoji="0" lang="en-GB" sz="1125" b="1" i="0" u="none" strike="noStrike" kern="1200" cap="none" spc="0" normalizeH="0" baseline="0" noProof="0" dirty="0">
                <a:ln>
                  <a:noFill/>
                </a:ln>
                <a:solidFill>
                  <a:srgbClr val="2F6B9A"/>
                </a:solidFill>
                <a:effectLst/>
                <a:uLnTx/>
                <a:uFillTx/>
                <a:latin typeface="Bitstream Charter"/>
                <a:ea typeface="Bitstream Charter"/>
                <a:cs typeface="Bitstream Charter"/>
              </a:rPr>
              <a:t>Power App</a:t>
            </a:r>
          </a:p>
        </p:txBody>
      </p:sp>
    </p:spTree>
    <p:extLst>
      <p:ext uri="{BB962C8B-B14F-4D97-AF65-F5344CB8AC3E}">
        <p14:creationId xmlns:p14="http://schemas.microsoft.com/office/powerpoint/2010/main" val="1872525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a:extLst>
              <a:ext uri="{FF2B5EF4-FFF2-40B4-BE49-F238E27FC236}">
                <a16:creationId xmlns:a16="http://schemas.microsoft.com/office/drawing/2014/main" id="{56E58742-1867-4226-8215-6790D6FE7A99}"/>
              </a:ext>
            </a:extLst>
          </p:cNvPr>
          <p:cNvSpPr>
            <a:spLocks noGrp="1"/>
          </p:cNvSpPr>
          <p:nvPr/>
        </p:nvSpPr>
        <p:spPr>
          <a:xfrm>
            <a:off x="685800" y="419100"/>
            <a:ext cx="8096250" cy="533400"/>
          </a:xfrm>
          <a:prstGeom prst="rect">
            <a:avLst/>
          </a:prstGeom>
          <a:noFill/>
          <a:ln w="0">
            <a:noFill/>
          </a:ln>
        </p:spPr>
        <p:txBody>
          <a:bodyPr anchor="t">
            <a:normAutofit/>
          </a:bodyPr>
          <a:lstStyle/>
          <a:p>
            <a:pPr>
              <a:defRPr sz="2550" b="1">
                <a:solidFill>
                  <a:srgbClr val="102A43"/>
                </a:solidFill>
                <a:latin typeface="Bitstream Charter"/>
                <a:ea typeface="Bitstream Charter"/>
                <a:cs typeface="Bitstream Charter"/>
              </a:defRPr>
            </a:pPr>
            <a:r>
              <a:rPr sz="2550" b="1">
                <a:solidFill>
                  <a:srgbClr val="102A43"/>
                </a:solidFill>
                <a:latin typeface="Bitstream Charter"/>
                <a:ea typeface="Bitstream Charter"/>
                <a:cs typeface="Bitstream Charter"/>
              </a:rPr>
              <a:t>Calibration and testing workbench</a:t>
            </a:r>
          </a:p>
        </p:txBody>
      </p:sp>
      <p:sp>
        <p:nvSpPr>
          <p:cNvPr id="2" name="矩形 1">
            <a:extLst>
              <a:ext uri="{FF2B5EF4-FFF2-40B4-BE49-F238E27FC236}">
                <a16:creationId xmlns:a16="http://schemas.microsoft.com/office/drawing/2014/main" id="{B845818A-C1F1-4B39-AC83-AB5C53900E8E}"/>
              </a:ext>
            </a:extLst>
          </p:cNvPr>
          <p:cNvSpPr>
            <a:spLocks noGrp="1"/>
          </p:cNvSpPr>
          <p:nvPr/>
        </p:nvSpPr>
        <p:spPr>
          <a:xfrm>
            <a:off x="685800" y="981075"/>
            <a:ext cx="9620250" cy="361950"/>
          </a:xfrm>
          <a:prstGeom prst="rect">
            <a:avLst/>
          </a:prstGeom>
          <a:noFill/>
          <a:ln w="0">
            <a:noFill/>
          </a:ln>
        </p:spPr>
        <p:txBody>
          <a:bodyPr anchor="t">
            <a:normAutofit/>
          </a:bodyPr>
          <a:lstStyle/>
          <a:p>
            <a:pPr>
              <a:defRPr sz="1350" b="0">
                <a:solidFill>
                  <a:srgbClr val="526574"/>
                </a:solidFill>
                <a:latin typeface="Bitstream Charter"/>
                <a:ea typeface="Bitstream Charter"/>
                <a:cs typeface="Bitstream Charter"/>
              </a:defRPr>
            </a:pPr>
            <a:r>
              <a:rPr sz="1350" b="0">
                <a:solidFill>
                  <a:srgbClr val="526574"/>
                </a:solidFill>
                <a:latin typeface="Bitstream Charter"/>
                <a:ea typeface="Bitstream Charter"/>
                <a:cs typeface="Bitstream Charter"/>
              </a:rPr>
              <a:t>A separate Python workbench lets AIRO evaluate rule changes before a controlled release</a:t>
            </a:r>
          </a:p>
        </p:txBody>
      </p:sp>
      <p:sp>
        <p:nvSpPr>
          <p:cNvPr id="3" name="矩形 2">
            <a:extLst>
              <a:ext uri="{FF2B5EF4-FFF2-40B4-BE49-F238E27FC236}">
                <a16:creationId xmlns:a16="http://schemas.microsoft.com/office/drawing/2014/main" id="{AE784159-1D6D-4531-B134-3AEEDC309CC6}"/>
              </a:ext>
            </a:extLst>
          </p:cNvPr>
          <p:cNvSpPr>
            <a:spLocks noGrp="1"/>
          </p:cNvSpPr>
          <p:nvPr/>
        </p:nvSpPr>
        <p:spPr>
          <a:xfrm>
            <a:off x="9620250" y="514350"/>
            <a:ext cx="1905000" cy="247650"/>
          </a:xfrm>
          <a:prstGeom prst="rect">
            <a:avLst/>
          </a:prstGeom>
          <a:noFill/>
          <a:ln w="0">
            <a:noFill/>
          </a:ln>
        </p:spPr>
        <p:txBody>
          <a:bodyPr anchor="t">
            <a:normAutofit fontScale="97619"/>
          </a:bodyPr>
          <a:lstStyle/>
          <a:p>
            <a:pPr algn="r">
              <a:lnSpc>
                <a:spcPct val="80000"/>
              </a:lnSpc>
              <a:defRPr sz="1125" b="1">
                <a:solidFill>
                  <a:srgbClr val="6B5B95"/>
                </a:solidFill>
                <a:latin typeface="Bitstream Charter"/>
                <a:ea typeface="Bitstream Charter"/>
                <a:cs typeface="Bitstream Charter"/>
              </a:defRPr>
            </a:pPr>
            <a:r>
              <a:rPr sz="1000" b="1" dirty="0">
                <a:solidFill>
                  <a:srgbClr val="6B5B95"/>
                </a:solidFill>
                <a:latin typeface="Bitstream Charter"/>
              </a:rPr>
              <a:t>PYTHON WORKBENCH</a:t>
            </a:r>
          </a:p>
        </p:txBody>
      </p:sp>
      <p:sp>
        <p:nvSpPr>
          <p:cNvPr id="4" name="矩形: 圆角 3">
            <a:extLst>
              <a:ext uri="{FF2B5EF4-FFF2-40B4-BE49-F238E27FC236}">
                <a16:creationId xmlns:a16="http://schemas.microsoft.com/office/drawing/2014/main" id="{FBC9FDA3-82AB-4A8E-ABE3-B3FC7BDE1DEC}"/>
              </a:ext>
            </a:extLst>
          </p:cNvPr>
          <p:cNvSpPr>
            <a:spLocks noGrp="1"/>
          </p:cNvSpPr>
          <p:nvPr/>
        </p:nvSpPr>
        <p:spPr>
          <a:xfrm>
            <a:off x="685800" y="1581150"/>
            <a:ext cx="2305050" cy="3371850"/>
          </a:xfrm>
          <a:prstGeom prst="roundRect">
            <a:avLst>
              <a:gd name="adj" fmla="val 3306"/>
            </a:avLst>
          </a:prstGeom>
          <a:solidFill>
            <a:srgbClr val="EAF3F8"/>
          </a:solidFill>
          <a:ln w="11430">
            <a:solidFill>
              <a:srgbClr val="176B92"/>
            </a:solidFill>
          </a:ln>
        </p:spPr>
      </p:sp>
      <p:sp>
        <p:nvSpPr>
          <p:cNvPr id="5" name="椭圆 4">
            <a:extLst>
              <a:ext uri="{FF2B5EF4-FFF2-40B4-BE49-F238E27FC236}">
                <a16:creationId xmlns:a16="http://schemas.microsoft.com/office/drawing/2014/main" id="{75085015-5EC1-4EF6-948F-FB0558651F11}"/>
              </a:ext>
            </a:extLst>
          </p:cNvPr>
          <p:cNvSpPr>
            <a:spLocks noGrp="1"/>
          </p:cNvSpPr>
          <p:nvPr/>
        </p:nvSpPr>
        <p:spPr>
          <a:xfrm>
            <a:off x="876300" y="1762125"/>
            <a:ext cx="400050" cy="400050"/>
          </a:xfrm>
          <a:prstGeom prst="ellipse">
            <a:avLst/>
          </a:prstGeom>
          <a:solidFill>
            <a:srgbClr val="176B92"/>
          </a:solidFill>
          <a:ln w="0">
            <a:solidFill>
              <a:srgbClr val="176B92"/>
            </a:solidFill>
          </a:ln>
        </p:spPr>
      </p:sp>
      <p:sp>
        <p:nvSpPr>
          <p:cNvPr id="6" name="矩形 5">
            <a:extLst>
              <a:ext uri="{FF2B5EF4-FFF2-40B4-BE49-F238E27FC236}">
                <a16:creationId xmlns:a16="http://schemas.microsoft.com/office/drawing/2014/main" id="{3DE41FAA-EAFE-44EB-82D9-15AB8D3BDB75}"/>
              </a:ext>
            </a:extLst>
          </p:cNvPr>
          <p:cNvSpPr>
            <a:spLocks noGrp="1"/>
          </p:cNvSpPr>
          <p:nvPr/>
        </p:nvSpPr>
        <p:spPr>
          <a:xfrm>
            <a:off x="876300" y="1781175"/>
            <a:ext cx="400050" cy="342900"/>
          </a:xfrm>
          <a:prstGeom prst="rect">
            <a:avLst/>
          </a:prstGeom>
          <a:noFill/>
          <a:ln w="0">
            <a:noFill/>
          </a:ln>
        </p:spPr>
        <p:txBody>
          <a:bodyPr anchor="ctr">
            <a:normAutofit/>
          </a:bodyPr>
          <a:lstStyle/>
          <a:p>
            <a:pP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1</a:t>
            </a:r>
          </a:p>
        </p:txBody>
      </p:sp>
      <p:sp>
        <p:nvSpPr>
          <p:cNvPr id="7" name="矩形 6">
            <a:extLst>
              <a:ext uri="{FF2B5EF4-FFF2-40B4-BE49-F238E27FC236}">
                <a16:creationId xmlns:a16="http://schemas.microsoft.com/office/drawing/2014/main" id="{6B2AEF31-FF89-4D17-836C-0709483E1ADA}"/>
              </a:ext>
            </a:extLst>
          </p:cNvPr>
          <p:cNvSpPr>
            <a:spLocks noGrp="1"/>
          </p:cNvSpPr>
          <p:nvPr/>
        </p:nvSpPr>
        <p:spPr>
          <a:xfrm>
            <a:off x="1390650" y="1790700"/>
            <a:ext cx="1381125" cy="495300"/>
          </a:xfrm>
          <a:prstGeom prst="rect">
            <a:avLst/>
          </a:prstGeom>
          <a:noFill/>
          <a:ln w="0">
            <a:noFill/>
          </a:ln>
        </p:spPr>
        <p:txBody>
          <a:bodyPr anchor="t">
            <a:normAutofit fontScale="95833" lnSpcReduction="10000"/>
          </a:bodyPr>
          <a:lstStyle/>
          <a:p>
            <a:pPr>
              <a:defRPr sz="1500" b="1">
                <a:solidFill>
                  <a:srgbClr val="102A43"/>
                </a:solidFill>
                <a:latin typeface="Bitstream Charter"/>
                <a:ea typeface="Bitstream Charter"/>
                <a:cs typeface="Bitstream Charter"/>
              </a:defRPr>
            </a:pPr>
            <a:r>
              <a:rPr sz="1500" b="1">
                <a:solidFill>
                  <a:srgbClr val="102A43"/>
                </a:solidFill>
                <a:latin typeface="Bitstream Charter"/>
                <a:ea typeface="Bitstream Charter"/>
                <a:cs typeface="Bitstream Charter"/>
              </a:rPr>
              <a:t>Controlled test inputs</a:t>
            </a:r>
          </a:p>
        </p:txBody>
      </p:sp>
      <p:sp>
        <p:nvSpPr>
          <p:cNvPr id="8" name="矩形 7">
            <a:extLst>
              <a:ext uri="{FF2B5EF4-FFF2-40B4-BE49-F238E27FC236}">
                <a16:creationId xmlns:a16="http://schemas.microsoft.com/office/drawing/2014/main" id="{E6CBBE09-AE51-4DC9-9498-6A7EF8AECA27}"/>
              </a:ext>
            </a:extLst>
          </p:cNvPr>
          <p:cNvSpPr>
            <a:spLocks noGrp="1"/>
          </p:cNvSpPr>
          <p:nvPr/>
        </p:nvSpPr>
        <p:spPr>
          <a:xfrm>
            <a:off x="895350" y="2476500"/>
            <a:ext cx="1866900" cy="400050"/>
          </a:xfrm>
          <a:prstGeom prst="rect">
            <a:avLst/>
          </a:prstGeom>
          <a:noFill/>
          <a:ln w="0">
            <a:noFill/>
          </a:ln>
        </p:spPr>
        <p:txBody>
          <a:bodyPr anchor="t">
            <a:normAutofit fontScale="94041"/>
          </a:bodyPr>
          <a:lstStyle/>
          <a:p>
            <a:pPr>
              <a:defRPr sz="1200" b="0">
                <a:solidFill>
                  <a:srgbClr val="1D2B36"/>
                </a:solidFill>
                <a:latin typeface="Bitstream Charter"/>
                <a:ea typeface="Bitstream Charter"/>
                <a:cs typeface="Bitstream Charter"/>
              </a:defRPr>
            </a:pPr>
            <a:r>
              <a:rPr sz="1200" b="0">
                <a:solidFill>
                  <a:srgbClr val="1D2B36"/>
                </a:solidFill>
                <a:latin typeface="Bitstream Charter"/>
                <a:ea typeface="Bitstream Charter"/>
                <a:cs typeface="Bitstream Charter"/>
              </a:rPr>
              <a:t>Frozen historical Case data</a:t>
            </a:r>
          </a:p>
        </p:txBody>
      </p:sp>
      <p:sp>
        <p:nvSpPr>
          <p:cNvPr id="9" name="矩形 8">
            <a:extLst>
              <a:ext uri="{FF2B5EF4-FFF2-40B4-BE49-F238E27FC236}">
                <a16:creationId xmlns:a16="http://schemas.microsoft.com/office/drawing/2014/main" id="{42F20D2F-DD4E-4716-81DE-5C36582FC529}"/>
              </a:ext>
            </a:extLst>
          </p:cNvPr>
          <p:cNvSpPr>
            <a:spLocks noGrp="1"/>
          </p:cNvSpPr>
          <p:nvPr/>
        </p:nvSpPr>
        <p:spPr>
          <a:xfrm>
            <a:off x="895350" y="3028950"/>
            <a:ext cx="1866900" cy="552450"/>
          </a:xfrm>
          <a:prstGeom prst="rect">
            <a:avLst/>
          </a:prstGeom>
          <a:noFill/>
          <a:ln w="0">
            <a:noFill/>
          </a:ln>
        </p:spPr>
        <p:txBody>
          <a:bodyPr anchor="t">
            <a:normAutofit/>
          </a:bodyPr>
          <a:lstStyle/>
          <a:p>
            <a:pPr>
              <a:defRPr sz="1200" b="0">
                <a:solidFill>
                  <a:srgbClr val="1D2B36"/>
                </a:solidFill>
                <a:latin typeface="Bitstream Charter"/>
                <a:ea typeface="Bitstream Charter"/>
                <a:cs typeface="Bitstream Charter"/>
              </a:defRPr>
            </a:pPr>
            <a:r>
              <a:rPr sz="1200" b="0">
                <a:solidFill>
                  <a:srgbClr val="1D2B36"/>
                </a:solidFill>
                <a:latin typeface="Bitstream Charter"/>
                <a:ea typeface="Bitstream Charter"/>
                <a:cs typeface="Bitstream Charter"/>
              </a:rPr>
              <a:t>Confirmed AIRO decisions and overrides</a:t>
            </a:r>
          </a:p>
        </p:txBody>
      </p:sp>
      <p:sp>
        <p:nvSpPr>
          <p:cNvPr id="10" name="矩形 9">
            <a:extLst>
              <a:ext uri="{FF2B5EF4-FFF2-40B4-BE49-F238E27FC236}">
                <a16:creationId xmlns:a16="http://schemas.microsoft.com/office/drawing/2014/main" id="{5A57CD96-1B12-4A42-9C3B-8CF7BD8A4FBF}"/>
              </a:ext>
            </a:extLst>
          </p:cNvPr>
          <p:cNvSpPr>
            <a:spLocks noGrp="1"/>
          </p:cNvSpPr>
          <p:nvPr/>
        </p:nvSpPr>
        <p:spPr>
          <a:xfrm>
            <a:off x="895350" y="3752850"/>
            <a:ext cx="1866900" cy="514350"/>
          </a:xfrm>
          <a:prstGeom prst="rect">
            <a:avLst/>
          </a:prstGeom>
          <a:noFill/>
          <a:ln w="0">
            <a:noFill/>
          </a:ln>
        </p:spPr>
        <p:txBody>
          <a:bodyPr anchor="t">
            <a:normAutofit/>
          </a:bodyPr>
          <a:lstStyle/>
          <a:p>
            <a:pPr>
              <a:defRPr sz="1200" b="0">
                <a:solidFill>
                  <a:srgbClr val="1D2B36"/>
                </a:solidFill>
                <a:latin typeface="Bitstream Charter"/>
                <a:ea typeface="Bitstream Charter"/>
                <a:cs typeface="Bitstream Charter"/>
              </a:defRPr>
            </a:pPr>
            <a:r>
              <a:rPr sz="1200" b="0">
                <a:solidFill>
                  <a:srgbClr val="1D2B36"/>
                </a:solidFill>
                <a:latin typeface="Bitstream Charter"/>
                <a:ea typeface="Bitstream Charter"/>
                <a:cs typeface="Bitstream Charter"/>
              </a:rPr>
              <a:t>Current and candidate rule versions</a:t>
            </a:r>
          </a:p>
        </p:txBody>
      </p:sp>
      <p:sp>
        <p:nvSpPr>
          <p:cNvPr id="11" name="矩形 10">
            <a:extLst>
              <a:ext uri="{FF2B5EF4-FFF2-40B4-BE49-F238E27FC236}">
                <a16:creationId xmlns:a16="http://schemas.microsoft.com/office/drawing/2014/main" id="{6B931C43-9E5E-4B77-9F19-E979C0D6126F}"/>
              </a:ext>
            </a:extLst>
          </p:cNvPr>
          <p:cNvSpPr>
            <a:spLocks noGrp="1"/>
          </p:cNvSpPr>
          <p:nvPr/>
        </p:nvSpPr>
        <p:spPr>
          <a:xfrm>
            <a:off x="895350" y="4438650"/>
            <a:ext cx="1866900" cy="361950"/>
          </a:xfrm>
          <a:prstGeom prst="rect">
            <a:avLst/>
          </a:prstGeom>
          <a:noFill/>
          <a:ln w="0">
            <a:noFill/>
          </a:ln>
        </p:spPr>
        <p:txBody>
          <a:bodyPr anchor="t">
            <a:normAutofit fontScale="84178" lnSpcReduction="10000"/>
          </a:bodyPr>
          <a:lstStyle/>
          <a:p>
            <a:pPr>
              <a:defRPr sz="1200" b="0">
                <a:solidFill>
                  <a:srgbClr val="1D2B36"/>
                </a:solidFill>
                <a:latin typeface="Bitstream Charter"/>
                <a:ea typeface="Bitstream Charter"/>
                <a:cs typeface="Bitstream Charter"/>
              </a:defRPr>
            </a:pPr>
            <a:r>
              <a:rPr sz="1200" b="0">
                <a:solidFill>
                  <a:srgbClr val="1D2B36"/>
                </a:solidFill>
                <a:latin typeface="Bitstream Charter"/>
                <a:ea typeface="Bitstream Charter"/>
                <a:cs typeface="Bitstream Charter"/>
              </a:rPr>
              <a:t>Data-quality and scope checks</a:t>
            </a:r>
          </a:p>
        </p:txBody>
      </p:sp>
      <p:sp>
        <p:nvSpPr>
          <p:cNvPr id="12" name="箭头: 右 11">
            <a:extLst>
              <a:ext uri="{FF2B5EF4-FFF2-40B4-BE49-F238E27FC236}">
                <a16:creationId xmlns:a16="http://schemas.microsoft.com/office/drawing/2014/main" id="{51C6EC0F-A3CD-4643-9929-B62B7F56372C}"/>
              </a:ext>
            </a:extLst>
          </p:cNvPr>
          <p:cNvSpPr>
            <a:spLocks noGrp="1"/>
          </p:cNvSpPr>
          <p:nvPr/>
        </p:nvSpPr>
        <p:spPr>
          <a:xfrm>
            <a:off x="3105150" y="3000375"/>
            <a:ext cx="495300" cy="304800"/>
          </a:xfrm>
          <a:prstGeom prst="rightArrow">
            <a:avLst/>
          </a:prstGeom>
          <a:solidFill>
            <a:srgbClr val="102A43"/>
          </a:solidFill>
          <a:ln w="4763">
            <a:solidFill>
              <a:srgbClr val="102A43"/>
            </a:solidFill>
          </a:ln>
        </p:spPr>
      </p:sp>
      <p:sp>
        <p:nvSpPr>
          <p:cNvPr id="13" name="矩形: 圆角 12">
            <a:extLst>
              <a:ext uri="{FF2B5EF4-FFF2-40B4-BE49-F238E27FC236}">
                <a16:creationId xmlns:a16="http://schemas.microsoft.com/office/drawing/2014/main" id="{811D387F-0EC2-46DC-A066-35B1992EA431}"/>
              </a:ext>
            </a:extLst>
          </p:cNvPr>
          <p:cNvSpPr>
            <a:spLocks noGrp="1"/>
          </p:cNvSpPr>
          <p:nvPr/>
        </p:nvSpPr>
        <p:spPr>
          <a:xfrm>
            <a:off x="3714750" y="1581150"/>
            <a:ext cx="4762500" cy="3371850"/>
          </a:xfrm>
          <a:prstGeom prst="roundRect">
            <a:avLst>
              <a:gd name="adj" fmla="val 2260"/>
            </a:avLst>
          </a:prstGeom>
          <a:solidFill>
            <a:srgbClr val="F6F8FA"/>
          </a:solidFill>
          <a:ln w="11430">
            <a:solidFill>
              <a:srgbClr val="167A73"/>
            </a:solidFill>
          </a:ln>
        </p:spPr>
      </p:sp>
      <p:sp>
        <p:nvSpPr>
          <p:cNvPr id="14" name="椭圆 13">
            <a:extLst>
              <a:ext uri="{FF2B5EF4-FFF2-40B4-BE49-F238E27FC236}">
                <a16:creationId xmlns:a16="http://schemas.microsoft.com/office/drawing/2014/main" id="{9D4FB049-A3EB-4624-8775-85DBE765B519}"/>
              </a:ext>
            </a:extLst>
          </p:cNvPr>
          <p:cNvSpPr>
            <a:spLocks noGrp="1"/>
          </p:cNvSpPr>
          <p:nvPr/>
        </p:nvSpPr>
        <p:spPr>
          <a:xfrm>
            <a:off x="3905250" y="1762125"/>
            <a:ext cx="400050" cy="400050"/>
          </a:xfrm>
          <a:prstGeom prst="ellipse">
            <a:avLst/>
          </a:prstGeom>
          <a:solidFill>
            <a:srgbClr val="167A73"/>
          </a:solidFill>
          <a:ln w="0">
            <a:solidFill>
              <a:srgbClr val="167A73"/>
            </a:solidFill>
          </a:ln>
        </p:spPr>
      </p:sp>
      <p:sp>
        <p:nvSpPr>
          <p:cNvPr id="15" name="矩形 14">
            <a:extLst>
              <a:ext uri="{FF2B5EF4-FFF2-40B4-BE49-F238E27FC236}">
                <a16:creationId xmlns:a16="http://schemas.microsoft.com/office/drawing/2014/main" id="{4FB9CE37-734F-4568-8FB8-4B0319983D5C}"/>
              </a:ext>
            </a:extLst>
          </p:cNvPr>
          <p:cNvSpPr>
            <a:spLocks noGrp="1"/>
          </p:cNvSpPr>
          <p:nvPr/>
        </p:nvSpPr>
        <p:spPr>
          <a:xfrm>
            <a:off x="3905250" y="1781175"/>
            <a:ext cx="400050" cy="342900"/>
          </a:xfrm>
          <a:prstGeom prst="rect">
            <a:avLst/>
          </a:prstGeom>
          <a:noFill/>
          <a:ln w="0">
            <a:noFill/>
          </a:ln>
        </p:spPr>
        <p:txBody>
          <a:bodyPr anchor="ctr">
            <a:normAutofit/>
          </a:bodyPr>
          <a:lstStyle/>
          <a:p>
            <a:pP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2</a:t>
            </a:r>
          </a:p>
        </p:txBody>
      </p:sp>
      <p:sp>
        <p:nvSpPr>
          <p:cNvPr id="16" name="矩形 15">
            <a:extLst>
              <a:ext uri="{FF2B5EF4-FFF2-40B4-BE49-F238E27FC236}">
                <a16:creationId xmlns:a16="http://schemas.microsoft.com/office/drawing/2014/main" id="{C175EB1F-2089-47FB-938E-A08237C3BF52}"/>
              </a:ext>
            </a:extLst>
          </p:cNvPr>
          <p:cNvSpPr>
            <a:spLocks noGrp="1"/>
          </p:cNvSpPr>
          <p:nvPr/>
        </p:nvSpPr>
        <p:spPr>
          <a:xfrm>
            <a:off x="4419600" y="1790700"/>
            <a:ext cx="3429000" cy="323850"/>
          </a:xfrm>
          <a:prstGeom prst="rect">
            <a:avLst/>
          </a:prstGeom>
          <a:noFill/>
          <a:ln w="0">
            <a:noFill/>
          </a:ln>
        </p:spPr>
        <p:txBody>
          <a:bodyPr anchor="t">
            <a:normAutofit fontScale="96825"/>
          </a:bodyPr>
          <a:lstStyle/>
          <a:p>
            <a:pPr>
              <a:defRPr sz="1575" b="1">
                <a:solidFill>
                  <a:srgbClr val="102A43"/>
                </a:solidFill>
                <a:latin typeface="Bitstream Charter"/>
                <a:ea typeface="Bitstream Charter"/>
                <a:cs typeface="Bitstream Charter"/>
              </a:defRPr>
            </a:pPr>
            <a:r>
              <a:rPr sz="1575" b="1">
                <a:solidFill>
                  <a:srgbClr val="102A43"/>
                </a:solidFill>
                <a:latin typeface="Bitstream Charter"/>
                <a:ea typeface="Bitstream Charter"/>
                <a:cs typeface="Bitstream Charter"/>
              </a:rPr>
              <a:t>AIRO analytical workbench</a:t>
            </a:r>
          </a:p>
        </p:txBody>
      </p:sp>
      <p:sp>
        <p:nvSpPr>
          <p:cNvPr id="17" name="矩形: 圆角 16">
            <a:extLst>
              <a:ext uri="{FF2B5EF4-FFF2-40B4-BE49-F238E27FC236}">
                <a16:creationId xmlns:a16="http://schemas.microsoft.com/office/drawing/2014/main" id="{F9C47D5A-63C1-4FE9-813A-4B2AE6E9FBC3}"/>
              </a:ext>
            </a:extLst>
          </p:cNvPr>
          <p:cNvSpPr>
            <a:spLocks noGrp="1"/>
          </p:cNvSpPr>
          <p:nvPr/>
        </p:nvSpPr>
        <p:spPr>
          <a:xfrm>
            <a:off x="3943350" y="2343150"/>
            <a:ext cx="2038350" cy="1066800"/>
          </a:xfrm>
          <a:prstGeom prst="roundRect">
            <a:avLst>
              <a:gd name="adj" fmla="val 7143"/>
            </a:avLst>
          </a:prstGeom>
          <a:solidFill>
            <a:srgbClr val="EAF3F8"/>
          </a:solidFill>
          <a:ln w="11430">
            <a:solidFill>
              <a:srgbClr val="176B92"/>
            </a:solidFill>
          </a:ln>
        </p:spPr>
      </p:sp>
      <p:sp>
        <p:nvSpPr>
          <p:cNvPr id="18" name="矩形 17">
            <a:extLst>
              <a:ext uri="{FF2B5EF4-FFF2-40B4-BE49-F238E27FC236}">
                <a16:creationId xmlns:a16="http://schemas.microsoft.com/office/drawing/2014/main" id="{D75A711C-CA5B-4247-A5D9-0ECDE408AA8B}"/>
              </a:ext>
            </a:extLst>
          </p:cNvPr>
          <p:cNvSpPr>
            <a:spLocks noGrp="1"/>
          </p:cNvSpPr>
          <p:nvPr/>
        </p:nvSpPr>
        <p:spPr>
          <a:xfrm>
            <a:off x="4095750" y="2466975"/>
            <a:ext cx="1733550" cy="247650"/>
          </a:xfrm>
          <a:prstGeom prst="rect">
            <a:avLst/>
          </a:prstGeom>
          <a:noFill/>
          <a:ln w="0">
            <a:noFill/>
          </a:ln>
        </p:spPr>
        <p:txBody>
          <a:bodyPr anchor="t">
            <a:normAutofit fontScale="90926" lnSpcReduction="20000"/>
          </a:bodyPr>
          <a:lstStyle/>
          <a:p>
            <a:pPr>
              <a:defRPr sz="1350" b="1">
                <a:solidFill>
                  <a:srgbClr val="176B92"/>
                </a:solidFill>
                <a:latin typeface="Bitstream Charter"/>
                <a:ea typeface="Bitstream Charter"/>
                <a:cs typeface="Bitstream Charter"/>
              </a:defRPr>
            </a:pPr>
            <a:r>
              <a:rPr sz="1350" b="1">
                <a:solidFill>
                  <a:srgbClr val="176B92"/>
                </a:solidFill>
                <a:latin typeface="Bitstream Charter"/>
                <a:ea typeface="Bitstream Charter"/>
                <a:cs typeface="Bitstream Charter"/>
              </a:rPr>
              <a:t>Calibration</a:t>
            </a:r>
          </a:p>
        </p:txBody>
      </p:sp>
      <p:sp>
        <p:nvSpPr>
          <p:cNvPr id="19" name="矩形 18">
            <a:extLst>
              <a:ext uri="{FF2B5EF4-FFF2-40B4-BE49-F238E27FC236}">
                <a16:creationId xmlns:a16="http://schemas.microsoft.com/office/drawing/2014/main" id="{D644831D-3935-45C8-AADA-F81A170DE0C1}"/>
              </a:ext>
            </a:extLst>
          </p:cNvPr>
          <p:cNvSpPr>
            <a:spLocks noGrp="1"/>
          </p:cNvSpPr>
          <p:nvPr/>
        </p:nvSpPr>
        <p:spPr>
          <a:xfrm>
            <a:off x="4095750" y="2771775"/>
            <a:ext cx="1733550" cy="542925"/>
          </a:xfrm>
          <a:prstGeom prst="rect">
            <a:avLst/>
          </a:prstGeom>
          <a:noFill/>
          <a:ln w="0">
            <a:noFill/>
          </a:ln>
        </p:spPr>
        <p:txBody>
          <a:bodyPr anchor="t">
            <a:normAutofit fontScale="87503" lnSpcReduction="10000"/>
          </a:bodyPr>
          <a:lstStyle/>
          <a:p>
            <a:pPr>
              <a:defRPr sz="1125" b="0">
                <a:solidFill>
                  <a:srgbClr val="1D2B36"/>
                </a:solidFill>
                <a:latin typeface="Bitstream Charter"/>
                <a:ea typeface="Bitstream Charter"/>
                <a:cs typeface="Bitstream Charter"/>
              </a:defRPr>
            </a:pPr>
            <a:r>
              <a:rPr sz="1125" b="0">
                <a:solidFill>
                  <a:srgbClr val="1D2B36"/>
                </a:solidFill>
                <a:latin typeface="Bitstream Charter"/>
                <a:ea typeface="Bitstream Charter"/>
                <a:cs typeface="Bitstream Charter"/>
              </a:rPr>
              <a:t>Compare scores and triggers with confirmed outcomes and override patterns.</a:t>
            </a:r>
          </a:p>
        </p:txBody>
      </p:sp>
      <p:sp>
        <p:nvSpPr>
          <p:cNvPr id="20" name="矩形: 圆角 19">
            <a:extLst>
              <a:ext uri="{FF2B5EF4-FFF2-40B4-BE49-F238E27FC236}">
                <a16:creationId xmlns:a16="http://schemas.microsoft.com/office/drawing/2014/main" id="{742F153B-3F23-4A27-93FC-1C164BC8FF55}"/>
              </a:ext>
            </a:extLst>
          </p:cNvPr>
          <p:cNvSpPr>
            <a:spLocks noGrp="1"/>
          </p:cNvSpPr>
          <p:nvPr/>
        </p:nvSpPr>
        <p:spPr>
          <a:xfrm>
            <a:off x="6191250" y="2343150"/>
            <a:ext cx="2038350" cy="1066800"/>
          </a:xfrm>
          <a:prstGeom prst="roundRect">
            <a:avLst>
              <a:gd name="adj" fmla="val 7143"/>
            </a:avLst>
          </a:prstGeom>
          <a:solidFill>
            <a:srgbClr val="E7F4F1"/>
          </a:solidFill>
          <a:ln w="11430">
            <a:solidFill>
              <a:srgbClr val="167A73"/>
            </a:solidFill>
          </a:ln>
        </p:spPr>
      </p:sp>
      <p:sp>
        <p:nvSpPr>
          <p:cNvPr id="21" name="矩形 20">
            <a:extLst>
              <a:ext uri="{FF2B5EF4-FFF2-40B4-BE49-F238E27FC236}">
                <a16:creationId xmlns:a16="http://schemas.microsoft.com/office/drawing/2014/main" id="{8231FE94-779F-498C-95E2-A0C1F0745B22}"/>
              </a:ext>
            </a:extLst>
          </p:cNvPr>
          <p:cNvSpPr>
            <a:spLocks noGrp="1"/>
          </p:cNvSpPr>
          <p:nvPr/>
        </p:nvSpPr>
        <p:spPr>
          <a:xfrm>
            <a:off x="6343650" y="2466975"/>
            <a:ext cx="1733550" cy="247650"/>
          </a:xfrm>
          <a:prstGeom prst="rect">
            <a:avLst/>
          </a:prstGeom>
          <a:noFill/>
          <a:ln w="0">
            <a:noFill/>
          </a:ln>
        </p:spPr>
        <p:txBody>
          <a:bodyPr anchor="t">
            <a:normAutofit fontScale="90926" lnSpcReduction="20000"/>
          </a:bodyPr>
          <a:lstStyle/>
          <a:p>
            <a:pPr>
              <a:defRPr sz="1350" b="1">
                <a:solidFill>
                  <a:srgbClr val="167A73"/>
                </a:solidFill>
                <a:latin typeface="Bitstream Charter"/>
                <a:ea typeface="Bitstream Charter"/>
                <a:cs typeface="Bitstream Charter"/>
              </a:defRPr>
            </a:pPr>
            <a:r>
              <a:rPr sz="1350" b="1">
                <a:solidFill>
                  <a:srgbClr val="167A73"/>
                </a:solidFill>
                <a:latin typeface="Bitstream Charter"/>
                <a:ea typeface="Bitstream Charter"/>
                <a:cs typeface="Bitstream Charter"/>
              </a:rPr>
              <a:t>Backtesting</a:t>
            </a:r>
          </a:p>
        </p:txBody>
      </p:sp>
      <p:sp>
        <p:nvSpPr>
          <p:cNvPr id="22" name="矩形 21">
            <a:extLst>
              <a:ext uri="{FF2B5EF4-FFF2-40B4-BE49-F238E27FC236}">
                <a16:creationId xmlns:a16="http://schemas.microsoft.com/office/drawing/2014/main" id="{1F3DB5DC-B8E7-423A-8C92-399198C0C75D}"/>
              </a:ext>
            </a:extLst>
          </p:cNvPr>
          <p:cNvSpPr>
            <a:spLocks noGrp="1"/>
          </p:cNvSpPr>
          <p:nvPr/>
        </p:nvSpPr>
        <p:spPr>
          <a:xfrm>
            <a:off x="6343650" y="2771775"/>
            <a:ext cx="1733550" cy="542925"/>
          </a:xfrm>
          <a:prstGeom prst="rect">
            <a:avLst/>
          </a:prstGeom>
          <a:noFill/>
          <a:ln w="0">
            <a:noFill/>
          </a:ln>
        </p:spPr>
        <p:txBody>
          <a:bodyPr anchor="t">
            <a:normAutofit fontScale="87778" lnSpcReduction="10000"/>
          </a:bodyPr>
          <a:lstStyle/>
          <a:p>
            <a:pPr>
              <a:defRPr sz="1125" b="0">
                <a:solidFill>
                  <a:srgbClr val="1D2B36"/>
                </a:solidFill>
                <a:latin typeface="Bitstream Charter"/>
                <a:ea typeface="Bitstream Charter"/>
                <a:cs typeface="Bitstream Charter"/>
              </a:defRPr>
            </a:pPr>
            <a:r>
              <a:rPr sz="1125" b="0">
                <a:solidFill>
                  <a:srgbClr val="1D2B36"/>
                </a:solidFill>
                <a:latin typeface="Bitstream Charter"/>
                <a:ea typeface="Bitstream Charter"/>
                <a:cs typeface="Bitstream Charter"/>
              </a:rPr>
              <a:t>Run current and candidate rules across the same historical Cases.</a:t>
            </a:r>
          </a:p>
        </p:txBody>
      </p:sp>
      <p:sp>
        <p:nvSpPr>
          <p:cNvPr id="23" name="矩形: 圆角 22">
            <a:extLst>
              <a:ext uri="{FF2B5EF4-FFF2-40B4-BE49-F238E27FC236}">
                <a16:creationId xmlns:a16="http://schemas.microsoft.com/office/drawing/2014/main" id="{756CC851-3028-4B44-8C71-30770666FBA4}"/>
              </a:ext>
            </a:extLst>
          </p:cNvPr>
          <p:cNvSpPr>
            <a:spLocks noGrp="1"/>
          </p:cNvSpPr>
          <p:nvPr/>
        </p:nvSpPr>
        <p:spPr>
          <a:xfrm>
            <a:off x="3943350" y="3619500"/>
            <a:ext cx="2038350" cy="1066800"/>
          </a:xfrm>
          <a:prstGeom prst="roundRect">
            <a:avLst>
              <a:gd name="adj" fmla="val 7143"/>
            </a:avLst>
          </a:prstGeom>
          <a:solidFill>
            <a:srgbClr val="FFF3DD"/>
          </a:solidFill>
          <a:ln w="11430">
            <a:solidFill>
              <a:srgbClr val="A36114"/>
            </a:solidFill>
          </a:ln>
        </p:spPr>
      </p:sp>
      <p:sp>
        <p:nvSpPr>
          <p:cNvPr id="24" name="矩形 23">
            <a:extLst>
              <a:ext uri="{FF2B5EF4-FFF2-40B4-BE49-F238E27FC236}">
                <a16:creationId xmlns:a16="http://schemas.microsoft.com/office/drawing/2014/main" id="{AFF5555D-81DA-4DAB-8FE5-DC9C42D154FE}"/>
              </a:ext>
            </a:extLst>
          </p:cNvPr>
          <p:cNvSpPr>
            <a:spLocks noGrp="1"/>
          </p:cNvSpPr>
          <p:nvPr/>
        </p:nvSpPr>
        <p:spPr>
          <a:xfrm>
            <a:off x="4095750" y="3743325"/>
            <a:ext cx="1733550" cy="247650"/>
          </a:xfrm>
          <a:prstGeom prst="rect">
            <a:avLst/>
          </a:prstGeom>
          <a:noFill/>
          <a:ln w="0">
            <a:noFill/>
          </a:ln>
        </p:spPr>
        <p:txBody>
          <a:bodyPr anchor="t">
            <a:normAutofit fontScale="90926" lnSpcReduction="20000"/>
          </a:bodyPr>
          <a:lstStyle/>
          <a:p>
            <a:pPr>
              <a:defRPr sz="1350" b="1">
                <a:solidFill>
                  <a:srgbClr val="A36114"/>
                </a:solidFill>
                <a:latin typeface="Bitstream Charter"/>
                <a:ea typeface="Bitstream Charter"/>
                <a:cs typeface="Bitstream Charter"/>
              </a:defRPr>
            </a:pPr>
            <a:r>
              <a:rPr sz="1350" b="1">
                <a:solidFill>
                  <a:srgbClr val="A36114"/>
                </a:solidFill>
                <a:latin typeface="Bitstream Charter"/>
                <a:ea typeface="Bitstream Charter"/>
                <a:cs typeface="Bitstream Charter"/>
              </a:rPr>
              <a:t>Sensitivity analysis</a:t>
            </a:r>
          </a:p>
        </p:txBody>
      </p:sp>
      <p:sp>
        <p:nvSpPr>
          <p:cNvPr id="25" name="矩形 24">
            <a:extLst>
              <a:ext uri="{FF2B5EF4-FFF2-40B4-BE49-F238E27FC236}">
                <a16:creationId xmlns:a16="http://schemas.microsoft.com/office/drawing/2014/main" id="{832B3C1D-1603-4648-92B5-AC7FDD6B0AFF}"/>
              </a:ext>
            </a:extLst>
          </p:cNvPr>
          <p:cNvSpPr>
            <a:spLocks noGrp="1"/>
          </p:cNvSpPr>
          <p:nvPr/>
        </p:nvSpPr>
        <p:spPr>
          <a:xfrm>
            <a:off x="4095750" y="4048125"/>
            <a:ext cx="1733550" cy="542925"/>
          </a:xfrm>
          <a:prstGeom prst="rect">
            <a:avLst/>
          </a:prstGeom>
          <a:noFill/>
          <a:ln w="0">
            <a:noFill/>
          </a:ln>
        </p:spPr>
        <p:txBody>
          <a:bodyPr anchor="t">
            <a:normAutofit fontScale="87778" lnSpcReduction="10000"/>
          </a:bodyPr>
          <a:lstStyle/>
          <a:p>
            <a:pPr>
              <a:defRPr sz="1125" b="0">
                <a:solidFill>
                  <a:srgbClr val="1D2B36"/>
                </a:solidFill>
                <a:latin typeface="Bitstream Charter"/>
                <a:ea typeface="Bitstream Charter"/>
                <a:cs typeface="Bitstream Charter"/>
              </a:defRPr>
            </a:pPr>
            <a:r>
              <a:rPr sz="1125" b="0">
                <a:solidFill>
                  <a:srgbClr val="1D2B36"/>
                </a:solidFill>
                <a:latin typeface="Bitstream Charter"/>
                <a:ea typeface="Bitstream Charter"/>
                <a:cs typeface="Bitstream Charter"/>
              </a:rPr>
              <a:t>Vary weights, thresholds and deal breakers to find unstable outcomes.</a:t>
            </a:r>
          </a:p>
        </p:txBody>
      </p:sp>
      <p:sp>
        <p:nvSpPr>
          <p:cNvPr id="26" name="矩形: 圆角 25">
            <a:extLst>
              <a:ext uri="{FF2B5EF4-FFF2-40B4-BE49-F238E27FC236}">
                <a16:creationId xmlns:a16="http://schemas.microsoft.com/office/drawing/2014/main" id="{0A6B96D4-3AF9-4401-86A1-E54D96FC5CEA}"/>
              </a:ext>
            </a:extLst>
          </p:cNvPr>
          <p:cNvSpPr>
            <a:spLocks noGrp="1"/>
          </p:cNvSpPr>
          <p:nvPr/>
        </p:nvSpPr>
        <p:spPr>
          <a:xfrm>
            <a:off x="6191250" y="3619500"/>
            <a:ext cx="2038350" cy="1066800"/>
          </a:xfrm>
          <a:prstGeom prst="roundRect">
            <a:avLst>
              <a:gd name="adj" fmla="val 7143"/>
            </a:avLst>
          </a:prstGeom>
          <a:solidFill>
            <a:srgbClr val="F1EDF7"/>
          </a:solidFill>
          <a:ln w="11430">
            <a:solidFill>
              <a:srgbClr val="67558F"/>
            </a:solidFill>
          </a:ln>
        </p:spPr>
      </p:sp>
      <p:sp>
        <p:nvSpPr>
          <p:cNvPr id="27" name="矩形 26">
            <a:extLst>
              <a:ext uri="{FF2B5EF4-FFF2-40B4-BE49-F238E27FC236}">
                <a16:creationId xmlns:a16="http://schemas.microsoft.com/office/drawing/2014/main" id="{6AA26BFD-7661-44DE-8059-F5311854051C}"/>
              </a:ext>
            </a:extLst>
          </p:cNvPr>
          <p:cNvSpPr>
            <a:spLocks noGrp="1"/>
          </p:cNvSpPr>
          <p:nvPr/>
        </p:nvSpPr>
        <p:spPr>
          <a:xfrm>
            <a:off x="6343650" y="3743325"/>
            <a:ext cx="1733550" cy="247650"/>
          </a:xfrm>
          <a:prstGeom prst="rect">
            <a:avLst/>
          </a:prstGeom>
          <a:noFill/>
          <a:ln w="0">
            <a:noFill/>
          </a:ln>
        </p:spPr>
        <p:txBody>
          <a:bodyPr anchor="t">
            <a:normAutofit fontScale="90926" lnSpcReduction="20000"/>
          </a:bodyPr>
          <a:lstStyle/>
          <a:p>
            <a:pPr>
              <a:defRPr sz="1350" b="1">
                <a:solidFill>
                  <a:srgbClr val="67558F"/>
                </a:solidFill>
                <a:latin typeface="Bitstream Charter"/>
                <a:ea typeface="Bitstream Charter"/>
                <a:cs typeface="Bitstream Charter"/>
              </a:defRPr>
            </a:pPr>
            <a:r>
              <a:rPr sz="1350" b="1">
                <a:solidFill>
                  <a:srgbClr val="67558F"/>
                </a:solidFill>
                <a:latin typeface="Bitstream Charter"/>
                <a:ea typeface="Bitstream Charter"/>
                <a:cs typeface="Bitstream Charter"/>
              </a:rPr>
              <a:t>Regression testing</a:t>
            </a:r>
          </a:p>
        </p:txBody>
      </p:sp>
      <p:sp>
        <p:nvSpPr>
          <p:cNvPr id="28" name="矩形 27">
            <a:extLst>
              <a:ext uri="{FF2B5EF4-FFF2-40B4-BE49-F238E27FC236}">
                <a16:creationId xmlns:a16="http://schemas.microsoft.com/office/drawing/2014/main" id="{91205E22-4C0F-46CC-A4DC-1549B2067C3F}"/>
              </a:ext>
            </a:extLst>
          </p:cNvPr>
          <p:cNvSpPr>
            <a:spLocks noGrp="1"/>
          </p:cNvSpPr>
          <p:nvPr/>
        </p:nvSpPr>
        <p:spPr>
          <a:xfrm>
            <a:off x="6343650" y="4048125"/>
            <a:ext cx="1733550" cy="542925"/>
          </a:xfrm>
          <a:prstGeom prst="rect">
            <a:avLst/>
          </a:prstGeom>
          <a:noFill/>
          <a:ln w="0">
            <a:noFill/>
          </a:ln>
        </p:spPr>
        <p:txBody>
          <a:bodyPr anchor="t">
            <a:normAutofit fontScale="87778"/>
          </a:bodyPr>
          <a:lstStyle/>
          <a:p>
            <a:pPr>
              <a:defRPr sz="1125" b="0">
                <a:solidFill>
                  <a:srgbClr val="1D2B36"/>
                </a:solidFill>
                <a:latin typeface="Bitstream Charter"/>
                <a:ea typeface="Bitstream Charter"/>
                <a:cs typeface="Bitstream Charter"/>
              </a:defRPr>
            </a:pPr>
            <a:r>
              <a:rPr sz="1125" b="0">
                <a:solidFill>
                  <a:srgbClr val="1D2B36"/>
                </a:solidFill>
                <a:latin typeface="Bitstream Charter"/>
                <a:ea typeface="Bitstream Charter"/>
                <a:cs typeface="Bitstream Charter"/>
              </a:rPr>
              <a:t>Rerun approved golden Cases and flag unintended changes.</a:t>
            </a:r>
          </a:p>
        </p:txBody>
      </p:sp>
      <p:sp>
        <p:nvSpPr>
          <p:cNvPr id="29" name="箭头: 右 28">
            <a:extLst>
              <a:ext uri="{FF2B5EF4-FFF2-40B4-BE49-F238E27FC236}">
                <a16:creationId xmlns:a16="http://schemas.microsoft.com/office/drawing/2014/main" id="{19E7CE66-C649-42BC-B6A6-1D7E89646F0B}"/>
              </a:ext>
            </a:extLst>
          </p:cNvPr>
          <p:cNvSpPr>
            <a:spLocks noGrp="1"/>
          </p:cNvSpPr>
          <p:nvPr/>
        </p:nvSpPr>
        <p:spPr>
          <a:xfrm>
            <a:off x="8591550" y="3000375"/>
            <a:ext cx="495300" cy="304800"/>
          </a:xfrm>
          <a:prstGeom prst="rightArrow">
            <a:avLst/>
          </a:prstGeom>
          <a:solidFill>
            <a:srgbClr val="102A43"/>
          </a:solidFill>
          <a:ln w="4763">
            <a:solidFill>
              <a:srgbClr val="102A43"/>
            </a:solidFill>
          </a:ln>
        </p:spPr>
      </p:sp>
      <p:sp>
        <p:nvSpPr>
          <p:cNvPr id="30" name="矩形: 圆角 29">
            <a:extLst>
              <a:ext uri="{FF2B5EF4-FFF2-40B4-BE49-F238E27FC236}">
                <a16:creationId xmlns:a16="http://schemas.microsoft.com/office/drawing/2014/main" id="{029A01E8-2CDF-4D5B-88D0-4B8938C5C32C}"/>
              </a:ext>
            </a:extLst>
          </p:cNvPr>
          <p:cNvSpPr>
            <a:spLocks noGrp="1"/>
          </p:cNvSpPr>
          <p:nvPr/>
        </p:nvSpPr>
        <p:spPr>
          <a:xfrm>
            <a:off x="9201150" y="1581150"/>
            <a:ext cx="2305050" cy="3371850"/>
          </a:xfrm>
          <a:prstGeom prst="roundRect">
            <a:avLst>
              <a:gd name="adj" fmla="val 3306"/>
            </a:avLst>
          </a:prstGeom>
          <a:solidFill>
            <a:srgbClr val="FFF3DD"/>
          </a:solidFill>
          <a:ln w="11430">
            <a:solidFill>
              <a:srgbClr val="A36114"/>
            </a:solidFill>
          </a:ln>
        </p:spPr>
      </p:sp>
      <p:sp>
        <p:nvSpPr>
          <p:cNvPr id="31" name="椭圆 30">
            <a:extLst>
              <a:ext uri="{FF2B5EF4-FFF2-40B4-BE49-F238E27FC236}">
                <a16:creationId xmlns:a16="http://schemas.microsoft.com/office/drawing/2014/main" id="{7E57B102-4A57-4B75-9F1D-9F58A0A7DDB6}"/>
              </a:ext>
            </a:extLst>
          </p:cNvPr>
          <p:cNvSpPr>
            <a:spLocks noGrp="1"/>
          </p:cNvSpPr>
          <p:nvPr/>
        </p:nvSpPr>
        <p:spPr>
          <a:xfrm>
            <a:off x="9391650" y="1762125"/>
            <a:ext cx="400050" cy="400050"/>
          </a:xfrm>
          <a:prstGeom prst="ellipse">
            <a:avLst/>
          </a:prstGeom>
          <a:solidFill>
            <a:srgbClr val="A36114"/>
          </a:solidFill>
          <a:ln w="0">
            <a:solidFill>
              <a:srgbClr val="A36114"/>
            </a:solidFill>
          </a:ln>
        </p:spPr>
      </p:sp>
      <p:sp>
        <p:nvSpPr>
          <p:cNvPr id="32" name="矩形 31">
            <a:extLst>
              <a:ext uri="{FF2B5EF4-FFF2-40B4-BE49-F238E27FC236}">
                <a16:creationId xmlns:a16="http://schemas.microsoft.com/office/drawing/2014/main" id="{AFD35D3A-156B-4FBB-91A3-549DC529D0EC}"/>
              </a:ext>
            </a:extLst>
          </p:cNvPr>
          <p:cNvSpPr>
            <a:spLocks noGrp="1"/>
          </p:cNvSpPr>
          <p:nvPr/>
        </p:nvSpPr>
        <p:spPr>
          <a:xfrm>
            <a:off x="9391650" y="1781175"/>
            <a:ext cx="400050" cy="342900"/>
          </a:xfrm>
          <a:prstGeom prst="rect">
            <a:avLst/>
          </a:prstGeom>
          <a:noFill/>
          <a:ln w="0">
            <a:noFill/>
          </a:ln>
        </p:spPr>
        <p:txBody>
          <a:bodyPr anchor="ctr">
            <a:normAutofit/>
          </a:bodyPr>
          <a:lstStyle/>
          <a:p>
            <a:pP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3</a:t>
            </a:r>
          </a:p>
        </p:txBody>
      </p:sp>
      <p:sp>
        <p:nvSpPr>
          <p:cNvPr id="33" name="矩形 32">
            <a:extLst>
              <a:ext uri="{FF2B5EF4-FFF2-40B4-BE49-F238E27FC236}">
                <a16:creationId xmlns:a16="http://schemas.microsoft.com/office/drawing/2014/main" id="{50257324-3A49-4DE0-8CAB-D05AD57A0203}"/>
              </a:ext>
            </a:extLst>
          </p:cNvPr>
          <p:cNvSpPr>
            <a:spLocks noGrp="1"/>
          </p:cNvSpPr>
          <p:nvPr/>
        </p:nvSpPr>
        <p:spPr>
          <a:xfrm>
            <a:off x="9906000" y="1790700"/>
            <a:ext cx="1381125" cy="495300"/>
          </a:xfrm>
          <a:prstGeom prst="rect">
            <a:avLst/>
          </a:prstGeom>
          <a:noFill/>
          <a:ln w="0">
            <a:noFill/>
          </a:ln>
        </p:spPr>
        <p:txBody>
          <a:bodyPr anchor="t">
            <a:normAutofit fontScale="95833" lnSpcReduction="10000"/>
          </a:bodyPr>
          <a:lstStyle/>
          <a:p>
            <a:pPr>
              <a:defRPr sz="1500" b="1">
                <a:solidFill>
                  <a:srgbClr val="102A43"/>
                </a:solidFill>
                <a:latin typeface="Bitstream Charter"/>
                <a:ea typeface="Bitstream Charter"/>
                <a:cs typeface="Bitstream Charter"/>
              </a:defRPr>
            </a:pPr>
            <a:r>
              <a:rPr sz="1500" b="1">
                <a:solidFill>
                  <a:srgbClr val="102A43"/>
                </a:solidFill>
                <a:latin typeface="Bitstream Charter"/>
                <a:ea typeface="Bitstream Charter"/>
                <a:cs typeface="Bitstream Charter"/>
              </a:rPr>
              <a:t>Review and release</a:t>
            </a:r>
          </a:p>
        </p:txBody>
      </p:sp>
      <p:sp>
        <p:nvSpPr>
          <p:cNvPr id="34" name="矩形 33">
            <a:extLst>
              <a:ext uri="{FF2B5EF4-FFF2-40B4-BE49-F238E27FC236}">
                <a16:creationId xmlns:a16="http://schemas.microsoft.com/office/drawing/2014/main" id="{96955E4A-4B31-43FA-9EAF-28687BA6FE5F}"/>
              </a:ext>
            </a:extLst>
          </p:cNvPr>
          <p:cNvSpPr>
            <a:spLocks noGrp="1"/>
          </p:cNvSpPr>
          <p:nvPr/>
        </p:nvSpPr>
        <p:spPr>
          <a:xfrm>
            <a:off x="9410700" y="2476500"/>
            <a:ext cx="1866900" cy="533400"/>
          </a:xfrm>
          <a:prstGeom prst="rect">
            <a:avLst/>
          </a:prstGeom>
          <a:noFill/>
          <a:ln w="0">
            <a:noFill/>
          </a:ln>
        </p:spPr>
        <p:txBody>
          <a:bodyPr anchor="t">
            <a:normAutofit/>
          </a:bodyPr>
          <a:lstStyle/>
          <a:p>
            <a:pPr>
              <a:defRPr sz="1200" b="0">
                <a:solidFill>
                  <a:srgbClr val="1D2B36"/>
                </a:solidFill>
                <a:latin typeface="Bitstream Charter"/>
                <a:ea typeface="Bitstream Charter"/>
                <a:cs typeface="Bitstream Charter"/>
              </a:defRPr>
            </a:pPr>
            <a:r>
              <a:rPr sz="1200" b="0">
                <a:solidFill>
                  <a:srgbClr val="1D2B36"/>
                </a:solidFill>
                <a:latin typeface="Bitstream Charter"/>
                <a:ea typeface="Bitstream Charter"/>
                <a:cs typeface="Bitstream Charter"/>
              </a:rPr>
              <a:t>Impact report and list of changed Cases</a:t>
            </a:r>
          </a:p>
        </p:txBody>
      </p:sp>
      <p:sp>
        <p:nvSpPr>
          <p:cNvPr id="35" name="矩形 34">
            <a:extLst>
              <a:ext uri="{FF2B5EF4-FFF2-40B4-BE49-F238E27FC236}">
                <a16:creationId xmlns:a16="http://schemas.microsoft.com/office/drawing/2014/main" id="{B083062E-DBCD-4F4E-892C-0B5401FA8CA3}"/>
              </a:ext>
            </a:extLst>
          </p:cNvPr>
          <p:cNvSpPr>
            <a:spLocks noGrp="1"/>
          </p:cNvSpPr>
          <p:nvPr/>
        </p:nvSpPr>
        <p:spPr>
          <a:xfrm>
            <a:off x="9410700" y="3143250"/>
            <a:ext cx="1866900" cy="552450"/>
          </a:xfrm>
          <a:prstGeom prst="rect">
            <a:avLst/>
          </a:prstGeom>
          <a:noFill/>
          <a:ln w="0">
            <a:noFill/>
          </a:ln>
        </p:spPr>
        <p:txBody>
          <a:bodyPr anchor="t">
            <a:normAutofit/>
          </a:bodyPr>
          <a:lstStyle/>
          <a:p>
            <a:pPr>
              <a:defRPr sz="1200" b="0">
                <a:solidFill>
                  <a:srgbClr val="1D2B36"/>
                </a:solidFill>
                <a:latin typeface="Bitstream Charter"/>
                <a:ea typeface="Bitstream Charter"/>
                <a:cs typeface="Bitstream Charter"/>
              </a:defRPr>
            </a:pPr>
            <a:r>
              <a:rPr sz="1200" b="0">
                <a:solidFill>
                  <a:srgbClr val="1D2B36"/>
                </a:solidFill>
                <a:latin typeface="Bitstream Charter"/>
                <a:ea typeface="Bitstream Charter"/>
                <a:cs typeface="Bitstream Charter"/>
              </a:rPr>
              <a:t>AIRO approves, rejects or refines the candidate</a:t>
            </a:r>
          </a:p>
        </p:txBody>
      </p:sp>
      <p:sp>
        <p:nvSpPr>
          <p:cNvPr id="36" name="矩形 35">
            <a:extLst>
              <a:ext uri="{FF2B5EF4-FFF2-40B4-BE49-F238E27FC236}">
                <a16:creationId xmlns:a16="http://schemas.microsoft.com/office/drawing/2014/main" id="{DF110C03-37E3-40CC-B703-CB39B9426A16}"/>
              </a:ext>
            </a:extLst>
          </p:cNvPr>
          <p:cNvSpPr>
            <a:spLocks noGrp="1"/>
          </p:cNvSpPr>
          <p:nvPr/>
        </p:nvSpPr>
        <p:spPr>
          <a:xfrm>
            <a:off x="9410700" y="3810000"/>
            <a:ext cx="1866900" cy="742950"/>
          </a:xfrm>
          <a:prstGeom prst="rect">
            <a:avLst/>
          </a:prstGeom>
          <a:noFill/>
          <a:ln w="0">
            <a:noFill/>
          </a:ln>
        </p:spPr>
        <p:txBody>
          <a:bodyPr anchor="t">
            <a:normAutofit fontScale="90234"/>
          </a:bodyPr>
          <a:lstStyle/>
          <a:p>
            <a:pPr>
              <a:defRPr sz="1200" b="0">
                <a:solidFill>
                  <a:srgbClr val="1D2B36"/>
                </a:solidFill>
                <a:latin typeface="Bitstream Charter"/>
                <a:ea typeface="Bitstream Charter"/>
                <a:cs typeface="Bitstream Charter"/>
              </a:defRPr>
            </a:pPr>
            <a:r>
              <a:rPr sz="1200" b="0">
                <a:solidFill>
                  <a:srgbClr val="1D2B36"/>
                </a:solidFill>
                <a:latin typeface="Bitstream Charter"/>
                <a:ea typeface="Bitstream Charter"/>
                <a:cs typeface="Bitstream Charter"/>
              </a:rPr>
              <a:t>Approved rule set published as a new SharePoint configuration version</a:t>
            </a:r>
          </a:p>
        </p:txBody>
      </p:sp>
      <p:sp>
        <p:nvSpPr>
          <p:cNvPr id="37" name="矩形 36">
            <a:extLst>
              <a:ext uri="{FF2B5EF4-FFF2-40B4-BE49-F238E27FC236}">
                <a16:creationId xmlns:a16="http://schemas.microsoft.com/office/drawing/2014/main" id="{E150D7CF-E203-49BC-81AE-699DAA3E82FD}"/>
              </a:ext>
            </a:extLst>
          </p:cNvPr>
          <p:cNvSpPr>
            <a:spLocks noGrp="1"/>
          </p:cNvSpPr>
          <p:nvPr/>
        </p:nvSpPr>
        <p:spPr>
          <a:xfrm>
            <a:off x="9410700" y="4552950"/>
            <a:ext cx="1866900" cy="381000"/>
          </a:xfrm>
          <a:prstGeom prst="rect">
            <a:avLst/>
          </a:prstGeom>
          <a:noFill/>
          <a:ln w="0">
            <a:noFill/>
          </a:ln>
        </p:spPr>
        <p:txBody>
          <a:bodyPr anchor="t">
            <a:normAutofit fontScale="97976" lnSpcReduction="10000"/>
          </a:bodyPr>
          <a:lstStyle/>
          <a:p>
            <a:pPr>
              <a:defRPr sz="1050" b="0">
                <a:solidFill>
                  <a:srgbClr val="526574"/>
                </a:solidFill>
                <a:latin typeface="Bitstream Charter"/>
                <a:ea typeface="Bitstream Charter"/>
                <a:cs typeface="Bitstream Charter"/>
              </a:defRPr>
            </a:pPr>
            <a:r>
              <a:rPr sz="1050" b="0">
                <a:solidFill>
                  <a:srgbClr val="526574"/>
                </a:solidFill>
                <a:latin typeface="Bitstream Charter"/>
                <a:ea typeface="Bitstream Charter"/>
                <a:cs typeface="Bitstream Charter"/>
              </a:rPr>
              <a:t>Previous version remains available for rollback</a:t>
            </a:r>
          </a:p>
        </p:txBody>
      </p:sp>
      <p:sp>
        <p:nvSpPr>
          <p:cNvPr id="38" name="矩形: 圆角 37">
            <a:extLst>
              <a:ext uri="{FF2B5EF4-FFF2-40B4-BE49-F238E27FC236}">
                <a16:creationId xmlns:a16="http://schemas.microsoft.com/office/drawing/2014/main" id="{5E198E49-847C-4968-9DAB-3E1B7E4E8375}"/>
              </a:ext>
            </a:extLst>
          </p:cNvPr>
          <p:cNvSpPr>
            <a:spLocks noGrp="1"/>
          </p:cNvSpPr>
          <p:nvPr/>
        </p:nvSpPr>
        <p:spPr>
          <a:xfrm>
            <a:off x="685800" y="5143500"/>
            <a:ext cx="10820400" cy="781050"/>
          </a:xfrm>
          <a:prstGeom prst="roundRect">
            <a:avLst>
              <a:gd name="adj" fmla="val 9756"/>
            </a:avLst>
          </a:prstGeom>
          <a:solidFill>
            <a:srgbClr val="FFFFFF"/>
          </a:solidFill>
          <a:ln w="11430">
            <a:solidFill>
              <a:srgbClr val="B8C8D4"/>
            </a:solidFill>
          </a:ln>
        </p:spPr>
      </p:sp>
      <p:sp>
        <p:nvSpPr>
          <p:cNvPr id="39" name="矩形 38">
            <a:extLst>
              <a:ext uri="{FF2B5EF4-FFF2-40B4-BE49-F238E27FC236}">
                <a16:creationId xmlns:a16="http://schemas.microsoft.com/office/drawing/2014/main" id="{7F37B891-2DBC-4D14-82FE-EB39CDB2CBE8}"/>
              </a:ext>
            </a:extLst>
          </p:cNvPr>
          <p:cNvSpPr>
            <a:spLocks noGrp="1"/>
          </p:cNvSpPr>
          <p:nvPr/>
        </p:nvSpPr>
        <p:spPr>
          <a:xfrm>
            <a:off x="876300" y="5276850"/>
            <a:ext cx="1638300" cy="266700"/>
          </a:xfrm>
          <a:prstGeom prst="rect">
            <a:avLst/>
          </a:prstGeom>
          <a:noFill/>
          <a:ln w="0">
            <a:noFill/>
          </a:ln>
        </p:spPr>
        <p:txBody>
          <a:bodyPr anchor="t">
            <a:normAutofit fontScale="97696" lnSpcReduction="10000"/>
          </a:bodyPr>
          <a:lstStyle/>
          <a:p>
            <a:pPr>
              <a:defRPr sz="1275" b="1">
                <a:solidFill>
                  <a:srgbClr val="102A43"/>
                </a:solidFill>
                <a:latin typeface="Bitstream Charter"/>
                <a:ea typeface="Bitstream Charter"/>
                <a:cs typeface="Bitstream Charter"/>
              </a:defRPr>
            </a:pPr>
            <a:r>
              <a:rPr sz="1275" b="1">
                <a:solidFill>
                  <a:srgbClr val="102A43"/>
                </a:solidFill>
                <a:latin typeface="Bitstream Charter"/>
                <a:ea typeface="Bitstream Charter"/>
                <a:cs typeface="Bitstream Charter"/>
              </a:rPr>
              <a:t>Operating controls</a:t>
            </a:r>
          </a:p>
        </p:txBody>
      </p:sp>
      <p:sp>
        <p:nvSpPr>
          <p:cNvPr id="40" name="矩形 39">
            <a:extLst>
              <a:ext uri="{FF2B5EF4-FFF2-40B4-BE49-F238E27FC236}">
                <a16:creationId xmlns:a16="http://schemas.microsoft.com/office/drawing/2014/main" id="{3F425B30-DC0B-43BD-B616-B541207B94B4}"/>
              </a:ext>
            </a:extLst>
          </p:cNvPr>
          <p:cNvSpPr>
            <a:spLocks noGrp="1"/>
          </p:cNvSpPr>
          <p:nvPr/>
        </p:nvSpPr>
        <p:spPr>
          <a:xfrm>
            <a:off x="2667000" y="5276850"/>
            <a:ext cx="1809750" cy="247650"/>
          </a:xfrm>
          <a:prstGeom prst="rect">
            <a:avLst/>
          </a:prstGeom>
          <a:noFill/>
          <a:ln w="0">
            <a:noFill/>
          </a:ln>
        </p:spPr>
        <p:txBody>
          <a:bodyPr anchor="t">
            <a:normAutofit fontScale="98611" lnSpcReduction="10000"/>
          </a:bodyPr>
          <a:lstStyle/>
          <a:p>
            <a:pPr>
              <a:defRPr sz="1125" b="1">
                <a:solidFill>
                  <a:srgbClr val="176B92"/>
                </a:solidFill>
                <a:latin typeface="Bitstream Charter"/>
                <a:ea typeface="Bitstream Charter"/>
                <a:cs typeface="Bitstream Charter"/>
              </a:defRPr>
            </a:pPr>
            <a:r>
              <a:rPr sz="1125" b="1">
                <a:solidFill>
                  <a:srgbClr val="176B92"/>
                </a:solidFill>
                <a:latin typeface="Bitstream Charter"/>
                <a:ea typeface="Bitstream Charter"/>
                <a:cs typeface="Bitstream Charter"/>
              </a:rPr>
              <a:t>Read-only test snapshot</a:t>
            </a:r>
          </a:p>
        </p:txBody>
      </p:sp>
      <p:sp>
        <p:nvSpPr>
          <p:cNvPr id="41" name="矩形 40">
            <a:extLst>
              <a:ext uri="{FF2B5EF4-FFF2-40B4-BE49-F238E27FC236}">
                <a16:creationId xmlns:a16="http://schemas.microsoft.com/office/drawing/2014/main" id="{766C041D-9D97-466B-8CCD-AFE2FDFDC18A}"/>
              </a:ext>
            </a:extLst>
          </p:cNvPr>
          <p:cNvSpPr>
            <a:spLocks noGrp="1"/>
          </p:cNvSpPr>
          <p:nvPr/>
        </p:nvSpPr>
        <p:spPr>
          <a:xfrm>
            <a:off x="4552950" y="5276850"/>
            <a:ext cx="2209800" cy="247650"/>
          </a:xfrm>
          <a:prstGeom prst="rect">
            <a:avLst/>
          </a:prstGeom>
          <a:noFill/>
          <a:ln w="0">
            <a:noFill/>
          </a:ln>
        </p:spPr>
        <p:txBody>
          <a:bodyPr anchor="t">
            <a:normAutofit fontScale="98611" lnSpcReduction="10000"/>
          </a:bodyPr>
          <a:lstStyle/>
          <a:p>
            <a:pPr>
              <a:defRPr sz="1125" b="1">
                <a:solidFill>
                  <a:srgbClr val="167A73"/>
                </a:solidFill>
                <a:latin typeface="Bitstream Charter"/>
                <a:ea typeface="Bitstream Charter"/>
                <a:cs typeface="Bitstream Charter"/>
              </a:defRPr>
            </a:pPr>
            <a:r>
              <a:rPr sz="1125" b="1">
                <a:solidFill>
                  <a:srgbClr val="167A73"/>
                </a:solidFill>
                <a:latin typeface="Bitstream Charter"/>
                <a:ea typeface="Bitstream Charter"/>
                <a:cs typeface="Bitstream Charter"/>
              </a:rPr>
              <a:t>Dataset, code and rule versions</a:t>
            </a:r>
          </a:p>
        </p:txBody>
      </p:sp>
      <p:sp>
        <p:nvSpPr>
          <p:cNvPr id="42" name="矩形 41">
            <a:extLst>
              <a:ext uri="{FF2B5EF4-FFF2-40B4-BE49-F238E27FC236}">
                <a16:creationId xmlns:a16="http://schemas.microsoft.com/office/drawing/2014/main" id="{224C9828-6B8E-4D7B-923A-A8BFABE5A2C3}"/>
              </a:ext>
            </a:extLst>
          </p:cNvPr>
          <p:cNvSpPr>
            <a:spLocks noGrp="1"/>
          </p:cNvSpPr>
          <p:nvPr/>
        </p:nvSpPr>
        <p:spPr>
          <a:xfrm>
            <a:off x="6858000" y="5276850"/>
            <a:ext cx="2114550" cy="247650"/>
          </a:xfrm>
          <a:prstGeom prst="rect">
            <a:avLst/>
          </a:prstGeom>
          <a:noFill/>
          <a:ln w="0">
            <a:noFill/>
          </a:ln>
        </p:spPr>
        <p:txBody>
          <a:bodyPr anchor="t">
            <a:normAutofit fontScale="98611" lnSpcReduction="10000"/>
          </a:bodyPr>
          <a:lstStyle/>
          <a:p>
            <a:pPr>
              <a:defRPr sz="1125" b="1">
                <a:solidFill>
                  <a:srgbClr val="A36114"/>
                </a:solidFill>
                <a:latin typeface="Bitstream Charter"/>
                <a:ea typeface="Bitstream Charter"/>
                <a:cs typeface="Bitstream Charter"/>
              </a:defRPr>
            </a:pPr>
            <a:r>
              <a:rPr sz="1125" b="1">
                <a:solidFill>
                  <a:srgbClr val="A36114"/>
                </a:solidFill>
                <a:latin typeface="Bitstream Charter"/>
                <a:ea typeface="Bitstream Charter"/>
                <a:cs typeface="Bitstream Charter"/>
              </a:rPr>
              <a:t>No direct change to live Cases</a:t>
            </a:r>
          </a:p>
        </p:txBody>
      </p:sp>
      <p:sp>
        <p:nvSpPr>
          <p:cNvPr id="43" name="矩形 42">
            <a:extLst>
              <a:ext uri="{FF2B5EF4-FFF2-40B4-BE49-F238E27FC236}">
                <a16:creationId xmlns:a16="http://schemas.microsoft.com/office/drawing/2014/main" id="{73E35490-F164-4E71-8F67-B7CC4E88B6BC}"/>
              </a:ext>
            </a:extLst>
          </p:cNvPr>
          <p:cNvSpPr>
            <a:spLocks noGrp="1"/>
          </p:cNvSpPr>
          <p:nvPr/>
        </p:nvSpPr>
        <p:spPr>
          <a:xfrm>
            <a:off x="9067800" y="5276850"/>
            <a:ext cx="2152650" cy="247650"/>
          </a:xfrm>
          <a:prstGeom prst="rect">
            <a:avLst/>
          </a:prstGeom>
          <a:noFill/>
          <a:ln w="0">
            <a:noFill/>
          </a:ln>
        </p:spPr>
        <p:txBody>
          <a:bodyPr anchor="t">
            <a:normAutofit fontScale="98611" lnSpcReduction="10000"/>
          </a:bodyPr>
          <a:lstStyle/>
          <a:p>
            <a:pPr>
              <a:defRPr sz="1125" b="1">
                <a:solidFill>
                  <a:srgbClr val="67558F"/>
                </a:solidFill>
                <a:latin typeface="Bitstream Charter"/>
                <a:ea typeface="Bitstream Charter"/>
                <a:cs typeface="Bitstream Charter"/>
              </a:defRPr>
            </a:pPr>
            <a:r>
              <a:rPr sz="1125" b="1">
                <a:solidFill>
                  <a:srgbClr val="67558F"/>
                </a:solidFill>
                <a:latin typeface="Bitstream Charter"/>
                <a:ea typeface="Bitstream Charter"/>
                <a:cs typeface="Bitstream Charter"/>
              </a:rPr>
              <a:t>Approval record and rollback</a:t>
            </a:r>
          </a:p>
        </p:txBody>
      </p:sp>
      <p:sp>
        <p:nvSpPr>
          <p:cNvPr id="44" name="矩形 43">
            <a:extLst>
              <a:ext uri="{FF2B5EF4-FFF2-40B4-BE49-F238E27FC236}">
                <a16:creationId xmlns:a16="http://schemas.microsoft.com/office/drawing/2014/main" id="{599D4378-8F7B-4EFF-9510-379F1DA24502}"/>
              </a:ext>
            </a:extLst>
          </p:cNvPr>
          <p:cNvSpPr>
            <a:spLocks noGrp="1"/>
          </p:cNvSpPr>
          <p:nvPr/>
        </p:nvSpPr>
        <p:spPr>
          <a:xfrm>
            <a:off x="2667000" y="5572125"/>
            <a:ext cx="8553450" cy="247650"/>
          </a:xfrm>
          <a:prstGeom prst="rect">
            <a:avLst/>
          </a:prstGeom>
          <a:noFill/>
          <a:ln w="0">
            <a:noFill/>
          </a:ln>
        </p:spPr>
        <p:txBody>
          <a:bodyPr anchor="t">
            <a:normAutofit fontScale="97619"/>
          </a:bodyPr>
          <a:lstStyle/>
          <a:p>
            <a:pPr>
              <a:defRPr sz="1050" b="0">
                <a:solidFill>
                  <a:srgbClr val="526574"/>
                </a:solidFill>
                <a:latin typeface="Bitstream Charter"/>
                <a:ea typeface="Bitstream Charter"/>
                <a:cs typeface="Bitstream Charter"/>
              </a:defRPr>
            </a:pPr>
            <a:r>
              <a:rPr sz="1050" b="0" dirty="0">
                <a:solidFill>
                  <a:srgbClr val="526574"/>
                </a:solidFill>
                <a:latin typeface="Bitstream Charter"/>
                <a:ea typeface="Bitstream Charter"/>
                <a:cs typeface="Bitstream Charter"/>
              </a:rPr>
              <a:t>AIRO owns methodology, acceptance criteria and approval of every production rule version.</a:t>
            </a:r>
          </a:p>
        </p:txBody>
      </p:sp>
      <p:sp>
        <p:nvSpPr>
          <p:cNvPr id="45" name="矩形: 圆角 44">
            <a:extLst>
              <a:ext uri="{FF2B5EF4-FFF2-40B4-BE49-F238E27FC236}">
                <a16:creationId xmlns:a16="http://schemas.microsoft.com/office/drawing/2014/main" id="{23800A89-5BB1-4EAA-8DC8-B8913E3EBA5C}"/>
              </a:ext>
            </a:extLst>
          </p:cNvPr>
          <p:cNvSpPr>
            <a:spLocks noGrp="1"/>
          </p:cNvSpPr>
          <p:nvPr/>
        </p:nvSpPr>
        <p:spPr>
          <a:xfrm>
            <a:off x="685800" y="6115050"/>
            <a:ext cx="10820400" cy="438150"/>
          </a:xfrm>
          <a:prstGeom prst="roundRect">
            <a:avLst>
              <a:gd name="adj" fmla="val 17391"/>
            </a:avLst>
          </a:prstGeom>
          <a:solidFill>
            <a:srgbClr val="102A43"/>
          </a:solidFill>
          <a:ln w="11430">
            <a:solidFill>
              <a:srgbClr val="102A43"/>
            </a:solidFill>
          </a:ln>
        </p:spPr>
      </p:sp>
      <p:sp>
        <p:nvSpPr>
          <p:cNvPr id="46" name="矩形 45">
            <a:extLst>
              <a:ext uri="{FF2B5EF4-FFF2-40B4-BE49-F238E27FC236}">
                <a16:creationId xmlns:a16="http://schemas.microsoft.com/office/drawing/2014/main" id="{0E294C19-6643-4003-A791-070D709F3882}"/>
              </a:ext>
            </a:extLst>
          </p:cNvPr>
          <p:cNvSpPr>
            <a:spLocks noGrp="1"/>
          </p:cNvSpPr>
          <p:nvPr/>
        </p:nvSpPr>
        <p:spPr>
          <a:xfrm>
            <a:off x="904875" y="6191250"/>
            <a:ext cx="10382250" cy="285750"/>
          </a:xfrm>
          <a:prstGeom prst="rect">
            <a:avLst/>
          </a:prstGeom>
          <a:noFill/>
          <a:ln w="0">
            <a:noFill/>
          </a:ln>
        </p:spPr>
        <p:txBody>
          <a:bodyPr anchor="ctr">
            <a:normAutofit/>
          </a:bodyPr>
          <a:lstStyle/>
          <a:p>
            <a:pP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The analytical workbench recommends rule changes. Only an approved version can enter the live triage configuration.</a:t>
            </a:r>
          </a:p>
        </p:txBody>
      </p:sp>
    </p:spTree>
    <p:extLst>
      <p:ext uri="{BB962C8B-B14F-4D97-AF65-F5344CB8AC3E}">
        <p14:creationId xmlns:p14="http://schemas.microsoft.com/office/powerpoint/2010/main" val="763721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a:extLst>
              <a:ext uri="{FF2B5EF4-FFF2-40B4-BE49-F238E27FC236}">
                <a16:creationId xmlns:a16="http://schemas.microsoft.com/office/drawing/2014/main" id="{AD0F3F24-64CF-4F6C-946F-E08BE6703B2D}"/>
              </a:ext>
            </a:extLst>
          </p:cNvPr>
          <p:cNvSpPr>
            <a:spLocks noGrp="1"/>
          </p:cNvSpPr>
          <p:nvPr/>
        </p:nvSpPr>
        <p:spPr>
          <a:xfrm>
            <a:off x="685800" y="419100"/>
            <a:ext cx="8096250" cy="533400"/>
          </a:xfrm>
          <a:prstGeom prst="rect">
            <a:avLst/>
          </a:prstGeom>
          <a:noFill/>
          <a:ln w="0">
            <a:noFill/>
          </a:ln>
        </p:spPr>
        <p:txBody>
          <a:bodyPr anchor="t">
            <a:normAutofit/>
          </a:bodyPr>
          <a:lstStyle/>
          <a:p>
            <a:pPr>
              <a:defRPr sz="2550" b="1">
                <a:solidFill>
                  <a:srgbClr val="102A43"/>
                </a:solidFill>
                <a:latin typeface="Bitstream Charter"/>
                <a:ea typeface="Bitstream Charter"/>
                <a:cs typeface="Bitstream Charter"/>
              </a:defRPr>
            </a:pPr>
            <a:r>
              <a:rPr sz="2550" b="1">
                <a:solidFill>
                  <a:srgbClr val="102A43"/>
                </a:solidFill>
                <a:latin typeface="Bitstream Charter"/>
                <a:ea typeface="Bitstream Charter"/>
                <a:cs typeface="Bitstream Charter"/>
              </a:rPr>
              <a:t>Long-term Agentic AI workflow</a:t>
            </a:r>
          </a:p>
        </p:txBody>
      </p:sp>
      <p:sp>
        <p:nvSpPr>
          <p:cNvPr id="2" name="矩形 1">
            <a:extLst>
              <a:ext uri="{FF2B5EF4-FFF2-40B4-BE49-F238E27FC236}">
                <a16:creationId xmlns:a16="http://schemas.microsoft.com/office/drawing/2014/main" id="{B024330B-C2E7-4544-8338-C19B8980154C}"/>
              </a:ext>
            </a:extLst>
          </p:cNvPr>
          <p:cNvSpPr>
            <a:spLocks noGrp="1"/>
          </p:cNvSpPr>
          <p:nvPr/>
        </p:nvSpPr>
        <p:spPr>
          <a:xfrm>
            <a:off x="685800" y="981075"/>
            <a:ext cx="9620250" cy="361950"/>
          </a:xfrm>
          <a:prstGeom prst="rect">
            <a:avLst/>
          </a:prstGeom>
          <a:noFill/>
          <a:ln w="0">
            <a:noFill/>
          </a:ln>
        </p:spPr>
        <p:txBody>
          <a:bodyPr anchor="t">
            <a:normAutofit/>
          </a:bodyPr>
          <a:lstStyle/>
          <a:p>
            <a:pPr>
              <a:defRPr sz="1350" b="0">
                <a:solidFill>
                  <a:srgbClr val="526574"/>
                </a:solidFill>
                <a:latin typeface="Bitstream Charter"/>
                <a:ea typeface="Bitstream Charter"/>
                <a:cs typeface="Bitstream Charter"/>
              </a:defRPr>
            </a:pPr>
            <a:r>
              <a:rPr sz="1350" b="0" dirty="0">
                <a:solidFill>
                  <a:srgbClr val="526574"/>
                </a:solidFill>
                <a:latin typeface="Bitstream Charter"/>
                <a:ea typeface="Bitstream Charter"/>
                <a:cs typeface="Bitstream Charter"/>
              </a:rPr>
              <a:t>The </a:t>
            </a:r>
            <a:r>
              <a:rPr lang="en-GB" sz="1350" b="0" dirty="0">
                <a:solidFill>
                  <a:srgbClr val="526574"/>
                </a:solidFill>
                <a:latin typeface="Bitstream Charter"/>
                <a:ea typeface="Bitstream Charter"/>
                <a:cs typeface="Bitstream Charter"/>
              </a:rPr>
              <a:t>version 1 </a:t>
            </a:r>
            <a:r>
              <a:rPr sz="1350" b="0" dirty="0">
                <a:solidFill>
                  <a:srgbClr val="526574"/>
                </a:solidFill>
                <a:latin typeface="Bitstream Charter"/>
                <a:ea typeface="Bitstream Charter"/>
                <a:cs typeface="Bitstream Charter"/>
              </a:rPr>
              <a:t>remains the control foundation while verified LLM</a:t>
            </a:r>
            <a:r>
              <a:rPr lang="en-GB" sz="1350" b="0" dirty="0">
                <a:solidFill>
                  <a:srgbClr val="526574"/>
                </a:solidFill>
                <a:latin typeface="Bitstream Charter"/>
                <a:ea typeface="Bitstream Charter"/>
                <a:cs typeface="Bitstream Charter"/>
              </a:rPr>
              <a:t> and agents</a:t>
            </a:r>
            <a:r>
              <a:rPr sz="1350" b="0" dirty="0">
                <a:solidFill>
                  <a:srgbClr val="526574"/>
                </a:solidFill>
                <a:latin typeface="Bitstream Charter"/>
                <a:ea typeface="Bitstream Charter"/>
                <a:cs typeface="Bitstream Charter"/>
              </a:rPr>
              <a:t> capabilities reduce manual Case work</a:t>
            </a:r>
          </a:p>
        </p:txBody>
      </p:sp>
      <p:sp>
        <p:nvSpPr>
          <p:cNvPr id="3" name="矩形 2">
            <a:extLst>
              <a:ext uri="{FF2B5EF4-FFF2-40B4-BE49-F238E27FC236}">
                <a16:creationId xmlns:a16="http://schemas.microsoft.com/office/drawing/2014/main" id="{9A9F1C48-847F-467E-90F9-332C2B2075E1}"/>
              </a:ext>
            </a:extLst>
          </p:cNvPr>
          <p:cNvSpPr>
            <a:spLocks noGrp="1"/>
          </p:cNvSpPr>
          <p:nvPr/>
        </p:nvSpPr>
        <p:spPr>
          <a:xfrm>
            <a:off x="9620250" y="514350"/>
            <a:ext cx="1905000" cy="247650"/>
          </a:xfrm>
          <a:prstGeom prst="rect">
            <a:avLst/>
          </a:prstGeom>
          <a:noFill/>
          <a:ln w="0">
            <a:noFill/>
          </a:ln>
        </p:spPr>
        <p:txBody>
          <a:bodyPr anchor="t">
            <a:normAutofit fontScale="97619"/>
          </a:bodyPr>
          <a:lstStyle/>
          <a:p>
            <a:pPr algn="r">
              <a:lnSpc>
                <a:spcPct val="80000"/>
              </a:lnSpc>
              <a:defRPr sz="1125" b="1">
                <a:solidFill>
                  <a:srgbClr val="6B5B95"/>
                </a:solidFill>
                <a:latin typeface="Bitstream Charter"/>
                <a:ea typeface="Bitstream Charter"/>
                <a:cs typeface="Bitstream Charter"/>
              </a:defRPr>
            </a:pPr>
            <a:r>
              <a:rPr sz="1000" b="1" dirty="0">
                <a:solidFill>
                  <a:srgbClr val="6B5B95"/>
                </a:solidFill>
                <a:latin typeface="Bitstream Charter"/>
              </a:rPr>
              <a:t>FUTURE PHASE</a:t>
            </a:r>
          </a:p>
        </p:txBody>
      </p:sp>
      <p:sp>
        <p:nvSpPr>
          <p:cNvPr id="4" name="矩形: 圆角 3">
            <a:extLst>
              <a:ext uri="{FF2B5EF4-FFF2-40B4-BE49-F238E27FC236}">
                <a16:creationId xmlns:a16="http://schemas.microsoft.com/office/drawing/2014/main" id="{0ECE79A5-7FF8-4624-88BE-F180BC81FF5D}"/>
              </a:ext>
            </a:extLst>
          </p:cNvPr>
          <p:cNvSpPr>
            <a:spLocks noGrp="1"/>
          </p:cNvSpPr>
          <p:nvPr/>
        </p:nvSpPr>
        <p:spPr>
          <a:xfrm>
            <a:off x="685800" y="1571625"/>
            <a:ext cx="2095500" cy="2381250"/>
          </a:xfrm>
          <a:prstGeom prst="roundRect">
            <a:avLst>
              <a:gd name="adj" fmla="val 3636"/>
            </a:avLst>
          </a:prstGeom>
          <a:solidFill>
            <a:srgbClr val="EAF3F8"/>
          </a:solidFill>
          <a:ln w="11430">
            <a:solidFill>
              <a:srgbClr val="176B92"/>
            </a:solidFill>
          </a:ln>
        </p:spPr>
      </p:sp>
      <p:sp>
        <p:nvSpPr>
          <p:cNvPr id="5" name="椭圆 4">
            <a:extLst>
              <a:ext uri="{FF2B5EF4-FFF2-40B4-BE49-F238E27FC236}">
                <a16:creationId xmlns:a16="http://schemas.microsoft.com/office/drawing/2014/main" id="{2BFA949A-956E-475B-B17C-00F720B1BD8E}"/>
              </a:ext>
            </a:extLst>
          </p:cNvPr>
          <p:cNvSpPr>
            <a:spLocks noGrp="1"/>
          </p:cNvSpPr>
          <p:nvPr/>
        </p:nvSpPr>
        <p:spPr>
          <a:xfrm>
            <a:off x="857250" y="1743075"/>
            <a:ext cx="400050" cy="400050"/>
          </a:xfrm>
          <a:prstGeom prst="ellipse">
            <a:avLst/>
          </a:prstGeom>
          <a:solidFill>
            <a:srgbClr val="176B92"/>
          </a:solidFill>
          <a:ln w="0">
            <a:solidFill>
              <a:srgbClr val="176B92"/>
            </a:solidFill>
          </a:ln>
        </p:spPr>
      </p:sp>
      <p:sp>
        <p:nvSpPr>
          <p:cNvPr id="6" name="矩形 5">
            <a:extLst>
              <a:ext uri="{FF2B5EF4-FFF2-40B4-BE49-F238E27FC236}">
                <a16:creationId xmlns:a16="http://schemas.microsoft.com/office/drawing/2014/main" id="{88F37D4A-EDB4-4470-949A-4ACA1BE5ED92}"/>
              </a:ext>
            </a:extLst>
          </p:cNvPr>
          <p:cNvSpPr>
            <a:spLocks noGrp="1"/>
          </p:cNvSpPr>
          <p:nvPr/>
        </p:nvSpPr>
        <p:spPr>
          <a:xfrm>
            <a:off x="857250" y="1762125"/>
            <a:ext cx="400050" cy="342900"/>
          </a:xfrm>
          <a:prstGeom prst="rect">
            <a:avLst/>
          </a:prstGeom>
          <a:noFill/>
          <a:ln w="0">
            <a:noFill/>
          </a:ln>
        </p:spPr>
        <p:txBody>
          <a:bodyPr anchor="ctr">
            <a:normAutofit/>
          </a:bodyPr>
          <a:lstStyle/>
          <a:p>
            <a:pP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1</a:t>
            </a:r>
          </a:p>
        </p:txBody>
      </p:sp>
      <p:sp>
        <p:nvSpPr>
          <p:cNvPr id="7" name="矩形 6">
            <a:extLst>
              <a:ext uri="{FF2B5EF4-FFF2-40B4-BE49-F238E27FC236}">
                <a16:creationId xmlns:a16="http://schemas.microsoft.com/office/drawing/2014/main" id="{6F7829C4-644B-4DD6-8EF1-D2BDD3533E92}"/>
              </a:ext>
            </a:extLst>
          </p:cNvPr>
          <p:cNvSpPr>
            <a:spLocks noGrp="1"/>
          </p:cNvSpPr>
          <p:nvPr/>
        </p:nvSpPr>
        <p:spPr>
          <a:xfrm>
            <a:off x="1352550" y="1743075"/>
            <a:ext cx="1257300" cy="495300"/>
          </a:xfrm>
          <a:prstGeom prst="rect">
            <a:avLst/>
          </a:prstGeom>
          <a:noFill/>
          <a:ln w="0">
            <a:noFill/>
          </a:ln>
        </p:spPr>
        <p:txBody>
          <a:bodyPr anchor="t">
            <a:normAutofit fontScale="75903" lnSpcReduction="20000"/>
          </a:bodyPr>
          <a:lstStyle/>
          <a:p>
            <a:pPr>
              <a:defRPr sz="1425" b="1">
                <a:solidFill>
                  <a:srgbClr val="102A43"/>
                </a:solidFill>
                <a:latin typeface="Bitstream Charter"/>
                <a:ea typeface="Bitstream Charter"/>
                <a:cs typeface="Bitstream Charter"/>
              </a:defRPr>
            </a:pPr>
            <a:r>
              <a:rPr sz="1425" b="1">
                <a:solidFill>
                  <a:srgbClr val="102A43"/>
                </a:solidFill>
                <a:latin typeface="Bitstream Charter"/>
                <a:ea typeface="Bitstream Charter"/>
                <a:cs typeface="Bitstream Charter"/>
              </a:rPr>
              <a:t>Case and evidence sources</a:t>
            </a:r>
          </a:p>
        </p:txBody>
      </p:sp>
      <p:sp>
        <p:nvSpPr>
          <p:cNvPr id="8" name="矩形 7">
            <a:extLst>
              <a:ext uri="{FF2B5EF4-FFF2-40B4-BE49-F238E27FC236}">
                <a16:creationId xmlns:a16="http://schemas.microsoft.com/office/drawing/2014/main" id="{52721448-72E7-4D49-AEEF-D05C7BEF97DE}"/>
              </a:ext>
            </a:extLst>
          </p:cNvPr>
          <p:cNvSpPr>
            <a:spLocks noGrp="1"/>
          </p:cNvSpPr>
          <p:nvPr/>
        </p:nvSpPr>
        <p:spPr>
          <a:xfrm>
            <a:off x="895350" y="2390775"/>
            <a:ext cx="1676400" cy="1390650"/>
          </a:xfrm>
          <a:prstGeom prst="rect">
            <a:avLst/>
          </a:prstGeom>
          <a:noFill/>
          <a:ln w="0">
            <a:noFill/>
          </a:ln>
        </p:spPr>
        <p:txBody>
          <a:bodyPr anchor="t">
            <a:normAutofit fontScale="94722" lnSpcReduction="10000"/>
          </a:bodyPr>
          <a:lstStyle/>
          <a:p>
            <a:pPr>
              <a:defRPr sz="1125" b="0">
                <a:solidFill>
                  <a:srgbClr val="1D2B36"/>
                </a:solidFill>
                <a:latin typeface="Bitstream Charter"/>
                <a:ea typeface="Bitstream Charter"/>
                <a:cs typeface="Bitstream Charter"/>
              </a:defRPr>
            </a:pPr>
            <a:r>
              <a:rPr sz="1125" b="0">
                <a:solidFill>
                  <a:srgbClr val="1D2B36"/>
                </a:solidFill>
                <a:latin typeface="Bitstream Charter"/>
                <a:ea typeface="Bitstream Charter"/>
                <a:cs typeface="Bitstream Charter"/>
              </a:rPr>
              <a:t>SharePoint intake and review</a:t>
            </a:r>
          </a:p>
          <a:p>
            <a:endParaRPr sz="1125" b="0">
              <a:solidFill>
                <a:srgbClr val="1D2B36"/>
              </a:solidFill>
              <a:latin typeface="Bitstream Charter"/>
              <a:ea typeface="Bitstream Charter"/>
              <a:cs typeface="Bitstream Charter"/>
            </a:endParaRPr>
          </a:p>
          <a:p>
            <a:pPr>
              <a:defRPr sz="1125" b="0">
                <a:solidFill>
                  <a:srgbClr val="1D2B36"/>
                </a:solidFill>
                <a:latin typeface="Bitstream Charter"/>
                <a:ea typeface="Bitstream Charter"/>
                <a:cs typeface="Bitstream Charter"/>
              </a:defRPr>
            </a:pPr>
            <a:r>
              <a:rPr sz="1125" b="0">
                <a:solidFill>
                  <a:srgbClr val="1D2B36"/>
                </a:solidFill>
                <a:latin typeface="Bitstream Charter"/>
                <a:ea typeface="Bitstream Charter"/>
                <a:cs typeface="Bitstream Charter"/>
              </a:rPr>
              <a:t>Questionnaire, rationale and documents</a:t>
            </a:r>
          </a:p>
          <a:p>
            <a:endParaRPr sz="1125" b="0">
              <a:solidFill>
                <a:srgbClr val="1D2B36"/>
              </a:solidFill>
              <a:latin typeface="Bitstream Charter"/>
              <a:ea typeface="Bitstream Charter"/>
              <a:cs typeface="Bitstream Charter"/>
            </a:endParaRPr>
          </a:p>
          <a:p>
            <a:pPr>
              <a:defRPr sz="1125" b="0">
                <a:solidFill>
                  <a:srgbClr val="1D2B36"/>
                </a:solidFill>
                <a:latin typeface="Bitstream Charter"/>
                <a:ea typeface="Bitstream Charter"/>
                <a:cs typeface="Bitstream Charter"/>
              </a:defRPr>
            </a:pPr>
            <a:r>
              <a:rPr sz="1125" b="0">
                <a:solidFill>
                  <a:srgbClr val="1D2B36"/>
                </a:solidFill>
                <a:latin typeface="Bitstream Charter"/>
                <a:ea typeface="Bitstream Charter"/>
                <a:cs typeface="Bitstream Charter"/>
              </a:rPr>
              <a:t>Future MARM reference data when access exists</a:t>
            </a:r>
          </a:p>
        </p:txBody>
      </p:sp>
      <p:sp>
        <p:nvSpPr>
          <p:cNvPr id="9" name="矩形: 圆角 8">
            <a:extLst>
              <a:ext uri="{FF2B5EF4-FFF2-40B4-BE49-F238E27FC236}">
                <a16:creationId xmlns:a16="http://schemas.microsoft.com/office/drawing/2014/main" id="{92F6CF11-7503-4068-8C72-149A1C2AB00E}"/>
              </a:ext>
            </a:extLst>
          </p:cNvPr>
          <p:cNvSpPr>
            <a:spLocks noGrp="1"/>
          </p:cNvSpPr>
          <p:nvPr/>
        </p:nvSpPr>
        <p:spPr>
          <a:xfrm>
            <a:off x="3143250" y="1571625"/>
            <a:ext cx="2095500" cy="2381250"/>
          </a:xfrm>
          <a:prstGeom prst="roundRect">
            <a:avLst>
              <a:gd name="adj" fmla="val 3636"/>
            </a:avLst>
          </a:prstGeom>
          <a:solidFill>
            <a:srgbClr val="E7F4F1"/>
          </a:solidFill>
          <a:ln w="11430">
            <a:solidFill>
              <a:srgbClr val="167A73"/>
            </a:solidFill>
          </a:ln>
        </p:spPr>
      </p:sp>
      <p:sp>
        <p:nvSpPr>
          <p:cNvPr id="10" name="椭圆 9">
            <a:extLst>
              <a:ext uri="{FF2B5EF4-FFF2-40B4-BE49-F238E27FC236}">
                <a16:creationId xmlns:a16="http://schemas.microsoft.com/office/drawing/2014/main" id="{3386FCAE-C8AB-4744-A3F8-3467F42F32C7}"/>
              </a:ext>
            </a:extLst>
          </p:cNvPr>
          <p:cNvSpPr>
            <a:spLocks noGrp="1"/>
          </p:cNvSpPr>
          <p:nvPr/>
        </p:nvSpPr>
        <p:spPr>
          <a:xfrm>
            <a:off x="3314700" y="1743075"/>
            <a:ext cx="400050" cy="400050"/>
          </a:xfrm>
          <a:prstGeom prst="ellipse">
            <a:avLst/>
          </a:prstGeom>
          <a:solidFill>
            <a:srgbClr val="167A73"/>
          </a:solidFill>
          <a:ln w="0">
            <a:solidFill>
              <a:srgbClr val="167A73"/>
            </a:solidFill>
          </a:ln>
        </p:spPr>
      </p:sp>
      <p:sp>
        <p:nvSpPr>
          <p:cNvPr id="11" name="矩形 10">
            <a:extLst>
              <a:ext uri="{FF2B5EF4-FFF2-40B4-BE49-F238E27FC236}">
                <a16:creationId xmlns:a16="http://schemas.microsoft.com/office/drawing/2014/main" id="{D5459794-AB95-44F9-89FA-408A100223BD}"/>
              </a:ext>
            </a:extLst>
          </p:cNvPr>
          <p:cNvSpPr>
            <a:spLocks noGrp="1"/>
          </p:cNvSpPr>
          <p:nvPr/>
        </p:nvSpPr>
        <p:spPr>
          <a:xfrm>
            <a:off x="3314700" y="1762125"/>
            <a:ext cx="400050" cy="342900"/>
          </a:xfrm>
          <a:prstGeom prst="rect">
            <a:avLst/>
          </a:prstGeom>
          <a:noFill/>
          <a:ln w="0">
            <a:noFill/>
          </a:ln>
        </p:spPr>
        <p:txBody>
          <a:bodyPr anchor="ctr">
            <a:normAutofit/>
          </a:bodyPr>
          <a:lstStyle/>
          <a:p>
            <a:pP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2</a:t>
            </a:r>
          </a:p>
        </p:txBody>
      </p:sp>
      <p:sp>
        <p:nvSpPr>
          <p:cNvPr id="12" name="矩形 11">
            <a:extLst>
              <a:ext uri="{FF2B5EF4-FFF2-40B4-BE49-F238E27FC236}">
                <a16:creationId xmlns:a16="http://schemas.microsoft.com/office/drawing/2014/main" id="{96ECC350-59E2-4096-85D2-B2B1BC9A0D49}"/>
              </a:ext>
            </a:extLst>
          </p:cNvPr>
          <p:cNvSpPr>
            <a:spLocks noGrp="1"/>
          </p:cNvSpPr>
          <p:nvPr/>
        </p:nvSpPr>
        <p:spPr>
          <a:xfrm>
            <a:off x="3810000" y="1743075"/>
            <a:ext cx="1257300" cy="495300"/>
          </a:xfrm>
          <a:prstGeom prst="rect">
            <a:avLst/>
          </a:prstGeom>
          <a:noFill/>
          <a:ln w="0">
            <a:noFill/>
          </a:ln>
        </p:spPr>
        <p:txBody>
          <a:bodyPr anchor="t">
            <a:normAutofit fontScale="92982"/>
          </a:bodyPr>
          <a:lstStyle/>
          <a:p>
            <a:pPr>
              <a:defRPr sz="1425" b="1">
                <a:solidFill>
                  <a:srgbClr val="102A43"/>
                </a:solidFill>
                <a:latin typeface="Bitstream Charter"/>
                <a:ea typeface="Bitstream Charter"/>
                <a:cs typeface="Bitstream Charter"/>
              </a:defRPr>
            </a:pPr>
            <a:r>
              <a:rPr sz="1425" b="1">
                <a:solidFill>
                  <a:srgbClr val="102A43"/>
                </a:solidFill>
                <a:latin typeface="Bitstream Charter"/>
                <a:ea typeface="Bitstream Charter"/>
                <a:cs typeface="Bitstream Charter"/>
              </a:rPr>
              <a:t>Shared Case State</a:t>
            </a:r>
          </a:p>
        </p:txBody>
      </p:sp>
      <p:sp>
        <p:nvSpPr>
          <p:cNvPr id="13" name="矩形 12">
            <a:extLst>
              <a:ext uri="{FF2B5EF4-FFF2-40B4-BE49-F238E27FC236}">
                <a16:creationId xmlns:a16="http://schemas.microsoft.com/office/drawing/2014/main" id="{D21A10D1-DA27-4691-828E-BB3E8100E3FC}"/>
              </a:ext>
            </a:extLst>
          </p:cNvPr>
          <p:cNvSpPr>
            <a:spLocks noGrp="1"/>
          </p:cNvSpPr>
          <p:nvPr/>
        </p:nvSpPr>
        <p:spPr>
          <a:xfrm>
            <a:off x="3352800" y="2390775"/>
            <a:ext cx="1676400" cy="1390650"/>
          </a:xfrm>
          <a:prstGeom prst="rect">
            <a:avLst/>
          </a:prstGeom>
          <a:noFill/>
          <a:ln w="0">
            <a:noFill/>
          </a:ln>
        </p:spPr>
        <p:txBody>
          <a:bodyPr anchor="t">
            <a:normAutofit fontScale="94722" lnSpcReduction="10000"/>
          </a:bodyPr>
          <a:lstStyle/>
          <a:p>
            <a:pPr>
              <a:defRPr sz="1125" b="0">
                <a:solidFill>
                  <a:srgbClr val="1D2B36"/>
                </a:solidFill>
                <a:latin typeface="Bitstream Charter"/>
                <a:ea typeface="Bitstream Charter"/>
                <a:cs typeface="Bitstream Charter"/>
              </a:defRPr>
            </a:pPr>
            <a:r>
              <a:rPr sz="1125" b="0">
                <a:solidFill>
                  <a:srgbClr val="1D2B36"/>
                </a:solidFill>
                <a:latin typeface="Bitstream Charter"/>
                <a:ea typeface="Bitstream Charter"/>
                <a:cs typeface="Bitstream Charter"/>
              </a:rPr>
              <a:t>Versioned facts and evidence</a:t>
            </a:r>
          </a:p>
          <a:p>
            <a:endParaRPr sz="1125" b="0">
              <a:solidFill>
                <a:srgbClr val="1D2B36"/>
              </a:solidFill>
              <a:latin typeface="Bitstream Charter"/>
              <a:ea typeface="Bitstream Charter"/>
              <a:cs typeface="Bitstream Charter"/>
            </a:endParaRPr>
          </a:p>
          <a:p>
            <a:pPr>
              <a:defRPr sz="1125" b="0">
                <a:solidFill>
                  <a:srgbClr val="1D2B36"/>
                </a:solidFill>
                <a:latin typeface="Bitstream Charter"/>
                <a:ea typeface="Bitstream Charter"/>
                <a:cs typeface="Bitstream Charter"/>
              </a:defRPr>
            </a:pPr>
            <a:r>
              <a:rPr sz="1125" b="0">
                <a:solidFill>
                  <a:srgbClr val="1D2B36"/>
                </a:solidFill>
                <a:latin typeface="Bitstream Charter"/>
                <a:ea typeface="Bitstream Charter"/>
                <a:cs typeface="Bitstream Charter"/>
              </a:rPr>
              <a:t>Decisions, status and provenance</a:t>
            </a:r>
          </a:p>
          <a:p>
            <a:endParaRPr sz="1125" b="0">
              <a:solidFill>
                <a:srgbClr val="1D2B36"/>
              </a:solidFill>
              <a:latin typeface="Bitstream Charter"/>
              <a:ea typeface="Bitstream Charter"/>
              <a:cs typeface="Bitstream Charter"/>
            </a:endParaRPr>
          </a:p>
          <a:p>
            <a:pPr>
              <a:defRPr sz="1125" b="0">
                <a:solidFill>
                  <a:srgbClr val="1D2B36"/>
                </a:solidFill>
                <a:latin typeface="Bitstream Charter"/>
                <a:ea typeface="Bitstream Charter"/>
                <a:cs typeface="Bitstream Charter"/>
              </a:defRPr>
            </a:pPr>
            <a:r>
              <a:rPr sz="1125" b="0">
                <a:solidFill>
                  <a:srgbClr val="1D2B36"/>
                </a:solidFill>
                <a:latin typeface="Bitstream Charter"/>
                <a:ea typeface="Bitstream Charter"/>
                <a:cs typeface="Bitstream Charter"/>
              </a:rPr>
              <a:t>Controlled integration service</a:t>
            </a:r>
          </a:p>
        </p:txBody>
      </p:sp>
      <p:sp>
        <p:nvSpPr>
          <p:cNvPr id="14" name="矩形: 圆角 13">
            <a:extLst>
              <a:ext uri="{FF2B5EF4-FFF2-40B4-BE49-F238E27FC236}">
                <a16:creationId xmlns:a16="http://schemas.microsoft.com/office/drawing/2014/main" id="{CF428AC2-7D13-4765-863A-72E9DC1A5E50}"/>
              </a:ext>
            </a:extLst>
          </p:cNvPr>
          <p:cNvSpPr>
            <a:spLocks noGrp="1"/>
          </p:cNvSpPr>
          <p:nvPr/>
        </p:nvSpPr>
        <p:spPr>
          <a:xfrm>
            <a:off x="5600700" y="1571625"/>
            <a:ext cx="3143250" cy="2381250"/>
          </a:xfrm>
          <a:prstGeom prst="roundRect">
            <a:avLst>
              <a:gd name="adj" fmla="val 3200"/>
            </a:avLst>
          </a:prstGeom>
          <a:solidFill>
            <a:srgbClr val="F6F8FA"/>
          </a:solidFill>
          <a:ln w="11430">
            <a:solidFill>
              <a:srgbClr val="102A43"/>
            </a:solidFill>
          </a:ln>
        </p:spPr>
      </p:sp>
      <p:sp>
        <p:nvSpPr>
          <p:cNvPr id="15" name="椭圆 14">
            <a:extLst>
              <a:ext uri="{FF2B5EF4-FFF2-40B4-BE49-F238E27FC236}">
                <a16:creationId xmlns:a16="http://schemas.microsoft.com/office/drawing/2014/main" id="{7CA35A8B-AC59-49F6-811A-31582DA7137C}"/>
              </a:ext>
            </a:extLst>
          </p:cNvPr>
          <p:cNvSpPr>
            <a:spLocks noGrp="1"/>
          </p:cNvSpPr>
          <p:nvPr/>
        </p:nvSpPr>
        <p:spPr>
          <a:xfrm>
            <a:off x="5772150" y="1743075"/>
            <a:ext cx="400050" cy="400050"/>
          </a:xfrm>
          <a:prstGeom prst="ellipse">
            <a:avLst/>
          </a:prstGeom>
          <a:solidFill>
            <a:srgbClr val="102A43"/>
          </a:solidFill>
          <a:ln w="0">
            <a:solidFill>
              <a:srgbClr val="102A43"/>
            </a:solidFill>
          </a:ln>
        </p:spPr>
      </p:sp>
      <p:sp>
        <p:nvSpPr>
          <p:cNvPr id="16" name="矩形 15">
            <a:extLst>
              <a:ext uri="{FF2B5EF4-FFF2-40B4-BE49-F238E27FC236}">
                <a16:creationId xmlns:a16="http://schemas.microsoft.com/office/drawing/2014/main" id="{415267D0-8451-43FA-ACAD-6A26B4AFC1A4}"/>
              </a:ext>
            </a:extLst>
          </p:cNvPr>
          <p:cNvSpPr>
            <a:spLocks noGrp="1"/>
          </p:cNvSpPr>
          <p:nvPr/>
        </p:nvSpPr>
        <p:spPr>
          <a:xfrm>
            <a:off x="5772150" y="1762125"/>
            <a:ext cx="400050" cy="342900"/>
          </a:xfrm>
          <a:prstGeom prst="rect">
            <a:avLst/>
          </a:prstGeom>
          <a:noFill/>
          <a:ln w="0">
            <a:noFill/>
          </a:ln>
        </p:spPr>
        <p:txBody>
          <a:bodyPr anchor="ctr">
            <a:normAutofit/>
          </a:bodyPr>
          <a:lstStyle/>
          <a:p>
            <a:pP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3</a:t>
            </a:r>
          </a:p>
        </p:txBody>
      </p:sp>
      <p:sp>
        <p:nvSpPr>
          <p:cNvPr id="17" name="矩形 16">
            <a:extLst>
              <a:ext uri="{FF2B5EF4-FFF2-40B4-BE49-F238E27FC236}">
                <a16:creationId xmlns:a16="http://schemas.microsoft.com/office/drawing/2014/main" id="{B96BE5E5-CE9D-45DE-9B71-5EE097510C09}"/>
              </a:ext>
            </a:extLst>
          </p:cNvPr>
          <p:cNvSpPr>
            <a:spLocks noGrp="1"/>
          </p:cNvSpPr>
          <p:nvPr/>
        </p:nvSpPr>
        <p:spPr>
          <a:xfrm>
            <a:off x="6267450" y="1743075"/>
            <a:ext cx="2305050" cy="495300"/>
          </a:xfrm>
          <a:prstGeom prst="rect">
            <a:avLst/>
          </a:prstGeom>
          <a:noFill/>
          <a:ln w="0">
            <a:noFill/>
          </a:ln>
        </p:spPr>
        <p:txBody>
          <a:bodyPr anchor="t">
            <a:normAutofit fontScale="92982"/>
          </a:bodyPr>
          <a:lstStyle/>
          <a:p>
            <a:pPr>
              <a:defRPr sz="1425" b="1">
                <a:solidFill>
                  <a:srgbClr val="102A43"/>
                </a:solidFill>
                <a:latin typeface="Bitstream Charter"/>
                <a:ea typeface="Bitstream Charter"/>
                <a:cs typeface="Bitstream Charter"/>
              </a:defRPr>
            </a:pPr>
            <a:r>
              <a:rPr lang="en-GB" sz="1425" b="1" dirty="0">
                <a:solidFill>
                  <a:srgbClr val="102A43"/>
                </a:solidFill>
                <a:latin typeface="Bitstream Charter"/>
                <a:ea typeface="Bitstream Charter"/>
                <a:cs typeface="Bitstream Charter"/>
              </a:rPr>
              <a:t>Agentic AI</a:t>
            </a:r>
            <a:r>
              <a:rPr sz="1425" b="1" dirty="0">
                <a:solidFill>
                  <a:srgbClr val="102A43"/>
                </a:solidFill>
                <a:latin typeface="Bitstream Charter"/>
                <a:ea typeface="Bitstream Charter"/>
                <a:cs typeface="Bitstream Charter"/>
              </a:rPr>
              <a:t> Coordinator</a:t>
            </a:r>
            <a:r>
              <a:rPr lang="en-GB" sz="1425" b="1" dirty="0">
                <a:solidFill>
                  <a:srgbClr val="102A43"/>
                </a:solidFill>
                <a:latin typeface="Bitstream Charter"/>
                <a:ea typeface="Bitstream Charter"/>
                <a:cs typeface="Bitstream Charter"/>
              </a:rPr>
              <a:t> </a:t>
            </a:r>
          </a:p>
        </p:txBody>
      </p:sp>
      <p:sp>
        <p:nvSpPr>
          <p:cNvPr id="18" name="矩形 17">
            <a:extLst>
              <a:ext uri="{FF2B5EF4-FFF2-40B4-BE49-F238E27FC236}">
                <a16:creationId xmlns:a16="http://schemas.microsoft.com/office/drawing/2014/main" id="{52981F7A-D818-4351-A6C9-38DD6FF4CD89}"/>
              </a:ext>
            </a:extLst>
          </p:cNvPr>
          <p:cNvSpPr>
            <a:spLocks noGrp="1"/>
          </p:cNvSpPr>
          <p:nvPr/>
        </p:nvSpPr>
        <p:spPr>
          <a:xfrm>
            <a:off x="5810250" y="2390775"/>
            <a:ext cx="2724150" cy="1390650"/>
          </a:xfrm>
          <a:prstGeom prst="rect">
            <a:avLst/>
          </a:prstGeom>
          <a:noFill/>
          <a:ln w="0">
            <a:noFill/>
          </a:ln>
        </p:spPr>
        <p:txBody>
          <a:bodyPr anchor="t">
            <a:normAutofit fontScale="98123"/>
          </a:bodyPr>
          <a:lstStyle/>
          <a:p>
            <a:pPr>
              <a:defRPr sz="1125" b="0">
                <a:solidFill>
                  <a:srgbClr val="1D2B36"/>
                </a:solidFill>
                <a:latin typeface="Bitstream Charter"/>
                <a:ea typeface="Bitstream Charter"/>
                <a:cs typeface="Bitstream Charter"/>
              </a:defRPr>
            </a:pPr>
            <a:r>
              <a:rPr sz="1125" b="0" dirty="0">
                <a:solidFill>
                  <a:srgbClr val="1D2B36"/>
                </a:solidFill>
                <a:latin typeface="Bitstream Charter"/>
                <a:ea typeface="Bitstream Charter"/>
                <a:cs typeface="Bitstream Charter"/>
              </a:rPr>
              <a:t>Observe Case State and objectives</a:t>
            </a:r>
          </a:p>
          <a:p>
            <a:endParaRPr sz="1125" b="0" dirty="0">
              <a:solidFill>
                <a:srgbClr val="1D2B36"/>
              </a:solidFill>
              <a:latin typeface="Bitstream Charter"/>
              <a:ea typeface="Bitstream Charter"/>
              <a:cs typeface="Bitstream Charter"/>
            </a:endParaRPr>
          </a:p>
          <a:p>
            <a:pPr>
              <a:defRPr sz="1125" b="0">
                <a:solidFill>
                  <a:srgbClr val="1D2B36"/>
                </a:solidFill>
                <a:latin typeface="Bitstream Charter"/>
                <a:ea typeface="Bitstream Charter"/>
                <a:cs typeface="Bitstream Charter"/>
              </a:defRPr>
            </a:pPr>
            <a:r>
              <a:rPr sz="1125" b="0" dirty="0">
                <a:solidFill>
                  <a:srgbClr val="1D2B36"/>
                </a:solidFill>
                <a:latin typeface="Bitstream Charter"/>
                <a:ea typeface="Bitstream Charter"/>
                <a:cs typeface="Bitstream Charter"/>
              </a:rPr>
              <a:t>Policy sets permitted actions</a:t>
            </a:r>
          </a:p>
          <a:p>
            <a:endParaRPr sz="1125" b="0" dirty="0">
              <a:solidFill>
                <a:srgbClr val="1D2B36"/>
              </a:solidFill>
              <a:latin typeface="Bitstream Charter"/>
              <a:ea typeface="Bitstream Charter"/>
              <a:cs typeface="Bitstream Charter"/>
            </a:endParaRPr>
          </a:p>
          <a:p>
            <a:pPr>
              <a:defRPr sz="1125" b="0">
                <a:solidFill>
                  <a:srgbClr val="1D2B36"/>
                </a:solidFill>
                <a:latin typeface="Bitstream Charter"/>
                <a:ea typeface="Bitstream Charter"/>
                <a:cs typeface="Bitstream Charter"/>
              </a:defRPr>
            </a:pPr>
            <a:r>
              <a:rPr sz="1125" b="0" dirty="0">
                <a:solidFill>
                  <a:srgbClr val="1D2B36"/>
                </a:solidFill>
                <a:latin typeface="Bitstream Charter"/>
                <a:ea typeface="Bitstream Charter"/>
                <a:cs typeface="Bitstream Charter"/>
              </a:rPr>
              <a:t>Select an approved tool and verify results</a:t>
            </a:r>
          </a:p>
          <a:p>
            <a:endParaRPr sz="1125" b="0" dirty="0">
              <a:solidFill>
                <a:srgbClr val="1D2B36"/>
              </a:solidFill>
              <a:latin typeface="Bitstream Charter"/>
              <a:ea typeface="Bitstream Charter"/>
              <a:cs typeface="Bitstream Charter"/>
            </a:endParaRPr>
          </a:p>
          <a:p>
            <a:pPr>
              <a:defRPr sz="1125" b="0">
                <a:solidFill>
                  <a:srgbClr val="1D2B36"/>
                </a:solidFill>
                <a:latin typeface="Bitstream Charter"/>
                <a:ea typeface="Bitstream Charter"/>
                <a:cs typeface="Bitstream Charter"/>
              </a:defRPr>
            </a:pPr>
            <a:r>
              <a:rPr sz="1125" b="0" dirty="0">
                <a:solidFill>
                  <a:srgbClr val="1D2B36"/>
                </a:solidFill>
                <a:latin typeface="Bitstream Charter"/>
                <a:ea typeface="Bitstream Charter"/>
                <a:cs typeface="Bitstream Charter"/>
              </a:rPr>
              <a:t>Update State and replan</a:t>
            </a:r>
          </a:p>
        </p:txBody>
      </p:sp>
      <p:sp>
        <p:nvSpPr>
          <p:cNvPr id="19" name="矩形: 圆角 18">
            <a:extLst>
              <a:ext uri="{FF2B5EF4-FFF2-40B4-BE49-F238E27FC236}">
                <a16:creationId xmlns:a16="http://schemas.microsoft.com/office/drawing/2014/main" id="{1FFB5B26-E51D-469A-883F-FD95AA746E54}"/>
              </a:ext>
            </a:extLst>
          </p:cNvPr>
          <p:cNvSpPr>
            <a:spLocks noGrp="1"/>
          </p:cNvSpPr>
          <p:nvPr/>
        </p:nvSpPr>
        <p:spPr>
          <a:xfrm>
            <a:off x="9105900" y="1571625"/>
            <a:ext cx="2400300" cy="2381250"/>
          </a:xfrm>
          <a:prstGeom prst="roundRect">
            <a:avLst>
              <a:gd name="adj" fmla="val 3200"/>
            </a:avLst>
          </a:prstGeom>
          <a:solidFill>
            <a:srgbClr val="F1EDF7"/>
          </a:solidFill>
          <a:ln w="11430">
            <a:solidFill>
              <a:srgbClr val="67558F"/>
            </a:solidFill>
          </a:ln>
        </p:spPr>
      </p:sp>
      <p:sp>
        <p:nvSpPr>
          <p:cNvPr id="20" name="椭圆 19">
            <a:extLst>
              <a:ext uri="{FF2B5EF4-FFF2-40B4-BE49-F238E27FC236}">
                <a16:creationId xmlns:a16="http://schemas.microsoft.com/office/drawing/2014/main" id="{24619744-CA53-468C-A7C6-2CE8C46D9406}"/>
              </a:ext>
            </a:extLst>
          </p:cNvPr>
          <p:cNvSpPr>
            <a:spLocks noGrp="1"/>
          </p:cNvSpPr>
          <p:nvPr/>
        </p:nvSpPr>
        <p:spPr>
          <a:xfrm>
            <a:off x="9277350" y="1743075"/>
            <a:ext cx="400050" cy="400050"/>
          </a:xfrm>
          <a:prstGeom prst="ellipse">
            <a:avLst/>
          </a:prstGeom>
          <a:solidFill>
            <a:srgbClr val="67558F"/>
          </a:solidFill>
          <a:ln w="0">
            <a:solidFill>
              <a:srgbClr val="67558F"/>
            </a:solidFill>
          </a:ln>
        </p:spPr>
      </p:sp>
      <p:sp>
        <p:nvSpPr>
          <p:cNvPr id="21" name="矩形 20">
            <a:extLst>
              <a:ext uri="{FF2B5EF4-FFF2-40B4-BE49-F238E27FC236}">
                <a16:creationId xmlns:a16="http://schemas.microsoft.com/office/drawing/2014/main" id="{4FEB7F30-9239-4DA7-832D-329193811394}"/>
              </a:ext>
            </a:extLst>
          </p:cNvPr>
          <p:cNvSpPr>
            <a:spLocks noGrp="1"/>
          </p:cNvSpPr>
          <p:nvPr/>
        </p:nvSpPr>
        <p:spPr>
          <a:xfrm>
            <a:off x="9277350" y="1762125"/>
            <a:ext cx="400050" cy="342900"/>
          </a:xfrm>
          <a:prstGeom prst="rect">
            <a:avLst/>
          </a:prstGeom>
          <a:noFill/>
          <a:ln w="0">
            <a:noFill/>
          </a:ln>
        </p:spPr>
        <p:txBody>
          <a:bodyPr anchor="ctr">
            <a:normAutofit/>
          </a:bodyPr>
          <a:lstStyle/>
          <a:p>
            <a:pPr>
              <a:defRPr sz="1275" b="1">
                <a:solidFill>
                  <a:srgbClr val="FFFFFF"/>
                </a:solidFill>
                <a:latin typeface="Bitstream Charter"/>
                <a:ea typeface="Bitstream Charter"/>
                <a:cs typeface="Bitstream Charter"/>
              </a:defRPr>
            </a:pPr>
            <a:r>
              <a:rPr sz="1275" b="1">
                <a:solidFill>
                  <a:srgbClr val="FFFFFF"/>
                </a:solidFill>
                <a:latin typeface="Bitstream Charter"/>
                <a:ea typeface="Bitstream Charter"/>
                <a:cs typeface="Bitstream Charter"/>
              </a:rPr>
              <a:t>4</a:t>
            </a:r>
          </a:p>
        </p:txBody>
      </p:sp>
      <p:sp>
        <p:nvSpPr>
          <p:cNvPr id="22" name="矩形 21">
            <a:extLst>
              <a:ext uri="{FF2B5EF4-FFF2-40B4-BE49-F238E27FC236}">
                <a16:creationId xmlns:a16="http://schemas.microsoft.com/office/drawing/2014/main" id="{3594E0A9-A387-4A35-A138-6F343F883470}"/>
              </a:ext>
            </a:extLst>
          </p:cNvPr>
          <p:cNvSpPr>
            <a:spLocks noGrp="1"/>
          </p:cNvSpPr>
          <p:nvPr/>
        </p:nvSpPr>
        <p:spPr>
          <a:xfrm>
            <a:off x="9772650" y="1743075"/>
            <a:ext cx="1562100" cy="495300"/>
          </a:xfrm>
          <a:prstGeom prst="rect">
            <a:avLst/>
          </a:prstGeom>
          <a:noFill/>
          <a:ln w="0">
            <a:noFill/>
          </a:ln>
        </p:spPr>
        <p:txBody>
          <a:bodyPr anchor="t">
            <a:normAutofit fontScale="92982"/>
          </a:bodyPr>
          <a:lstStyle/>
          <a:p>
            <a:pPr>
              <a:defRPr sz="1425" b="1">
                <a:solidFill>
                  <a:srgbClr val="102A43"/>
                </a:solidFill>
                <a:latin typeface="Bitstream Charter"/>
                <a:ea typeface="Bitstream Charter"/>
                <a:cs typeface="Bitstream Charter"/>
              </a:defRPr>
            </a:pPr>
            <a:r>
              <a:rPr sz="1425" b="1">
                <a:solidFill>
                  <a:srgbClr val="102A43"/>
                </a:solidFill>
                <a:latin typeface="Bitstream Charter"/>
                <a:ea typeface="Bitstream Charter"/>
                <a:cs typeface="Bitstream Charter"/>
              </a:rPr>
              <a:t>Governance and downstream use</a:t>
            </a:r>
          </a:p>
        </p:txBody>
      </p:sp>
      <p:sp>
        <p:nvSpPr>
          <p:cNvPr id="23" name="矩形 22">
            <a:extLst>
              <a:ext uri="{FF2B5EF4-FFF2-40B4-BE49-F238E27FC236}">
                <a16:creationId xmlns:a16="http://schemas.microsoft.com/office/drawing/2014/main" id="{9B51089A-652C-47A7-A054-DA43309CD3D1}"/>
              </a:ext>
            </a:extLst>
          </p:cNvPr>
          <p:cNvSpPr>
            <a:spLocks noGrp="1"/>
          </p:cNvSpPr>
          <p:nvPr/>
        </p:nvSpPr>
        <p:spPr>
          <a:xfrm>
            <a:off x="9105900" y="2232025"/>
            <a:ext cx="2400299" cy="1524000"/>
          </a:xfrm>
          <a:prstGeom prst="rect">
            <a:avLst/>
          </a:prstGeom>
          <a:noFill/>
          <a:ln w="0">
            <a:noFill/>
          </a:ln>
        </p:spPr>
        <p:txBody>
          <a:bodyPr anchor="t">
            <a:noAutofit/>
          </a:bodyPr>
          <a:lstStyle/>
          <a:p>
            <a:pPr>
              <a:defRPr sz="1125" b="0">
                <a:solidFill>
                  <a:srgbClr val="1D2B36"/>
                </a:solidFill>
                <a:latin typeface="Bitstream Charter"/>
                <a:ea typeface="Bitstream Charter"/>
                <a:cs typeface="Bitstream Charter"/>
              </a:defRPr>
            </a:pPr>
            <a:r>
              <a:rPr sz="1000" b="0" dirty="0">
                <a:solidFill>
                  <a:srgbClr val="1D2B36"/>
                </a:solidFill>
                <a:latin typeface="Bitstream Charter"/>
                <a:ea typeface="Bitstream Charter"/>
                <a:cs typeface="Bitstream Charter"/>
              </a:rPr>
              <a:t>AIRO reviews exceptions and protected decisions</a:t>
            </a:r>
          </a:p>
          <a:p>
            <a:endParaRPr sz="1000" b="0" dirty="0">
              <a:solidFill>
                <a:srgbClr val="1D2B36"/>
              </a:solidFill>
              <a:latin typeface="Bitstream Charter"/>
              <a:ea typeface="Bitstream Charter"/>
              <a:cs typeface="Bitstream Charter"/>
            </a:endParaRPr>
          </a:p>
          <a:p>
            <a:pPr>
              <a:defRPr sz="1125" b="0">
                <a:solidFill>
                  <a:srgbClr val="1D2B36"/>
                </a:solidFill>
                <a:latin typeface="Bitstream Charter"/>
                <a:ea typeface="Bitstream Charter"/>
                <a:cs typeface="Bitstream Charter"/>
              </a:defRPr>
            </a:pPr>
            <a:r>
              <a:rPr lang="en-GB" sz="1000" b="0" dirty="0">
                <a:solidFill>
                  <a:srgbClr val="1D2B36"/>
                </a:solidFill>
                <a:latin typeface="Bitstream Charter"/>
                <a:ea typeface="Bitstream Charter"/>
                <a:cs typeface="Bitstream Charter"/>
              </a:rPr>
              <a:t>Pass</a:t>
            </a:r>
            <a:r>
              <a:rPr sz="1000" b="0" dirty="0">
                <a:solidFill>
                  <a:srgbClr val="1D2B36"/>
                </a:solidFill>
                <a:latin typeface="Bitstream Charter"/>
                <a:ea typeface="Bitstream Charter"/>
                <a:cs typeface="Bitstream Charter"/>
              </a:rPr>
              <a:t> knowledge </a:t>
            </a:r>
            <a:r>
              <a:rPr lang="en-GB" sz="1000" b="0" dirty="0">
                <a:solidFill>
                  <a:srgbClr val="1D2B36"/>
                </a:solidFill>
                <a:latin typeface="Bitstream Charter"/>
                <a:ea typeface="Bitstream Charter"/>
                <a:cs typeface="Bitstream Charter"/>
              </a:rPr>
              <a:t>and evidence to </a:t>
            </a:r>
            <a:r>
              <a:rPr sz="1000" b="0" dirty="0">
                <a:solidFill>
                  <a:srgbClr val="1D2B36"/>
                </a:solidFill>
                <a:latin typeface="Bitstream Charter"/>
                <a:ea typeface="Bitstream Charter"/>
                <a:cs typeface="Bitstream Charter"/>
              </a:rPr>
              <a:t>Independent Validation</a:t>
            </a:r>
          </a:p>
          <a:p>
            <a:endParaRPr lang="en-GB" sz="1000" b="0" dirty="0">
              <a:solidFill>
                <a:srgbClr val="1D2B36"/>
              </a:solidFill>
              <a:latin typeface="Bitstream Charter"/>
              <a:ea typeface="Bitstream Charter"/>
              <a:cs typeface="Bitstream Charter"/>
            </a:endParaRPr>
          </a:p>
          <a:p>
            <a:r>
              <a:rPr lang="en-GB" sz="1000" dirty="0"/>
              <a:t>Reduce repeated questions and improving handover</a:t>
            </a:r>
          </a:p>
          <a:p>
            <a:endParaRPr sz="1000" b="0" dirty="0">
              <a:solidFill>
                <a:srgbClr val="1D2B36"/>
              </a:solidFill>
              <a:latin typeface="Bitstream Charter"/>
              <a:ea typeface="Bitstream Charter"/>
              <a:cs typeface="Bitstream Charter"/>
            </a:endParaRPr>
          </a:p>
          <a:p>
            <a:pPr>
              <a:defRPr sz="1125" b="0">
                <a:solidFill>
                  <a:srgbClr val="1D2B36"/>
                </a:solidFill>
                <a:latin typeface="Bitstream Charter"/>
                <a:ea typeface="Bitstream Charter"/>
                <a:cs typeface="Bitstream Charter"/>
              </a:defRPr>
            </a:pPr>
            <a:r>
              <a:rPr sz="1000" b="0" dirty="0">
                <a:solidFill>
                  <a:srgbClr val="1D2B36"/>
                </a:solidFill>
                <a:latin typeface="Bitstream Charter"/>
                <a:ea typeface="Bitstream Charter"/>
                <a:cs typeface="Bitstream Charter"/>
              </a:rPr>
              <a:t>Validation status returns to the oversight view</a:t>
            </a:r>
          </a:p>
        </p:txBody>
      </p:sp>
      <p:sp>
        <p:nvSpPr>
          <p:cNvPr id="24" name="箭头: 右 23">
            <a:extLst>
              <a:ext uri="{FF2B5EF4-FFF2-40B4-BE49-F238E27FC236}">
                <a16:creationId xmlns:a16="http://schemas.microsoft.com/office/drawing/2014/main" id="{1805F57F-EDC7-4105-B85C-3C8371B3E326}"/>
              </a:ext>
            </a:extLst>
          </p:cNvPr>
          <p:cNvSpPr>
            <a:spLocks noGrp="1"/>
          </p:cNvSpPr>
          <p:nvPr/>
        </p:nvSpPr>
        <p:spPr>
          <a:xfrm>
            <a:off x="2838450" y="2609850"/>
            <a:ext cx="247650" cy="247650"/>
          </a:xfrm>
          <a:prstGeom prst="rightArrow">
            <a:avLst/>
          </a:prstGeom>
          <a:solidFill>
            <a:srgbClr val="102A43"/>
          </a:solidFill>
          <a:ln w="4763">
            <a:solidFill>
              <a:srgbClr val="102A43"/>
            </a:solidFill>
          </a:ln>
        </p:spPr>
      </p:sp>
      <p:sp>
        <p:nvSpPr>
          <p:cNvPr id="25" name="箭头: 右 24">
            <a:extLst>
              <a:ext uri="{FF2B5EF4-FFF2-40B4-BE49-F238E27FC236}">
                <a16:creationId xmlns:a16="http://schemas.microsoft.com/office/drawing/2014/main" id="{52B0901F-CCA7-4495-93EC-EC202901E708}"/>
              </a:ext>
            </a:extLst>
          </p:cNvPr>
          <p:cNvSpPr>
            <a:spLocks noGrp="1"/>
          </p:cNvSpPr>
          <p:nvPr/>
        </p:nvSpPr>
        <p:spPr>
          <a:xfrm>
            <a:off x="5295900" y="2609850"/>
            <a:ext cx="247650" cy="247650"/>
          </a:xfrm>
          <a:prstGeom prst="rightArrow">
            <a:avLst/>
          </a:prstGeom>
          <a:solidFill>
            <a:srgbClr val="102A43"/>
          </a:solidFill>
          <a:ln w="4763">
            <a:solidFill>
              <a:srgbClr val="102A43"/>
            </a:solidFill>
          </a:ln>
        </p:spPr>
      </p:sp>
      <p:sp>
        <p:nvSpPr>
          <p:cNvPr id="26" name="箭头: 右 25">
            <a:extLst>
              <a:ext uri="{FF2B5EF4-FFF2-40B4-BE49-F238E27FC236}">
                <a16:creationId xmlns:a16="http://schemas.microsoft.com/office/drawing/2014/main" id="{341DA1FE-7851-426D-AE2D-403A6834ED1E}"/>
              </a:ext>
            </a:extLst>
          </p:cNvPr>
          <p:cNvSpPr>
            <a:spLocks noGrp="1"/>
          </p:cNvSpPr>
          <p:nvPr/>
        </p:nvSpPr>
        <p:spPr>
          <a:xfrm>
            <a:off x="8801100" y="2609850"/>
            <a:ext cx="247650" cy="247650"/>
          </a:xfrm>
          <a:prstGeom prst="rightArrow">
            <a:avLst/>
          </a:prstGeom>
          <a:solidFill>
            <a:srgbClr val="102A43"/>
          </a:solidFill>
          <a:ln w="4763">
            <a:solidFill>
              <a:srgbClr val="102A43"/>
            </a:solidFill>
          </a:ln>
        </p:spPr>
      </p:sp>
      <p:sp>
        <p:nvSpPr>
          <p:cNvPr id="27" name="矩形 26">
            <a:extLst>
              <a:ext uri="{FF2B5EF4-FFF2-40B4-BE49-F238E27FC236}">
                <a16:creationId xmlns:a16="http://schemas.microsoft.com/office/drawing/2014/main" id="{C54EB480-AF10-401D-A16F-9ABF178A3A23}"/>
              </a:ext>
            </a:extLst>
          </p:cNvPr>
          <p:cNvSpPr>
            <a:spLocks noGrp="1"/>
          </p:cNvSpPr>
          <p:nvPr/>
        </p:nvSpPr>
        <p:spPr>
          <a:xfrm>
            <a:off x="685800" y="4191000"/>
            <a:ext cx="2000250" cy="285750"/>
          </a:xfrm>
          <a:prstGeom prst="rect">
            <a:avLst/>
          </a:prstGeom>
          <a:noFill/>
          <a:ln w="0">
            <a:noFill/>
          </a:ln>
        </p:spPr>
        <p:txBody>
          <a:bodyPr anchor="t">
            <a:normAutofit/>
          </a:bodyPr>
          <a:lstStyle/>
          <a:p>
            <a:pPr>
              <a:defRPr sz="1275" b="1">
                <a:solidFill>
                  <a:srgbClr val="102A43"/>
                </a:solidFill>
                <a:latin typeface="Bitstream Charter"/>
                <a:ea typeface="Bitstream Charter"/>
                <a:cs typeface="Bitstream Charter"/>
              </a:defRPr>
            </a:pPr>
            <a:r>
              <a:rPr sz="1275" b="1">
                <a:solidFill>
                  <a:srgbClr val="102A43"/>
                </a:solidFill>
                <a:latin typeface="Bitstream Charter"/>
                <a:ea typeface="Bitstream Charter"/>
                <a:cs typeface="Bitstream Charter"/>
              </a:rPr>
              <a:t>Approved capabilities</a:t>
            </a:r>
          </a:p>
        </p:txBody>
      </p:sp>
      <p:sp>
        <p:nvSpPr>
          <p:cNvPr id="28" name="矩形: 圆角 27">
            <a:extLst>
              <a:ext uri="{FF2B5EF4-FFF2-40B4-BE49-F238E27FC236}">
                <a16:creationId xmlns:a16="http://schemas.microsoft.com/office/drawing/2014/main" id="{86ECE96C-9072-45A1-AD63-4E92AEFAEA4B}"/>
              </a:ext>
            </a:extLst>
          </p:cNvPr>
          <p:cNvSpPr>
            <a:spLocks noGrp="1"/>
          </p:cNvSpPr>
          <p:nvPr/>
        </p:nvSpPr>
        <p:spPr>
          <a:xfrm>
            <a:off x="685800" y="4552950"/>
            <a:ext cx="2428875" cy="1000125"/>
          </a:xfrm>
          <a:prstGeom prst="roundRect">
            <a:avLst>
              <a:gd name="adj" fmla="val 7619"/>
            </a:avLst>
          </a:prstGeom>
          <a:solidFill>
            <a:srgbClr val="EAF3F8"/>
          </a:solidFill>
          <a:ln w="11430">
            <a:solidFill>
              <a:srgbClr val="176B92"/>
            </a:solidFill>
          </a:ln>
        </p:spPr>
      </p:sp>
      <p:sp>
        <p:nvSpPr>
          <p:cNvPr id="29" name="矩形 28">
            <a:extLst>
              <a:ext uri="{FF2B5EF4-FFF2-40B4-BE49-F238E27FC236}">
                <a16:creationId xmlns:a16="http://schemas.microsoft.com/office/drawing/2014/main" id="{281685F5-FB76-481B-8615-B395A874FC0A}"/>
              </a:ext>
            </a:extLst>
          </p:cNvPr>
          <p:cNvSpPr>
            <a:spLocks noGrp="1"/>
          </p:cNvSpPr>
          <p:nvPr/>
        </p:nvSpPr>
        <p:spPr>
          <a:xfrm>
            <a:off x="828675" y="4686300"/>
            <a:ext cx="2143125" cy="247650"/>
          </a:xfrm>
          <a:prstGeom prst="rect">
            <a:avLst/>
          </a:prstGeom>
          <a:noFill/>
          <a:ln w="0">
            <a:noFill/>
          </a:ln>
        </p:spPr>
        <p:txBody>
          <a:bodyPr anchor="t">
            <a:normAutofit fontScale="87892" lnSpcReduction="10000"/>
          </a:bodyPr>
          <a:lstStyle/>
          <a:p>
            <a:pPr>
              <a:defRPr sz="1275" b="1">
                <a:solidFill>
                  <a:srgbClr val="176B92"/>
                </a:solidFill>
                <a:latin typeface="Bitstream Charter"/>
                <a:ea typeface="Bitstream Charter"/>
                <a:cs typeface="Bitstream Charter"/>
              </a:defRPr>
            </a:pPr>
            <a:r>
              <a:rPr sz="1275" b="1">
                <a:solidFill>
                  <a:srgbClr val="176B92"/>
                </a:solidFill>
                <a:latin typeface="Bitstream Charter"/>
                <a:ea typeface="Bitstream Charter"/>
                <a:cs typeface="Bitstream Charter"/>
              </a:rPr>
              <a:t>Evidence understanding</a:t>
            </a:r>
          </a:p>
        </p:txBody>
      </p:sp>
      <p:sp>
        <p:nvSpPr>
          <p:cNvPr id="30" name="矩形 29">
            <a:extLst>
              <a:ext uri="{FF2B5EF4-FFF2-40B4-BE49-F238E27FC236}">
                <a16:creationId xmlns:a16="http://schemas.microsoft.com/office/drawing/2014/main" id="{C40FD93C-BF2A-4823-8D8A-5D2EDC051B35}"/>
              </a:ext>
            </a:extLst>
          </p:cNvPr>
          <p:cNvSpPr>
            <a:spLocks noGrp="1"/>
          </p:cNvSpPr>
          <p:nvPr/>
        </p:nvSpPr>
        <p:spPr>
          <a:xfrm>
            <a:off x="828675" y="4991100"/>
            <a:ext cx="2143125" cy="438150"/>
          </a:xfrm>
          <a:prstGeom prst="rect">
            <a:avLst/>
          </a:prstGeom>
          <a:noFill/>
          <a:ln w="0">
            <a:noFill/>
          </a:ln>
        </p:spPr>
        <p:txBody>
          <a:bodyPr anchor="t">
            <a:normAutofit/>
          </a:bodyPr>
          <a:lstStyle/>
          <a:p>
            <a:pPr>
              <a:defRPr sz="1050" b="0">
                <a:solidFill>
                  <a:srgbClr val="1D2B36"/>
                </a:solidFill>
                <a:latin typeface="Bitstream Charter"/>
                <a:ea typeface="Bitstream Charter"/>
                <a:cs typeface="Bitstream Charter"/>
              </a:defRPr>
            </a:pPr>
            <a:r>
              <a:rPr sz="1050" b="0">
                <a:solidFill>
                  <a:srgbClr val="1D2B36"/>
                </a:solidFill>
                <a:latin typeface="Bitstream Charter"/>
                <a:ea typeface="Bitstream Charter"/>
                <a:cs typeface="Bitstream Charter"/>
              </a:rPr>
              <a:t>Extract facts, link citations and flag conflicts</a:t>
            </a:r>
          </a:p>
        </p:txBody>
      </p:sp>
      <p:sp>
        <p:nvSpPr>
          <p:cNvPr id="31" name="矩形: 圆角 30">
            <a:extLst>
              <a:ext uri="{FF2B5EF4-FFF2-40B4-BE49-F238E27FC236}">
                <a16:creationId xmlns:a16="http://schemas.microsoft.com/office/drawing/2014/main" id="{1ADC6347-EB7A-4E82-A68D-EE80BC89C34E}"/>
              </a:ext>
            </a:extLst>
          </p:cNvPr>
          <p:cNvSpPr>
            <a:spLocks noGrp="1"/>
          </p:cNvSpPr>
          <p:nvPr/>
        </p:nvSpPr>
        <p:spPr>
          <a:xfrm>
            <a:off x="3286125" y="4552950"/>
            <a:ext cx="2428875" cy="1000125"/>
          </a:xfrm>
          <a:prstGeom prst="roundRect">
            <a:avLst>
              <a:gd name="adj" fmla="val 7619"/>
            </a:avLst>
          </a:prstGeom>
          <a:solidFill>
            <a:srgbClr val="E7F4F1"/>
          </a:solidFill>
          <a:ln w="11430">
            <a:solidFill>
              <a:srgbClr val="167A73"/>
            </a:solidFill>
          </a:ln>
        </p:spPr>
      </p:sp>
      <p:sp>
        <p:nvSpPr>
          <p:cNvPr id="32" name="矩形 31">
            <a:extLst>
              <a:ext uri="{FF2B5EF4-FFF2-40B4-BE49-F238E27FC236}">
                <a16:creationId xmlns:a16="http://schemas.microsoft.com/office/drawing/2014/main" id="{80FFDD45-6D99-457B-869E-D46B576C70C8}"/>
              </a:ext>
            </a:extLst>
          </p:cNvPr>
          <p:cNvSpPr>
            <a:spLocks noGrp="1"/>
          </p:cNvSpPr>
          <p:nvPr/>
        </p:nvSpPr>
        <p:spPr>
          <a:xfrm>
            <a:off x="3429000" y="4686300"/>
            <a:ext cx="2143125" cy="247650"/>
          </a:xfrm>
          <a:prstGeom prst="rect">
            <a:avLst/>
          </a:prstGeom>
          <a:noFill/>
          <a:ln w="0">
            <a:noFill/>
          </a:ln>
        </p:spPr>
        <p:txBody>
          <a:bodyPr anchor="t">
            <a:normAutofit fontScale="87892" lnSpcReduction="10000"/>
          </a:bodyPr>
          <a:lstStyle/>
          <a:p>
            <a:pPr>
              <a:defRPr sz="1275" b="1">
                <a:solidFill>
                  <a:srgbClr val="167A73"/>
                </a:solidFill>
                <a:latin typeface="Bitstream Charter"/>
                <a:ea typeface="Bitstream Charter"/>
                <a:cs typeface="Bitstream Charter"/>
              </a:defRPr>
            </a:pPr>
            <a:r>
              <a:rPr sz="1275" b="1">
                <a:solidFill>
                  <a:srgbClr val="167A73"/>
                </a:solidFill>
                <a:latin typeface="Bitstream Charter"/>
                <a:ea typeface="Bitstream Charter"/>
                <a:cs typeface="Bitstream Charter"/>
              </a:rPr>
              <a:t>Targeted follow-up</a:t>
            </a:r>
          </a:p>
        </p:txBody>
      </p:sp>
      <p:sp>
        <p:nvSpPr>
          <p:cNvPr id="33" name="矩形 32">
            <a:extLst>
              <a:ext uri="{FF2B5EF4-FFF2-40B4-BE49-F238E27FC236}">
                <a16:creationId xmlns:a16="http://schemas.microsoft.com/office/drawing/2014/main" id="{BEA2F7C9-EC01-457B-A9A4-8932FD8976D7}"/>
              </a:ext>
            </a:extLst>
          </p:cNvPr>
          <p:cNvSpPr>
            <a:spLocks noGrp="1"/>
          </p:cNvSpPr>
          <p:nvPr/>
        </p:nvSpPr>
        <p:spPr>
          <a:xfrm>
            <a:off x="3429000" y="4991100"/>
            <a:ext cx="2143125" cy="438150"/>
          </a:xfrm>
          <a:prstGeom prst="rect">
            <a:avLst/>
          </a:prstGeom>
          <a:noFill/>
          <a:ln w="0">
            <a:noFill/>
          </a:ln>
        </p:spPr>
        <p:txBody>
          <a:bodyPr anchor="t">
            <a:normAutofit/>
          </a:bodyPr>
          <a:lstStyle/>
          <a:p>
            <a:pPr>
              <a:defRPr sz="1050" b="0">
                <a:solidFill>
                  <a:srgbClr val="1D2B36"/>
                </a:solidFill>
                <a:latin typeface="Bitstream Charter"/>
                <a:ea typeface="Bitstream Charter"/>
                <a:cs typeface="Bitstream Charter"/>
              </a:defRPr>
            </a:pPr>
            <a:r>
              <a:rPr sz="1050" b="0">
                <a:solidFill>
                  <a:srgbClr val="1D2B36"/>
                </a:solidFill>
                <a:latin typeface="Bitstream Charter"/>
                <a:ea typeface="Bitstream Charter"/>
                <a:cs typeface="Bitstream Charter"/>
              </a:rPr>
              <a:t>Identify missing information and ask Case-specific questions</a:t>
            </a:r>
          </a:p>
        </p:txBody>
      </p:sp>
      <p:sp>
        <p:nvSpPr>
          <p:cNvPr id="34" name="矩形: 圆角 33">
            <a:extLst>
              <a:ext uri="{FF2B5EF4-FFF2-40B4-BE49-F238E27FC236}">
                <a16:creationId xmlns:a16="http://schemas.microsoft.com/office/drawing/2014/main" id="{72085867-C33C-4A06-82F9-99FEE4395281}"/>
              </a:ext>
            </a:extLst>
          </p:cNvPr>
          <p:cNvSpPr>
            <a:spLocks noGrp="1"/>
          </p:cNvSpPr>
          <p:nvPr/>
        </p:nvSpPr>
        <p:spPr>
          <a:xfrm>
            <a:off x="5886450" y="4552950"/>
            <a:ext cx="2428875" cy="1000125"/>
          </a:xfrm>
          <a:prstGeom prst="roundRect">
            <a:avLst>
              <a:gd name="adj" fmla="val 7619"/>
            </a:avLst>
          </a:prstGeom>
          <a:solidFill>
            <a:srgbClr val="FFF3DD"/>
          </a:solidFill>
          <a:ln w="11430">
            <a:solidFill>
              <a:srgbClr val="A36114"/>
            </a:solidFill>
          </a:ln>
        </p:spPr>
      </p:sp>
      <p:sp>
        <p:nvSpPr>
          <p:cNvPr id="35" name="矩形 34">
            <a:extLst>
              <a:ext uri="{FF2B5EF4-FFF2-40B4-BE49-F238E27FC236}">
                <a16:creationId xmlns:a16="http://schemas.microsoft.com/office/drawing/2014/main" id="{1D498D11-8F62-4075-A907-1C8ACBB3284A}"/>
              </a:ext>
            </a:extLst>
          </p:cNvPr>
          <p:cNvSpPr>
            <a:spLocks noGrp="1"/>
          </p:cNvSpPr>
          <p:nvPr/>
        </p:nvSpPr>
        <p:spPr>
          <a:xfrm>
            <a:off x="6029325" y="4686300"/>
            <a:ext cx="2143125" cy="247650"/>
          </a:xfrm>
          <a:prstGeom prst="rect">
            <a:avLst/>
          </a:prstGeom>
          <a:noFill/>
          <a:ln w="0">
            <a:noFill/>
          </a:ln>
        </p:spPr>
        <p:txBody>
          <a:bodyPr anchor="t">
            <a:normAutofit fontScale="87892" lnSpcReduction="10000"/>
          </a:bodyPr>
          <a:lstStyle/>
          <a:p>
            <a:pPr>
              <a:defRPr sz="1275" b="1">
                <a:solidFill>
                  <a:srgbClr val="A36114"/>
                </a:solidFill>
                <a:latin typeface="Bitstream Charter"/>
                <a:ea typeface="Bitstream Charter"/>
                <a:cs typeface="Bitstream Charter"/>
              </a:defRPr>
            </a:pPr>
            <a:r>
              <a:rPr sz="1275" b="1">
                <a:solidFill>
                  <a:srgbClr val="A36114"/>
                </a:solidFill>
                <a:latin typeface="Bitstream Charter"/>
                <a:ea typeface="Bitstream Charter"/>
                <a:cs typeface="Bitstream Charter"/>
              </a:rPr>
              <a:t>Evidence-linked pack</a:t>
            </a:r>
          </a:p>
        </p:txBody>
      </p:sp>
      <p:sp>
        <p:nvSpPr>
          <p:cNvPr id="36" name="矩形 35">
            <a:extLst>
              <a:ext uri="{FF2B5EF4-FFF2-40B4-BE49-F238E27FC236}">
                <a16:creationId xmlns:a16="http://schemas.microsoft.com/office/drawing/2014/main" id="{5F688231-BC8A-4051-AB01-13528551BFF1}"/>
              </a:ext>
            </a:extLst>
          </p:cNvPr>
          <p:cNvSpPr>
            <a:spLocks noGrp="1"/>
          </p:cNvSpPr>
          <p:nvPr/>
        </p:nvSpPr>
        <p:spPr>
          <a:xfrm>
            <a:off x="6029325" y="4991100"/>
            <a:ext cx="2143125" cy="438150"/>
          </a:xfrm>
          <a:prstGeom prst="rect">
            <a:avLst/>
          </a:prstGeom>
          <a:noFill/>
          <a:ln w="0">
            <a:noFill/>
          </a:ln>
        </p:spPr>
        <p:txBody>
          <a:bodyPr anchor="t">
            <a:normAutofit/>
          </a:bodyPr>
          <a:lstStyle/>
          <a:p>
            <a:pPr>
              <a:defRPr sz="1050" b="0">
                <a:solidFill>
                  <a:srgbClr val="1D2B36"/>
                </a:solidFill>
                <a:latin typeface="Bitstream Charter"/>
                <a:ea typeface="Bitstream Charter"/>
                <a:cs typeface="Bitstream Charter"/>
              </a:defRPr>
            </a:pPr>
            <a:r>
              <a:rPr sz="1050" b="0">
                <a:solidFill>
                  <a:srgbClr val="1D2B36"/>
                </a:solidFill>
                <a:latin typeface="Bitstream Charter"/>
                <a:ea typeface="Bitstream Charter"/>
                <a:cs typeface="Bitstream Charter"/>
              </a:rPr>
              <a:t>Draft the summary and rationale using verified Case State</a:t>
            </a:r>
          </a:p>
        </p:txBody>
      </p:sp>
      <p:sp>
        <p:nvSpPr>
          <p:cNvPr id="37" name="矩形: 圆角 36">
            <a:extLst>
              <a:ext uri="{FF2B5EF4-FFF2-40B4-BE49-F238E27FC236}">
                <a16:creationId xmlns:a16="http://schemas.microsoft.com/office/drawing/2014/main" id="{DFBD3617-F1EC-4219-B10D-037728FAF4EE}"/>
              </a:ext>
            </a:extLst>
          </p:cNvPr>
          <p:cNvSpPr>
            <a:spLocks noGrp="1"/>
          </p:cNvSpPr>
          <p:nvPr/>
        </p:nvSpPr>
        <p:spPr>
          <a:xfrm>
            <a:off x="8486775" y="4552950"/>
            <a:ext cx="3019425" cy="1000125"/>
          </a:xfrm>
          <a:prstGeom prst="roundRect">
            <a:avLst>
              <a:gd name="adj" fmla="val 7619"/>
            </a:avLst>
          </a:prstGeom>
          <a:solidFill>
            <a:srgbClr val="F1EDF7"/>
          </a:solidFill>
          <a:ln w="11430">
            <a:solidFill>
              <a:srgbClr val="67558F"/>
            </a:solidFill>
          </a:ln>
        </p:spPr>
      </p:sp>
      <p:sp>
        <p:nvSpPr>
          <p:cNvPr id="38" name="矩形 37">
            <a:extLst>
              <a:ext uri="{FF2B5EF4-FFF2-40B4-BE49-F238E27FC236}">
                <a16:creationId xmlns:a16="http://schemas.microsoft.com/office/drawing/2014/main" id="{B5634367-3A4F-40FB-99A4-60368F874FCD}"/>
              </a:ext>
            </a:extLst>
          </p:cNvPr>
          <p:cNvSpPr>
            <a:spLocks noGrp="1"/>
          </p:cNvSpPr>
          <p:nvPr/>
        </p:nvSpPr>
        <p:spPr>
          <a:xfrm>
            <a:off x="8629650" y="4686300"/>
            <a:ext cx="2733675" cy="247650"/>
          </a:xfrm>
          <a:prstGeom prst="rect">
            <a:avLst/>
          </a:prstGeom>
          <a:noFill/>
          <a:ln w="0">
            <a:noFill/>
          </a:ln>
        </p:spPr>
        <p:txBody>
          <a:bodyPr anchor="t">
            <a:normAutofit fontScale="87892" lnSpcReduction="10000"/>
          </a:bodyPr>
          <a:lstStyle/>
          <a:p>
            <a:pPr>
              <a:defRPr sz="1275" b="1">
                <a:solidFill>
                  <a:srgbClr val="67558F"/>
                </a:solidFill>
                <a:latin typeface="Bitstream Charter"/>
                <a:ea typeface="Bitstream Charter"/>
                <a:cs typeface="Bitstream Charter"/>
              </a:defRPr>
            </a:pPr>
            <a:r>
              <a:rPr sz="1275" b="1">
                <a:solidFill>
                  <a:srgbClr val="67558F"/>
                </a:solidFill>
                <a:latin typeface="Bitstream Charter"/>
                <a:ea typeface="Bitstream Charter"/>
                <a:cs typeface="Bitstream Charter"/>
              </a:rPr>
              <a:t>Validation handover</a:t>
            </a:r>
          </a:p>
        </p:txBody>
      </p:sp>
      <p:sp>
        <p:nvSpPr>
          <p:cNvPr id="39" name="矩形 38">
            <a:extLst>
              <a:ext uri="{FF2B5EF4-FFF2-40B4-BE49-F238E27FC236}">
                <a16:creationId xmlns:a16="http://schemas.microsoft.com/office/drawing/2014/main" id="{D4972277-340C-4EE0-A168-6E35BEBCCBC8}"/>
              </a:ext>
            </a:extLst>
          </p:cNvPr>
          <p:cNvSpPr>
            <a:spLocks noGrp="1"/>
          </p:cNvSpPr>
          <p:nvPr/>
        </p:nvSpPr>
        <p:spPr>
          <a:xfrm>
            <a:off x="8629650" y="4991100"/>
            <a:ext cx="2733675" cy="438150"/>
          </a:xfrm>
          <a:prstGeom prst="rect">
            <a:avLst/>
          </a:prstGeom>
          <a:noFill/>
          <a:ln w="0">
            <a:noFill/>
          </a:ln>
        </p:spPr>
        <p:txBody>
          <a:bodyPr anchor="t">
            <a:normAutofit/>
          </a:bodyPr>
          <a:lstStyle/>
          <a:p>
            <a:pPr>
              <a:defRPr sz="1050" b="0">
                <a:solidFill>
                  <a:srgbClr val="1D2B36"/>
                </a:solidFill>
                <a:latin typeface="Bitstream Charter"/>
                <a:ea typeface="Bitstream Charter"/>
                <a:cs typeface="Bitstream Charter"/>
              </a:defRPr>
            </a:pPr>
            <a:r>
              <a:rPr sz="1050" b="0">
                <a:solidFill>
                  <a:srgbClr val="1D2B36"/>
                </a:solidFill>
                <a:latin typeface="Bitstream Charter"/>
                <a:ea typeface="Bitstream Charter"/>
                <a:cs typeface="Bitstream Charter"/>
              </a:rPr>
              <a:t>Reuse confirmed facts, risks and evidence without repeating questions</a:t>
            </a:r>
          </a:p>
        </p:txBody>
      </p:sp>
      <p:sp>
        <p:nvSpPr>
          <p:cNvPr id="40" name="矩形: 圆角 39">
            <a:extLst>
              <a:ext uri="{FF2B5EF4-FFF2-40B4-BE49-F238E27FC236}">
                <a16:creationId xmlns:a16="http://schemas.microsoft.com/office/drawing/2014/main" id="{60878DD1-3055-45C1-991F-04B92ECBC92C}"/>
              </a:ext>
            </a:extLst>
          </p:cNvPr>
          <p:cNvSpPr>
            <a:spLocks noGrp="1"/>
          </p:cNvSpPr>
          <p:nvPr/>
        </p:nvSpPr>
        <p:spPr>
          <a:xfrm>
            <a:off x="685800" y="6115050"/>
            <a:ext cx="10820400" cy="438150"/>
          </a:xfrm>
          <a:prstGeom prst="roundRect">
            <a:avLst>
              <a:gd name="adj" fmla="val 17391"/>
            </a:avLst>
          </a:prstGeom>
          <a:solidFill>
            <a:srgbClr val="102A43"/>
          </a:solidFill>
          <a:ln w="11430">
            <a:solidFill>
              <a:srgbClr val="102A43"/>
            </a:solidFill>
          </a:ln>
        </p:spPr>
      </p:sp>
      <p:sp>
        <p:nvSpPr>
          <p:cNvPr id="41" name="矩形 40">
            <a:extLst>
              <a:ext uri="{FF2B5EF4-FFF2-40B4-BE49-F238E27FC236}">
                <a16:creationId xmlns:a16="http://schemas.microsoft.com/office/drawing/2014/main" id="{174F6BB1-5B1B-4651-A2E1-79007092FBC1}"/>
              </a:ext>
            </a:extLst>
          </p:cNvPr>
          <p:cNvSpPr>
            <a:spLocks noGrp="1"/>
          </p:cNvSpPr>
          <p:nvPr/>
        </p:nvSpPr>
        <p:spPr>
          <a:xfrm>
            <a:off x="904875" y="6191250"/>
            <a:ext cx="10382250" cy="285750"/>
          </a:xfrm>
          <a:prstGeom prst="rect">
            <a:avLst/>
          </a:prstGeom>
          <a:noFill/>
          <a:ln w="0">
            <a:noFill/>
          </a:ln>
        </p:spPr>
        <p:txBody>
          <a:bodyPr anchor="ctr">
            <a:normAutofit/>
          </a:bodyPr>
          <a:lstStyle/>
          <a:p>
            <a:pPr>
              <a:defRPr sz="1125" b="1">
                <a:solidFill>
                  <a:srgbClr val="FFFFFF"/>
                </a:solidFill>
                <a:latin typeface="Bitstream Charter"/>
                <a:ea typeface="Bitstream Charter"/>
                <a:cs typeface="Bitstream Charter"/>
              </a:defRPr>
            </a:pPr>
            <a:r>
              <a:rPr sz="1125" b="1" dirty="0">
                <a:solidFill>
                  <a:srgbClr val="FFFFFF"/>
                </a:solidFill>
                <a:latin typeface="Bitstream Charter"/>
                <a:ea typeface="Bitstream Charter"/>
                <a:cs typeface="Bitstream Charter"/>
              </a:rPr>
              <a:t>Deterministic scores and 2LoD rules remain authoritative. </a:t>
            </a:r>
            <a:r>
              <a:rPr lang="en-GB" sz="1125" b="1" dirty="0">
                <a:solidFill>
                  <a:srgbClr val="FFFFFF"/>
                </a:solidFill>
                <a:latin typeface="Bitstream Charter"/>
                <a:ea typeface="Bitstream Charter"/>
                <a:cs typeface="Bitstream Charter"/>
              </a:rPr>
              <a:t>Agent</a:t>
            </a:r>
            <a:r>
              <a:rPr sz="1125" b="1" dirty="0">
                <a:solidFill>
                  <a:srgbClr val="FFFFFF"/>
                </a:solidFill>
                <a:latin typeface="Bitstream Charter"/>
                <a:ea typeface="Bitstream Charter"/>
                <a:cs typeface="Bitstream Charter"/>
              </a:rPr>
              <a:t> outputs enter Case State only after verification and all external actions remain controlled.</a:t>
            </a:r>
          </a:p>
        </p:txBody>
      </p:sp>
    </p:spTree>
    <p:extLst>
      <p:ext uri="{BB962C8B-B14F-4D97-AF65-F5344CB8AC3E}">
        <p14:creationId xmlns:p14="http://schemas.microsoft.com/office/powerpoint/2010/main" val="93284343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988</Words>
  <Application>Microsoft Office PowerPoint</Application>
  <DocSecurity>0</DocSecurity>
  <PresentationFormat>宽屏</PresentationFormat>
  <Paragraphs>158</Paragraphs>
  <Slides>4</Slides>
  <Notes>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4</vt:i4>
      </vt:variant>
    </vt:vector>
  </HeadingPairs>
  <TitlesOfParts>
    <vt:vector size="7" baseType="lpstr">
      <vt:lpstr>Bitstream Charter</vt:lpstr>
      <vt:lpstr>Calibri</vt:lpstr>
      <vt:lpstr>ChatGPT</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Bingbing Li</cp:lastModifiedBy>
  <cp:revision>6</cp:revision>
  <dcterms:created xsi:type="dcterms:W3CDTF">2026-09-12T07:29:35Z</dcterms:created>
  <dcterms:modified xsi:type="dcterms:W3CDTF">2026-09-13T07:57:22Z</dcterms:modified>
</cp:coreProperties>
</file>