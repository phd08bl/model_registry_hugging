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5925800" cy="8963025"/>
  <p:notesSz cx="8963025" cy="15925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image" Target="../media/image-1-4.png"/><Relationship Id="rId5" Type="http://schemas.openxmlformats.org/officeDocument/2006/relationships/image" Target="../media/image-1-5.jpe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jpeg"/><Relationship Id="rId15" Type="http://schemas.openxmlformats.org/officeDocument/2006/relationships/image" Target="../media/image-1-15.png"/><Relationship Id="rId16" Type="http://schemas.openxmlformats.org/officeDocument/2006/relationships/image" Target="../media/image-1-16.jpeg"/><Relationship Id="rId17" Type="http://schemas.openxmlformats.org/officeDocument/2006/relationships/image" Target="../media/image-1-17.png"/><Relationship Id="rId18" Type="http://schemas.openxmlformats.org/officeDocument/2006/relationships/image" Target="../media/image-1-18.jpeg"/><Relationship Id="rId19" Type="http://schemas.openxmlformats.org/officeDocument/2006/relationships/image" Target="../media/image-1-19.png"/><Relationship Id="rId20" Type="http://schemas.openxmlformats.org/officeDocument/2006/relationships/image" Target="../media/image-1-20.jpe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jpe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jpeg"/><Relationship Id="rId36" Type="http://schemas.openxmlformats.org/officeDocument/2006/relationships/image" Target="../media/image-1-36.png"/><Relationship Id="rId37" Type="http://schemas.openxmlformats.org/officeDocument/2006/relationships/image" Target="../media/image-1-37.jpeg"/><Relationship Id="rId38" Type="http://schemas.openxmlformats.org/officeDocument/2006/relationships/image" Target="../media/image-1-38.png"/><Relationship Id="rId39" Type="http://schemas.openxmlformats.org/officeDocument/2006/relationships/image" Target="../media/image-1-39.jpeg"/><Relationship Id="rId40" Type="http://schemas.openxmlformats.org/officeDocument/2006/relationships/image" Target="../media/image-1-40.png"/><Relationship Id="rId41" Type="http://schemas.openxmlformats.org/officeDocument/2006/relationships/image" Target="../media/image-1-41.jpeg"/><Relationship Id="rId42" Type="http://schemas.openxmlformats.org/officeDocument/2006/relationships/image" Target="../media/image-1-42.png"/><Relationship Id="rId43" Type="http://schemas.openxmlformats.org/officeDocument/2006/relationships/image" Target="../media/image-1-43.png"/><Relationship Id="rId44" Type="http://schemas.openxmlformats.org/officeDocument/2006/relationships/image" Target="../media/image-1-44.jpeg"/><Relationship Id="rId45" Type="http://schemas.openxmlformats.org/officeDocument/2006/relationships/image" Target="../media/image-1-45.jpeg"/><Relationship Id="rId46" Type="http://schemas.openxmlformats.org/officeDocument/2006/relationships/image" Target="../media/image-1-46.png"/><Relationship Id="rId47" Type="http://schemas.openxmlformats.org/officeDocument/2006/relationships/image" Target="../media/image-1-47.png"/><Relationship Id="rId48" Type="http://schemas.openxmlformats.org/officeDocument/2006/relationships/image" Target="../media/image-1-48.jpeg"/><Relationship Id="rId49" Type="http://schemas.openxmlformats.org/officeDocument/2006/relationships/image" Target="../media/image-1-49.png"/><Relationship Id="rId50" Type="http://schemas.openxmlformats.org/officeDocument/2006/relationships/image" Target="../media/image-1-50.png"/><Relationship Id="rId51" Type="http://schemas.openxmlformats.org/officeDocument/2006/relationships/image" Target="../media/image-1-51.png"/><Relationship Id="rId52" Type="http://schemas.openxmlformats.org/officeDocument/2006/relationships/slideLayout" Target="../slideLayouts/slideLayout1.xml"/><Relationship Id="rId5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png"/><Relationship Id="rId4" Type="http://schemas.openxmlformats.org/officeDocument/2006/relationships/image" Target="../media/image-2-4.jpeg"/><Relationship Id="rId5" Type="http://schemas.openxmlformats.org/officeDocument/2006/relationships/image" Target="../media/image-2-5.png"/><Relationship Id="rId6" Type="http://schemas.openxmlformats.org/officeDocument/2006/relationships/image" Target="../media/image-2-6.jpeg"/><Relationship Id="rId7" Type="http://schemas.openxmlformats.org/officeDocument/2006/relationships/image" Target="../media/image-2-7.jpeg"/><Relationship Id="rId8" Type="http://schemas.openxmlformats.org/officeDocument/2006/relationships/image" Target="../media/image-2-8.jpeg"/><Relationship Id="rId9" Type="http://schemas.openxmlformats.org/officeDocument/2006/relationships/image" Target="../media/image-2-9.jpeg"/><Relationship Id="rId10" Type="http://schemas.openxmlformats.org/officeDocument/2006/relationships/image" Target="../media/image-2-10.jpeg"/><Relationship Id="rId11" Type="http://schemas.openxmlformats.org/officeDocument/2006/relationships/image" Target="../media/image-2-11.png"/><Relationship Id="rId12" Type="http://schemas.openxmlformats.org/officeDocument/2006/relationships/image" Target="../media/image-2-12.jpeg"/><Relationship Id="rId13" Type="http://schemas.openxmlformats.org/officeDocument/2006/relationships/image" Target="../media/image-2-13.jpeg"/><Relationship Id="rId14" Type="http://schemas.openxmlformats.org/officeDocument/2006/relationships/image" Target="../media/image-2-14.jpeg"/><Relationship Id="rId15" Type="http://schemas.openxmlformats.org/officeDocument/2006/relationships/image" Target="../media/image-2-15.jpeg"/><Relationship Id="rId16" Type="http://schemas.openxmlformats.org/officeDocument/2006/relationships/image" Target="../media/image-2-16.png"/><Relationship Id="rId17" Type="http://schemas.openxmlformats.org/officeDocument/2006/relationships/image" Target="../media/image-2-17.png"/><Relationship Id="rId18" Type="http://schemas.openxmlformats.org/officeDocument/2006/relationships/image" Target="../media/image-2-18.jpeg"/><Relationship Id="rId19" Type="http://schemas.openxmlformats.org/officeDocument/2006/relationships/image" Target="../media/image-2-19.jpeg"/><Relationship Id="rId20" Type="http://schemas.openxmlformats.org/officeDocument/2006/relationships/image" Target="../media/image-2-20.jpeg"/><Relationship Id="rId21" Type="http://schemas.openxmlformats.org/officeDocument/2006/relationships/image" Target="../media/image-2-21.jpeg"/><Relationship Id="rId22" Type="http://schemas.openxmlformats.org/officeDocument/2006/relationships/image" Target="../media/image-2-22.png"/><Relationship Id="rId23" Type="http://schemas.openxmlformats.org/officeDocument/2006/relationships/image" Target="../media/image-2-23.jpeg"/><Relationship Id="rId24" Type="http://schemas.openxmlformats.org/officeDocument/2006/relationships/image" Target="../media/image-2-24.png"/><Relationship Id="rId25" Type="http://schemas.openxmlformats.org/officeDocument/2006/relationships/image" Target="../media/image-2-25.png"/><Relationship Id="rId26" Type="http://schemas.openxmlformats.org/officeDocument/2006/relationships/image" Target="../media/image-2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png"/><Relationship Id="rId5" Type="http://schemas.openxmlformats.org/officeDocument/2006/relationships/image" Target="../media/image-3-5.jpeg"/><Relationship Id="rId6" Type="http://schemas.openxmlformats.org/officeDocument/2006/relationships/image" Target="../media/image-3-6.png"/><Relationship Id="rId7" Type="http://schemas.openxmlformats.org/officeDocument/2006/relationships/image" Target="../media/image-3-7.jpe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jpeg"/><Relationship Id="rId11" Type="http://schemas.openxmlformats.org/officeDocument/2006/relationships/image" Target="../media/image-3-11.jpe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image" Target="../media/image-3-17.png"/><Relationship Id="rId18" Type="http://schemas.openxmlformats.org/officeDocument/2006/relationships/image" Target="../media/image-3-18.png"/><Relationship Id="rId19" Type="http://schemas.openxmlformats.org/officeDocument/2006/relationships/image" Target="../media/image-3-19.png"/><Relationship Id="rId20" Type="http://schemas.openxmlformats.org/officeDocument/2006/relationships/image" Target="../media/image-3-20.png"/><Relationship Id="rId21" Type="http://schemas.openxmlformats.org/officeDocument/2006/relationships/image" Target="../media/image-3-21.jpeg"/><Relationship Id="rId22" Type="http://schemas.openxmlformats.org/officeDocument/2006/relationships/image" Target="../media/image-3-22.png"/><Relationship Id="rId23" Type="http://schemas.openxmlformats.org/officeDocument/2006/relationships/image" Target="../media/image-3-23.png"/><Relationship Id="rId24" Type="http://schemas.openxmlformats.org/officeDocument/2006/relationships/image" Target="../media/image-3-24.png"/><Relationship Id="rId25" Type="http://schemas.openxmlformats.org/officeDocument/2006/relationships/image" Target="../media/image-3-25.jpeg"/><Relationship Id="rId26" Type="http://schemas.openxmlformats.org/officeDocument/2006/relationships/image" Target="../media/image-3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jpe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jpeg"/><Relationship Id="rId26" Type="http://schemas.openxmlformats.org/officeDocument/2006/relationships/image" Target="../media/image-4-26.png"/><Relationship Id="rId27" Type="http://schemas.openxmlformats.org/officeDocument/2006/relationships/image" Target="../media/image-4-27.jpeg"/><Relationship Id="rId28" Type="http://schemas.openxmlformats.org/officeDocument/2006/relationships/image" Target="../media/image-4-28.png"/><Relationship Id="rId29" Type="http://schemas.openxmlformats.org/officeDocument/2006/relationships/image" Target="../media/image-4-29.jpeg"/><Relationship Id="rId30" Type="http://schemas.openxmlformats.org/officeDocument/2006/relationships/image" Target="../media/image-4-30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jpeg"/><Relationship Id="rId4" Type="http://schemas.openxmlformats.org/officeDocument/2006/relationships/image" Target="../media/image-5-4.png"/><Relationship Id="rId5" Type="http://schemas.openxmlformats.org/officeDocument/2006/relationships/image" Target="../media/image-5-5.jpeg"/><Relationship Id="rId6" Type="http://schemas.openxmlformats.org/officeDocument/2006/relationships/image" Target="../media/image-5-6.png"/><Relationship Id="rId7" Type="http://schemas.openxmlformats.org/officeDocument/2006/relationships/image" Target="../media/image-5-7.jpeg"/><Relationship Id="rId8" Type="http://schemas.openxmlformats.org/officeDocument/2006/relationships/image" Target="../media/image-5-8.jpe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image" Target="../media/image-5-21.png"/><Relationship Id="rId22" Type="http://schemas.openxmlformats.org/officeDocument/2006/relationships/image" Target="../media/image-5-22.png"/><Relationship Id="rId23" Type="http://schemas.openxmlformats.org/officeDocument/2006/relationships/image" Target="../media/image-5-23.png"/><Relationship Id="rId24" Type="http://schemas.openxmlformats.org/officeDocument/2006/relationships/image" Target="../media/image-5-24.png"/><Relationship Id="rId25" Type="http://schemas.openxmlformats.org/officeDocument/2006/relationships/image" Target="../media/image-5-25.png"/><Relationship Id="rId26" Type="http://schemas.openxmlformats.org/officeDocument/2006/relationships/image" Target="../media/image-5-26.png"/><Relationship Id="rId27" Type="http://schemas.openxmlformats.org/officeDocument/2006/relationships/image" Target="../media/image-5-27.png"/><Relationship Id="rId28" Type="http://schemas.openxmlformats.org/officeDocument/2006/relationships/image" Target="../media/image-5-28.png"/><Relationship Id="rId29" Type="http://schemas.openxmlformats.org/officeDocument/2006/relationships/image" Target="../media/image-5-29.png"/><Relationship Id="rId30" Type="http://schemas.openxmlformats.org/officeDocument/2006/relationships/image" Target="../media/image-5-30.png"/><Relationship Id="rId31" Type="http://schemas.openxmlformats.org/officeDocument/2006/relationships/image" Target="../media/image-5-31.png"/><Relationship Id="rId32" Type="http://schemas.openxmlformats.org/officeDocument/2006/relationships/slideLayout" Target="../slideLayouts/slideLayout1.xml"/><Relationship Id="rId3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jpe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jpe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jpe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jpe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jpe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image" Target="../media/image-7-25.jpeg"/><Relationship Id="rId26" Type="http://schemas.openxmlformats.org/officeDocument/2006/relationships/image" Target="../media/image-7-26.png"/><Relationship Id="rId27" Type="http://schemas.openxmlformats.org/officeDocument/2006/relationships/image" Target="../media/image-7-27.png"/><Relationship Id="rId28" Type="http://schemas.openxmlformats.org/officeDocument/2006/relationships/image" Target="../media/image-7-28.jpeg"/><Relationship Id="rId29" Type="http://schemas.openxmlformats.org/officeDocument/2006/relationships/image" Target="../media/image-7-29.png"/><Relationship Id="rId30" Type="http://schemas.openxmlformats.org/officeDocument/2006/relationships/image" Target="../media/image-7-30.jpeg"/><Relationship Id="rId31" Type="http://schemas.openxmlformats.org/officeDocument/2006/relationships/image" Target="../media/image-7-31.png"/><Relationship Id="rId32" Type="http://schemas.openxmlformats.org/officeDocument/2006/relationships/image" Target="../media/image-7-32.png"/><Relationship Id="rId33" Type="http://schemas.openxmlformats.org/officeDocument/2006/relationships/image" Target="../media/image-7-33.png"/><Relationship Id="rId34" Type="http://schemas.openxmlformats.org/officeDocument/2006/relationships/slideLayout" Target="../slideLayouts/slideLayout1.xml"/><Relationship Id="rId3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925800" cy="8963025"/>
          </a:xfrm>
          <a:prstGeom prst="rect">
            <a:avLst/>
          </a:prstGeom>
          <a:solidFill>
            <a:srgbClr val="F3FE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5075" y="8620125"/>
            <a:ext cx="12706350" cy="285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478125" y="8534400"/>
            <a:ext cx="85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43"/>
              </a:lnSpc>
              <a:buNone/>
            </a:pPr>
            <a:r>
              <a:rPr lang="en-US" sz="1177" b="1" dirty="0">
                <a:solidFill>
                  <a:srgbClr val="7B8C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77" dirty="0"/>
          </a:p>
        </p:txBody>
      </p:sp>
      <p:sp>
        <p:nvSpPr>
          <p:cNvPr id="5" name="Shape 2"/>
          <p:cNvSpPr/>
          <p:nvPr/>
        </p:nvSpPr>
        <p:spPr>
          <a:xfrm>
            <a:off x="2486025" y="8667750"/>
            <a:ext cx="12715875" cy="9525"/>
          </a:xfrm>
          <a:prstGeom prst="rect">
            <a:avLst/>
          </a:prstGeom>
          <a:solidFill>
            <a:srgbClr val="ECFAF2"/>
          </a:solidFill>
          <a:ln/>
        </p:spPr>
      </p:sp>
      <p:sp>
        <p:nvSpPr>
          <p:cNvPr id="6" name="Text 3"/>
          <p:cNvSpPr/>
          <p:nvPr/>
        </p:nvSpPr>
        <p:spPr>
          <a:xfrm>
            <a:off x="381000" y="8524875"/>
            <a:ext cx="19050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55" dirty="0">
                <a:solidFill>
                  <a:srgbClr val="7787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MRO FDE Operating Model</a:t>
            </a:r>
            <a:endParaRPr lang="en-US" sz="1155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" y="2609850"/>
            <a:ext cx="15573375" cy="5838825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96175"/>
            <a:ext cx="15925800" cy="923925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25550" y="7524750"/>
            <a:ext cx="1800225" cy="89535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5000" y="7715250"/>
            <a:ext cx="19050" cy="523875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7639050"/>
            <a:ext cx="609600" cy="638175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2381250" y="7781925"/>
            <a:ext cx="104965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13"/>
              </a:lnSpc>
              <a:buNone/>
            </a:pPr>
            <a:r>
              <a:rPr lang="en-US" sz="2124" b="1" dirty="0">
                <a:solidFill>
                  <a:srgbClr val="CBD5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3 discovers the process before Tech &amp; Tooling selects the solution route.</a:t>
            </a:r>
            <a:endParaRPr lang="en-US" sz="2124" dirty="0"/>
          </a:p>
        </p:txBody>
      </p:sp>
      <p:sp>
        <p:nvSpPr>
          <p:cNvPr id="13" name="Shape 5"/>
          <p:cNvSpPr/>
          <p:nvPr/>
        </p:nvSpPr>
        <p:spPr>
          <a:xfrm>
            <a:off x="14258925" y="6858000"/>
            <a:ext cx="1362075" cy="495300"/>
          </a:xfrm>
          <a:prstGeom prst="roundRect">
            <a:avLst>
              <a:gd name="adj" fmla="val 42308"/>
            </a:avLst>
          </a:prstGeom>
          <a:solidFill>
            <a:srgbClr val="E6F4EB"/>
          </a:solidFill>
          <a:ln/>
        </p:spPr>
      </p:sp>
      <p:sp>
        <p:nvSpPr>
          <p:cNvPr id="14" name="Text 6"/>
          <p:cNvSpPr/>
          <p:nvPr/>
        </p:nvSpPr>
        <p:spPr>
          <a:xfrm>
            <a:off x="14592300" y="7000875"/>
            <a:ext cx="7334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1"/>
              </a:lnSpc>
              <a:buNone/>
            </a:pPr>
            <a:r>
              <a:rPr lang="en-US" sz="1381" b="1" dirty="0">
                <a:solidFill>
                  <a:srgbClr val="4D53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</a:t>
            </a:r>
            <a:endParaRPr lang="en-US" sz="1381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44600" y="7038975"/>
            <a:ext cx="200025" cy="152400"/>
          </a:xfrm>
          <a:prstGeom prst="rect">
            <a:avLst/>
          </a:prstGeom>
        </p:spPr>
      </p:pic>
      <p:sp>
        <p:nvSpPr>
          <p:cNvPr id="16" name="Shape 7"/>
          <p:cNvSpPr/>
          <p:nvPr/>
        </p:nvSpPr>
        <p:spPr>
          <a:xfrm>
            <a:off x="12306300" y="6838950"/>
            <a:ext cx="1552575" cy="542925"/>
          </a:xfrm>
          <a:prstGeom prst="rect">
            <a:avLst/>
          </a:prstGeom>
          <a:solidFill>
            <a:srgbClr val="E8F6ED"/>
          </a:solidFill>
          <a:ln w="19050">
            <a:solidFill>
              <a:srgbClr val="EEFDF3"/>
            </a:solidFill>
            <a:prstDash val="solid"/>
          </a:ln>
        </p:spPr>
      </p:sp>
      <p:sp>
        <p:nvSpPr>
          <p:cNvPr id="17" name="Text 8"/>
          <p:cNvSpPr/>
          <p:nvPr/>
        </p:nvSpPr>
        <p:spPr>
          <a:xfrm>
            <a:off x="12792075" y="6991350"/>
            <a:ext cx="6096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34"/>
              </a:lnSpc>
              <a:buNone/>
            </a:pPr>
            <a:r>
              <a:rPr lang="en-US" sz="1396" b="1" dirty="0">
                <a:solidFill>
                  <a:srgbClr val="5258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</a:t>
            </a:r>
            <a:endParaRPr lang="en-US" sz="1396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20550" y="7038975"/>
            <a:ext cx="209550" cy="152400"/>
          </a:xfrm>
          <a:prstGeom prst="rect">
            <a:avLst/>
          </a:prstGeom>
        </p:spPr>
      </p:pic>
      <p:sp>
        <p:nvSpPr>
          <p:cNvPr id="19" name="Shape 9"/>
          <p:cNvSpPr/>
          <p:nvPr/>
        </p:nvSpPr>
        <p:spPr>
          <a:xfrm>
            <a:off x="10391775" y="6838950"/>
            <a:ext cx="1552575" cy="542925"/>
          </a:xfrm>
          <a:prstGeom prst="rect">
            <a:avLst/>
          </a:prstGeom>
          <a:solidFill>
            <a:srgbClr val="E8F6EE"/>
          </a:solidFill>
          <a:ln w="19050">
            <a:solidFill>
              <a:srgbClr val="EEFDF3"/>
            </a:solidFill>
            <a:prstDash val="solid"/>
          </a:ln>
        </p:spPr>
      </p:sp>
      <p:sp>
        <p:nvSpPr>
          <p:cNvPr id="20" name="Text 10"/>
          <p:cNvSpPr/>
          <p:nvPr/>
        </p:nvSpPr>
        <p:spPr>
          <a:xfrm>
            <a:off x="10887075" y="7000875"/>
            <a:ext cx="571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922"/>
              </a:lnSpc>
              <a:buNone/>
            </a:pPr>
            <a:r>
              <a:rPr lang="en-US" sz="1227" b="1" dirty="0">
                <a:solidFill>
                  <a:srgbClr val="545A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</a:t>
            </a:r>
            <a:endParaRPr lang="en-US" sz="1227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06025" y="7029450"/>
            <a:ext cx="200025" cy="161925"/>
          </a:xfrm>
          <a:prstGeom prst="rect">
            <a:avLst/>
          </a:prstGeom>
        </p:spPr>
      </p:pic>
      <p:sp>
        <p:nvSpPr>
          <p:cNvPr id="22" name="Shape 11"/>
          <p:cNvSpPr/>
          <p:nvPr/>
        </p:nvSpPr>
        <p:spPr>
          <a:xfrm>
            <a:off x="8458200" y="6838950"/>
            <a:ext cx="1562100" cy="542925"/>
          </a:xfrm>
          <a:prstGeom prst="rect">
            <a:avLst/>
          </a:prstGeom>
          <a:solidFill>
            <a:srgbClr val="E8F6EE"/>
          </a:solidFill>
          <a:ln w="19050">
            <a:solidFill>
              <a:srgbClr val="EEFDF3"/>
            </a:solidFill>
            <a:prstDash val="solid"/>
          </a:ln>
        </p:spPr>
      </p:sp>
      <p:sp>
        <p:nvSpPr>
          <p:cNvPr id="23" name="Text 12"/>
          <p:cNvSpPr/>
          <p:nvPr/>
        </p:nvSpPr>
        <p:spPr>
          <a:xfrm>
            <a:off x="8991600" y="7000875"/>
            <a:ext cx="5048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09"/>
              </a:lnSpc>
              <a:buNone/>
            </a:pPr>
            <a:r>
              <a:rPr lang="en-US" sz="1338" b="1" dirty="0">
                <a:solidFill>
                  <a:srgbClr val="4F555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Prove</a:t>
            </a:r>
            <a:endParaRPr lang="en-US" sz="1338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72450" y="7029450"/>
            <a:ext cx="200025" cy="152400"/>
          </a:xfrm>
          <a:prstGeom prst="rect">
            <a:avLst/>
          </a:prstGeom>
        </p:spPr>
      </p:pic>
      <p:sp>
        <p:nvSpPr>
          <p:cNvPr id="25" name="Shape 13"/>
          <p:cNvSpPr/>
          <p:nvPr/>
        </p:nvSpPr>
        <p:spPr>
          <a:xfrm>
            <a:off x="6496050" y="6838950"/>
            <a:ext cx="1581150" cy="542925"/>
          </a:xfrm>
          <a:prstGeom prst="rect">
            <a:avLst/>
          </a:prstGeom>
          <a:solidFill>
            <a:srgbClr val="E8F6EE"/>
          </a:solidFill>
          <a:ln w="19050">
            <a:solidFill>
              <a:srgbClr val="EFFDF3"/>
            </a:solidFill>
            <a:prstDash val="solid"/>
          </a:ln>
        </p:spPr>
      </p:sp>
      <p:sp>
        <p:nvSpPr>
          <p:cNvPr id="26" name="Text 14"/>
          <p:cNvSpPr/>
          <p:nvPr/>
        </p:nvSpPr>
        <p:spPr>
          <a:xfrm>
            <a:off x="6981825" y="7000875"/>
            <a:ext cx="6381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77"/>
              </a:lnSpc>
              <a:buNone/>
            </a:pPr>
            <a:r>
              <a:rPr lang="en-US" sz="1326" b="1" dirty="0">
                <a:solidFill>
                  <a:srgbClr val="4E54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</a:t>
            </a:r>
            <a:endParaRPr lang="en-US" sz="1326" dirty="0"/>
          </a:p>
        </p:txBody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00775" y="7029450"/>
            <a:ext cx="209550" cy="152400"/>
          </a:xfrm>
          <a:prstGeom prst="rect">
            <a:avLst/>
          </a:prstGeom>
        </p:spPr>
      </p:pic>
      <p:sp>
        <p:nvSpPr>
          <p:cNvPr id="28" name="Shape 15"/>
          <p:cNvSpPr/>
          <p:nvPr/>
        </p:nvSpPr>
        <p:spPr>
          <a:xfrm>
            <a:off x="4524375" y="6858000"/>
            <a:ext cx="1543050" cy="495300"/>
          </a:xfrm>
          <a:prstGeom prst="roundRect">
            <a:avLst>
              <a:gd name="adj" fmla="val 42308"/>
            </a:avLst>
          </a:prstGeom>
          <a:solidFill>
            <a:srgbClr val="BFE8D0"/>
          </a:solidFill>
          <a:ln/>
        </p:spPr>
      </p:sp>
      <p:sp>
        <p:nvSpPr>
          <p:cNvPr id="29" name="Text 16"/>
          <p:cNvSpPr/>
          <p:nvPr/>
        </p:nvSpPr>
        <p:spPr>
          <a:xfrm>
            <a:off x="4933950" y="6991350"/>
            <a:ext cx="7524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68"/>
              </a:lnSpc>
              <a:buNone/>
            </a:pPr>
            <a:r>
              <a:rPr lang="en-US" sz="1360" b="1" dirty="0">
                <a:solidFill>
                  <a:srgbClr val="3E53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</a:t>
            </a:r>
            <a:endParaRPr lang="en-US" sz="136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81475" y="7029450"/>
            <a:ext cx="219075" cy="152400"/>
          </a:xfrm>
          <a:prstGeom prst="rect">
            <a:avLst/>
          </a:prstGeom>
        </p:spPr>
      </p:pic>
      <p:sp>
        <p:nvSpPr>
          <p:cNvPr id="31" name="Shape 17"/>
          <p:cNvSpPr/>
          <p:nvPr/>
        </p:nvSpPr>
        <p:spPr>
          <a:xfrm>
            <a:off x="2390775" y="6829425"/>
            <a:ext cx="1695450" cy="552450"/>
          </a:xfrm>
          <a:prstGeom prst="rect">
            <a:avLst/>
          </a:prstGeom>
          <a:solidFill>
            <a:srgbClr val="E8F6EE"/>
          </a:solidFill>
          <a:ln w="28575">
            <a:solidFill>
              <a:srgbClr val="EEFDF3"/>
            </a:solidFill>
            <a:prstDash val="solid"/>
          </a:ln>
        </p:spPr>
      </p:sp>
      <p:sp>
        <p:nvSpPr>
          <p:cNvPr id="32" name="Text 18"/>
          <p:cNvSpPr/>
          <p:nvPr/>
        </p:nvSpPr>
        <p:spPr>
          <a:xfrm>
            <a:off x="2914650" y="6991350"/>
            <a:ext cx="6477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365" b="1" dirty="0">
                <a:solidFill>
                  <a:srgbClr val="545B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</a:t>
            </a:r>
            <a:endParaRPr lang="en-US" sz="1365" dirty="0"/>
          </a:p>
        </p:txBody>
      </p:sp>
      <p:pic>
        <p:nvPicPr>
          <p:cNvPr id="3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05025" y="7029450"/>
            <a:ext cx="209550" cy="152400"/>
          </a:xfrm>
          <a:prstGeom prst="rect">
            <a:avLst/>
          </a:prstGeom>
        </p:spPr>
      </p:pic>
      <p:sp>
        <p:nvSpPr>
          <p:cNvPr id="34" name="Shape 19"/>
          <p:cNvSpPr/>
          <p:nvPr/>
        </p:nvSpPr>
        <p:spPr>
          <a:xfrm>
            <a:off x="323850" y="6858000"/>
            <a:ext cx="1657350" cy="495300"/>
          </a:xfrm>
          <a:prstGeom prst="roundRect">
            <a:avLst>
              <a:gd name="adj" fmla="val 44231"/>
            </a:avLst>
          </a:prstGeom>
          <a:solidFill>
            <a:srgbClr val="E6F3EB"/>
          </a:solidFill>
          <a:ln/>
        </p:spPr>
      </p:sp>
      <p:sp>
        <p:nvSpPr>
          <p:cNvPr id="35" name="Text 20"/>
          <p:cNvSpPr/>
          <p:nvPr/>
        </p:nvSpPr>
        <p:spPr>
          <a:xfrm>
            <a:off x="800100" y="6981825"/>
            <a:ext cx="7524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6"/>
              </a:lnSpc>
              <a:buNone/>
            </a:pPr>
            <a:r>
              <a:rPr lang="en-US" sz="1437" b="1" dirty="0">
                <a:solidFill>
                  <a:srgbClr val="4B5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437" dirty="0"/>
          </a:p>
        </p:txBody>
      </p:sp>
      <p:sp>
        <p:nvSpPr>
          <p:cNvPr id="36" name="Shape 21"/>
          <p:cNvSpPr/>
          <p:nvPr/>
        </p:nvSpPr>
        <p:spPr>
          <a:xfrm>
            <a:off x="7305675" y="3409950"/>
            <a:ext cx="1581150" cy="3171825"/>
          </a:xfrm>
          <a:prstGeom prst="roundRect">
            <a:avLst>
              <a:gd name="adj" fmla="val 10843"/>
            </a:avLst>
          </a:prstGeom>
          <a:solidFill>
            <a:srgbClr val="FBFDFB"/>
          </a:solidFill>
          <a:ln w="9525">
            <a:solidFill>
              <a:srgbClr val="F2FAF4"/>
            </a:solidFill>
            <a:prstDash val="solid"/>
          </a:ln>
        </p:spPr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34275" y="5505450"/>
            <a:ext cx="1143000" cy="19050"/>
          </a:xfrm>
          <a:prstGeom prst="rect">
            <a:avLst/>
          </a:prstGeom>
        </p:spPr>
      </p:pic>
      <p:pic>
        <p:nvPicPr>
          <p:cNvPr id="3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53350" y="4314825"/>
            <a:ext cx="676275" cy="638175"/>
          </a:xfrm>
          <a:prstGeom prst="rect">
            <a:avLst/>
          </a:prstGeom>
        </p:spPr>
      </p:pic>
      <p:sp>
        <p:nvSpPr>
          <p:cNvPr id="39" name="Shape 22"/>
          <p:cNvSpPr/>
          <p:nvPr/>
        </p:nvSpPr>
        <p:spPr>
          <a:xfrm>
            <a:off x="7839075" y="3562350"/>
            <a:ext cx="523875" cy="523875"/>
          </a:xfrm>
          <a:prstGeom prst="roundRect">
            <a:avLst>
              <a:gd name="adj" fmla="val 49545"/>
            </a:avLst>
          </a:prstGeom>
          <a:solidFill>
            <a:srgbClr val="DDF2E3"/>
          </a:solidFill>
          <a:ln w="9525">
            <a:solidFill>
              <a:srgbClr val="EAF6ED"/>
            </a:solidFill>
            <a:prstDash val="solid"/>
          </a:ln>
        </p:spPr>
      </p:sp>
      <p:sp>
        <p:nvSpPr>
          <p:cNvPr id="40" name="Text 23"/>
          <p:cNvSpPr/>
          <p:nvPr/>
        </p:nvSpPr>
        <p:spPr>
          <a:xfrm>
            <a:off x="8001000" y="3676650"/>
            <a:ext cx="2000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2460" b="1" dirty="0">
                <a:solidFill>
                  <a:srgbClr val="2852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460" dirty="0"/>
          </a:p>
        </p:txBody>
      </p:sp>
      <p:sp>
        <p:nvSpPr>
          <p:cNvPr id="41" name="Text 24"/>
          <p:cNvSpPr/>
          <p:nvPr/>
        </p:nvSpPr>
        <p:spPr>
          <a:xfrm>
            <a:off x="7553325" y="5629275"/>
            <a:ext cx="1143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38"/>
              </a:lnSpc>
              <a:buNone/>
            </a:pPr>
            <a:r>
              <a:rPr lang="en-US" sz="1050" dirty="0">
                <a:solidFill>
                  <a:srgbClr val="6B74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Intervention /</a:t>
            </a:r>
            <a:endParaRPr lang="en-US" sz="1050" dirty="0"/>
          </a:p>
          <a:p>
            <a:pPr algn="ctr" indent="0" marL="0">
              <a:lnSpc>
                <a:spcPts val="1838"/>
              </a:lnSpc>
              <a:buNone/>
            </a:pPr>
            <a:r>
              <a:rPr lang="en-US" sz="1050" dirty="0">
                <a:solidFill>
                  <a:srgbClr val="6B74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</a:t>
            </a:r>
            <a:endParaRPr lang="en-US" sz="1050" dirty="0"/>
          </a:p>
        </p:txBody>
      </p:sp>
      <p:sp>
        <p:nvSpPr>
          <p:cNvPr id="42" name="Text 25"/>
          <p:cNvSpPr/>
          <p:nvPr/>
        </p:nvSpPr>
        <p:spPr>
          <a:xfrm>
            <a:off x="7696200" y="5124450"/>
            <a:ext cx="819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0"/>
              </a:lnSpc>
              <a:buNone/>
            </a:pPr>
            <a:r>
              <a:rPr lang="en-US" sz="1698" b="1" dirty="0">
                <a:solidFill>
                  <a:srgbClr val="3D42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</a:t>
            </a:r>
            <a:endParaRPr lang="en-US" sz="1698" dirty="0"/>
          </a:p>
        </p:txBody>
      </p:sp>
      <p:sp>
        <p:nvSpPr>
          <p:cNvPr id="43" name="Shape 26"/>
          <p:cNvSpPr/>
          <p:nvPr/>
        </p:nvSpPr>
        <p:spPr>
          <a:xfrm>
            <a:off x="8991600" y="3409950"/>
            <a:ext cx="1590675" cy="3171825"/>
          </a:xfrm>
          <a:prstGeom prst="roundRect">
            <a:avLst>
              <a:gd name="adj" fmla="val 9581"/>
            </a:avLst>
          </a:prstGeom>
          <a:solidFill>
            <a:srgbClr val="FBFDFB"/>
          </a:solidFill>
          <a:ln/>
        </p:spPr>
      </p:sp>
      <p:pic>
        <p:nvPicPr>
          <p:cNvPr id="4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10675" y="5505450"/>
            <a:ext cx="1152525" cy="19050"/>
          </a:xfrm>
          <a:prstGeom prst="rect">
            <a:avLst/>
          </a:prstGeom>
        </p:spPr>
      </p:pic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486900" y="4286250"/>
            <a:ext cx="590550" cy="666750"/>
          </a:xfrm>
          <a:prstGeom prst="rect">
            <a:avLst/>
          </a:prstGeom>
        </p:spPr>
      </p:pic>
      <p:sp>
        <p:nvSpPr>
          <p:cNvPr id="46" name="Shape 27"/>
          <p:cNvSpPr/>
          <p:nvPr/>
        </p:nvSpPr>
        <p:spPr>
          <a:xfrm>
            <a:off x="9515475" y="3552825"/>
            <a:ext cx="542925" cy="542925"/>
          </a:xfrm>
          <a:prstGeom prst="roundRect">
            <a:avLst>
              <a:gd name="adj" fmla="val 47807"/>
            </a:avLst>
          </a:prstGeom>
          <a:solidFill>
            <a:srgbClr val="DDF2E4"/>
          </a:solidFill>
          <a:ln w="9525">
            <a:solidFill>
              <a:srgbClr val="F4FAF6"/>
            </a:solidFill>
            <a:prstDash val="solid"/>
          </a:ln>
        </p:spPr>
      </p:sp>
      <p:sp>
        <p:nvSpPr>
          <p:cNvPr id="47" name="Text 28"/>
          <p:cNvSpPr/>
          <p:nvPr/>
        </p:nvSpPr>
        <p:spPr>
          <a:xfrm>
            <a:off x="9686925" y="3676650"/>
            <a:ext cx="2000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2317" b="1" dirty="0">
                <a:solidFill>
                  <a:srgbClr val="2A4F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317" dirty="0"/>
          </a:p>
        </p:txBody>
      </p:sp>
      <p:sp>
        <p:nvSpPr>
          <p:cNvPr id="48" name="Text 29"/>
          <p:cNvSpPr/>
          <p:nvPr/>
        </p:nvSpPr>
        <p:spPr>
          <a:xfrm>
            <a:off x="9248775" y="5619750"/>
            <a:ext cx="112395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1200" dirty="0">
                <a:solidFill>
                  <a:srgbClr val="6D75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 / vertical</a:t>
            </a:r>
            <a:endParaRPr lang="en-US" sz="1200" dirty="0"/>
          </a:p>
          <a:p>
            <a:pPr algn="ctr" indent="0" marL="0">
              <a:lnSpc>
                <a:spcPts val="1913"/>
              </a:lnSpc>
              <a:buNone/>
            </a:pPr>
            <a:r>
              <a:rPr lang="en-US" sz="1200" dirty="0">
                <a:solidFill>
                  <a:srgbClr val="6D75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slice</a:t>
            </a:r>
            <a:endParaRPr lang="en-US" sz="1200" dirty="0"/>
          </a:p>
        </p:txBody>
      </p:sp>
      <p:sp>
        <p:nvSpPr>
          <p:cNvPr id="49" name="Text 30"/>
          <p:cNvSpPr/>
          <p:nvPr/>
        </p:nvSpPr>
        <p:spPr>
          <a:xfrm>
            <a:off x="9486900" y="5124450"/>
            <a:ext cx="6286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9"/>
              </a:lnSpc>
              <a:buNone/>
            </a:pPr>
            <a:r>
              <a:rPr lang="en-US" sz="1728" b="1" dirty="0">
                <a:solidFill>
                  <a:srgbClr val="3E43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</a:t>
            </a:r>
            <a:endParaRPr lang="en-US" sz="1728" dirty="0"/>
          </a:p>
        </p:txBody>
      </p:sp>
      <p:sp>
        <p:nvSpPr>
          <p:cNvPr id="50" name="Shape 31"/>
          <p:cNvSpPr/>
          <p:nvPr/>
        </p:nvSpPr>
        <p:spPr>
          <a:xfrm>
            <a:off x="10677525" y="3409950"/>
            <a:ext cx="1581150" cy="3171825"/>
          </a:xfrm>
          <a:prstGeom prst="roundRect">
            <a:avLst>
              <a:gd name="adj" fmla="val 10843"/>
            </a:avLst>
          </a:prstGeom>
          <a:solidFill>
            <a:srgbClr val="FBFDFB"/>
          </a:solidFill>
          <a:ln/>
        </p:spPr>
      </p:sp>
      <p:pic>
        <p:nvPicPr>
          <p:cNvPr id="5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906125" y="5505450"/>
            <a:ext cx="1133475" cy="19050"/>
          </a:xfrm>
          <a:prstGeom prst="rect">
            <a:avLst/>
          </a:prstGeom>
        </p:spPr>
      </p:pic>
      <p:pic>
        <p:nvPicPr>
          <p:cNvPr id="5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172825" y="4267200"/>
            <a:ext cx="590550" cy="704850"/>
          </a:xfrm>
          <a:prstGeom prst="rect">
            <a:avLst/>
          </a:prstGeom>
        </p:spPr>
      </p:pic>
      <p:sp>
        <p:nvSpPr>
          <p:cNvPr id="53" name="Shape 32"/>
          <p:cNvSpPr/>
          <p:nvPr/>
        </p:nvSpPr>
        <p:spPr>
          <a:xfrm>
            <a:off x="11220450" y="3562350"/>
            <a:ext cx="514350" cy="523875"/>
          </a:xfrm>
          <a:prstGeom prst="roundRect">
            <a:avLst>
              <a:gd name="adj" fmla="val 50463"/>
            </a:avLst>
          </a:prstGeom>
          <a:solidFill>
            <a:srgbClr val="DDF2E3"/>
          </a:solidFill>
          <a:ln w="9525">
            <a:solidFill>
              <a:srgbClr val="EFF8F1"/>
            </a:solidFill>
            <a:prstDash val="solid"/>
          </a:ln>
        </p:spPr>
      </p:sp>
      <p:sp>
        <p:nvSpPr>
          <p:cNvPr id="54" name="Text 33"/>
          <p:cNvSpPr/>
          <p:nvPr/>
        </p:nvSpPr>
        <p:spPr>
          <a:xfrm>
            <a:off x="11382375" y="3676650"/>
            <a:ext cx="190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2460" b="1" dirty="0">
                <a:solidFill>
                  <a:srgbClr val="264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2460" dirty="0"/>
          </a:p>
        </p:txBody>
      </p:sp>
      <p:sp>
        <p:nvSpPr>
          <p:cNvPr id="55" name="Text 34"/>
          <p:cNvSpPr/>
          <p:nvPr/>
        </p:nvSpPr>
        <p:spPr>
          <a:xfrm>
            <a:off x="11039475" y="5619750"/>
            <a:ext cx="9144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6F77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Evaluation,</a:t>
            </a:r>
            <a:endParaRPr lang="en-US" sz="1200" dirty="0"/>
          </a:p>
          <a:p>
            <a:pPr algn="ctr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6F77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&amp;</a:t>
            </a:r>
            <a:endParaRPr lang="en-US" sz="1200" dirty="0"/>
          </a:p>
          <a:p>
            <a:pPr algn="ctr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6F77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</a:t>
            </a:r>
            <a:endParaRPr lang="en-US" sz="1200" dirty="0"/>
          </a:p>
        </p:txBody>
      </p:sp>
      <p:sp>
        <p:nvSpPr>
          <p:cNvPr id="56" name="Text 35"/>
          <p:cNvSpPr/>
          <p:nvPr/>
        </p:nvSpPr>
        <p:spPr>
          <a:xfrm>
            <a:off x="11087100" y="5143500"/>
            <a:ext cx="7334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27"/>
              </a:lnSpc>
              <a:buNone/>
            </a:pPr>
            <a:r>
              <a:rPr lang="en-US" sz="1596" b="1" dirty="0">
                <a:solidFill>
                  <a:srgbClr val="4347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</a:t>
            </a:r>
            <a:endParaRPr lang="en-US" sz="1596" dirty="0"/>
          </a:p>
        </p:txBody>
      </p:sp>
      <p:sp>
        <p:nvSpPr>
          <p:cNvPr id="57" name="Shape 36"/>
          <p:cNvSpPr/>
          <p:nvPr/>
        </p:nvSpPr>
        <p:spPr>
          <a:xfrm>
            <a:off x="12363450" y="3409950"/>
            <a:ext cx="1600200" cy="3171825"/>
          </a:xfrm>
          <a:prstGeom prst="roundRect">
            <a:avLst>
              <a:gd name="adj" fmla="val 10714"/>
            </a:avLst>
          </a:prstGeom>
          <a:solidFill>
            <a:srgbClr val="FBFDFB"/>
          </a:solidFill>
          <a:ln w="9525">
            <a:solidFill>
              <a:srgbClr val="F2FAF4"/>
            </a:solidFill>
            <a:prstDash val="solid"/>
          </a:ln>
        </p:spPr>
      </p:sp>
      <p:pic>
        <p:nvPicPr>
          <p:cNvPr id="5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592050" y="5505450"/>
            <a:ext cx="1143000" cy="19050"/>
          </a:xfrm>
          <a:prstGeom prst="rect">
            <a:avLst/>
          </a:prstGeom>
        </p:spPr>
      </p:pic>
      <p:pic>
        <p:nvPicPr>
          <p:cNvPr id="59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2820650" y="4286250"/>
            <a:ext cx="676275" cy="685800"/>
          </a:xfrm>
          <a:prstGeom prst="rect">
            <a:avLst/>
          </a:prstGeom>
        </p:spPr>
      </p:pic>
      <p:sp>
        <p:nvSpPr>
          <p:cNvPr id="60" name="Shape 37"/>
          <p:cNvSpPr/>
          <p:nvPr/>
        </p:nvSpPr>
        <p:spPr>
          <a:xfrm>
            <a:off x="12906375" y="3562350"/>
            <a:ext cx="514350" cy="523875"/>
          </a:xfrm>
          <a:prstGeom prst="roundRect">
            <a:avLst>
              <a:gd name="adj" fmla="val 50463"/>
            </a:avLst>
          </a:prstGeom>
          <a:solidFill>
            <a:srgbClr val="DEF2E3"/>
          </a:solidFill>
          <a:ln w="9525">
            <a:solidFill>
              <a:srgbClr val="EFF8F2"/>
            </a:solidFill>
            <a:prstDash val="solid"/>
          </a:ln>
        </p:spPr>
      </p:sp>
      <p:sp>
        <p:nvSpPr>
          <p:cNvPr id="61" name="Text 38"/>
          <p:cNvSpPr/>
          <p:nvPr/>
        </p:nvSpPr>
        <p:spPr>
          <a:xfrm>
            <a:off x="13068300" y="3676650"/>
            <a:ext cx="190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2460" b="1" dirty="0">
                <a:solidFill>
                  <a:srgbClr val="335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2460" dirty="0"/>
          </a:p>
        </p:txBody>
      </p:sp>
      <p:sp>
        <p:nvSpPr>
          <p:cNvPr id="62" name="Text 39"/>
          <p:cNvSpPr/>
          <p:nvPr/>
        </p:nvSpPr>
        <p:spPr>
          <a:xfrm>
            <a:off x="12687300" y="5629275"/>
            <a:ext cx="981075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31"/>
              </a:lnSpc>
              <a:buNone/>
            </a:pPr>
            <a:r>
              <a:rPr lang="en-US" sz="1275" dirty="0">
                <a:solidFill>
                  <a:srgbClr val="737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Production,</a:t>
            </a:r>
            <a:endParaRPr lang="en-US" sz="1275" dirty="0"/>
          </a:p>
          <a:p>
            <a:pPr algn="ctr" indent="0" marL="0">
              <a:lnSpc>
                <a:spcPts val="1931"/>
              </a:lnSpc>
              <a:buNone/>
            </a:pPr>
            <a:r>
              <a:rPr lang="en-US" sz="1275" dirty="0">
                <a:solidFill>
                  <a:srgbClr val="737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&amp;</a:t>
            </a:r>
            <a:endParaRPr lang="en-US" sz="1275" dirty="0"/>
          </a:p>
          <a:p>
            <a:pPr algn="ctr" indent="0" marL="0">
              <a:lnSpc>
                <a:spcPts val="1931"/>
              </a:lnSpc>
              <a:buNone/>
            </a:pPr>
            <a:r>
              <a:rPr lang="en-US" sz="1275" dirty="0">
                <a:solidFill>
                  <a:srgbClr val="737B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handover</a:t>
            </a:r>
            <a:endParaRPr lang="en-US" sz="1275" dirty="0"/>
          </a:p>
        </p:txBody>
      </p:sp>
      <p:sp>
        <p:nvSpPr>
          <p:cNvPr id="63" name="Text 40"/>
          <p:cNvSpPr/>
          <p:nvPr/>
        </p:nvSpPr>
        <p:spPr>
          <a:xfrm>
            <a:off x="12773025" y="5124450"/>
            <a:ext cx="7810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61"/>
              </a:lnSpc>
              <a:buNone/>
            </a:pPr>
            <a:r>
              <a:rPr lang="en-US" sz="1788" b="1" dirty="0">
                <a:solidFill>
                  <a:srgbClr val="4449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</a:t>
            </a:r>
            <a:endParaRPr lang="en-US" sz="1788" dirty="0"/>
          </a:p>
        </p:txBody>
      </p:sp>
      <p:sp>
        <p:nvSpPr>
          <p:cNvPr id="64" name="Shape 41"/>
          <p:cNvSpPr/>
          <p:nvPr/>
        </p:nvSpPr>
        <p:spPr>
          <a:xfrm>
            <a:off x="14058900" y="3409950"/>
            <a:ext cx="1562100" cy="3181350"/>
          </a:xfrm>
          <a:prstGeom prst="roundRect">
            <a:avLst>
              <a:gd name="adj" fmla="val 9756"/>
            </a:avLst>
          </a:prstGeom>
          <a:solidFill>
            <a:srgbClr val="FBFDFB"/>
          </a:solidFill>
          <a:ln w="9525">
            <a:solidFill>
              <a:srgbClr val="F3FAF4"/>
            </a:solidFill>
            <a:prstDash val="solid"/>
          </a:ln>
        </p:spPr>
      </p:sp>
      <p:pic>
        <p:nvPicPr>
          <p:cNvPr id="65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4277975" y="5495925"/>
            <a:ext cx="1133475" cy="28575"/>
          </a:xfrm>
          <a:prstGeom prst="rect">
            <a:avLst/>
          </a:prstGeom>
        </p:spPr>
      </p:pic>
      <p:pic>
        <p:nvPicPr>
          <p:cNvPr id="66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525625" y="4267200"/>
            <a:ext cx="609600" cy="676275"/>
          </a:xfrm>
          <a:prstGeom prst="rect">
            <a:avLst/>
          </a:prstGeom>
        </p:spPr>
      </p:pic>
      <p:sp>
        <p:nvSpPr>
          <p:cNvPr id="67" name="Shape 42"/>
          <p:cNvSpPr/>
          <p:nvPr/>
        </p:nvSpPr>
        <p:spPr>
          <a:xfrm>
            <a:off x="14592300" y="3562350"/>
            <a:ext cx="514350" cy="533400"/>
          </a:xfrm>
          <a:prstGeom prst="roundRect">
            <a:avLst>
              <a:gd name="adj" fmla="val 50463"/>
            </a:avLst>
          </a:prstGeom>
          <a:solidFill>
            <a:srgbClr val="DEF2E4"/>
          </a:solidFill>
          <a:ln w="9525">
            <a:solidFill>
              <a:srgbClr val="E9F6ED"/>
            </a:solidFill>
            <a:prstDash val="solid"/>
          </a:ln>
        </p:spPr>
      </p:sp>
      <p:sp>
        <p:nvSpPr>
          <p:cNvPr id="68" name="Text 43"/>
          <p:cNvSpPr/>
          <p:nvPr/>
        </p:nvSpPr>
        <p:spPr>
          <a:xfrm>
            <a:off x="14754225" y="3686175"/>
            <a:ext cx="2000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2385" b="1" dirty="0">
                <a:solidFill>
                  <a:srgbClr val="3256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2385" dirty="0"/>
          </a:p>
        </p:txBody>
      </p:sp>
      <p:sp>
        <p:nvSpPr>
          <p:cNvPr id="69" name="Text 44"/>
          <p:cNvSpPr/>
          <p:nvPr/>
        </p:nvSpPr>
        <p:spPr>
          <a:xfrm>
            <a:off x="14430375" y="5619750"/>
            <a:ext cx="8667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13"/>
              </a:lnSpc>
              <a:buNone/>
            </a:pPr>
            <a:r>
              <a:rPr lang="en-US" sz="900" dirty="0">
                <a:solidFill>
                  <a:srgbClr val="7077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Adoption,</a:t>
            </a:r>
            <a:endParaRPr lang="en-US" sz="900" dirty="0"/>
          </a:p>
          <a:p>
            <a:pPr algn="ctr" indent="0" marL="0">
              <a:lnSpc>
                <a:spcPts val="1913"/>
              </a:lnSpc>
              <a:buNone/>
            </a:pPr>
            <a:r>
              <a:rPr lang="en-US" sz="900" dirty="0">
                <a:solidFill>
                  <a:srgbClr val="7077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benefits &amp;</a:t>
            </a:r>
            <a:endParaRPr lang="en-US" sz="900" dirty="0"/>
          </a:p>
          <a:p>
            <a:pPr algn="ctr" indent="0" marL="0">
              <a:lnSpc>
                <a:spcPts val="1913"/>
              </a:lnSpc>
              <a:buNone/>
            </a:pPr>
            <a:r>
              <a:rPr lang="en-US" sz="900" dirty="0">
                <a:solidFill>
                  <a:srgbClr val="7077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</a:t>
            </a:r>
            <a:endParaRPr lang="en-US" sz="900" dirty="0"/>
          </a:p>
        </p:txBody>
      </p:sp>
      <p:sp>
        <p:nvSpPr>
          <p:cNvPr id="70" name="Text 45"/>
          <p:cNvSpPr/>
          <p:nvPr/>
        </p:nvSpPr>
        <p:spPr>
          <a:xfrm>
            <a:off x="14392275" y="5133975"/>
            <a:ext cx="9239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733" b="1" dirty="0">
                <a:solidFill>
                  <a:srgbClr val="4246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</a:t>
            </a:r>
            <a:endParaRPr lang="en-US" sz="1733" dirty="0"/>
          </a:p>
        </p:txBody>
      </p:sp>
      <p:pic>
        <p:nvPicPr>
          <p:cNvPr id="71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916025" y="4695825"/>
            <a:ext cx="209550" cy="209550"/>
          </a:xfrm>
          <a:prstGeom prst="rect">
            <a:avLst/>
          </a:prstGeom>
        </p:spPr>
      </p:pic>
      <p:pic>
        <p:nvPicPr>
          <p:cNvPr id="72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2220575" y="4724400"/>
            <a:ext cx="209550" cy="180975"/>
          </a:xfrm>
          <a:prstGeom prst="rect">
            <a:avLst/>
          </a:prstGeom>
        </p:spPr>
      </p:pic>
      <p:pic>
        <p:nvPicPr>
          <p:cNvPr id="73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534650" y="4724400"/>
            <a:ext cx="209550" cy="171450"/>
          </a:xfrm>
          <a:prstGeom prst="rect">
            <a:avLst/>
          </a:prstGeom>
        </p:spPr>
      </p:pic>
      <p:pic>
        <p:nvPicPr>
          <p:cNvPr id="74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848725" y="4695825"/>
            <a:ext cx="209550" cy="209550"/>
          </a:xfrm>
          <a:prstGeom prst="rect">
            <a:avLst/>
          </a:prstGeom>
        </p:spPr>
      </p:pic>
      <p:pic>
        <p:nvPicPr>
          <p:cNvPr id="75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200900" y="4724400"/>
            <a:ext cx="190500" cy="171450"/>
          </a:xfrm>
          <a:prstGeom prst="rect">
            <a:avLst/>
          </a:prstGeom>
        </p:spPr>
      </p:pic>
      <p:pic>
        <p:nvPicPr>
          <p:cNvPr id="76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410450" y="3200400"/>
            <a:ext cx="8086725" cy="76200"/>
          </a:xfrm>
          <a:prstGeom prst="rect">
            <a:avLst/>
          </a:prstGeom>
        </p:spPr>
      </p:pic>
      <p:sp>
        <p:nvSpPr>
          <p:cNvPr id="77" name="Text 46"/>
          <p:cNvSpPr/>
          <p:nvPr/>
        </p:nvSpPr>
        <p:spPr>
          <a:xfrm>
            <a:off x="10086975" y="2867025"/>
            <a:ext cx="34194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3"/>
              </a:lnSpc>
              <a:buNone/>
            </a:pPr>
            <a:r>
              <a:rPr lang="en-US" sz="1653" b="1" dirty="0">
                <a:solidFill>
                  <a:srgbClr val="2E50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 &amp; Tooling Delivery Lifecycle</a:t>
            </a:r>
            <a:endParaRPr lang="en-US" sz="1653" dirty="0"/>
          </a:p>
        </p:txBody>
      </p:sp>
      <p:pic>
        <p:nvPicPr>
          <p:cNvPr id="78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582150" y="2819400"/>
            <a:ext cx="371475" cy="371475"/>
          </a:xfrm>
          <a:prstGeom prst="rect">
            <a:avLst/>
          </a:prstGeom>
        </p:spPr>
      </p:pic>
      <p:pic>
        <p:nvPicPr>
          <p:cNvPr id="79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4257675" y="2695575"/>
            <a:ext cx="2838450" cy="3971925"/>
          </a:xfrm>
          <a:prstGeom prst="rect">
            <a:avLst/>
          </a:prstGeom>
        </p:spPr>
      </p:pic>
      <p:pic>
        <p:nvPicPr>
          <p:cNvPr id="80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600825" y="5734050"/>
            <a:ext cx="19050" cy="809625"/>
          </a:xfrm>
          <a:prstGeom prst="rect">
            <a:avLst/>
          </a:prstGeom>
        </p:spPr>
      </p:pic>
      <p:sp>
        <p:nvSpPr>
          <p:cNvPr id="81" name="Shape 47"/>
          <p:cNvSpPr/>
          <p:nvPr/>
        </p:nvSpPr>
        <p:spPr>
          <a:xfrm>
            <a:off x="6124575" y="4162425"/>
            <a:ext cx="1047750" cy="1533525"/>
          </a:xfrm>
          <a:prstGeom prst="roundRect">
            <a:avLst>
              <a:gd name="adj" fmla="val 8182"/>
            </a:avLst>
          </a:prstGeom>
          <a:solidFill>
            <a:srgbClr val="1D4D37"/>
          </a:solidFill>
          <a:ln w="9525">
            <a:solidFill>
              <a:srgbClr val="597E6E"/>
            </a:solidFill>
            <a:prstDash val="solid"/>
          </a:ln>
        </p:spPr>
      </p:sp>
      <p:pic>
        <p:nvPicPr>
          <p:cNvPr id="82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34150" y="5448300"/>
            <a:ext cx="219075" cy="171450"/>
          </a:xfrm>
          <a:prstGeom prst="rect">
            <a:avLst/>
          </a:prstGeom>
        </p:spPr>
      </p:pic>
      <p:sp>
        <p:nvSpPr>
          <p:cNvPr id="83" name="Text 48"/>
          <p:cNvSpPr/>
          <p:nvPr/>
        </p:nvSpPr>
        <p:spPr>
          <a:xfrm>
            <a:off x="6200775" y="4257675"/>
            <a:ext cx="914400" cy="1123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960" b="1" dirty="0">
                <a:solidFill>
                  <a:srgbClr val="A9BC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3:</a:t>
            </a:r>
            <a:endParaRPr lang="en-US" sz="960" dirty="0"/>
          </a:p>
          <a:p>
            <a:pPr algn="ctr" indent="0" marL="0">
              <a:lnSpc>
                <a:spcPts val="1725"/>
              </a:lnSpc>
              <a:buNone/>
            </a:pPr>
            <a:r>
              <a:rPr lang="en-US" sz="960" b="1" dirty="0">
                <a:solidFill>
                  <a:srgbClr val="A9BC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opportunity</a:t>
            </a:r>
            <a:endParaRPr lang="en-US" sz="960" dirty="0"/>
          </a:p>
          <a:p>
            <a:pPr algn="ctr" indent="0" marL="0">
              <a:lnSpc>
                <a:spcPts val="1725"/>
              </a:lnSpc>
              <a:buNone/>
            </a:pPr>
            <a:r>
              <a:rPr lang="en-US" sz="960" b="1" dirty="0">
                <a:solidFill>
                  <a:srgbClr val="A9BC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 for</a:t>
            </a:r>
            <a:endParaRPr lang="en-US" sz="960" dirty="0"/>
          </a:p>
          <a:p>
            <a:pPr algn="ctr" indent="0" marL="0">
              <a:lnSpc>
                <a:spcPts val="1725"/>
              </a:lnSpc>
              <a:buNone/>
            </a:pPr>
            <a:r>
              <a:rPr lang="en-US" sz="960" b="1" dirty="0">
                <a:solidFill>
                  <a:srgbClr val="A9BC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960" dirty="0"/>
          </a:p>
          <a:p>
            <a:pPr algn="ctr" indent="0" marL="0">
              <a:lnSpc>
                <a:spcPts val="1725"/>
              </a:lnSpc>
              <a:buNone/>
            </a:pPr>
            <a:r>
              <a:rPr lang="en-US" sz="960" b="1" dirty="0">
                <a:solidFill>
                  <a:srgbClr val="A9BC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</a:t>
            </a:r>
            <a:endParaRPr lang="en-US" sz="960" dirty="0"/>
          </a:p>
        </p:txBody>
      </p:sp>
      <p:pic>
        <p:nvPicPr>
          <p:cNvPr id="84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591300" y="3400425"/>
            <a:ext cx="47625" cy="733425"/>
          </a:xfrm>
          <a:prstGeom prst="rect">
            <a:avLst/>
          </a:prstGeom>
        </p:spPr>
      </p:pic>
      <p:sp>
        <p:nvSpPr>
          <p:cNvPr id="85" name="Shape 49"/>
          <p:cNvSpPr/>
          <p:nvPr/>
        </p:nvSpPr>
        <p:spPr>
          <a:xfrm>
            <a:off x="4267200" y="3390900"/>
            <a:ext cx="1790700" cy="3209925"/>
          </a:xfrm>
          <a:prstGeom prst="roundRect">
            <a:avLst>
              <a:gd name="adj" fmla="val 11170"/>
            </a:avLst>
          </a:prstGeom>
          <a:solidFill>
            <a:srgbClr val="EDFCF2"/>
          </a:solidFill>
          <a:ln w="9525">
            <a:solidFill>
              <a:srgbClr val="D5E8DC"/>
            </a:solidFill>
            <a:prstDash val="solid"/>
          </a:ln>
        </p:spPr>
      </p:sp>
      <p:pic>
        <p:nvPicPr>
          <p:cNvPr id="86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495800" y="5505450"/>
            <a:ext cx="1333500" cy="19050"/>
          </a:xfrm>
          <a:prstGeom prst="rect">
            <a:avLst/>
          </a:prstGeom>
        </p:spPr>
      </p:pic>
      <p:pic>
        <p:nvPicPr>
          <p:cNvPr id="87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819650" y="4286250"/>
            <a:ext cx="666750" cy="666750"/>
          </a:xfrm>
          <a:prstGeom prst="rect">
            <a:avLst/>
          </a:prstGeom>
        </p:spPr>
      </p:pic>
      <p:sp>
        <p:nvSpPr>
          <p:cNvPr id="88" name="Shape 50"/>
          <p:cNvSpPr/>
          <p:nvPr/>
        </p:nvSpPr>
        <p:spPr>
          <a:xfrm>
            <a:off x="4895850" y="3562350"/>
            <a:ext cx="523875" cy="533400"/>
          </a:xfrm>
          <a:prstGeom prst="roundRect">
            <a:avLst>
              <a:gd name="adj" fmla="val 50000"/>
            </a:avLst>
          </a:prstGeom>
          <a:solidFill>
            <a:srgbClr val="CCEFDA"/>
          </a:solidFill>
          <a:ln w="38100">
            <a:solidFill>
              <a:srgbClr val="DEF5E7"/>
            </a:solidFill>
            <a:prstDash val="solid"/>
          </a:ln>
        </p:spPr>
      </p:sp>
      <p:sp>
        <p:nvSpPr>
          <p:cNvPr id="89" name="Text 51"/>
          <p:cNvSpPr/>
          <p:nvPr/>
        </p:nvSpPr>
        <p:spPr>
          <a:xfrm>
            <a:off x="5057775" y="3676650"/>
            <a:ext cx="190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2242" b="1" dirty="0">
                <a:solidFill>
                  <a:srgbClr val="244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42" dirty="0"/>
          </a:p>
        </p:txBody>
      </p:sp>
      <p:sp>
        <p:nvSpPr>
          <p:cNvPr id="90" name="Text 52"/>
          <p:cNvSpPr/>
          <p:nvPr/>
        </p:nvSpPr>
        <p:spPr>
          <a:xfrm>
            <a:off x="4419600" y="5610225"/>
            <a:ext cx="1524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36"/>
              </a:lnSpc>
              <a:buNone/>
            </a:pPr>
            <a:r>
              <a:rPr lang="en-US" sz="1378" dirty="0">
                <a:solidFill>
                  <a:srgbClr val="627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Process, evidence,</a:t>
            </a:r>
            <a:endParaRPr lang="en-US" sz="1378" dirty="0"/>
          </a:p>
          <a:p>
            <a:pPr algn="ctr" indent="0" marL="0">
              <a:lnSpc>
                <a:spcPts val="1836"/>
              </a:lnSpc>
              <a:buNone/>
            </a:pPr>
            <a:r>
              <a:rPr lang="en-US" sz="1378" dirty="0">
                <a:solidFill>
                  <a:srgbClr val="627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pain points &amp;</a:t>
            </a:r>
            <a:endParaRPr lang="en-US" sz="1378" dirty="0"/>
          </a:p>
          <a:p>
            <a:pPr algn="ctr" indent="0" marL="0">
              <a:lnSpc>
                <a:spcPts val="1836"/>
              </a:lnSpc>
              <a:buNone/>
            </a:pPr>
            <a:r>
              <a:rPr lang="en-US" sz="1378" dirty="0">
                <a:solidFill>
                  <a:srgbClr val="627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opportunities</a:t>
            </a:r>
            <a:endParaRPr lang="en-US" sz="1378" dirty="0"/>
          </a:p>
        </p:txBody>
      </p:sp>
      <p:sp>
        <p:nvSpPr>
          <p:cNvPr id="91" name="Text 53"/>
          <p:cNvSpPr/>
          <p:nvPr/>
        </p:nvSpPr>
        <p:spPr>
          <a:xfrm>
            <a:off x="4695825" y="5114925"/>
            <a:ext cx="95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6"/>
              </a:lnSpc>
              <a:buNone/>
            </a:pPr>
            <a:r>
              <a:rPr lang="en-US" sz="1721" b="1" dirty="0">
                <a:solidFill>
                  <a:srgbClr val="4149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</a:t>
            </a:r>
            <a:endParaRPr lang="en-US" sz="1721" dirty="0"/>
          </a:p>
        </p:txBody>
      </p:sp>
      <p:pic>
        <p:nvPicPr>
          <p:cNvPr id="92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4352925" y="3200400"/>
            <a:ext cx="2609850" cy="76200"/>
          </a:xfrm>
          <a:prstGeom prst="rect">
            <a:avLst/>
          </a:prstGeom>
        </p:spPr>
      </p:pic>
      <p:pic>
        <p:nvPicPr>
          <p:cNvPr id="93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419600" y="2828925"/>
            <a:ext cx="314325" cy="314325"/>
          </a:xfrm>
          <a:prstGeom prst="rect">
            <a:avLst/>
          </a:prstGeom>
        </p:spPr>
      </p:pic>
      <p:sp>
        <p:nvSpPr>
          <p:cNvPr id="94" name="Text 54"/>
          <p:cNvSpPr/>
          <p:nvPr/>
        </p:nvSpPr>
        <p:spPr>
          <a:xfrm>
            <a:off x="4838700" y="2867025"/>
            <a:ext cx="2114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5"/>
              </a:lnSpc>
              <a:buNone/>
            </a:pPr>
            <a:r>
              <a:rPr lang="en-US" sz="1432" b="1" dirty="0">
                <a:solidFill>
                  <a:srgbClr val="3757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FDE Process Discovery</a:t>
            </a:r>
            <a:endParaRPr lang="en-US" sz="1432" dirty="0"/>
          </a:p>
        </p:txBody>
      </p:sp>
      <p:sp>
        <p:nvSpPr>
          <p:cNvPr id="95" name="Shape 55"/>
          <p:cNvSpPr/>
          <p:nvPr/>
        </p:nvSpPr>
        <p:spPr>
          <a:xfrm>
            <a:off x="333375" y="3400425"/>
            <a:ext cx="1800225" cy="3181350"/>
          </a:xfrm>
          <a:prstGeom prst="roundRect">
            <a:avLst>
              <a:gd name="adj" fmla="val 10053"/>
            </a:avLst>
          </a:prstGeom>
          <a:solidFill>
            <a:srgbClr val="FBFDFB"/>
          </a:solidFill>
          <a:ln w="9525">
            <a:solidFill>
              <a:srgbClr val="F2FAF4"/>
            </a:solidFill>
            <a:prstDash val="solid"/>
          </a:ln>
        </p:spPr>
      </p:sp>
      <p:pic>
        <p:nvPicPr>
          <p:cNvPr id="96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81025" y="5505450"/>
            <a:ext cx="1323975" cy="9525"/>
          </a:xfrm>
          <a:prstGeom prst="rect">
            <a:avLst/>
          </a:prstGeom>
        </p:spPr>
      </p:pic>
      <p:pic>
        <p:nvPicPr>
          <p:cNvPr id="97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942975" y="4286250"/>
            <a:ext cx="628650" cy="657225"/>
          </a:xfrm>
          <a:prstGeom prst="rect">
            <a:avLst/>
          </a:prstGeom>
        </p:spPr>
      </p:pic>
      <p:sp>
        <p:nvSpPr>
          <p:cNvPr id="98" name="Shape 56"/>
          <p:cNvSpPr/>
          <p:nvPr/>
        </p:nvSpPr>
        <p:spPr>
          <a:xfrm>
            <a:off x="971550" y="3562350"/>
            <a:ext cx="523875" cy="523875"/>
          </a:xfrm>
          <a:prstGeom prst="roundRect">
            <a:avLst>
              <a:gd name="adj" fmla="val 50000"/>
            </a:avLst>
          </a:prstGeom>
          <a:solidFill>
            <a:srgbClr val="DDF2E3"/>
          </a:solidFill>
          <a:ln w="19050">
            <a:solidFill>
              <a:srgbClr val="F1F9F3"/>
            </a:solidFill>
            <a:prstDash val="solid"/>
          </a:ln>
        </p:spPr>
      </p:sp>
      <p:sp>
        <p:nvSpPr>
          <p:cNvPr id="99" name="Text 57"/>
          <p:cNvSpPr/>
          <p:nvPr/>
        </p:nvSpPr>
        <p:spPr>
          <a:xfrm>
            <a:off x="1143000" y="3676650"/>
            <a:ext cx="1619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2224" b="1" dirty="0">
                <a:solidFill>
                  <a:srgbClr val="294D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224" dirty="0"/>
          </a:p>
        </p:txBody>
      </p:sp>
      <p:sp>
        <p:nvSpPr>
          <p:cNvPr id="100" name="Text 58"/>
          <p:cNvSpPr/>
          <p:nvPr/>
        </p:nvSpPr>
        <p:spPr>
          <a:xfrm>
            <a:off x="552450" y="5610225"/>
            <a:ext cx="1419225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40"/>
              </a:lnSpc>
              <a:buNone/>
            </a:pPr>
            <a:r>
              <a:rPr lang="en-US" sz="1465" dirty="0">
                <a:solidFill>
                  <a:srgbClr val="737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</a:t>
            </a:r>
            <a:endParaRPr lang="en-US" sz="1465" dirty="0"/>
          </a:p>
          <a:p>
            <a:pPr algn="ctr" indent="0" marL="0">
              <a:lnSpc>
                <a:spcPts val="1840"/>
              </a:lnSpc>
              <a:buNone/>
            </a:pPr>
            <a:r>
              <a:rPr lang="en-US" sz="1465" dirty="0">
                <a:solidFill>
                  <a:srgbClr val="737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&amp;</a:t>
            </a:r>
            <a:endParaRPr lang="en-US" sz="1465" dirty="0"/>
          </a:p>
          <a:p>
            <a:pPr algn="ctr" indent="0" marL="0">
              <a:lnSpc>
                <a:spcPts val="1840"/>
              </a:lnSpc>
              <a:buNone/>
            </a:pPr>
            <a:r>
              <a:rPr lang="en-US" sz="1465" dirty="0">
                <a:solidFill>
                  <a:srgbClr val="737A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desired outcome</a:t>
            </a:r>
            <a:endParaRPr lang="en-US" sz="1465" dirty="0"/>
          </a:p>
        </p:txBody>
      </p:sp>
      <p:sp>
        <p:nvSpPr>
          <p:cNvPr id="101" name="Text 59"/>
          <p:cNvSpPr/>
          <p:nvPr/>
        </p:nvSpPr>
        <p:spPr>
          <a:xfrm>
            <a:off x="904875" y="5124450"/>
            <a:ext cx="695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2"/>
              </a:lnSpc>
              <a:buNone/>
            </a:pPr>
            <a:r>
              <a:rPr lang="en-US" sz="1838" b="1" dirty="0">
                <a:solidFill>
                  <a:srgbClr val="454A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Intake</a:t>
            </a:r>
            <a:endParaRPr lang="en-US" sz="1838" dirty="0"/>
          </a:p>
        </p:txBody>
      </p:sp>
      <p:sp>
        <p:nvSpPr>
          <p:cNvPr id="102" name="Shape 60"/>
          <p:cNvSpPr/>
          <p:nvPr/>
        </p:nvSpPr>
        <p:spPr>
          <a:xfrm>
            <a:off x="2257425" y="3400425"/>
            <a:ext cx="1781175" cy="3181350"/>
          </a:xfrm>
          <a:prstGeom prst="roundRect">
            <a:avLst>
              <a:gd name="adj" fmla="val 11230"/>
            </a:avLst>
          </a:prstGeom>
          <a:solidFill>
            <a:srgbClr val="FBFDFB"/>
          </a:solidFill>
          <a:ln w="9525">
            <a:solidFill>
              <a:srgbClr val="EFF8F2"/>
            </a:solidFill>
            <a:prstDash val="solid"/>
          </a:ln>
        </p:spPr>
      </p:sp>
      <p:pic>
        <p:nvPicPr>
          <p:cNvPr id="103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486025" y="5505450"/>
            <a:ext cx="1323975" cy="9525"/>
          </a:xfrm>
          <a:prstGeom prst="rect">
            <a:avLst/>
          </a:prstGeom>
        </p:spPr>
      </p:pic>
      <p:pic>
        <p:nvPicPr>
          <p:cNvPr id="104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2705100" y="4352925"/>
            <a:ext cx="866775" cy="552450"/>
          </a:xfrm>
          <a:prstGeom prst="rect">
            <a:avLst/>
          </a:prstGeom>
        </p:spPr>
      </p:pic>
      <p:sp>
        <p:nvSpPr>
          <p:cNvPr id="105" name="Shape 61"/>
          <p:cNvSpPr/>
          <p:nvPr/>
        </p:nvSpPr>
        <p:spPr>
          <a:xfrm>
            <a:off x="2886075" y="3562350"/>
            <a:ext cx="523875" cy="523875"/>
          </a:xfrm>
          <a:prstGeom prst="roundRect">
            <a:avLst>
              <a:gd name="adj" fmla="val 50000"/>
            </a:avLst>
          </a:prstGeom>
          <a:solidFill>
            <a:srgbClr val="DDF2E3"/>
          </a:solidFill>
          <a:ln w="19050">
            <a:solidFill>
              <a:srgbClr val="F2F9F3"/>
            </a:solidFill>
            <a:prstDash val="solid"/>
          </a:ln>
        </p:spPr>
      </p:sp>
      <p:sp>
        <p:nvSpPr>
          <p:cNvPr id="106" name="Text 62"/>
          <p:cNvSpPr/>
          <p:nvPr/>
        </p:nvSpPr>
        <p:spPr>
          <a:xfrm>
            <a:off x="3048000" y="3676650"/>
            <a:ext cx="20002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2348" b="1" dirty="0">
                <a:solidFill>
                  <a:srgbClr val="2B4F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348" dirty="0"/>
          </a:p>
        </p:txBody>
      </p:sp>
      <p:sp>
        <p:nvSpPr>
          <p:cNvPr id="107" name="Text 63"/>
          <p:cNvSpPr/>
          <p:nvPr/>
        </p:nvSpPr>
        <p:spPr>
          <a:xfrm>
            <a:off x="2466975" y="5610225"/>
            <a:ext cx="1400175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47"/>
              </a:lnSpc>
              <a:buNone/>
            </a:pPr>
            <a:r>
              <a:rPr lang="en-US" sz="1492" dirty="0">
                <a:solidFill>
                  <a:srgbClr val="757C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SLT priority,</a:t>
            </a:r>
            <a:endParaRPr lang="en-US" sz="1492" dirty="0"/>
          </a:p>
          <a:p>
            <a:pPr algn="ctr" indent="0" marL="0">
              <a:lnSpc>
                <a:spcPts val="1847"/>
              </a:lnSpc>
              <a:buNone/>
            </a:pPr>
            <a:r>
              <a:rPr lang="en-US" sz="1492" dirty="0">
                <a:solidFill>
                  <a:srgbClr val="757C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ownership &amp;</a:t>
            </a:r>
            <a:endParaRPr lang="en-US" sz="1492" dirty="0"/>
          </a:p>
          <a:p>
            <a:pPr algn="ctr" indent="0" marL="0">
              <a:lnSpc>
                <a:spcPts val="1847"/>
              </a:lnSpc>
              <a:buNone/>
            </a:pPr>
            <a:r>
              <a:rPr lang="en-US" sz="1492" dirty="0">
                <a:solidFill>
                  <a:srgbClr val="757C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timing</a:t>
            </a:r>
            <a:endParaRPr lang="en-US" sz="1492" dirty="0"/>
          </a:p>
        </p:txBody>
      </p:sp>
      <p:sp>
        <p:nvSpPr>
          <p:cNvPr id="108" name="Text 64"/>
          <p:cNvSpPr/>
          <p:nvPr/>
        </p:nvSpPr>
        <p:spPr>
          <a:xfrm>
            <a:off x="2743200" y="5114925"/>
            <a:ext cx="838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815" b="1" dirty="0">
                <a:solidFill>
                  <a:srgbClr val="3338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</a:t>
            </a:r>
            <a:endParaRPr lang="en-US" sz="1815" dirty="0"/>
          </a:p>
        </p:txBody>
      </p:sp>
      <p:pic>
        <p:nvPicPr>
          <p:cNvPr id="109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2114550" y="4724400"/>
            <a:ext cx="209550" cy="171450"/>
          </a:xfrm>
          <a:prstGeom prst="rect">
            <a:avLst/>
          </a:prstGeom>
        </p:spPr>
      </p:pic>
      <p:pic>
        <p:nvPicPr>
          <p:cNvPr id="110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28625" y="3200400"/>
            <a:ext cx="3505200" cy="57150"/>
          </a:xfrm>
          <a:prstGeom prst="rect">
            <a:avLst/>
          </a:prstGeom>
        </p:spPr>
      </p:pic>
      <p:pic>
        <p:nvPicPr>
          <p:cNvPr id="111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57200" y="3219450"/>
            <a:ext cx="361950" cy="19050"/>
          </a:xfrm>
          <a:prstGeom prst="rect">
            <a:avLst/>
          </a:prstGeom>
        </p:spPr>
      </p:pic>
      <p:sp>
        <p:nvSpPr>
          <p:cNvPr id="112" name="Text 65"/>
          <p:cNvSpPr/>
          <p:nvPr/>
        </p:nvSpPr>
        <p:spPr>
          <a:xfrm>
            <a:off x="1495425" y="2847975"/>
            <a:ext cx="22479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593" b="1" dirty="0">
                <a:solidFill>
                  <a:srgbClr val="2E51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Front Door</a:t>
            </a:r>
            <a:endParaRPr lang="en-US" sz="1593" dirty="0"/>
          </a:p>
        </p:txBody>
      </p:sp>
      <p:pic>
        <p:nvPicPr>
          <p:cNvPr id="113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885825" y="2819400"/>
            <a:ext cx="457200" cy="361950"/>
          </a:xfrm>
          <a:prstGeom prst="rect">
            <a:avLst/>
          </a:prstGeom>
        </p:spPr>
      </p:pic>
      <p:pic>
        <p:nvPicPr>
          <p:cNvPr id="114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019550" y="4724400"/>
            <a:ext cx="190500" cy="171450"/>
          </a:xfrm>
          <a:prstGeom prst="rect">
            <a:avLst/>
          </a:prstGeom>
        </p:spPr>
      </p:pic>
      <p:sp>
        <p:nvSpPr>
          <p:cNvPr id="115" name="Shape 66"/>
          <p:cNvSpPr/>
          <p:nvPr/>
        </p:nvSpPr>
        <p:spPr>
          <a:xfrm>
            <a:off x="323850" y="1457325"/>
            <a:ext cx="15287625" cy="1019175"/>
          </a:xfrm>
          <a:prstGeom prst="roundRect">
            <a:avLst>
              <a:gd name="adj" fmla="val 26168"/>
            </a:avLst>
          </a:prstGeom>
          <a:solidFill>
            <a:srgbClr val="E9F6ED"/>
          </a:solidFill>
          <a:ln/>
        </p:spPr>
      </p:sp>
      <p:pic>
        <p:nvPicPr>
          <p:cNvPr id="116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485900" y="1704975"/>
            <a:ext cx="19050" cy="561975"/>
          </a:xfrm>
          <a:prstGeom prst="rect">
            <a:avLst/>
          </a:prstGeom>
        </p:spPr>
      </p:pic>
      <p:pic>
        <p:nvPicPr>
          <p:cNvPr id="117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19125" y="1657350"/>
            <a:ext cx="581025" cy="609600"/>
          </a:xfrm>
          <a:prstGeom prst="rect">
            <a:avLst/>
          </a:prstGeom>
        </p:spPr>
      </p:pic>
      <p:sp>
        <p:nvSpPr>
          <p:cNvPr id="118" name="Text 67"/>
          <p:cNvSpPr/>
          <p:nvPr/>
        </p:nvSpPr>
        <p:spPr>
          <a:xfrm>
            <a:off x="1771650" y="1819275"/>
            <a:ext cx="1362075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3"/>
              </a:lnSpc>
              <a:buNone/>
            </a:pPr>
            <a:r>
              <a:rPr lang="en-US" sz="1525" b="1" dirty="0">
                <a:solidFill>
                  <a:srgbClr val="3E5F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route from a prioritised process problem to measured benefit — with FDE Process Discovery bridging leadership priority and delivery.</a:t>
            </a:r>
            <a:endParaRPr lang="en-US" sz="1525" dirty="0"/>
          </a:p>
        </p:txBody>
      </p:sp>
      <p:sp>
        <p:nvSpPr>
          <p:cNvPr id="119" name="Shape 68"/>
          <p:cNvSpPr/>
          <p:nvPr/>
        </p:nvSpPr>
        <p:spPr>
          <a:xfrm>
            <a:off x="12068175" y="552450"/>
            <a:ext cx="3552825" cy="552450"/>
          </a:xfrm>
          <a:prstGeom prst="roundRect">
            <a:avLst>
              <a:gd name="adj" fmla="val 37931"/>
            </a:avLst>
          </a:prstGeom>
          <a:solidFill>
            <a:srgbClr val="D8EEDE"/>
          </a:solidFill>
          <a:ln/>
        </p:spPr>
      </p:sp>
      <p:pic>
        <p:nvPicPr>
          <p:cNvPr id="120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13115925" y="714375"/>
            <a:ext cx="19050" cy="247650"/>
          </a:xfrm>
          <a:prstGeom prst="rect">
            <a:avLst/>
          </a:prstGeom>
        </p:spPr>
      </p:pic>
      <p:sp>
        <p:nvSpPr>
          <p:cNvPr id="121" name="Text 69"/>
          <p:cNvSpPr/>
          <p:nvPr/>
        </p:nvSpPr>
        <p:spPr>
          <a:xfrm>
            <a:off x="13306425" y="695325"/>
            <a:ext cx="20764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60"/>
              </a:lnSpc>
              <a:buNone/>
            </a:pPr>
            <a:r>
              <a:rPr lang="en-US" sz="1708" dirty="0">
                <a:solidFill>
                  <a:srgbClr val="4355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Explaining the Model</a:t>
            </a:r>
            <a:endParaRPr lang="en-US" sz="1708" dirty="0"/>
          </a:p>
        </p:txBody>
      </p:sp>
      <p:sp>
        <p:nvSpPr>
          <p:cNvPr id="122" name="Text 70"/>
          <p:cNvSpPr/>
          <p:nvPr/>
        </p:nvSpPr>
        <p:spPr>
          <a:xfrm>
            <a:off x="12334875" y="695325"/>
            <a:ext cx="638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754" b="1" dirty="0">
                <a:solidFill>
                  <a:srgbClr val="2D54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1</a:t>
            </a:r>
            <a:endParaRPr lang="en-US" sz="1754" dirty="0"/>
          </a:p>
        </p:txBody>
      </p:sp>
      <p:sp>
        <p:nvSpPr>
          <p:cNvPr id="123" name="Text 71"/>
          <p:cNvSpPr/>
          <p:nvPr/>
        </p:nvSpPr>
        <p:spPr>
          <a:xfrm>
            <a:off x="914400" y="514350"/>
            <a:ext cx="10896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4444" b="1" dirty="0">
                <a:solidFill>
                  <a:srgbClr val="153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8-Stage MRO FDE Operating Model</a:t>
            </a:r>
            <a:endParaRPr lang="en-US" sz="4444" dirty="0"/>
          </a:p>
        </p:txBody>
      </p:sp>
      <p:pic>
        <p:nvPicPr>
          <p:cNvPr id="124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9525" y="171450"/>
            <a:ext cx="714375" cy="11144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925800" cy="8963025"/>
          </a:xfrm>
          <a:prstGeom prst="rect">
            <a:avLst/>
          </a:prstGeom>
          <a:solidFill>
            <a:srgbClr val="F5FEF8"/>
          </a:solidFill>
          <a:ln/>
        </p:spPr>
      </p:sp>
      <p:sp>
        <p:nvSpPr>
          <p:cNvPr id="3" name="Text 1"/>
          <p:cNvSpPr/>
          <p:nvPr/>
        </p:nvSpPr>
        <p:spPr>
          <a:xfrm>
            <a:off x="15478125" y="8610600"/>
            <a:ext cx="1047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1335" dirty="0">
                <a:solidFill>
                  <a:srgbClr val="6D73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35" dirty="0"/>
          </a:p>
        </p:txBody>
      </p:sp>
      <p:sp>
        <p:nvSpPr>
          <p:cNvPr id="4" name="Shape 2"/>
          <p:cNvSpPr/>
          <p:nvPr/>
        </p:nvSpPr>
        <p:spPr>
          <a:xfrm>
            <a:off x="2514600" y="8705850"/>
            <a:ext cx="12677775" cy="9525"/>
          </a:xfrm>
          <a:prstGeom prst="rect">
            <a:avLst/>
          </a:prstGeom>
          <a:solidFill>
            <a:srgbClr val="97ACB0"/>
          </a:solidFill>
          <a:ln/>
        </p:spPr>
      </p:sp>
      <p:sp>
        <p:nvSpPr>
          <p:cNvPr id="5" name="Text 3"/>
          <p:cNvSpPr/>
          <p:nvPr/>
        </p:nvSpPr>
        <p:spPr>
          <a:xfrm>
            <a:off x="381000" y="8601075"/>
            <a:ext cx="1905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058" dirty="0">
                <a:solidFill>
                  <a:srgbClr val="848A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MRO FDE Operating Model</a:t>
            </a:r>
            <a:endParaRPr lang="en-US" sz="1058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58100"/>
            <a:ext cx="15925800" cy="85725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7867650"/>
            <a:ext cx="19050" cy="504825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7791450"/>
            <a:ext cx="609600" cy="6381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200275" y="7800975"/>
            <a:ext cx="11896725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82"/>
              </a:lnSpc>
              <a:buNone/>
            </a:pPr>
            <a:r>
              <a:rPr lang="en-US" sz="1851" b="1" dirty="0">
                <a:solidFill>
                  <a:srgbClr val="BCC9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change is evolutionary: add a structured leadership front door and FDE Discovery, then strengthen
</a:t>
            </a:r>
            <a:pPr algn="l" indent="0" marL="0">
              <a:lnSpc>
                <a:spcPts val="2482"/>
              </a:lnSpc>
              <a:buNone/>
            </a:pPr>
            <a:r>
              <a:rPr lang="en-US" sz="1851" b="1" dirty="0">
                <a:solidFill>
                  <a:srgbClr val="CBD7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replace—the current Tech &amp; Tooling lifecycle.</a:t>
            </a:r>
            <a:endParaRPr lang="en-US" sz="1851" dirty="0"/>
          </a:p>
        </p:txBody>
      </p:sp>
      <p:sp>
        <p:nvSpPr>
          <p:cNvPr id="10" name="Shape 5"/>
          <p:cNvSpPr/>
          <p:nvPr/>
        </p:nvSpPr>
        <p:spPr>
          <a:xfrm>
            <a:off x="333375" y="7048500"/>
            <a:ext cx="15259050" cy="485775"/>
          </a:xfrm>
          <a:prstGeom prst="roundRect">
            <a:avLst>
              <a:gd name="adj" fmla="val 35294"/>
            </a:avLst>
          </a:prstGeom>
          <a:solidFill>
            <a:srgbClr val="E3F5EA"/>
          </a:solidFill>
          <a:ln/>
        </p:spPr>
      </p:sp>
      <p:sp>
        <p:nvSpPr>
          <p:cNvPr id="11" name="Text 6"/>
          <p:cNvSpPr/>
          <p:nvPr/>
        </p:nvSpPr>
        <p:spPr>
          <a:xfrm>
            <a:off x="1600200" y="7162800"/>
            <a:ext cx="85153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21"/>
              </a:lnSpc>
              <a:buNone/>
            </a:pPr>
            <a:r>
              <a:rPr lang="en-US" sz="1564" dirty="0">
                <a:solidFill>
                  <a:srgbClr val="5664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research, PoCs, test evidence and delivery artefacts are reused rather than restarted.</a:t>
            </a:r>
            <a:endParaRPr lang="en-US" sz="1564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550" y="7153275"/>
            <a:ext cx="19050" cy="285750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850" y="7086600"/>
            <a:ext cx="390525" cy="40005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10544175" y="2552700"/>
            <a:ext cx="5076825" cy="4362450"/>
          </a:xfrm>
          <a:prstGeom prst="roundRect">
            <a:avLst>
              <a:gd name="adj" fmla="val 4148"/>
            </a:avLst>
          </a:prstGeom>
          <a:solidFill>
            <a:srgbClr val="E1F2E7"/>
          </a:solidFill>
          <a:ln/>
        </p:spPr>
      </p:sp>
      <p:sp>
        <p:nvSpPr>
          <p:cNvPr id="15" name="Shape 8"/>
          <p:cNvSpPr/>
          <p:nvPr/>
        </p:nvSpPr>
        <p:spPr>
          <a:xfrm>
            <a:off x="10610850" y="3562350"/>
            <a:ext cx="4953000" cy="3295650"/>
          </a:xfrm>
          <a:prstGeom prst="roundRect">
            <a:avLst>
              <a:gd name="adj" fmla="val 4624"/>
            </a:avLst>
          </a:prstGeom>
          <a:solidFill>
            <a:srgbClr val="FEFDFE"/>
          </a:solidFill>
          <a:ln/>
        </p:spPr>
      </p:sp>
      <p:sp>
        <p:nvSpPr>
          <p:cNvPr id="16" name="Text 9"/>
          <p:cNvSpPr/>
          <p:nvPr/>
        </p:nvSpPr>
        <p:spPr>
          <a:xfrm>
            <a:off x="11591925" y="6372225"/>
            <a:ext cx="30099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8"/>
              </a:lnSpc>
              <a:buNone/>
            </a:pPr>
            <a:r>
              <a:rPr lang="en-US" sz="1411" dirty="0">
                <a:solidFill>
                  <a:srgbClr val="6E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adoption, benefit and reuse</a:t>
            </a:r>
            <a:endParaRPr lang="en-US" sz="1411" dirty="0"/>
          </a:p>
        </p:txBody>
      </p:sp>
      <p:sp>
        <p:nvSpPr>
          <p:cNvPr id="17" name="Shape 10"/>
          <p:cNvSpPr/>
          <p:nvPr/>
        </p:nvSpPr>
        <p:spPr>
          <a:xfrm>
            <a:off x="10810875" y="6238875"/>
            <a:ext cx="495300" cy="495300"/>
          </a:xfrm>
          <a:prstGeom prst="roundRect">
            <a:avLst>
              <a:gd name="adj" fmla="val 49519"/>
            </a:avLst>
          </a:prstGeom>
          <a:solidFill>
            <a:srgbClr val="DFF3E6"/>
          </a:solidFill>
          <a:ln w="47625">
            <a:solidFill>
              <a:srgbClr val="F3FAF6"/>
            </a:solidFill>
            <a:prstDash val="solid"/>
          </a:ln>
        </p:spPr>
      </p:sp>
      <p:sp>
        <p:nvSpPr>
          <p:cNvPr id="18" name="Text 11"/>
          <p:cNvSpPr/>
          <p:nvPr/>
        </p:nvSpPr>
        <p:spPr>
          <a:xfrm>
            <a:off x="10991850" y="6362700"/>
            <a:ext cx="152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905" dirty="0">
                <a:solidFill>
                  <a:srgbClr val="3D5B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905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1825" y="6134100"/>
            <a:ext cx="4600575" cy="5715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591925" y="5734050"/>
            <a:ext cx="22098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34"/>
              </a:lnSpc>
              <a:buNone/>
            </a:pPr>
            <a:r>
              <a:rPr lang="en-US" sz="1419" dirty="0">
                <a:solidFill>
                  <a:srgbClr val="727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Deliver, test and hand over</a:t>
            </a:r>
            <a:endParaRPr lang="en-US" sz="1419" dirty="0"/>
          </a:p>
        </p:txBody>
      </p:sp>
      <p:sp>
        <p:nvSpPr>
          <p:cNvPr id="21" name="Shape 13"/>
          <p:cNvSpPr/>
          <p:nvPr/>
        </p:nvSpPr>
        <p:spPr>
          <a:xfrm>
            <a:off x="10810875" y="5600700"/>
            <a:ext cx="495300" cy="495300"/>
          </a:xfrm>
          <a:prstGeom prst="roundRect">
            <a:avLst>
              <a:gd name="adj" fmla="val 49519"/>
            </a:avLst>
          </a:prstGeom>
          <a:solidFill>
            <a:srgbClr val="DFF3E6"/>
          </a:solidFill>
          <a:ln w="19050">
            <a:solidFill>
              <a:srgbClr val="F3FAF6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10982325" y="5724525"/>
            <a:ext cx="161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2220" dirty="0">
                <a:solidFill>
                  <a:srgbClr val="3859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22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825" y="5495925"/>
            <a:ext cx="4600575" cy="5715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1591925" y="5086350"/>
            <a:ext cx="33147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3"/>
              </a:lnSpc>
              <a:buNone/>
            </a:pPr>
            <a:r>
              <a:rPr lang="en-US" sz="1393" dirty="0">
                <a:solidFill>
                  <a:srgbClr val="6D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controls &amp; production readiness</a:t>
            </a:r>
            <a:endParaRPr lang="en-US" sz="1393" dirty="0"/>
          </a:p>
        </p:txBody>
      </p:sp>
      <p:sp>
        <p:nvSpPr>
          <p:cNvPr id="25" name="Shape 16"/>
          <p:cNvSpPr/>
          <p:nvPr/>
        </p:nvSpPr>
        <p:spPr>
          <a:xfrm>
            <a:off x="10810875" y="4962525"/>
            <a:ext cx="495300" cy="495300"/>
          </a:xfrm>
          <a:prstGeom prst="roundRect">
            <a:avLst>
              <a:gd name="adj" fmla="val 49519"/>
            </a:avLst>
          </a:prstGeom>
          <a:solidFill>
            <a:srgbClr val="DFF3E6"/>
          </a:solidFill>
          <a:ln w="9525">
            <a:solidFill>
              <a:srgbClr val="F3FAF5"/>
            </a:solidFill>
            <a:prstDash val="solid"/>
          </a:ln>
        </p:spPr>
      </p:sp>
      <p:sp>
        <p:nvSpPr>
          <p:cNvPr id="26" name="Text 17"/>
          <p:cNvSpPr/>
          <p:nvPr/>
        </p:nvSpPr>
        <p:spPr>
          <a:xfrm>
            <a:off x="10991850" y="5086350"/>
            <a:ext cx="152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2063" dirty="0">
                <a:solidFill>
                  <a:srgbClr val="395B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063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91825" y="4857750"/>
            <a:ext cx="4600575" cy="5715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1591925" y="4457700"/>
            <a:ext cx="37528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1"/>
              </a:lnSpc>
              <a:buNone/>
            </a:pPr>
            <a:r>
              <a:rPr lang="en-US" sz="1339" dirty="0">
                <a:solidFill>
                  <a:srgbClr val="6C7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through PoC / vertical slice where needed</a:t>
            </a:r>
            <a:endParaRPr lang="en-US" sz="1339" dirty="0"/>
          </a:p>
        </p:txBody>
      </p:sp>
      <p:sp>
        <p:nvSpPr>
          <p:cNvPr id="29" name="Shape 19"/>
          <p:cNvSpPr/>
          <p:nvPr/>
        </p:nvSpPr>
        <p:spPr>
          <a:xfrm>
            <a:off x="10810875" y="4333875"/>
            <a:ext cx="495300" cy="495300"/>
          </a:xfrm>
          <a:prstGeom prst="roundRect">
            <a:avLst>
              <a:gd name="adj" fmla="val 49519"/>
            </a:avLst>
          </a:prstGeom>
          <a:solidFill>
            <a:srgbClr val="DFF3E6"/>
          </a:solidFill>
          <a:ln w="9525">
            <a:solidFill>
              <a:srgbClr val="F6FBF7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10991850" y="4457700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2100" dirty="0">
                <a:solidFill>
                  <a:srgbClr val="3456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210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91825" y="4238625"/>
            <a:ext cx="4600575" cy="5715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11582400" y="3838575"/>
            <a:ext cx="25146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17"/>
              </a:lnSpc>
              <a:buNone/>
            </a:pPr>
            <a:r>
              <a:rPr lang="en-US" sz="1355" dirty="0">
                <a:solidFill>
                  <a:srgbClr val="7073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options and select route</a:t>
            </a:r>
            <a:endParaRPr lang="en-US" sz="1355" dirty="0"/>
          </a:p>
        </p:txBody>
      </p:sp>
      <p:sp>
        <p:nvSpPr>
          <p:cNvPr id="33" name="Shape 22"/>
          <p:cNvSpPr/>
          <p:nvPr/>
        </p:nvSpPr>
        <p:spPr>
          <a:xfrm>
            <a:off x="10810875" y="3714750"/>
            <a:ext cx="495300" cy="485775"/>
          </a:xfrm>
          <a:prstGeom prst="roundRect">
            <a:avLst>
              <a:gd name="adj" fmla="val 50000"/>
            </a:avLst>
          </a:prstGeom>
          <a:solidFill>
            <a:srgbClr val="E0F3E6"/>
          </a:solidFill>
          <a:ln w="9525">
            <a:solidFill>
              <a:srgbClr val="F2F9F5"/>
            </a:solidFill>
            <a:prstDash val="solid"/>
          </a:ln>
        </p:spPr>
      </p:sp>
      <p:sp>
        <p:nvSpPr>
          <p:cNvPr id="34" name="Text 23"/>
          <p:cNvSpPr/>
          <p:nvPr/>
        </p:nvSpPr>
        <p:spPr>
          <a:xfrm>
            <a:off x="10991850" y="3838575"/>
            <a:ext cx="1333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9"/>
              </a:lnSpc>
              <a:buNone/>
            </a:pPr>
            <a:r>
              <a:rPr lang="en-US" sz="1831" dirty="0">
                <a:solidFill>
                  <a:srgbClr val="38564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31" dirty="0"/>
          </a:p>
        </p:txBody>
      </p:sp>
      <p:sp>
        <p:nvSpPr>
          <p:cNvPr id="35" name="Text 24"/>
          <p:cNvSpPr/>
          <p:nvPr/>
        </p:nvSpPr>
        <p:spPr>
          <a:xfrm>
            <a:off x="11858625" y="3124200"/>
            <a:ext cx="3600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440" dirty="0">
                <a:solidFill>
                  <a:srgbClr val="506D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work, more consistently structured</a:t>
            </a:r>
            <a:endParaRPr lang="en-US" sz="1440" dirty="0"/>
          </a:p>
        </p:txBody>
      </p:sp>
      <p:sp>
        <p:nvSpPr>
          <p:cNvPr id="36" name="Text 25"/>
          <p:cNvSpPr/>
          <p:nvPr/>
        </p:nvSpPr>
        <p:spPr>
          <a:xfrm>
            <a:off x="11858625" y="2752725"/>
            <a:ext cx="34671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31"/>
              </a:lnSpc>
              <a:buNone/>
            </a:pPr>
            <a:r>
              <a:rPr lang="en-US" sz="1587" b="1" dirty="0">
                <a:solidFill>
                  <a:srgbClr val="283C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Enhanced Tech &amp; Tooling Lifecycle</a:t>
            </a:r>
            <a:endParaRPr lang="en-US" sz="1587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30025" y="2724150"/>
            <a:ext cx="19050" cy="704850"/>
          </a:xfrm>
          <a:prstGeom prst="rect">
            <a:avLst/>
          </a:prstGeom>
        </p:spPr>
      </p:pic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53725" y="2752725"/>
            <a:ext cx="647700" cy="666750"/>
          </a:xfrm>
          <a:prstGeom prst="rect">
            <a:avLst/>
          </a:prstGeom>
        </p:spPr>
      </p:pic>
      <p:sp>
        <p:nvSpPr>
          <p:cNvPr id="39" name="Shape 26"/>
          <p:cNvSpPr/>
          <p:nvPr/>
        </p:nvSpPr>
        <p:spPr>
          <a:xfrm>
            <a:off x="5543550" y="2552700"/>
            <a:ext cx="4848225" cy="4371975"/>
          </a:xfrm>
          <a:prstGeom prst="roundRect">
            <a:avLst>
              <a:gd name="adj" fmla="val 4793"/>
            </a:avLst>
          </a:prstGeom>
          <a:solidFill>
            <a:srgbClr val="E1F3E8"/>
          </a:solidFill>
          <a:ln/>
        </p:spPr>
      </p:sp>
      <p:sp>
        <p:nvSpPr>
          <p:cNvPr id="40" name="Shape 27"/>
          <p:cNvSpPr/>
          <p:nvPr/>
        </p:nvSpPr>
        <p:spPr>
          <a:xfrm>
            <a:off x="5610225" y="3562350"/>
            <a:ext cx="4724400" cy="3295650"/>
          </a:xfrm>
          <a:prstGeom prst="roundRect">
            <a:avLst>
              <a:gd name="adj" fmla="val 5202"/>
            </a:avLst>
          </a:prstGeom>
          <a:solidFill>
            <a:srgbClr val="FDFDFE"/>
          </a:solidFill>
          <a:ln w="47625">
            <a:solidFill>
              <a:srgbClr val="FBFDFC"/>
            </a:solidFill>
            <a:prstDash val="solid"/>
          </a:ln>
        </p:spPr>
      </p:sp>
      <p:sp>
        <p:nvSpPr>
          <p:cNvPr id="41" name="Text 28"/>
          <p:cNvSpPr/>
          <p:nvPr/>
        </p:nvSpPr>
        <p:spPr>
          <a:xfrm>
            <a:off x="6600825" y="6372225"/>
            <a:ext cx="32194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1400" dirty="0">
                <a:solidFill>
                  <a:srgbClr val="70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 what should enter Stage 4</a:t>
            </a:r>
            <a:endParaRPr lang="en-US" sz="1400" dirty="0"/>
          </a:p>
        </p:txBody>
      </p:sp>
      <p:sp>
        <p:nvSpPr>
          <p:cNvPr id="42" name="Shape 29"/>
          <p:cNvSpPr/>
          <p:nvPr/>
        </p:nvSpPr>
        <p:spPr>
          <a:xfrm>
            <a:off x="5819775" y="6238875"/>
            <a:ext cx="485775" cy="495300"/>
          </a:xfrm>
          <a:prstGeom prst="roundRect">
            <a:avLst>
              <a:gd name="adj" fmla="val 50490"/>
            </a:avLst>
          </a:prstGeom>
          <a:solidFill>
            <a:srgbClr val="DFF3E6"/>
          </a:solidFill>
          <a:ln w="19050">
            <a:solidFill>
              <a:srgbClr val="F1F9F4"/>
            </a:solidFill>
            <a:prstDash val="solid"/>
          </a:ln>
        </p:spPr>
      </p:sp>
      <p:sp>
        <p:nvSpPr>
          <p:cNvPr id="43" name="Text 30"/>
          <p:cNvSpPr/>
          <p:nvPr/>
        </p:nvSpPr>
        <p:spPr>
          <a:xfrm>
            <a:off x="6000750" y="6362700"/>
            <a:ext cx="152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905" dirty="0">
                <a:solidFill>
                  <a:srgbClr val="3A59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905" dirty="0"/>
          </a:p>
        </p:txBody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91200" y="6134100"/>
            <a:ext cx="4371975" cy="57150"/>
          </a:xfrm>
          <a:prstGeom prst="rect">
            <a:avLst/>
          </a:prstGeom>
        </p:spPr>
      </p:pic>
      <p:sp>
        <p:nvSpPr>
          <p:cNvPr id="45" name="Text 31"/>
          <p:cNvSpPr/>
          <p:nvPr/>
        </p:nvSpPr>
        <p:spPr>
          <a:xfrm>
            <a:off x="6581775" y="5734050"/>
            <a:ext cx="26955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89"/>
              </a:lnSpc>
              <a:buNone/>
            </a:pPr>
            <a:r>
              <a:rPr lang="en-US" sz="1378" dirty="0">
                <a:solidFill>
                  <a:srgbClr val="6F73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common vs variant needs</a:t>
            </a:r>
            <a:endParaRPr lang="en-US" sz="1378" dirty="0"/>
          </a:p>
        </p:txBody>
      </p:sp>
      <p:sp>
        <p:nvSpPr>
          <p:cNvPr id="46" name="Shape 32"/>
          <p:cNvSpPr/>
          <p:nvPr/>
        </p:nvSpPr>
        <p:spPr>
          <a:xfrm>
            <a:off x="5819775" y="5600700"/>
            <a:ext cx="485775" cy="495300"/>
          </a:xfrm>
          <a:prstGeom prst="roundRect">
            <a:avLst>
              <a:gd name="adj" fmla="val 50000"/>
            </a:avLst>
          </a:prstGeom>
          <a:solidFill>
            <a:srgbClr val="DFF3E6"/>
          </a:solidFill>
          <a:ln w="19050">
            <a:solidFill>
              <a:srgbClr val="F1F9F4"/>
            </a:solidFill>
            <a:prstDash val="solid"/>
          </a:ln>
        </p:spPr>
      </p:sp>
      <p:sp>
        <p:nvSpPr>
          <p:cNvPr id="47" name="Text 33"/>
          <p:cNvSpPr/>
          <p:nvPr/>
        </p:nvSpPr>
        <p:spPr>
          <a:xfrm>
            <a:off x="5991225" y="5715000"/>
            <a:ext cx="1619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2123" dirty="0">
                <a:solidFill>
                  <a:srgbClr val="3F60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123" dirty="0"/>
          </a:p>
        </p:txBody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91200" y="5495925"/>
            <a:ext cx="4371975" cy="57150"/>
          </a:xfrm>
          <a:prstGeom prst="rect">
            <a:avLst/>
          </a:prstGeom>
        </p:spPr>
      </p:pic>
      <p:sp>
        <p:nvSpPr>
          <p:cNvPr id="49" name="Text 34"/>
          <p:cNvSpPr/>
          <p:nvPr/>
        </p:nvSpPr>
        <p:spPr>
          <a:xfrm>
            <a:off x="6600825" y="5095875"/>
            <a:ext cx="29146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2"/>
              </a:lnSpc>
              <a:buNone/>
            </a:pPr>
            <a:r>
              <a:rPr lang="en-US" sz="1456" dirty="0">
                <a:solidFill>
                  <a:srgbClr val="767A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improvement opportunities</a:t>
            </a:r>
            <a:endParaRPr lang="en-US" sz="1456" dirty="0"/>
          </a:p>
        </p:txBody>
      </p:sp>
      <p:sp>
        <p:nvSpPr>
          <p:cNvPr id="50" name="Shape 35"/>
          <p:cNvSpPr/>
          <p:nvPr/>
        </p:nvSpPr>
        <p:spPr>
          <a:xfrm>
            <a:off x="5819775" y="4962525"/>
            <a:ext cx="485775" cy="495300"/>
          </a:xfrm>
          <a:prstGeom prst="roundRect">
            <a:avLst>
              <a:gd name="adj" fmla="val 50000"/>
            </a:avLst>
          </a:prstGeom>
          <a:solidFill>
            <a:srgbClr val="DFF3E6"/>
          </a:solidFill>
          <a:ln w="9525">
            <a:solidFill>
              <a:srgbClr val="F0F9F3"/>
            </a:solidFill>
            <a:prstDash val="solid"/>
          </a:ln>
        </p:spPr>
      </p:sp>
      <p:sp>
        <p:nvSpPr>
          <p:cNvPr id="51" name="Text 36"/>
          <p:cNvSpPr/>
          <p:nvPr/>
        </p:nvSpPr>
        <p:spPr>
          <a:xfrm>
            <a:off x="5991225" y="5086350"/>
            <a:ext cx="1619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2123" dirty="0">
                <a:solidFill>
                  <a:srgbClr val="3155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123" dirty="0"/>
          </a:p>
        </p:txBody>
      </p:sp>
      <p:pic>
        <p:nvPicPr>
          <p:cNvPr id="5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00725" y="4857750"/>
            <a:ext cx="4352925" cy="57150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6591300" y="4457700"/>
            <a:ext cx="30480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62"/>
              </a:lnSpc>
              <a:buNone/>
            </a:pPr>
            <a:r>
              <a:rPr lang="en-US" sz="1401" dirty="0">
                <a:solidFill>
                  <a:srgbClr val="7073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pain points and root causes</a:t>
            </a:r>
            <a:endParaRPr lang="en-US" sz="1401" dirty="0"/>
          </a:p>
        </p:txBody>
      </p:sp>
      <p:sp>
        <p:nvSpPr>
          <p:cNvPr id="54" name="Shape 38"/>
          <p:cNvSpPr/>
          <p:nvPr/>
        </p:nvSpPr>
        <p:spPr>
          <a:xfrm>
            <a:off x="5819775" y="4333875"/>
            <a:ext cx="485775" cy="495300"/>
          </a:xfrm>
          <a:prstGeom prst="roundRect">
            <a:avLst>
              <a:gd name="adj" fmla="val 50000"/>
            </a:avLst>
          </a:prstGeom>
          <a:solidFill>
            <a:srgbClr val="E0F3E7"/>
          </a:solidFill>
          <a:ln w="9525">
            <a:solidFill>
              <a:srgbClr val="F3FAF5"/>
            </a:solidFill>
            <a:prstDash val="solid"/>
          </a:ln>
        </p:spPr>
      </p:sp>
      <p:sp>
        <p:nvSpPr>
          <p:cNvPr id="55" name="Text 39"/>
          <p:cNvSpPr/>
          <p:nvPr/>
        </p:nvSpPr>
        <p:spPr>
          <a:xfrm>
            <a:off x="5991225" y="4457700"/>
            <a:ext cx="1619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988" dirty="0">
                <a:solidFill>
                  <a:srgbClr val="3154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988" dirty="0"/>
          </a:p>
        </p:txBody>
      </p:sp>
      <p:pic>
        <p:nvPicPr>
          <p:cNvPr id="5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91200" y="4229100"/>
            <a:ext cx="4371975" cy="66675"/>
          </a:xfrm>
          <a:prstGeom prst="rect">
            <a:avLst/>
          </a:prstGeom>
        </p:spPr>
      </p:pic>
      <p:sp>
        <p:nvSpPr>
          <p:cNvPr id="57" name="Text 40"/>
          <p:cNvSpPr/>
          <p:nvPr/>
        </p:nvSpPr>
        <p:spPr>
          <a:xfrm>
            <a:off x="6591300" y="3838575"/>
            <a:ext cx="22955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395" dirty="0">
                <a:solidFill>
                  <a:srgbClr val="6E71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the real process</a:t>
            </a:r>
            <a:endParaRPr lang="en-US" sz="1395" dirty="0"/>
          </a:p>
        </p:txBody>
      </p:sp>
      <p:sp>
        <p:nvSpPr>
          <p:cNvPr id="58" name="Shape 41"/>
          <p:cNvSpPr/>
          <p:nvPr/>
        </p:nvSpPr>
        <p:spPr>
          <a:xfrm>
            <a:off x="5819775" y="3714750"/>
            <a:ext cx="485775" cy="485775"/>
          </a:xfrm>
          <a:prstGeom prst="roundRect">
            <a:avLst>
              <a:gd name="adj" fmla="val 50000"/>
            </a:avLst>
          </a:prstGeom>
          <a:solidFill>
            <a:srgbClr val="E0F3E7"/>
          </a:solidFill>
          <a:ln w="9525">
            <a:solidFill>
              <a:srgbClr val="EFF8F2"/>
            </a:solidFill>
            <a:prstDash val="solid"/>
          </a:ln>
        </p:spPr>
      </p:sp>
      <p:sp>
        <p:nvSpPr>
          <p:cNvPr id="59" name="Text 42"/>
          <p:cNvSpPr/>
          <p:nvPr/>
        </p:nvSpPr>
        <p:spPr>
          <a:xfrm>
            <a:off x="6000750" y="3838575"/>
            <a:ext cx="1238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28"/>
              </a:lnSpc>
              <a:buNone/>
            </a:pPr>
            <a:r>
              <a:rPr lang="en-US" sz="1701" dirty="0">
                <a:solidFill>
                  <a:srgbClr val="3F5C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1" dirty="0"/>
          </a:p>
        </p:txBody>
      </p:sp>
      <p:sp>
        <p:nvSpPr>
          <p:cNvPr id="60" name="Text 43"/>
          <p:cNvSpPr/>
          <p:nvPr/>
        </p:nvSpPr>
        <p:spPr>
          <a:xfrm>
            <a:off x="6867525" y="3124200"/>
            <a:ext cx="31051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658" dirty="0">
                <a:solidFill>
                  <a:srgbClr val="4261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formal bridge into delivery</a:t>
            </a:r>
            <a:endParaRPr lang="en-US" sz="1658" dirty="0"/>
          </a:p>
        </p:txBody>
      </p:sp>
      <p:sp>
        <p:nvSpPr>
          <p:cNvPr id="61" name="Text 44"/>
          <p:cNvSpPr/>
          <p:nvPr/>
        </p:nvSpPr>
        <p:spPr>
          <a:xfrm>
            <a:off x="6867525" y="2733675"/>
            <a:ext cx="275272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9"/>
              </a:lnSpc>
              <a:buNone/>
            </a:pPr>
            <a:r>
              <a:rPr lang="en-US" sz="1872" b="1" dirty="0">
                <a:solidFill>
                  <a:srgbClr val="2C3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FDE Process Discovery</a:t>
            </a:r>
            <a:endParaRPr lang="en-US" sz="1872" dirty="0"/>
          </a:p>
        </p:txBody>
      </p:sp>
      <p:pic>
        <p:nvPicPr>
          <p:cNvPr id="6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19875" y="2724150"/>
            <a:ext cx="19050" cy="685800"/>
          </a:xfrm>
          <a:prstGeom prst="rect">
            <a:avLst/>
          </a:prstGeom>
        </p:spPr>
      </p:pic>
      <p:pic>
        <p:nvPicPr>
          <p:cNvPr id="6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91200" y="2771775"/>
            <a:ext cx="581025" cy="590550"/>
          </a:xfrm>
          <a:prstGeom prst="rect">
            <a:avLst/>
          </a:prstGeom>
        </p:spPr>
      </p:pic>
      <p:sp>
        <p:nvSpPr>
          <p:cNvPr id="64" name="Shape 45"/>
          <p:cNvSpPr/>
          <p:nvPr/>
        </p:nvSpPr>
        <p:spPr>
          <a:xfrm>
            <a:off x="323850" y="2552700"/>
            <a:ext cx="5038725" cy="4381500"/>
          </a:xfrm>
          <a:prstGeom prst="roundRect">
            <a:avLst>
              <a:gd name="adj" fmla="val 4130"/>
            </a:avLst>
          </a:prstGeom>
          <a:solidFill>
            <a:srgbClr val="E1F3E8"/>
          </a:solidFill>
          <a:ln/>
        </p:spPr>
      </p:sp>
      <p:sp>
        <p:nvSpPr>
          <p:cNvPr id="65" name="Shape 46"/>
          <p:cNvSpPr/>
          <p:nvPr/>
        </p:nvSpPr>
        <p:spPr>
          <a:xfrm>
            <a:off x="381000" y="3562350"/>
            <a:ext cx="4933950" cy="3295650"/>
          </a:xfrm>
          <a:prstGeom prst="roundRect">
            <a:avLst>
              <a:gd name="adj" fmla="val 5202"/>
            </a:avLst>
          </a:prstGeom>
          <a:solidFill>
            <a:srgbClr val="FDFDFD"/>
          </a:solidFill>
          <a:ln/>
        </p:spPr>
      </p:sp>
      <p:sp>
        <p:nvSpPr>
          <p:cNvPr id="66" name="Text 47"/>
          <p:cNvSpPr/>
          <p:nvPr/>
        </p:nvSpPr>
        <p:spPr>
          <a:xfrm>
            <a:off x="1381125" y="6181725"/>
            <a:ext cx="30575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9"/>
              </a:lnSpc>
              <a:buNone/>
            </a:pPr>
            <a:r>
              <a:rPr lang="en-US" sz="1395" dirty="0">
                <a:solidFill>
                  <a:srgbClr val="565B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Discovery Wave where required</a:t>
            </a:r>
            <a:endParaRPr lang="en-US" sz="1395" dirty="0"/>
          </a:p>
        </p:txBody>
      </p:sp>
      <p:sp>
        <p:nvSpPr>
          <p:cNvPr id="67" name="Shape 48"/>
          <p:cNvSpPr/>
          <p:nvPr/>
        </p:nvSpPr>
        <p:spPr>
          <a:xfrm>
            <a:off x="600075" y="6057900"/>
            <a:ext cx="485775" cy="495300"/>
          </a:xfrm>
          <a:prstGeom prst="roundRect">
            <a:avLst>
              <a:gd name="adj" fmla="val 50000"/>
            </a:avLst>
          </a:prstGeom>
          <a:solidFill>
            <a:srgbClr val="DFF3E6"/>
          </a:solidFill>
          <a:ln w="9525">
            <a:solidFill>
              <a:srgbClr val="F1F9F4"/>
            </a:solidFill>
            <a:prstDash val="solid"/>
          </a:ln>
        </p:spPr>
      </p:sp>
      <p:sp>
        <p:nvSpPr>
          <p:cNvPr id="68" name="Text 49"/>
          <p:cNvSpPr/>
          <p:nvPr/>
        </p:nvSpPr>
        <p:spPr>
          <a:xfrm>
            <a:off x="771525" y="6172200"/>
            <a:ext cx="171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25"/>
              </a:lnSpc>
              <a:buNone/>
            </a:pPr>
            <a:r>
              <a:rPr lang="en-US" sz="2017" dirty="0">
                <a:solidFill>
                  <a:srgbClr val="2345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017" dirty="0"/>
          </a:p>
        </p:txBody>
      </p:sp>
      <p:pic>
        <p:nvPicPr>
          <p:cNvPr id="6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500" y="5886450"/>
            <a:ext cx="4543425" cy="66675"/>
          </a:xfrm>
          <a:prstGeom prst="rect">
            <a:avLst/>
          </a:prstGeom>
        </p:spPr>
      </p:pic>
      <p:sp>
        <p:nvSpPr>
          <p:cNvPr id="70" name="Text 50"/>
          <p:cNvSpPr/>
          <p:nvPr/>
        </p:nvSpPr>
        <p:spPr>
          <a:xfrm>
            <a:off x="1371600" y="5400675"/>
            <a:ext cx="2476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424" dirty="0">
                <a:solidFill>
                  <a:srgbClr val="4E53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timing / sequencing</a:t>
            </a:r>
            <a:endParaRPr lang="en-US" sz="1424" dirty="0"/>
          </a:p>
        </p:txBody>
      </p:sp>
      <p:sp>
        <p:nvSpPr>
          <p:cNvPr id="71" name="Shape 51"/>
          <p:cNvSpPr/>
          <p:nvPr/>
        </p:nvSpPr>
        <p:spPr>
          <a:xfrm>
            <a:off x="600075" y="5276850"/>
            <a:ext cx="485775" cy="485775"/>
          </a:xfrm>
          <a:prstGeom prst="roundRect">
            <a:avLst>
              <a:gd name="adj" fmla="val 50490"/>
            </a:avLst>
          </a:prstGeom>
          <a:solidFill>
            <a:srgbClr val="DFF2E6"/>
          </a:solidFill>
          <a:ln w="19050">
            <a:solidFill>
              <a:srgbClr val="EAF6EE"/>
            </a:solidFill>
            <a:prstDash val="solid"/>
          </a:ln>
        </p:spPr>
      </p:sp>
      <p:sp>
        <p:nvSpPr>
          <p:cNvPr id="72" name="Text 52"/>
          <p:cNvSpPr/>
          <p:nvPr/>
        </p:nvSpPr>
        <p:spPr>
          <a:xfrm>
            <a:off x="771525" y="5391150"/>
            <a:ext cx="1619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2183" dirty="0">
                <a:solidFill>
                  <a:srgbClr val="3457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183" dirty="0"/>
          </a:p>
        </p:txBody>
      </p:sp>
      <p:pic>
        <p:nvPicPr>
          <p:cNvPr id="7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71500" y="5095875"/>
            <a:ext cx="4543425" cy="57150"/>
          </a:xfrm>
          <a:prstGeom prst="rect">
            <a:avLst/>
          </a:prstGeom>
        </p:spPr>
      </p:pic>
      <p:sp>
        <p:nvSpPr>
          <p:cNvPr id="74" name="Text 53"/>
          <p:cNvSpPr/>
          <p:nvPr/>
        </p:nvSpPr>
        <p:spPr>
          <a:xfrm>
            <a:off x="1362075" y="4610100"/>
            <a:ext cx="26955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87"/>
              </a:lnSpc>
              <a:buNone/>
            </a:pPr>
            <a:r>
              <a:rPr lang="en-US" sz="1395" dirty="0">
                <a:solidFill>
                  <a:srgbClr val="5357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SLT priority &amp; ownership decision</a:t>
            </a:r>
            <a:endParaRPr lang="en-US" sz="1395" dirty="0"/>
          </a:p>
        </p:txBody>
      </p:sp>
      <p:sp>
        <p:nvSpPr>
          <p:cNvPr id="75" name="Shape 54"/>
          <p:cNvSpPr/>
          <p:nvPr/>
        </p:nvSpPr>
        <p:spPr>
          <a:xfrm>
            <a:off x="600075" y="4495800"/>
            <a:ext cx="485775" cy="485775"/>
          </a:xfrm>
          <a:prstGeom prst="roundRect">
            <a:avLst>
              <a:gd name="adj" fmla="val 50000"/>
            </a:avLst>
          </a:prstGeom>
          <a:solidFill>
            <a:srgbClr val="E0F3E7"/>
          </a:solidFill>
          <a:ln w="19050">
            <a:solidFill>
              <a:srgbClr val="EDF7F0"/>
            </a:solidFill>
            <a:prstDash val="solid"/>
          </a:ln>
        </p:spPr>
      </p:sp>
      <p:sp>
        <p:nvSpPr>
          <p:cNvPr id="76" name="Text 55"/>
          <p:cNvSpPr/>
          <p:nvPr/>
        </p:nvSpPr>
        <p:spPr>
          <a:xfrm>
            <a:off x="771525" y="4610100"/>
            <a:ext cx="1619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913" dirty="0">
                <a:solidFill>
                  <a:srgbClr val="3555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913" dirty="0"/>
          </a:p>
        </p:txBody>
      </p:sp>
      <p:pic>
        <p:nvPicPr>
          <p:cNvPr id="77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71500" y="4314825"/>
            <a:ext cx="4543425" cy="57150"/>
          </a:xfrm>
          <a:prstGeom prst="rect">
            <a:avLst/>
          </a:prstGeom>
        </p:spPr>
      </p:pic>
      <p:sp>
        <p:nvSpPr>
          <p:cNvPr id="78" name="Text 56"/>
          <p:cNvSpPr/>
          <p:nvPr/>
        </p:nvSpPr>
        <p:spPr>
          <a:xfrm>
            <a:off x="1371600" y="3838575"/>
            <a:ext cx="27622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89"/>
              </a:lnSpc>
              <a:buNone/>
            </a:pPr>
            <a:r>
              <a:rPr lang="en-US" sz="1396" dirty="0">
                <a:solidFill>
                  <a:srgbClr val="575A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Lightweight Process Owner intake</a:t>
            </a:r>
            <a:endParaRPr lang="en-US" sz="1396" dirty="0"/>
          </a:p>
        </p:txBody>
      </p:sp>
      <p:sp>
        <p:nvSpPr>
          <p:cNvPr id="79" name="Shape 57"/>
          <p:cNvSpPr/>
          <p:nvPr/>
        </p:nvSpPr>
        <p:spPr>
          <a:xfrm>
            <a:off x="600075" y="3714750"/>
            <a:ext cx="485775" cy="485775"/>
          </a:xfrm>
          <a:prstGeom prst="roundRect">
            <a:avLst>
              <a:gd name="adj" fmla="val 50000"/>
            </a:avLst>
          </a:prstGeom>
          <a:solidFill>
            <a:srgbClr val="DFF3E6"/>
          </a:solidFill>
          <a:ln w="9525">
            <a:solidFill>
              <a:srgbClr val="EDF7F1"/>
            </a:solidFill>
            <a:prstDash val="solid"/>
          </a:ln>
        </p:spPr>
      </p:sp>
      <p:sp>
        <p:nvSpPr>
          <p:cNvPr id="80" name="Text 58"/>
          <p:cNvSpPr/>
          <p:nvPr/>
        </p:nvSpPr>
        <p:spPr>
          <a:xfrm>
            <a:off x="781050" y="3838575"/>
            <a:ext cx="123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61"/>
              </a:lnSpc>
              <a:buNone/>
            </a:pPr>
            <a:r>
              <a:rPr lang="en-US" sz="1701" dirty="0">
                <a:solidFill>
                  <a:srgbClr val="3A58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1" dirty="0"/>
          </a:p>
        </p:txBody>
      </p:sp>
      <p:sp>
        <p:nvSpPr>
          <p:cNvPr id="81" name="Text 59"/>
          <p:cNvSpPr/>
          <p:nvPr/>
        </p:nvSpPr>
        <p:spPr>
          <a:xfrm>
            <a:off x="1714500" y="3124200"/>
            <a:ext cx="24669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695" dirty="0">
                <a:solidFill>
                  <a:srgbClr val="577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structured front end</a:t>
            </a:r>
            <a:endParaRPr lang="en-US" sz="1695" dirty="0"/>
          </a:p>
        </p:txBody>
      </p:sp>
      <p:sp>
        <p:nvSpPr>
          <p:cNvPr id="82" name="Text 60"/>
          <p:cNvSpPr/>
          <p:nvPr/>
        </p:nvSpPr>
        <p:spPr>
          <a:xfrm>
            <a:off x="1714500" y="2733675"/>
            <a:ext cx="280035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7"/>
              </a:lnSpc>
              <a:buNone/>
            </a:pPr>
            <a:r>
              <a:rPr lang="en-US" sz="1984" b="1" dirty="0">
                <a:solidFill>
                  <a:srgbClr val="2A3E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Front Door</a:t>
            </a:r>
            <a:endParaRPr lang="en-US" sz="1984" dirty="0"/>
          </a:p>
        </p:txBody>
      </p:sp>
      <p:pic>
        <p:nvPicPr>
          <p:cNvPr id="83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66850" y="2724150"/>
            <a:ext cx="19050" cy="704850"/>
          </a:xfrm>
          <a:prstGeom prst="rect">
            <a:avLst/>
          </a:prstGeom>
        </p:spPr>
      </p:pic>
      <p:pic>
        <p:nvPicPr>
          <p:cNvPr id="8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57225" y="2714625"/>
            <a:ext cx="542925" cy="704850"/>
          </a:xfrm>
          <a:prstGeom prst="rect">
            <a:avLst/>
          </a:prstGeom>
        </p:spPr>
      </p:pic>
      <p:sp>
        <p:nvSpPr>
          <p:cNvPr id="85" name="Shape 61"/>
          <p:cNvSpPr/>
          <p:nvPr/>
        </p:nvSpPr>
        <p:spPr>
          <a:xfrm>
            <a:off x="323850" y="1447800"/>
            <a:ext cx="15287625" cy="952500"/>
          </a:xfrm>
          <a:prstGeom prst="roundRect">
            <a:avLst>
              <a:gd name="adj" fmla="val 19000"/>
            </a:avLst>
          </a:prstGeom>
          <a:solidFill>
            <a:srgbClr val="EBF6EF"/>
          </a:solidFill>
          <a:ln w="57150">
            <a:solidFill>
              <a:srgbClr val="E4EFE8"/>
            </a:solidFill>
            <a:prstDash val="solid"/>
          </a:ln>
        </p:spPr>
      </p:sp>
      <p:pic>
        <p:nvPicPr>
          <p:cNvPr id="86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85900" y="1657350"/>
            <a:ext cx="19050" cy="552450"/>
          </a:xfrm>
          <a:prstGeom prst="rect">
            <a:avLst/>
          </a:prstGeom>
        </p:spPr>
      </p:pic>
      <p:pic>
        <p:nvPicPr>
          <p:cNvPr id="87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9600" y="1609725"/>
            <a:ext cx="600075" cy="609600"/>
          </a:xfrm>
          <a:prstGeom prst="rect">
            <a:avLst/>
          </a:prstGeom>
        </p:spPr>
      </p:pic>
      <p:sp>
        <p:nvSpPr>
          <p:cNvPr id="88" name="Text 62"/>
          <p:cNvSpPr/>
          <p:nvPr/>
        </p:nvSpPr>
        <p:spPr>
          <a:xfrm>
            <a:off x="1790700" y="1752600"/>
            <a:ext cx="118681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785" b="1" dirty="0">
                <a:solidFill>
                  <a:srgbClr val="3E4F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adds a clearer front end and stronger evidence trail; it does not replace current delivery work.</a:t>
            </a:r>
            <a:endParaRPr lang="en-US" sz="1785" dirty="0"/>
          </a:p>
        </p:txBody>
      </p:sp>
      <p:sp>
        <p:nvSpPr>
          <p:cNvPr id="89" name="Shape 63"/>
          <p:cNvSpPr/>
          <p:nvPr/>
        </p:nvSpPr>
        <p:spPr>
          <a:xfrm>
            <a:off x="12220575" y="552450"/>
            <a:ext cx="3400425" cy="561975"/>
          </a:xfrm>
          <a:prstGeom prst="roundRect">
            <a:avLst>
              <a:gd name="adj" fmla="val 37288"/>
            </a:avLst>
          </a:prstGeom>
          <a:solidFill>
            <a:srgbClr val="DBEEE2"/>
          </a:solidFill>
          <a:ln/>
        </p:spPr>
      </p:sp>
      <p:pic>
        <p:nvPicPr>
          <p:cNvPr id="90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3239750" y="704850"/>
            <a:ext cx="19050" cy="276225"/>
          </a:xfrm>
          <a:prstGeom prst="rect">
            <a:avLst/>
          </a:prstGeom>
        </p:spPr>
      </p:pic>
      <p:sp>
        <p:nvSpPr>
          <p:cNvPr id="91" name="Text 64"/>
          <p:cNvSpPr/>
          <p:nvPr/>
        </p:nvSpPr>
        <p:spPr>
          <a:xfrm>
            <a:off x="13401675" y="695325"/>
            <a:ext cx="20097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22"/>
              </a:lnSpc>
              <a:buNone/>
            </a:pPr>
            <a:r>
              <a:rPr lang="en-US" sz="1654" dirty="0">
                <a:solidFill>
                  <a:srgbClr val="4F5E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Explaining the Model</a:t>
            </a:r>
            <a:endParaRPr lang="en-US" sz="1654" dirty="0"/>
          </a:p>
        </p:txBody>
      </p:sp>
      <p:sp>
        <p:nvSpPr>
          <p:cNvPr id="92" name="Text 65"/>
          <p:cNvSpPr/>
          <p:nvPr/>
        </p:nvSpPr>
        <p:spPr>
          <a:xfrm>
            <a:off x="12477750" y="695325"/>
            <a:ext cx="609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82"/>
              </a:lnSpc>
              <a:buNone/>
            </a:pPr>
            <a:r>
              <a:rPr lang="en-US" sz="1745" dirty="0">
                <a:solidFill>
                  <a:srgbClr val="314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1</a:t>
            </a:r>
            <a:endParaRPr lang="en-US" sz="1745" dirty="0"/>
          </a:p>
        </p:txBody>
      </p:sp>
      <p:pic>
        <p:nvPicPr>
          <p:cNvPr id="93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0" y="123825"/>
            <a:ext cx="742950" cy="1190625"/>
          </a:xfrm>
          <a:prstGeom prst="rect">
            <a:avLst/>
          </a:prstGeom>
        </p:spPr>
      </p:pic>
      <p:sp>
        <p:nvSpPr>
          <p:cNvPr id="94" name="Text 66"/>
          <p:cNvSpPr/>
          <p:nvPr/>
        </p:nvSpPr>
        <p:spPr>
          <a:xfrm>
            <a:off x="923925" y="533400"/>
            <a:ext cx="11191875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232"/>
              </a:lnSpc>
              <a:buNone/>
            </a:pPr>
            <a:r>
              <a:rPr lang="en-US" sz="4135" b="1" dirty="0">
                <a:solidFill>
                  <a:srgbClr val="1932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Changes — and What Stays the Same</a:t>
            </a:r>
            <a:endParaRPr lang="en-US" sz="413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925800" cy="7934325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15350"/>
            <a:ext cx="15925800" cy="447675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505075" y="8734425"/>
            <a:ext cx="12668250" cy="19050"/>
          </a:xfrm>
          <a:prstGeom prst="rect">
            <a:avLst/>
          </a:prstGeom>
          <a:solidFill>
            <a:srgbClr val="F1FAF4"/>
          </a:solidFill>
          <a:ln/>
        </p:spPr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67650"/>
            <a:ext cx="15925800" cy="714375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82700" y="7877175"/>
            <a:ext cx="1695450" cy="676275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1625" y="8020050"/>
            <a:ext cx="28575" cy="419100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7962900"/>
            <a:ext cx="504825" cy="514350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1905000" y="8039100"/>
            <a:ext cx="97536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47"/>
              </a:lnSpc>
              <a:buNone/>
            </a:pPr>
            <a:r>
              <a:rPr lang="en-US" sz="2223" b="1" dirty="0">
                <a:solidFill>
                  <a:srgbClr val="CFDB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Stage 1 quick, clear and comparable across candidate problems.</a:t>
            </a:r>
            <a:endParaRPr lang="en-US" sz="2223" dirty="0"/>
          </a:p>
        </p:txBody>
      </p:sp>
      <p:sp>
        <p:nvSpPr>
          <p:cNvPr id="10" name="Shape 2"/>
          <p:cNvSpPr/>
          <p:nvPr/>
        </p:nvSpPr>
        <p:spPr>
          <a:xfrm>
            <a:off x="323850" y="7248525"/>
            <a:ext cx="15287625" cy="561975"/>
          </a:xfrm>
          <a:prstGeom prst="roundRect">
            <a:avLst>
              <a:gd name="adj" fmla="val 22034"/>
            </a:avLst>
          </a:prstGeom>
          <a:solidFill>
            <a:srgbClr val="E3F5EC"/>
          </a:solidFill>
          <a:ln/>
        </p:spPr>
      </p:sp>
      <p:sp>
        <p:nvSpPr>
          <p:cNvPr id="11" name="Text 3"/>
          <p:cNvSpPr/>
          <p:nvPr/>
        </p:nvSpPr>
        <p:spPr>
          <a:xfrm>
            <a:off x="1724025" y="7372350"/>
            <a:ext cx="10753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7"/>
              </a:lnSpc>
              <a:buNone/>
            </a:pPr>
            <a:r>
              <a:rPr lang="en-US" sz="1657" b="1" dirty="0">
                <a:solidFill>
                  <a:srgbClr val="3955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1 is not Discovery: no detailed process map, no solution choice, no PoC and no delivery estimate.</a:t>
            </a:r>
            <a:endParaRPr lang="en-US" sz="1657" dirty="0"/>
          </a:p>
        </p:txBody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9225" y="7353300"/>
            <a:ext cx="19050" cy="361950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325" y="7305675"/>
            <a:ext cx="457200" cy="447675"/>
          </a:xfrm>
          <a:prstGeom prst="rect">
            <a:avLst/>
          </a:prstGeom>
        </p:spPr>
      </p:pic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9000" y="2143125"/>
            <a:ext cx="8372475" cy="4991100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9877425" y="6619875"/>
            <a:ext cx="2857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15" dirty="0">
                <a:solidFill>
                  <a:srgbClr val="4E50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 for Stage 2 prioritisation</a:t>
            </a:r>
            <a:endParaRPr lang="en-US" sz="1515" dirty="0"/>
          </a:p>
        </p:txBody>
      </p:sp>
      <p:sp>
        <p:nvSpPr>
          <p:cNvPr id="16" name="Text 5"/>
          <p:cNvSpPr/>
          <p:nvPr/>
        </p:nvSpPr>
        <p:spPr>
          <a:xfrm>
            <a:off x="7677150" y="6619875"/>
            <a:ext cx="1571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57"/>
              </a:lnSpc>
              <a:buNone/>
            </a:pPr>
            <a:r>
              <a:rPr lang="en-US" sz="1558" b="1" dirty="0">
                <a:solidFill>
                  <a:srgbClr val="426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FDE Intake View</a:t>
            </a:r>
            <a:endParaRPr lang="en-US" sz="1558" dirty="0"/>
          </a:p>
        </p:txBody>
      </p:sp>
      <p:pic>
        <p:nvPicPr>
          <p:cNvPr id="1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01200" y="6486525"/>
            <a:ext cx="5867400" cy="57150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9867900" y="6162675"/>
            <a:ext cx="36195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599" dirty="0">
                <a:solidFill>
                  <a:srgbClr val="51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report templates and guidance</a:t>
            </a:r>
            <a:endParaRPr lang="en-US" sz="1599" dirty="0"/>
          </a:p>
        </p:txBody>
      </p:sp>
      <p:sp>
        <p:nvSpPr>
          <p:cNvPr id="19" name="Text 7"/>
          <p:cNvSpPr/>
          <p:nvPr/>
        </p:nvSpPr>
        <p:spPr>
          <a:xfrm>
            <a:off x="7677150" y="6162675"/>
            <a:ext cx="13049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1564" b="1" dirty="0">
                <a:solidFill>
                  <a:srgbClr val="3A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Related Work</a:t>
            </a:r>
            <a:endParaRPr lang="en-US" sz="1564" dirty="0"/>
          </a:p>
        </p:txBody>
      </p:sp>
      <p:sp>
        <p:nvSpPr>
          <p:cNvPr id="20" name="Text 8"/>
          <p:cNvSpPr/>
          <p:nvPr/>
        </p:nvSpPr>
        <p:spPr>
          <a:xfrm>
            <a:off x="9867900" y="5705475"/>
            <a:ext cx="39243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568" dirty="0">
                <a:solidFill>
                  <a:srgbClr val="555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IVT Process Owner — to confirm</a:t>
            </a:r>
            <a:endParaRPr lang="en-US" sz="1568" dirty="0"/>
          </a:p>
        </p:txBody>
      </p:sp>
      <p:sp>
        <p:nvSpPr>
          <p:cNvPr id="21" name="Text 9"/>
          <p:cNvSpPr/>
          <p:nvPr/>
        </p:nvSpPr>
        <p:spPr>
          <a:xfrm>
            <a:off x="7677150" y="5715000"/>
            <a:ext cx="16287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38" b="1" dirty="0">
                <a:solidFill>
                  <a:srgbClr val="3351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Owner</a:t>
            </a:r>
            <a:endParaRPr lang="en-US" sz="1538" dirty="0"/>
          </a:p>
        </p:txBody>
      </p:sp>
      <p:sp>
        <p:nvSpPr>
          <p:cNvPr id="22" name="Text 10"/>
          <p:cNvSpPr/>
          <p:nvPr/>
        </p:nvSpPr>
        <p:spPr>
          <a:xfrm>
            <a:off x="9848850" y="5276850"/>
            <a:ext cx="20002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81"/>
              </a:lnSpc>
              <a:buNone/>
            </a:pPr>
            <a:r>
              <a:rPr lang="en-US" sz="1608" dirty="0">
                <a:solidFill>
                  <a:srgbClr val="6B6D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Validators / reviewers</a:t>
            </a:r>
            <a:endParaRPr lang="en-US" sz="1608" dirty="0"/>
          </a:p>
        </p:txBody>
      </p:sp>
      <p:sp>
        <p:nvSpPr>
          <p:cNvPr id="23" name="Text 11"/>
          <p:cNvSpPr/>
          <p:nvPr/>
        </p:nvSpPr>
        <p:spPr>
          <a:xfrm>
            <a:off x="7667625" y="5286375"/>
            <a:ext cx="5429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3"/>
              </a:lnSpc>
              <a:buNone/>
            </a:pPr>
            <a:r>
              <a:rPr lang="en-US" sz="1492" b="1" dirty="0">
                <a:solidFill>
                  <a:srgbClr val="3A58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1492" dirty="0"/>
          </a:p>
        </p:txBody>
      </p:sp>
      <p:sp>
        <p:nvSpPr>
          <p:cNvPr id="24" name="Text 12"/>
          <p:cNvSpPr/>
          <p:nvPr/>
        </p:nvSpPr>
        <p:spPr>
          <a:xfrm>
            <a:off x="9858375" y="4829175"/>
            <a:ext cx="43910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545" dirty="0">
                <a:solidFill>
                  <a:srgbClr val="595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efficient and consistent report production</a:t>
            </a:r>
            <a:endParaRPr lang="en-US" sz="1545" dirty="0"/>
          </a:p>
        </p:txBody>
      </p:sp>
      <p:sp>
        <p:nvSpPr>
          <p:cNvPr id="25" name="Text 13"/>
          <p:cNvSpPr/>
          <p:nvPr/>
        </p:nvSpPr>
        <p:spPr>
          <a:xfrm>
            <a:off x="7667625" y="4848225"/>
            <a:ext cx="8858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530" b="1" dirty="0">
                <a:solidFill>
                  <a:srgbClr val="3B5A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1530" dirty="0"/>
          </a:p>
        </p:txBody>
      </p:sp>
      <p:sp>
        <p:nvSpPr>
          <p:cNvPr id="26" name="Text 14"/>
          <p:cNvSpPr/>
          <p:nvPr/>
        </p:nvSpPr>
        <p:spPr>
          <a:xfrm>
            <a:off x="9858375" y="4124325"/>
            <a:ext cx="42576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568" dirty="0">
                <a:solidFill>
                  <a:srgbClr val="5A5D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 validation required substantial manual</a:t>
            </a:r>
            <a:endParaRPr lang="en-US" sz="1568" dirty="0"/>
          </a:p>
          <a:p>
            <a:pPr algn="l" indent="0" marL="0">
              <a:lnSpc>
                <a:spcPts val="2063"/>
              </a:lnSpc>
              <a:buNone/>
            </a:pPr>
            <a:r>
              <a:rPr lang="en-US" sz="1568" dirty="0">
                <a:solidFill>
                  <a:srgbClr val="5A5D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drafting and review</a:t>
            </a:r>
            <a:endParaRPr lang="en-US" sz="1568" dirty="0"/>
          </a:p>
        </p:txBody>
      </p:sp>
      <p:sp>
        <p:nvSpPr>
          <p:cNvPr id="27" name="Text 15"/>
          <p:cNvSpPr/>
          <p:nvPr/>
        </p:nvSpPr>
        <p:spPr>
          <a:xfrm>
            <a:off x="7667625" y="4248150"/>
            <a:ext cx="819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77" b="1" dirty="0">
                <a:solidFill>
                  <a:srgbClr val="304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477" dirty="0"/>
          </a:p>
        </p:txBody>
      </p:sp>
      <p:sp>
        <p:nvSpPr>
          <p:cNvPr id="28" name="Text 16"/>
          <p:cNvSpPr/>
          <p:nvPr/>
        </p:nvSpPr>
        <p:spPr>
          <a:xfrm>
            <a:off x="9848850" y="3429000"/>
            <a:ext cx="47529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92"/>
              </a:lnSpc>
              <a:buNone/>
            </a:pPr>
            <a:r>
              <a:rPr lang="en-US" sz="1601" dirty="0">
                <a:solidFill>
                  <a:srgbClr val="5C5F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Drafting takes significant time; consistency and use</a:t>
            </a:r>
            <a:endParaRPr lang="en-US" sz="1601" dirty="0"/>
          </a:p>
          <a:p>
            <a:pPr algn="l" indent="0" marL="0">
              <a:lnSpc>
                <a:spcPts val="1992"/>
              </a:lnSpc>
              <a:buNone/>
            </a:pPr>
            <a:r>
              <a:rPr lang="en-US" sz="1601" dirty="0">
                <a:solidFill>
                  <a:srgbClr val="5C5F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latest guidance can vary</a:t>
            </a:r>
            <a:endParaRPr lang="en-US" sz="1601" dirty="0"/>
          </a:p>
        </p:txBody>
      </p:sp>
      <p:sp>
        <p:nvSpPr>
          <p:cNvPr id="29" name="Text 17"/>
          <p:cNvSpPr/>
          <p:nvPr/>
        </p:nvSpPr>
        <p:spPr>
          <a:xfrm>
            <a:off x="7667625" y="3571875"/>
            <a:ext cx="8096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1546" b="1" dirty="0">
                <a:solidFill>
                  <a:srgbClr val="3655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546" dirty="0"/>
          </a:p>
        </p:txBody>
      </p:sp>
      <p:sp>
        <p:nvSpPr>
          <p:cNvPr id="30" name="Text 18"/>
          <p:cNvSpPr/>
          <p:nvPr/>
        </p:nvSpPr>
        <p:spPr>
          <a:xfrm>
            <a:off x="9858375" y="3048000"/>
            <a:ext cx="30861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545" dirty="0">
                <a:solidFill>
                  <a:srgbClr val="585A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IV report drafting &amp; quality review</a:t>
            </a:r>
            <a:endParaRPr lang="en-US" sz="1545" dirty="0"/>
          </a:p>
        </p:txBody>
      </p:sp>
      <p:sp>
        <p:nvSpPr>
          <p:cNvPr id="31" name="Text 19"/>
          <p:cNvSpPr/>
          <p:nvPr/>
        </p:nvSpPr>
        <p:spPr>
          <a:xfrm>
            <a:off x="7667625" y="3067050"/>
            <a:ext cx="7524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57"/>
              </a:lnSpc>
              <a:buNone/>
            </a:pPr>
            <a:r>
              <a:rPr lang="en-US" sz="1477" b="1" dirty="0">
                <a:solidFill>
                  <a:srgbClr val="435F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</a:t>
            </a:r>
            <a:endParaRPr lang="en-US" sz="1477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53400" y="2752725"/>
            <a:ext cx="7305675" cy="85725"/>
          </a:xfrm>
          <a:prstGeom prst="rect">
            <a:avLst/>
          </a:prstGeom>
        </p:spPr>
      </p:pic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72375" y="2305050"/>
            <a:ext cx="361950" cy="438150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8201025" y="2343150"/>
            <a:ext cx="31623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08"/>
              </a:lnSpc>
              <a:buNone/>
            </a:pPr>
            <a:r>
              <a:rPr lang="en-US" sz="1958" b="1" dirty="0">
                <a:solidFill>
                  <a:srgbClr val="2946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Brief (example)</a:t>
            </a:r>
            <a:endParaRPr lang="en-US" sz="1958" dirty="0"/>
          </a:p>
        </p:txBody>
      </p:sp>
      <p:sp>
        <p:nvSpPr>
          <p:cNvPr id="35" name="Shape 21"/>
          <p:cNvSpPr/>
          <p:nvPr/>
        </p:nvSpPr>
        <p:spPr>
          <a:xfrm>
            <a:off x="457200" y="2924175"/>
            <a:ext cx="6457950" cy="4105275"/>
          </a:xfrm>
          <a:prstGeom prst="roundRect">
            <a:avLst>
              <a:gd name="adj" fmla="val 3480"/>
            </a:avLst>
          </a:prstGeom>
          <a:solidFill>
            <a:srgbClr val="FDFDFD"/>
          </a:solidFill>
          <a:ln/>
        </p:spPr>
      </p:sp>
      <p:sp>
        <p:nvSpPr>
          <p:cNvPr id="36" name="Text 22"/>
          <p:cNvSpPr/>
          <p:nvPr/>
        </p:nvSpPr>
        <p:spPr>
          <a:xfrm>
            <a:off x="1562100" y="6553200"/>
            <a:ext cx="21240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759" dirty="0">
                <a:solidFill>
                  <a:srgbClr val="5254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related work</a:t>
            </a:r>
            <a:endParaRPr lang="en-US" sz="1759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575" y="6467475"/>
            <a:ext cx="466725" cy="447675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1562100" y="6057900"/>
            <a:ext cx="2552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74"/>
              </a:lnSpc>
              <a:buNone/>
            </a:pPr>
            <a:r>
              <a:rPr lang="en-US" sz="1708" dirty="0">
                <a:solidFill>
                  <a:srgbClr val="4C4E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Process Owner</a:t>
            </a:r>
            <a:endParaRPr lang="en-US" sz="1708" dirty="0"/>
          </a:p>
        </p:txBody>
      </p:sp>
      <p:pic>
        <p:nvPicPr>
          <p:cNvPr id="3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81050" y="5972175"/>
            <a:ext cx="476250" cy="447675"/>
          </a:xfrm>
          <a:prstGeom prst="rect">
            <a:avLst/>
          </a:prstGeom>
        </p:spPr>
      </p:pic>
      <p:sp>
        <p:nvSpPr>
          <p:cNvPr id="40" name="Text 24"/>
          <p:cNvSpPr/>
          <p:nvPr/>
        </p:nvSpPr>
        <p:spPr>
          <a:xfrm>
            <a:off x="1562100" y="5553075"/>
            <a:ext cx="2476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755" dirty="0">
                <a:solidFill>
                  <a:srgbClr val="4D4F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Indicative scale / impact</a:t>
            </a:r>
            <a:endParaRPr lang="en-US" sz="1755" dirty="0"/>
          </a:p>
        </p:txBody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81050" y="5486400"/>
            <a:ext cx="476250" cy="438150"/>
          </a:xfrm>
          <a:prstGeom prst="rect">
            <a:avLst/>
          </a:prstGeom>
        </p:spPr>
      </p:pic>
      <p:sp>
        <p:nvSpPr>
          <p:cNvPr id="42" name="Text 25"/>
          <p:cNvSpPr/>
          <p:nvPr/>
        </p:nvSpPr>
        <p:spPr>
          <a:xfrm>
            <a:off x="895350" y="5600700"/>
            <a:ext cx="2762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2109" dirty="0">
                <a:solidFill>
                  <a:srgbClr val="466D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ull</a:t>
            </a:r>
            <a:endParaRPr lang="en-US" sz="2109" dirty="0"/>
          </a:p>
        </p:txBody>
      </p:sp>
      <p:sp>
        <p:nvSpPr>
          <p:cNvPr id="43" name="Text 26"/>
          <p:cNvSpPr/>
          <p:nvPr/>
        </p:nvSpPr>
        <p:spPr>
          <a:xfrm>
            <a:off x="1562100" y="5067300"/>
            <a:ext cx="17240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665" dirty="0">
                <a:solidFill>
                  <a:srgbClr val="676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Desired outcome</a:t>
            </a:r>
            <a:endParaRPr lang="en-US" sz="1665" dirty="0"/>
          </a:p>
        </p:txBody>
      </p:sp>
      <p:pic>
        <p:nvPicPr>
          <p:cNvPr id="4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81050" y="4991100"/>
            <a:ext cx="476250" cy="438150"/>
          </a:xfrm>
          <a:prstGeom prst="rect">
            <a:avLst/>
          </a:prstGeom>
        </p:spPr>
      </p:pic>
      <p:sp>
        <p:nvSpPr>
          <p:cNvPr id="45" name="Text 27"/>
          <p:cNvSpPr/>
          <p:nvPr/>
        </p:nvSpPr>
        <p:spPr>
          <a:xfrm>
            <a:off x="1543050" y="4572000"/>
            <a:ext cx="23431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733" dirty="0">
                <a:solidFill>
                  <a:srgbClr val="4A4C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Affected users / teams</a:t>
            </a:r>
            <a:endParaRPr lang="en-US" sz="1733" dirty="0"/>
          </a:p>
        </p:txBody>
      </p:sp>
      <p:pic>
        <p:nvPicPr>
          <p:cNvPr id="4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0575" y="4495800"/>
            <a:ext cx="466725" cy="447675"/>
          </a:xfrm>
          <a:prstGeom prst="rect">
            <a:avLst/>
          </a:prstGeom>
        </p:spPr>
      </p:pic>
      <p:sp>
        <p:nvSpPr>
          <p:cNvPr id="47" name="Text 28"/>
          <p:cNvSpPr/>
          <p:nvPr/>
        </p:nvSpPr>
        <p:spPr>
          <a:xfrm>
            <a:off x="1543050" y="4095750"/>
            <a:ext cx="20383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95"/>
              </a:lnSpc>
              <a:buNone/>
            </a:pPr>
            <a:r>
              <a:rPr lang="en-US" sz="1728" dirty="0">
                <a:solidFill>
                  <a:srgbClr val="4C4E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recent example</a:t>
            </a:r>
            <a:endParaRPr lang="en-US" sz="1728" dirty="0"/>
          </a:p>
        </p:txBody>
      </p:sp>
      <p:pic>
        <p:nvPicPr>
          <p:cNvPr id="4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1050" y="4010025"/>
            <a:ext cx="476250" cy="438150"/>
          </a:xfrm>
          <a:prstGeom prst="rect">
            <a:avLst/>
          </a:prstGeom>
        </p:spPr>
      </p:pic>
      <p:sp>
        <p:nvSpPr>
          <p:cNvPr id="49" name="Text 29"/>
          <p:cNvSpPr/>
          <p:nvPr/>
        </p:nvSpPr>
        <p:spPr>
          <a:xfrm>
            <a:off x="1543050" y="3609975"/>
            <a:ext cx="16859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95" dirty="0">
                <a:solidFill>
                  <a:srgbClr val="5658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problem</a:t>
            </a:r>
            <a:endParaRPr lang="en-US" sz="1695" dirty="0"/>
          </a:p>
        </p:txBody>
      </p:sp>
      <p:pic>
        <p:nvPicPr>
          <p:cNvPr id="5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81050" y="3524250"/>
            <a:ext cx="476250" cy="438150"/>
          </a:xfrm>
          <a:prstGeom prst="rect">
            <a:avLst/>
          </a:prstGeom>
        </p:spPr>
      </p:pic>
      <p:sp>
        <p:nvSpPr>
          <p:cNvPr id="51" name="Text 30"/>
          <p:cNvSpPr/>
          <p:nvPr/>
        </p:nvSpPr>
        <p:spPr>
          <a:xfrm>
            <a:off x="1552575" y="3114675"/>
            <a:ext cx="1914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2"/>
              </a:lnSpc>
              <a:buNone/>
            </a:pPr>
            <a:r>
              <a:rPr lang="en-US" sz="1755" dirty="0">
                <a:solidFill>
                  <a:srgbClr val="4D4F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/ workflow</a:t>
            </a:r>
            <a:endParaRPr lang="en-US" sz="1755" dirty="0"/>
          </a:p>
        </p:txBody>
      </p:sp>
      <p:pic>
        <p:nvPicPr>
          <p:cNvPr id="52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81050" y="3038475"/>
            <a:ext cx="476250" cy="438150"/>
          </a:xfrm>
          <a:prstGeom prst="rect">
            <a:avLst/>
          </a:prstGeom>
        </p:spPr>
      </p:pic>
      <p:pic>
        <p:nvPicPr>
          <p:cNvPr id="53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409700" y="2752725"/>
            <a:ext cx="5495925" cy="85725"/>
          </a:xfrm>
          <a:prstGeom prst="rect">
            <a:avLst/>
          </a:prstGeom>
        </p:spPr>
      </p:pic>
      <p:sp>
        <p:nvSpPr>
          <p:cNvPr id="54" name="Text 31"/>
          <p:cNvSpPr/>
          <p:nvPr/>
        </p:nvSpPr>
        <p:spPr>
          <a:xfrm>
            <a:off x="1447800" y="2343150"/>
            <a:ext cx="4572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2144" b="1" dirty="0">
                <a:solidFill>
                  <a:srgbClr val="2C48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Process Owner Provides</a:t>
            </a:r>
            <a:endParaRPr lang="en-US" sz="2144" dirty="0"/>
          </a:p>
        </p:txBody>
      </p:sp>
      <p:pic>
        <p:nvPicPr>
          <p:cNvPr id="55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6750" y="2305050"/>
            <a:ext cx="581025" cy="428625"/>
          </a:xfrm>
          <a:prstGeom prst="rect">
            <a:avLst/>
          </a:prstGeom>
        </p:spPr>
      </p:pic>
      <p:sp>
        <p:nvSpPr>
          <p:cNvPr id="56" name="Shape 32"/>
          <p:cNvSpPr/>
          <p:nvPr/>
        </p:nvSpPr>
        <p:spPr>
          <a:xfrm>
            <a:off x="333375" y="1257300"/>
            <a:ext cx="15268575" cy="781050"/>
          </a:xfrm>
          <a:prstGeom prst="roundRect">
            <a:avLst>
              <a:gd name="adj" fmla="val 12195"/>
            </a:avLst>
          </a:prstGeom>
          <a:solidFill>
            <a:srgbClr val="EAF8F0"/>
          </a:solidFill>
          <a:ln w="57150">
            <a:solidFill>
              <a:srgbClr val="E3F2EA"/>
            </a:solidFill>
            <a:prstDash val="solid"/>
          </a:ln>
        </p:spPr>
      </p:sp>
      <p:pic>
        <p:nvPicPr>
          <p:cNvPr id="5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428750" y="1419225"/>
            <a:ext cx="19050" cy="466725"/>
          </a:xfrm>
          <a:prstGeom prst="rect">
            <a:avLst/>
          </a:prstGeom>
        </p:spPr>
      </p:pic>
      <p:pic>
        <p:nvPicPr>
          <p:cNvPr id="58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19125" y="1381125"/>
            <a:ext cx="523875" cy="523875"/>
          </a:xfrm>
          <a:prstGeom prst="rect">
            <a:avLst/>
          </a:prstGeom>
        </p:spPr>
      </p:pic>
      <p:sp>
        <p:nvSpPr>
          <p:cNvPr id="59" name="Text 33"/>
          <p:cNvSpPr/>
          <p:nvPr/>
        </p:nvSpPr>
        <p:spPr>
          <a:xfrm>
            <a:off x="1743075" y="1447800"/>
            <a:ext cx="116776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2"/>
              </a:lnSpc>
              <a:buNone/>
            </a:pPr>
            <a:r>
              <a:rPr lang="en-US" sz="2007" b="1" dirty="0">
                <a:solidFill>
                  <a:srgbClr val="324F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1 is a light Process Owner intake: capture the problem clearly enough for prioritisation.</a:t>
            </a:r>
            <a:endParaRPr lang="en-US" sz="2007" dirty="0"/>
          </a:p>
        </p:txBody>
      </p:sp>
      <p:sp>
        <p:nvSpPr>
          <p:cNvPr id="60" name="Shape 34"/>
          <p:cNvSpPr/>
          <p:nvPr/>
        </p:nvSpPr>
        <p:spPr>
          <a:xfrm>
            <a:off x="12525375" y="504825"/>
            <a:ext cx="3095625" cy="523875"/>
          </a:xfrm>
          <a:prstGeom prst="roundRect">
            <a:avLst>
              <a:gd name="adj" fmla="val 23636"/>
            </a:avLst>
          </a:prstGeom>
          <a:solidFill>
            <a:srgbClr val="DDF4E6"/>
          </a:solidFill>
          <a:ln/>
        </p:spPr>
      </p:sp>
      <p:pic>
        <p:nvPicPr>
          <p:cNvPr id="61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3439775" y="657225"/>
            <a:ext cx="19050" cy="228600"/>
          </a:xfrm>
          <a:prstGeom prst="rect">
            <a:avLst/>
          </a:prstGeom>
        </p:spPr>
      </p:pic>
      <p:sp>
        <p:nvSpPr>
          <p:cNvPr id="62" name="Text 35"/>
          <p:cNvSpPr/>
          <p:nvPr/>
        </p:nvSpPr>
        <p:spPr>
          <a:xfrm>
            <a:off x="13611225" y="638175"/>
            <a:ext cx="183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63" dirty="0">
                <a:solidFill>
                  <a:srgbClr val="455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Explaining the Model</a:t>
            </a:r>
            <a:endParaRPr lang="en-US" sz="1463" dirty="0"/>
          </a:p>
        </p:txBody>
      </p:sp>
      <p:sp>
        <p:nvSpPr>
          <p:cNvPr id="63" name="Text 36"/>
          <p:cNvSpPr/>
          <p:nvPr/>
        </p:nvSpPr>
        <p:spPr>
          <a:xfrm>
            <a:off x="12763500" y="638175"/>
            <a:ext cx="5524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1582" dirty="0">
                <a:solidFill>
                  <a:srgbClr val="3F5E5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1</a:t>
            </a:r>
            <a:endParaRPr lang="en-US" sz="1582" dirty="0"/>
          </a:p>
        </p:txBody>
      </p:sp>
      <p:sp>
        <p:nvSpPr>
          <p:cNvPr id="64" name="Text 37"/>
          <p:cNvSpPr/>
          <p:nvPr/>
        </p:nvSpPr>
        <p:spPr>
          <a:xfrm>
            <a:off x="923925" y="466725"/>
            <a:ext cx="1147762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719"/>
              </a:lnSpc>
              <a:buNone/>
            </a:pPr>
            <a:r>
              <a:rPr lang="en-US" sz="3652" b="1" dirty="0">
                <a:solidFill>
                  <a:srgbClr val="1A38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1 — Candidate Process Problem &amp; Outcome</a:t>
            </a:r>
            <a:endParaRPr lang="en-US" sz="3652" dirty="0"/>
          </a:p>
        </p:txBody>
      </p:sp>
      <p:pic>
        <p:nvPicPr>
          <p:cNvPr id="65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5725" y="57150"/>
            <a:ext cx="647700" cy="1019175"/>
          </a:xfrm>
          <a:prstGeom prst="rect">
            <a:avLst/>
          </a:prstGeom>
        </p:spPr>
      </p:pic>
      <p:sp>
        <p:nvSpPr>
          <p:cNvPr id="66" name="Text 38"/>
          <p:cNvSpPr/>
          <p:nvPr/>
        </p:nvSpPr>
        <p:spPr>
          <a:xfrm>
            <a:off x="15449550" y="8629650"/>
            <a:ext cx="114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1313" dirty="0">
                <a:solidFill>
                  <a:srgbClr val="7E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13" dirty="0"/>
          </a:p>
        </p:txBody>
      </p:sp>
      <p:sp>
        <p:nvSpPr>
          <p:cNvPr id="67" name="Text 39"/>
          <p:cNvSpPr/>
          <p:nvPr/>
        </p:nvSpPr>
        <p:spPr>
          <a:xfrm>
            <a:off x="381000" y="8620125"/>
            <a:ext cx="1876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2"/>
              </a:lnSpc>
              <a:buNone/>
            </a:pPr>
            <a:r>
              <a:rPr lang="en-US" sz="1167" dirty="0">
                <a:solidFill>
                  <a:srgbClr val="848C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MRO FDE Operating Model</a:t>
            </a:r>
            <a:endParaRPr lang="en-US" sz="116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925800" cy="8963025"/>
          </a:xfrm>
          <a:prstGeom prst="rect">
            <a:avLst/>
          </a:prstGeom>
          <a:solidFill>
            <a:srgbClr val="F4FDF8"/>
          </a:solidFill>
          <a:ln/>
        </p:spPr>
      </p:sp>
      <p:sp>
        <p:nvSpPr>
          <p:cNvPr id="3" name="Shape 1"/>
          <p:cNvSpPr/>
          <p:nvPr/>
        </p:nvSpPr>
        <p:spPr>
          <a:xfrm>
            <a:off x="2495550" y="8791575"/>
            <a:ext cx="12715875" cy="9525"/>
          </a:xfrm>
          <a:prstGeom prst="rect">
            <a:avLst/>
          </a:prstGeom>
          <a:solidFill>
            <a:srgbClr val="B5CBC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962900"/>
            <a:ext cx="15925800" cy="69532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0825" y="7981950"/>
            <a:ext cx="1419225" cy="6477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050" y="8086725"/>
            <a:ext cx="28575" cy="43815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8048625"/>
            <a:ext cx="457200" cy="47625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952625" y="8115300"/>
            <a:ext cx="113823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88"/>
              </a:lnSpc>
              <a:buNone/>
            </a:pPr>
            <a:r>
              <a:rPr lang="en-US" sz="2234" b="1" dirty="0">
                <a:solidFill>
                  <a:srgbClr val="CFD9D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candidate gets a route; only selected work is mobilised into Discovery now.</a:t>
            </a:r>
            <a:endParaRPr lang="en-US" sz="2234" dirty="0"/>
          </a:p>
        </p:txBody>
      </p:sp>
      <p:sp>
        <p:nvSpPr>
          <p:cNvPr id="9" name="Shape 3"/>
          <p:cNvSpPr/>
          <p:nvPr/>
        </p:nvSpPr>
        <p:spPr>
          <a:xfrm>
            <a:off x="314325" y="7381875"/>
            <a:ext cx="15297150" cy="466725"/>
          </a:xfrm>
          <a:prstGeom prst="roundRect">
            <a:avLst>
              <a:gd name="adj" fmla="val 24490"/>
            </a:avLst>
          </a:prstGeom>
          <a:solidFill>
            <a:srgbClr val="E6F4EB"/>
          </a:solidFill>
          <a:ln w="47625">
            <a:solidFill>
              <a:srgbClr val="E0EEE6"/>
            </a:solidFill>
            <a:prstDash val="solid"/>
          </a:ln>
        </p:spPr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5900" y="7419975"/>
            <a:ext cx="19050" cy="390525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850" y="7400925"/>
            <a:ext cx="457200" cy="41910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1790700" y="7496175"/>
            <a:ext cx="105727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80" b="1" dirty="0">
                <a:solidFill>
                  <a:srgbClr val="4C67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2 authorises Discovery capacity — it does not approve the proposed technology or production build.</a:t>
            </a:r>
            <a:endParaRPr lang="en-US" sz="1380" dirty="0"/>
          </a:p>
        </p:txBody>
      </p:sp>
      <p:sp>
        <p:nvSpPr>
          <p:cNvPr id="13" name="Shape 5"/>
          <p:cNvSpPr/>
          <p:nvPr/>
        </p:nvSpPr>
        <p:spPr>
          <a:xfrm>
            <a:off x="8601075" y="2085975"/>
            <a:ext cx="7086600" cy="5229225"/>
          </a:xfrm>
          <a:prstGeom prst="rect">
            <a:avLst/>
          </a:prstGeom>
          <a:solidFill>
            <a:srgbClr val="E5F6EB"/>
          </a:solidFill>
          <a:ln w="28575">
            <a:solidFill>
              <a:srgbClr val="F4FDF7"/>
            </a:solidFill>
            <a:prstDash val="solid"/>
          </a:ln>
        </p:spPr>
      </p:sp>
      <p:sp>
        <p:nvSpPr>
          <p:cNvPr id="14" name="Shape 6"/>
          <p:cNvSpPr/>
          <p:nvPr/>
        </p:nvSpPr>
        <p:spPr>
          <a:xfrm>
            <a:off x="8877300" y="6791325"/>
            <a:ext cx="6543675" cy="342900"/>
          </a:xfrm>
          <a:prstGeom prst="roundRect">
            <a:avLst>
              <a:gd name="adj" fmla="val 9722"/>
            </a:avLst>
          </a:prstGeom>
          <a:solidFill>
            <a:srgbClr val="CBECD8"/>
          </a:solidFill>
          <a:ln/>
        </p:spPr>
      </p:sp>
      <p:sp>
        <p:nvSpPr>
          <p:cNvPr id="15" name="Text 7"/>
          <p:cNvSpPr/>
          <p:nvPr/>
        </p:nvSpPr>
        <p:spPr>
          <a:xfrm>
            <a:off x="10010775" y="6848475"/>
            <a:ext cx="4314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71"/>
              </a:lnSpc>
              <a:buNone/>
            </a:pPr>
            <a:r>
              <a:rPr lang="en-US" sz="1306" b="1" dirty="0">
                <a:solidFill>
                  <a:srgbClr val="436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2 is only for the work FDE should start now.</a:t>
            </a:r>
            <a:endParaRPr lang="en-US" sz="1306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39200" y="3467100"/>
            <a:ext cx="6610350" cy="3228975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0877550" y="6210300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7"/>
              </a:lnSpc>
              <a:buNone/>
            </a:pPr>
            <a:r>
              <a:rPr lang="en-US" sz="1556" dirty="0">
                <a:solidFill>
                  <a:srgbClr val="7071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Return-to-Steer date</a:t>
            </a:r>
            <a:endParaRPr lang="en-US" sz="1556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63150" y="6019800"/>
            <a:ext cx="609600" cy="581025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0868025" y="5600700"/>
            <a:ext cx="781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20"/>
              </a:lnSpc>
              <a:buNone/>
            </a:pPr>
            <a:r>
              <a:rPr lang="en-US" sz="1559" dirty="0">
                <a:solidFill>
                  <a:srgbClr val="7173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Timebox</a:t>
            </a:r>
            <a:endParaRPr lang="en-US" sz="1559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63150" y="5410200"/>
            <a:ext cx="609600" cy="552450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10877550" y="4972050"/>
            <a:ext cx="18954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18"/>
              </a:lnSpc>
              <a:buNone/>
            </a:pPr>
            <a:r>
              <a:rPr lang="en-US" sz="1471" dirty="0">
                <a:solidFill>
                  <a:srgbClr val="696B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FDE Lead / key SMEs</a:t>
            </a:r>
            <a:endParaRPr lang="en-US" sz="1471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63150" y="4800600"/>
            <a:ext cx="609600" cy="552450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10877550" y="4371975"/>
            <a:ext cx="17049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477" dirty="0">
                <a:solidFill>
                  <a:srgbClr val="6A6C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question</a:t>
            </a:r>
            <a:endParaRPr lang="en-US" sz="1477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63150" y="4191000"/>
            <a:ext cx="609600" cy="561975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10877550" y="3743325"/>
            <a:ext cx="19145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34"/>
              </a:lnSpc>
              <a:buNone/>
            </a:pPr>
            <a:r>
              <a:rPr lang="en-US" sz="1492" dirty="0">
                <a:solidFill>
                  <a:srgbClr val="6062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Discovery Wave</a:t>
            </a:r>
            <a:endParaRPr lang="en-US" sz="1492" dirty="0"/>
          </a:p>
        </p:txBody>
      </p:sp>
      <p:pic>
        <p:nvPicPr>
          <p:cNvPr id="2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63150" y="3571875"/>
            <a:ext cx="609600" cy="561975"/>
          </a:xfrm>
          <a:prstGeom prst="rect">
            <a:avLst/>
          </a:prstGeom>
        </p:spPr>
      </p:pic>
      <p:sp>
        <p:nvSpPr>
          <p:cNvPr id="27" name="Shape 13"/>
          <p:cNvSpPr/>
          <p:nvPr/>
        </p:nvSpPr>
        <p:spPr>
          <a:xfrm>
            <a:off x="8848725" y="2914650"/>
            <a:ext cx="6591300" cy="457200"/>
          </a:xfrm>
          <a:prstGeom prst="roundRect">
            <a:avLst>
              <a:gd name="adj" fmla="val 18750"/>
            </a:avLst>
          </a:prstGeom>
          <a:solidFill>
            <a:srgbClr val="D4EFDE"/>
          </a:solidFill>
          <a:ln/>
        </p:spPr>
      </p:sp>
      <p:sp>
        <p:nvSpPr>
          <p:cNvPr id="28" name="Text 14"/>
          <p:cNvSpPr/>
          <p:nvPr/>
        </p:nvSpPr>
        <p:spPr>
          <a:xfrm>
            <a:off x="10429875" y="3009900"/>
            <a:ext cx="34385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515" b="1" dirty="0">
                <a:solidFill>
                  <a:srgbClr val="3455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where Discovery Timing = Now</a:t>
            </a:r>
            <a:endParaRPr lang="en-US" sz="1515" dirty="0"/>
          </a:p>
        </p:txBody>
      </p:sp>
      <p:pic>
        <p:nvPicPr>
          <p:cNvPr id="2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20150" y="2762250"/>
            <a:ext cx="6638925" cy="66675"/>
          </a:xfrm>
          <a:prstGeom prst="rect">
            <a:avLst/>
          </a:prstGeom>
        </p:spPr>
      </p:pic>
      <p:sp>
        <p:nvSpPr>
          <p:cNvPr id="30" name="Text 15"/>
          <p:cNvSpPr/>
          <p:nvPr/>
        </p:nvSpPr>
        <p:spPr>
          <a:xfrm>
            <a:off x="9696450" y="2295525"/>
            <a:ext cx="56578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2102" b="1" dirty="0">
                <a:solidFill>
                  <a:srgbClr val="2536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2 — Mobilise Approved Discovery</a:t>
            </a:r>
            <a:endParaRPr lang="en-US" sz="2102" dirty="0"/>
          </a:p>
        </p:txBody>
      </p:sp>
      <p:pic>
        <p:nvPicPr>
          <p:cNvPr id="3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63025" y="2219325"/>
            <a:ext cx="523875" cy="514350"/>
          </a:xfrm>
          <a:prstGeom prst="rect">
            <a:avLst/>
          </a:prstGeom>
        </p:spPr>
      </p:pic>
      <p:sp>
        <p:nvSpPr>
          <p:cNvPr id="32" name="Shape 16"/>
          <p:cNvSpPr/>
          <p:nvPr/>
        </p:nvSpPr>
        <p:spPr>
          <a:xfrm>
            <a:off x="238125" y="2028825"/>
            <a:ext cx="8362950" cy="5305425"/>
          </a:xfrm>
          <a:prstGeom prst="rect">
            <a:avLst/>
          </a:prstGeom>
          <a:solidFill>
            <a:srgbClr val="E5F6EB"/>
          </a:solidFill>
          <a:ln/>
        </p:spPr>
      </p:sp>
      <p:sp>
        <p:nvSpPr>
          <p:cNvPr id="33" name="Shape 17"/>
          <p:cNvSpPr/>
          <p:nvPr/>
        </p:nvSpPr>
        <p:spPr>
          <a:xfrm>
            <a:off x="542925" y="6791325"/>
            <a:ext cx="7791450" cy="342900"/>
          </a:xfrm>
          <a:prstGeom prst="roundRect">
            <a:avLst>
              <a:gd name="adj" fmla="val 11111"/>
            </a:avLst>
          </a:prstGeom>
          <a:solidFill>
            <a:srgbClr val="CCECD9"/>
          </a:solidFill>
          <a:ln/>
        </p:spPr>
      </p:sp>
      <p:sp>
        <p:nvSpPr>
          <p:cNvPr id="34" name="Text 18"/>
          <p:cNvSpPr/>
          <p:nvPr/>
        </p:nvSpPr>
        <p:spPr>
          <a:xfrm>
            <a:off x="2752725" y="6838950"/>
            <a:ext cx="33528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44"/>
              </a:lnSpc>
              <a:buNone/>
            </a:pPr>
            <a:r>
              <a:rPr lang="en-US" sz="1367" b="1" dirty="0">
                <a:solidFill>
                  <a:srgbClr val="4162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1 is made for every candidate.</a:t>
            </a:r>
            <a:endParaRPr lang="en-US" sz="1367" dirty="0"/>
          </a:p>
        </p:txBody>
      </p:sp>
      <p:sp>
        <p:nvSpPr>
          <p:cNvPr id="35" name="Shape 19"/>
          <p:cNvSpPr/>
          <p:nvPr/>
        </p:nvSpPr>
        <p:spPr>
          <a:xfrm>
            <a:off x="4476750" y="3476625"/>
            <a:ext cx="3876675" cy="3219450"/>
          </a:xfrm>
          <a:prstGeom prst="roundRect">
            <a:avLst>
              <a:gd name="adj" fmla="val 2663"/>
            </a:avLst>
          </a:prstGeom>
          <a:solidFill>
            <a:srgbClr val="FDFDFD"/>
          </a:solidFill>
          <a:ln/>
        </p:spPr>
      </p:sp>
      <p:sp>
        <p:nvSpPr>
          <p:cNvPr id="36" name="Text 20"/>
          <p:cNvSpPr/>
          <p:nvPr/>
        </p:nvSpPr>
        <p:spPr>
          <a:xfrm>
            <a:off x="5753100" y="5886450"/>
            <a:ext cx="235267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470" dirty="0">
                <a:solidFill>
                  <a:srgbClr val="5E60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Timing:</a:t>
            </a:r>
            <a:pPr algn="l" indent="0" marL="0">
              <a:lnSpc>
                <a:spcPts val="2175"/>
              </a:lnSpc>
              <a:buNone/>
            </a:pPr>
            <a:endParaRPr lang="en-US" sz="147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470" dirty="0">
                <a:solidFill>
                  <a:srgbClr val="5E60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/ Later / Not Required</a:t>
            </a:r>
            <a:endParaRPr lang="en-US" sz="1470" dirty="0"/>
          </a:p>
        </p:txBody>
      </p:sp>
      <p:pic>
        <p:nvPicPr>
          <p:cNvPr id="3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791075" y="5810250"/>
            <a:ext cx="600075" cy="571500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5753100" y="5362575"/>
            <a:ext cx="1371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463" dirty="0">
                <a:solidFill>
                  <a:srgbClr val="5C5E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Relative Priority</a:t>
            </a:r>
            <a:endParaRPr lang="en-US" sz="1463" dirty="0"/>
          </a:p>
        </p:txBody>
      </p:sp>
      <p:pic>
        <p:nvPicPr>
          <p:cNvPr id="3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91075" y="5219700"/>
            <a:ext cx="600075" cy="533400"/>
          </a:xfrm>
          <a:prstGeom prst="rect">
            <a:avLst/>
          </a:prstGeom>
        </p:spPr>
      </p:pic>
      <p:sp>
        <p:nvSpPr>
          <p:cNvPr id="40" name="Text 22"/>
          <p:cNvSpPr/>
          <p:nvPr/>
        </p:nvSpPr>
        <p:spPr>
          <a:xfrm>
            <a:off x="5753100" y="4810125"/>
            <a:ext cx="1333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448" dirty="0">
                <a:solidFill>
                  <a:srgbClr val="7477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Owner</a:t>
            </a:r>
            <a:endParaRPr lang="en-US" sz="1448" dirty="0"/>
          </a:p>
        </p:txBody>
      </p:sp>
      <p:pic>
        <p:nvPicPr>
          <p:cNvPr id="4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91075" y="4657725"/>
            <a:ext cx="600075" cy="523875"/>
          </a:xfrm>
          <a:prstGeom prst="rect">
            <a:avLst/>
          </a:prstGeom>
        </p:spPr>
      </p:pic>
      <p:sp>
        <p:nvSpPr>
          <p:cNvPr id="42" name="Text 23"/>
          <p:cNvSpPr/>
          <p:nvPr/>
        </p:nvSpPr>
        <p:spPr>
          <a:xfrm>
            <a:off x="5753100" y="4248150"/>
            <a:ext cx="17049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54"/>
              </a:lnSpc>
              <a:buNone/>
            </a:pPr>
            <a:r>
              <a:rPr lang="en-US" sz="1455" dirty="0">
                <a:solidFill>
                  <a:srgbClr val="6063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Sponsor</a:t>
            </a:r>
            <a:endParaRPr lang="en-US" sz="1455" dirty="0"/>
          </a:p>
        </p:txBody>
      </p:sp>
      <p:pic>
        <p:nvPicPr>
          <p:cNvPr id="43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91075" y="4114800"/>
            <a:ext cx="600075" cy="504825"/>
          </a:xfrm>
          <a:prstGeom prst="rect">
            <a:avLst/>
          </a:prstGeom>
        </p:spPr>
      </p:pic>
      <p:sp>
        <p:nvSpPr>
          <p:cNvPr id="44" name="Text 24"/>
          <p:cNvSpPr/>
          <p:nvPr/>
        </p:nvSpPr>
        <p:spPr>
          <a:xfrm>
            <a:off x="5400675" y="3657600"/>
            <a:ext cx="17621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567" b="1" dirty="0">
                <a:solidFill>
                  <a:srgbClr val="394A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SLT also confirms</a:t>
            </a:r>
            <a:endParaRPr lang="en-US" sz="1567" dirty="0"/>
          </a:p>
        </p:txBody>
      </p:sp>
      <p:sp>
        <p:nvSpPr>
          <p:cNvPr id="45" name="Shape 25"/>
          <p:cNvSpPr/>
          <p:nvPr/>
        </p:nvSpPr>
        <p:spPr>
          <a:xfrm>
            <a:off x="4714875" y="3571875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D5F0DF"/>
          </a:solidFill>
          <a:ln w="9525">
            <a:solidFill>
              <a:srgbClr val="E0F4E8"/>
            </a:solidFill>
            <a:prstDash val="solid"/>
          </a:ln>
        </p:spPr>
      </p:sp>
      <p:sp>
        <p:nvSpPr>
          <p:cNvPr id="46" name="Text 26"/>
          <p:cNvSpPr/>
          <p:nvPr/>
        </p:nvSpPr>
        <p:spPr>
          <a:xfrm>
            <a:off x="4867275" y="3667125"/>
            <a:ext cx="152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25"/>
              </a:lnSpc>
              <a:buNone/>
            </a:pPr>
            <a:r>
              <a:rPr lang="en-US" sz="1815" b="1" dirty="0">
                <a:solidFill>
                  <a:srgbClr val="3351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15" dirty="0"/>
          </a:p>
        </p:txBody>
      </p:sp>
      <p:sp>
        <p:nvSpPr>
          <p:cNvPr id="47" name="Shape 27"/>
          <p:cNvSpPr/>
          <p:nvPr/>
        </p:nvSpPr>
        <p:spPr>
          <a:xfrm>
            <a:off x="504825" y="3476625"/>
            <a:ext cx="3876675" cy="3228975"/>
          </a:xfrm>
          <a:prstGeom prst="roundRect">
            <a:avLst>
              <a:gd name="adj" fmla="val 3687"/>
            </a:avLst>
          </a:prstGeom>
          <a:solidFill>
            <a:srgbClr val="FDFDFD"/>
          </a:solidFill>
          <a:ln/>
        </p:spPr>
      </p:sp>
      <p:sp>
        <p:nvSpPr>
          <p:cNvPr id="48" name="Text 28"/>
          <p:cNvSpPr/>
          <p:nvPr/>
        </p:nvSpPr>
        <p:spPr>
          <a:xfrm>
            <a:off x="1809750" y="6200775"/>
            <a:ext cx="6477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433" dirty="0">
                <a:solidFill>
                  <a:srgbClr val="6F71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Decline</a:t>
            </a:r>
            <a:endParaRPr lang="en-US" sz="1433" dirty="0"/>
          </a:p>
        </p:txBody>
      </p:sp>
      <p:pic>
        <p:nvPicPr>
          <p:cNvPr id="4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76300" y="6134100"/>
            <a:ext cx="561975" cy="390525"/>
          </a:xfrm>
          <a:prstGeom prst="rect">
            <a:avLst/>
          </a:prstGeom>
        </p:spPr>
      </p:pic>
      <p:sp>
        <p:nvSpPr>
          <p:cNvPr id="50" name="Text 29"/>
          <p:cNvSpPr/>
          <p:nvPr/>
        </p:nvSpPr>
        <p:spPr>
          <a:xfrm>
            <a:off x="1809750" y="5762625"/>
            <a:ext cx="14478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455" dirty="0">
                <a:solidFill>
                  <a:srgbClr val="7678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elsewhere</a:t>
            </a:r>
            <a:endParaRPr lang="en-US" sz="1455" dirty="0"/>
          </a:p>
        </p:txBody>
      </p:sp>
      <p:pic>
        <p:nvPicPr>
          <p:cNvPr id="5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6300" y="5695950"/>
            <a:ext cx="561975" cy="390525"/>
          </a:xfrm>
          <a:prstGeom prst="rect">
            <a:avLst/>
          </a:prstGeom>
        </p:spPr>
      </p:pic>
      <p:sp>
        <p:nvSpPr>
          <p:cNvPr id="52" name="Text 30"/>
          <p:cNvSpPr/>
          <p:nvPr/>
        </p:nvSpPr>
        <p:spPr>
          <a:xfrm>
            <a:off x="1809750" y="5324475"/>
            <a:ext cx="22383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470" dirty="0">
                <a:solidFill>
                  <a:srgbClr val="5F61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to existing initiative</a:t>
            </a:r>
            <a:endParaRPr lang="en-US" sz="1470" dirty="0"/>
          </a:p>
        </p:txBody>
      </p:sp>
      <p:pic>
        <p:nvPicPr>
          <p:cNvPr id="53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6300" y="5276850"/>
            <a:ext cx="561975" cy="381000"/>
          </a:xfrm>
          <a:prstGeom prst="rect">
            <a:avLst/>
          </a:prstGeom>
        </p:spPr>
      </p:pic>
      <p:sp>
        <p:nvSpPr>
          <p:cNvPr id="54" name="Text 31"/>
          <p:cNvSpPr/>
          <p:nvPr/>
        </p:nvSpPr>
        <p:spPr>
          <a:xfrm>
            <a:off x="1800225" y="4924425"/>
            <a:ext cx="8001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1528" dirty="0">
                <a:solidFill>
                  <a:srgbClr val="6A6C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</a:t>
            </a:r>
            <a:endParaRPr lang="en-US" sz="1528" dirty="0"/>
          </a:p>
        </p:txBody>
      </p:sp>
      <p:pic>
        <p:nvPicPr>
          <p:cNvPr id="55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76300" y="4857750"/>
            <a:ext cx="561975" cy="381000"/>
          </a:xfrm>
          <a:prstGeom prst="rect">
            <a:avLst/>
          </a:prstGeom>
        </p:spPr>
      </p:pic>
      <p:sp>
        <p:nvSpPr>
          <p:cNvPr id="56" name="Text 32"/>
          <p:cNvSpPr/>
          <p:nvPr/>
        </p:nvSpPr>
        <p:spPr>
          <a:xfrm>
            <a:off x="1809750" y="4505325"/>
            <a:ext cx="40957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508" dirty="0">
                <a:solidFill>
                  <a:srgbClr val="6C6E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</a:t>
            </a:r>
            <a:endParaRPr lang="en-US" sz="1508" dirty="0"/>
          </a:p>
        </p:txBody>
      </p:sp>
      <p:pic>
        <p:nvPicPr>
          <p:cNvPr id="5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76300" y="4438650"/>
            <a:ext cx="561975" cy="381000"/>
          </a:xfrm>
          <a:prstGeom prst="rect">
            <a:avLst/>
          </a:prstGeom>
        </p:spPr>
      </p:pic>
      <p:sp>
        <p:nvSpPr>
          <p:cNvPr id="58" name="Text 33"/>
          <p:cNvSpPr/>
          <p:nvPr/>
        </p:nvSpPr>
        <p:spPr>
          <a:xfrm>
            <a:off x="1066800" y="4486275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66"/>
              </a:lnSpc>
              <a:buNone/>
            </a:pPr>
            <a:r>
              <a:rPr lang="en-US" sz="2487" b="1" dirty="0">
                <a:solidFill>
                  <a:srgbClr val="304A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ıı</a:t>
            </a:r>
            <a:endParaRPr lang="en-US" sz="2487" dirty="0"/>
          </a:p>
        </p:txBody>
      </p:sp>
      <p:sp>
        <p:nvSpPr>
          <p:cNvPr id="59" name="Text 34"/>
          <p:cNvSpPr/>
          <p:nvPr/>
        </p:nvSpPr>
        <p:spPr>
          <a:xfrm>
            <a:off x="1809750" y="4086225"/>
            <a:ext cx="7715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485" dirty="0">
                <a:solidFill>
                  <a:srgbClr val="6C6F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</a:t>
            </a:r>
            <a:endParaRPr lang="en-US" sz="1485" dirty="0"/>
          </a:p>
        </p:txBody>
      </p:sp>
      <p:pic>
        <p:nvPicPr>
          <p:cNvPr id="60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76300" y="4019550"/>
            <a:ext cx="561975" cy="381000"/>
          </a:xfrm>
          <a:prstGeom prst="rect">
            <a:avLst/>
          </a:prstGeom>
        </p:spPr>
      </p:pic>
      <p:sp>
        <p:nvSpPr>
          <p:cNvPr id="61" name="Shape 35"/>
          <p:cNvSpPr/>
          <p:nvPr/>
        </p:nvSpPr>
        <p:spPr>
          <a:xfrm>
            <a:off x="752475" y="3562350"/>
            <a:ext cx="419100" cy="409575"/>
          </a:xfrm>
          <a:prstGeom prst="roundRect">
            <a:avLst>
              <a:gd name="adj" fmla="val 47384"/>
            </a:avLst>
          </a:prstGeom>
          <a:solidFill>
            <a:srgbClr val="D8F2E2"/>
          </a:solidFill>
          <a:ln w="19050">
            <a:solidFill>
              <a:srgbClr val="E5F6EB"/>
            </a:solidFill>
            <a:prstDash val="solid"/>
          </a:ln>
        </p:spPr>
      </p:sp>
      <p:sp>
        <p:nvSpPr>
          <p:cNvPr id="62" name="Text 36"/>
          <p:cNvSpPr/>
          <p:nvPr/>
        </p:nvSpPr>
        <p:spPr>
          <a:xfrm>
            <a:off x="904875" y="3648075"/>
            <a:ext cx="114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16"/>
              </a:lnSpc>
              <a:buNone/>
            </a:pPr>
            <a:r>
              <a:rPr lang="en-US" sz="1569" b="1" dirty="0">
                <a:solidFill>
                  <a:srgbClr val="2E5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69" dirty="0"/>
          </a:p>
        </p:txBody>
      </p:sp>
      <p:sp>
        <p:nvSpPr>
          <p:cNvPr id="63" name="Text 37"/>
          <p:cNvSpPr/>
          <p:nvPr/>
        </p:nvSpPr>
        <p:spPr>
          <a:xfrm>
            <a:off x="1428750" y="3648075"/>
            <a:ext cx="1971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99"/>
              </a:lnSpc>
              <a:buNone/>
            </a:pPr>
            <a:r>
              <a:rPr lang="en-US" sz="1538" b="1" dirty="0">
                <a:solidFill>
                  <a:srgbClr val="4655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SLT chooses a route</a:t>
            </a:r>
            <a:endParaRPr lang="en-US" sz="1538" dirty="0"/>
          </a:p>
        </p:txBody>
      </p:sp>
      <p:sp>
        <p:nvSpPr>
          <p:cNvPr id="64" name="Shape 38"/>
          <p:cNvSpPr/>
          <p:nvPr/>
        </p:nvSpPr>
        <p:spPr>
          <a:xfrm>
            <a:off x="523875" y="2914650"/>
            <a:ext cx="7820025" cy="457200"/>
          </a:xfrm>
          <a:prstGeom prst="roundRect">
            <a:avLst>
              <a:gd name="adj" fmla="val 14583"/>
            </a:avLst>
          </a:prstGeom>
          <a:solidFill>
            <a:srgbClr val="D3EEDE"/>
          </a:solidFill>
          <a:ln/>
        </p:spPr>
      </p:sp>
      <p:sp>
        <p:nvSpPr>
          <p:cNvPr id="65" name="Text 39"/>
          <p:cNvSpPr/>
          <p:nvPr/>
        </p:nvSpPr>
        <p:spPr>
          <a:xfrm>
            <a:off x="2181225" y="3009900"/>
            <a:ext cx="4486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17"/>
              </a:lnSpc>
              <a:buNone/>
            </a:pPr>
            <a:r>
              <a:rPr lang="en-US" sz="1537" b="1" dirty="0">
                <a:solidFill>
                  <a:srgbClr val="3355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should MRO do with this candidate now?</a:t>
            </a:r>
            <a:endParaRPr lang="en-US" sz="1537" dirty="0"/>
          </a:p>
        </p:txBody>
      </p:sp>
      <p:pic>
        <p:nvPicPr>
          <p:cNvPr id="6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76250" y="2762250"/>
            <a:ext cx="7905750" cy="76200"/>
          </a:xfrm>
          <a:prstGeom prst="rect">
            <a:avLst/>
          </a:prstGeom>
        </p:spPr>
      </p:pic>
      <p:pic>
        <p:nvPicPr>
          <p:cNvPr id="6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7225" y="2200275"/>
            <a:ext cx="504825" cy="590550"/>
          </a:xfrm>
          <a:prstGeom prst="rect">
            <a:avLst/>
          </a:prstGeom>
        </p:spPr>
      </p:pic>
      <p:sp>
        <p:nvSpPr>
          <p:cNvPr id="68" name="Text 40"/>
          <p:cNvSpPr/>
          <p:nvPr/>
        </p:nvSpPr>
        <p:spPr>
          <a:xfrm>
            <a:off x="1362075" y="2286000"/>
            <a:ext cx="4105275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2213" b="1" dirty="0">
                <a:solidFill>
                  <a:srgbClr val="2233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1 — Priority &amp; Route</a:t>
            </a:r>
            <a:endParaRPr lang="en-US" sz="2213" dirty="0"/>
          </a:p>
        </p:txBody>
      </p:sp>
      <p:sp>
        <p:nvSpPr>
          <p:cNvPr id="69" name="Shape 41"/>
          <p:cNvSpPr/>
          <p:nvPr/>
        </p:nvSpPr>
        <p:spPr>
          <a:xfrm>
            <a:off x="323850" y="1152525"/>
            <a:ext cx="15287625" cy="819150"/>
          </a:xfrm>
          <a:prstGeom prst="roundRect">
            <a:avLst>
              <a:gd name="adj" fmla="val 10465"/>
            </a:avLst>
          </a:prstGeom>
          <a:solidFill>
            <a:srgbClr val="E9F5EE"/>
          </a:solidFill>
          <a:ln w="19050">
            <a:solidFill>
              <a:srgbClr val="E2EFE8"/>
            </a:solidFill>
            <a:prstDash val="solid"/>
          </a:ln>
        </p:spPr>
      </p:sp>
      <p:pic>
        <p:nvPicPr>
          <p:cNvPr id="70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485900" y="1304925"/>
            <a:ext cx="19050" cy="533400"/>
          </a:xfrm>
          <a:prstGeom prst="rect">
            <a:avLst/>
          </a:prstGeom>
        </p:spPr>
      </p:pic>
      <p:pic>
        <p:nvPicPr>
          <p:cNvPr id="71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19125" y="1257300"/>
            <a:ext cx="581025" cy="600075"/>
          </a:xfrm>
          <a:prstGeom prst="rect">
            <a:avLst/>
          </a:prstGeom>
        </p:spPr>
      </p:pic>
      <p:sp>
        <p:nvSpPr>
          <p:cNvPr id="72" name="Text 42"/>
          <p:cNvSpPr/>
          <p:nvPr/>
        </p:nvSpPr>
        <p:spPr>
          <a:xfrm>
            <a:off x="1781175" y="1400175"/>
            <a:ext cx="1366837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57"/>
              </a:lnSpc>
              <a:buNone/>
            </a:pPr>
            <a:r>
              <a:rPr lang="en-US" sz="1546" b="1" dirty="0">
                <a:solidFill>
                  <a:srgbClr val="425F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2 is the monthly leadership decision point: decide the route for every candidate, then mobilise only the Discovery that should start now.</a:t>
            </a:r>
            <a:endParaRPr lang="en-US" sz="1546" dirty="0"/>
          </a:p>
        </p:txBody>
      </p:sp>
      <p:sp>
        <p:nvSpPr>
          <p:cNvPr id="73" name="Shape 43"/>
          <p:cNvSpPr/>
          <p:nvPr/>
        </p:nvSpPr>
        <p:spPr>
          <a:xfrm>
            <a:off x="12220575" y="361950"/>
            <a:ext cx="3457575" cy="542925"/>
          </a:xfrm>
          <a:prstGeom prst="roundRect">
            <a:avLst>
              <a:gd name="adj" fmla="val 38596"/>
            </a:avLst>
          </a:prstGeom>
          <a:solidFill>
            <a:srgbClr val="D8F0E1"/>
          </a:solidFill>
          <a:ln/>
        </p:spPr>
      </p:sp>
      <p:pic>
        <p:nvPicPr>
          <p:cNvPr id="74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3239750" y="514350"/>
            <a:ext cx="28575" cy="247650"/>
          </a:xfrm>
          <a:prstGeom prst="rect">
            <a:avLst/>
          </a:prstGeom>
        </p:spPr>
      </p:pic>
      <p:sp>
        <p:nvSpPr>
          <p:cNvPr id="75" name="Text 44"/>
          <p:cNvSpPr/>
          <p:nvPr/>
        </p:nvSpPr>
        <p:spPr>
          <a:xfrm>
            <a:off x="13430250" y="485775"/>
            <a:ext cx="20383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13" dirty="0">
                <a:solidFill>
                  <a:srgbClr val="4D5F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Explaining the Model</a:t>
            </a:r>
            <a:endParaRPr lang="en-US" sz="1613" dirty="0"/>
          </a:p>
        </p:txBody>
      </p:sp>
      <p:sp>
        <p:nvSpPr>
          <p:cNvPr id="76" name="Text 45"/>
          <p:cNvSpPr/>
          <p:nvPr/>
        </p:nvSpPr>
        <p:spPr>
          <a:xfrm>
            <a:off x="12487275" y="495300"/>
            <a:ext cx="6191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6"/>
              </a:lnSpc>
              <a:buNone/>
            </a:pPr>
            <a:r>
              <a:rPr lang="en-US" sz="1702" b="1" dirty="0">
                <a:solidFill>
                  <a:srgbClr val="3358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1</a:t>
            </a:r>
            <a:endParaRPr lang="en-US" sz="1702" dirty="0"/>
          </a:p>
        </p:txBody>
      </p:sp>
      <p:sp>
        <p:nvSpPr>
          <p:cNvPr id="77" name="Text 46"/>
          <p:cNvSpPr/>
          <p:nvPr/>
        </p:nvSpPr>
        <p:spPr>
          <a:xfrm>
            <a:off x="876300" y="285750"/>
            <a:ext cx="1113472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4747" b="1" dirty="0">
                <a:solidFill>
                  <a:srgbClr val="16282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2 — Two Leadership Decisions</a:t>
            </a:r>
            <a:endParaRPr lang="en-US" sz="4747" dirty="0"/>
          </a:p>
        </p:txBody>
      </p:sp>
      <p:pic>
        <p:nvPicPr>
          <p:cNvPr id="78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0" y="47625"/>
            <a:ext cx="714375" cy="1076325"/>
          </a:xfrm>
          <a:prstGeom prst="rect">
            <a:avLst/>
          </a:prstGeom>
        </p:spPr>
      </p:pic>
      <p:sp>
        <p:nvSpPr>
          <p:cNvPr id="79" name="Text 47"/>
          <p:cNvSpPr/>
          <p:nvPr/>
        </p:nvSpPr>
        <p:spPr>
          <a:xfrm>
            <a:off x="15478125" y="8696325"/>
            <a:ext cx="114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1260" b="1" dirty="0">
                <a:solidFill>
                  <a:srgbClr val="6B718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60" dirty="0"/>
          </a:p>
        </p:txBody>
      </p:sp>
      <p:sp>
        <p:nvSpPr>
          <p:cNvPr id="80" name="Text 48"/>
          <p:cNvSpPr/>
          <p:nvPr/>
        </p:nvSpPr>
        <p:spPr>
          <a:xfrm>
            <a:off x="371475" y="8686800"/>
            <a:ext cx="19050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48" dirty="0">
                <a:solidFill>
                  <a:srgbClr val="7A82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MRO FDE Operating Model</a:t>
            </a:r>
            <a:endParaRPr lang="en-US" sz="1148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925800" cy="8963025"/>
          </a:xfrm>
          <a:prstGeom prst="rect">
            <a:avLst/>
          </a:prstGeom>
          <a:solidFill>
            <a:srgbClr val="F4FDF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3375" y="3962400"/>
            <a:ext cx="57150" cy="14287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200"/>
            <a:ext cx="66675" cy="7048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459075" y="8629650"/>
            <a:ext cx="1047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1260" dirty="0">
                <a:solidFill>
                  <a:srgbClr val="77819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60" dirty="0"/>
          </a:p>
        </p:txBody>
      </p:sp>
      <p:sp>
        <p:nvSpPr>
          <p:cNvPr id="6" name="Shape 2"/>
          <p:cNvSpPr/>
          <p:nvPr/>
        </p:nvSpPr>
        <p:spPr>
          <a:xfrm>
            <a:off x="2495550" y="8724900"/>
            <a:ext cx="12677775" cy="19050"/>
          </a:xfrm>
          <a:prstGeom prst="rect">
            <a:avLst/>
          </a:prstGeom>
          <a:solidFill>
            <a:srgbClr val="A5B7BB"/>
          </a:solidFill>
          <a:ln/>
        </p:spPr>
      </p:sp>
      <p:sp>
        <p:nvSpPr>
          <p:cNvPr id="7" name="Text 3"/>
          <p:cNvSpPr/>
          <p:nvPr/>
        </p:nvSpPr>
        <p:spPr>
          <a:xfrm>
            <a:off x="371475" y="8620125"/>
            <a:ext cx="18859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36"/>
              </a:lnSpc>
              <a:buNone/>
            </a:pPr>
            <a:r>
              <a:rPr lang="en-US" sz="1173" dirty="0">
                <a:solidFill>
                  <a:srgbClr val="818A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MRO FDE Operating Model</a:t>
            </a:r>
            <a:endParaRPr lang="en-US" sz="117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48600"/>
            <a:ext cx="15925800" cy="7048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4175" y="7877175"/>
            <a:ext cx="1333500" cy="657225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43025" y="8010525"/>
            <a:ext cx="9525" cy="390525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7953375"/>
            <a:ext cx="457200" cy="485775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1638300" y="8039100"/>
            <a:ext cx="126492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17"/>
              </a:lnSpc>
              <a:buNone/>
            </a:pPr>
            <a:r>
              <a:rPr lang="en-US" sz="1655" b="1" dirty="0">
                <a:solidFill>
                  <a:srgbClr val="C6D2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→ prove → learn → reuse → expand — do not wait for every wave to finish Discovery before progressing Wave 1.</a:t>
            </a:r>
            <a:endParaRPr lang="en-US" sz="1655" dirty="0"/>
          </a:p>
        </p:txBody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4400550"/>
            <a:ext cx="15487650" cy="3419475"/>
          </a:xfrm>
          <a:prstGeom prst="rect">
            <a:avLst/>
          </a:prstGeom>
        </p:spPr>
      </p:pic>
      <p:sp>
        <p:nvSpPr>
          <p:cNvPr id="14" name="Shape 5"/>
          <p:cNvSpPr/>
          <p:nvPr/>
        </p:nvSpPr>
        <p:spPr>
          <a:xfrm>
            <a:off x="371475" y="7296150"/>
            <a:ext cx="15211425" cy="495300"/>
          </a:xfrm>
          <a:prstGeom prst="roundRect">
            <a:avLst>
              <a:gd name="adj" fmla="val 5769"/>
            </a:avLst>
          </a:prstGeom>
          <a:solidFill>
            <a:srgbClr val="E3F5E9"/>
          </a:solidFill>
          <a:ln w="9525">
            <a:solidFill>
              <a:srgbClr val="E5F6EC"/>
            </a:solidFill>
            <a:prstDash val="solid"/>
          </a:ln>
        </p:spPr>
      </p:sp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850" y="7372350"/>
            <a:ext cx="9525" cy="342900"/>
          </a:xfrm>
          <a:prstGeom prst="rect">
            <a:avLst/>
          </a:prstGeom>
        </p:spPr>
      </p:pic>
      <p:pic>
        <p:nvPicPr>
          <p:cNvPr id="1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4350" y="7362825"/>
            <a:ext cx="371475" cy="371475"/>
          </a:xfrm>
          <a:prstGeom prst="rect">
            <a:avLst/>
          </a:prstGeom>
        </p:spPr>
      </p:pic>
      <p:sp>
        <p:nvSpPr>
          <p:cNvPr id="17" name="Text 6"/>
          <p:cNvSpPr/>
          <p:nvPr/>
        </p:nvSpPr>
        <p:spPr>
          <a:xfrm>
            <a:off x="1323975" y="7419975"/>
            <a:ext cx="34861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81"/>
              </a:lnSpc>
              <a:buNone/>
            </a:pPr>
            <a:r>
              <a:rPr lang="en-US" sz="1411" dirty="0">
                <a:solidFill>
                  <a:srgbClr val="5B69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Sequence agreed ≠ all waves start now.</a:t>
            </a:r>
            <a:endParaRPr lang="en-US" sz="1411" dirty="0"/>
          </a:p>
        </p:txBody>
      </p:sp>
      <p:sp>
        <p:nvSpPr>
          <p:cNvPr id="18" name="Shape 7"/>
          <p:cNvSpPr/>
          <p:nvPr/>
        </p:nvSpPr>
        <p:spPr>
          <a:xfrm>
            <a:off x="10677525" y="5457825"/>
            <a:ext cx="4914900" cy="1724025"/>
          </a:xfrm>
          <a:prstGeom prst="roundRect">
            <a:avLst>
              <a:gd name="adj" fmla="val 3315"/>
            </a:avLst>
          </a:prstGeom>
          <a:solidFill>
            <a:srgbClr val="E4F4EA"/>
          </a:solidFill>
          <a:ln/>
        </p:spPr>
      </p:sp>
      <p:sp>
        <p:nvSpPr>
          <p:cNvPr id="19" name="Shape 8"/>
          <p:cNvSpPr/>
          <p:nvPr/>
        </p:nvSpPr>
        <p:spPr>
          <a:xfrm>
            <a:off x="10706100" y="5476875"/>
            <a:ext cx="4848225" cy="1647825"/>
          </a:xfrm>
          <a:prstGeom prst="roundRect">
            <a:avLst>
              <a:gd name="adj" fmla="val 6936"/>
            </a:avLst>
          </a:prstGeom>
          <a:solidFill>
            <a:srgbClr val="FDFDFD"/>
          </a:solidFill>
          <a:ln/>
        </p:spPr>
      </p:sp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049000" y="6134100"/>
            <a:ext cx="333375" cy="333375"/>
          </a:xfrm>
          <a:prstGeom prst="rect">
            <a:avLst/>
          </a:prstGeom>
        </p:spPr>
      </p:pic>
      <p:pic>
        <p:nvPicPr>
          <p:cNvPr id="2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49000" y="5667375"/>
            <a:ext cx="333375" cy="342900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11639550" y="6162675"/>
            <a:ext cx="24479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92"/>
              </a:lnSpc>
              <a:buNone/>
            </a:pPr>
            <a:r>
              <a:rPr lang="en-US" sz="1454" dirty="0">
                <a:solidFill>
                  <a:srgbClr val="545B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Mobilise when appropriate</a:t>
            </a:r>
            <a:endParaRPr lang="en-US" sz="1454" dirty="0"/>
          </a:p>
        </p:txBody>
      </p:sp>
      <p:sp>
        <p:nvSpPr>
          <p:cNvPr id="23" name="Text 10"/>
          <p:cNvSpPr/>
          <p:nvPr/>
        </p:nvSpPr>
        <p:spPr>
          <a:xfrm>
            <a:off x="11639550" y="5695950"/>
            <a:ext cx="23526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562" dirty="0">
                <a:solidFill>
                  <a:srgbClr val="5C62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Owner to confirm</a:t>
            </a:r>
            <a:endParaRPr lang="en-US" sz="1562" dirty="0"/>
          </a:p>
        </p:txBody>
      </p:sp>
      <p:sp>
        <p:nvSpPr>
          <p:cNvPr id="24" name="Shape 11"/>
          <p:cNvSpPr/>
          <p:nvPr/>
        </p:nvSpPr>
        <p:spPr>
          <a:xfrm>
            <a:off x="10668000" y="4419600"/>
            <a:ext cx="4924425" cy="1038225"/>
          </a:xfrm>
          <a:prstGeom prst="roundRect">
            <a:avLst>
              <a:gd name="adj" fmla="val 9862"/>
            </a:avLst>
          </a:prstGeom>
          <a:solidFill>
            <a:srgbClr val="E2F3E8"/>
          </a:solidFill>
          <a:ln w="9525">
            <a:solidFill>
              <a:srgbClr val="E5F5EB"/>
            </a:solidFill>
            <a:prstDash val="solid"/>
          </a:ln>
        </p:spPr>
      </p:sp>
      <p:sp>
        <p:nvSpPr>
          <p:cNvPr id="25" name="Shape 12"/>
          <p:cNvSpPr/>
          <p:nvPr/>
        </p:nvSpPr>
        <p:spPr>
          <a:xfrm>
            <a:off x="12068175" y="4991100"/>
            <a:ext cx="3114675" cy="371475"/>
          </a:xfrm>
          <a:prstGeom prst="roundRect">
            <a:avLst>
              <a:gd name="adj" fmla="val 46154"/>
            </a:avLst>
          </a:prstGeom>
          <a:solidFill>
            <a:srgbClr val="D8E5E4"/>
          </a:solidFill>
          <a:ln/>
        </p:spPr>
      </p:sp>
      <p:sp>
        <p:nvSpPr>
          <p:cNvPr id="26" name="Text 13"/>
          <p:cNvSpPr/>
          <p:nvPr/>
        </p:nvSpPr>
        <p:spPr>
          <a:xfrm>
            <a:off x="12268200" y="5057775"/>
            <a:ext cx="27336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8"/>
              </a:lnSpc>
              <a:buNone/>
            </a:pPr>
            <a:r>
              <a:rPr lang="en-US" sz="1363" dirty="0">
                <a:solidFill>
                  <a:srgbClr val="5F68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Sequenced — not yet mobilised</a:t>
            </a:r>
            <a:endParaRPr lang="en-US" sz="1363" dirty="0"/>
          </a:p>
        </p:txBody>
      </p:sp>
      <p:sp>
        <p:nvSpPr>
          <p:cNvPr id="27" name="Text 14"/>
          <p:cNvSpPr/>
          <p:nvPr/>
        </p:nvSpPr>
        <p:spPr>
          <a:xfrm>
            <a:off x="12068175" y="4638675"/>
            <a:ext cx="2209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86"/>
              </a:lnSpc>
              <a:buNone/>
            </a:pPr>
            <a:r>
              <a:rPr lang="en-US" sz="1924" b="1" dirty="0">
                <a:solidFill>
                  <a:srgbClr val="2742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Wave 3 — Markets</a:t>
            </a:r>
            <a:endParaRPr lang="en-US" sz="1924" dirty="0"/>
          </a:p>
        </p:txBody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001375" y="4676775"/>
            <a:ext cx="609600" cy="457200"/>
          </a:xfrm>
          <a:prstGeom prst="rect">
            <a:avLst/>
          </a:prstGeom>
        </p:spPr>
      </p:pic>
      <p:sp>
        <p:nvSpPr>
          <p:cNvPr id="29" name="Shape 15"/>
          <p:cNvSpPr/>
          <p:nvPr/>
        </p:nvSpPr>
        <p:spPr>
          <a:xfrm>
            <a:off x="5591175" y="5448300"/>
            <a:ext cx="4895850" cy="1714500"/>
          </a:xfrm>
          <a:prstGeom prst="roundRect">
            <a:avLst>
              <a:gd name="adj" fmla="val 8056"/>
            </a:avLst>
          </a:prstGeom>
          <a:solidFill>
            <a:srgbClr val="E9F8EF"/>
          </a:solidFill>
          <a:ln/>
        </p:spPr>
      </p:sp>
      <p:sp>
        <p:nvSpPr>
          <p:cNvPr id="30" name="Shape 16"/>
          <p:cNvSpPr/>
          <p:nvPr/>
        </p:nvSpPr>
        <p:spPr>
          <a:xfrm>
            <a:off x="5638800" y="5476875"/>
            <a:ext cx="4800600" cy="1647825"/>
          </a:xfrm>
          <a:prstGeom prst="roundRect">
            <a:avLst>
              <a:gd name="adj" fmla="val 7514"/>
            </a:avLst>
          </a:prstGeom>
          <a:solidFill>
            <a:srgbClr val="FDFDFD"/>
          </a:solidFill>
          <a:ln/>
        </p:spPr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48375" y="6505575"/>
            <a:ext cx="333375" cy="342900"/>
          </a:xfrm>
          <a:prstGeom prst="rect">
            <a:avLst/>
          </a:prstGeom>
        </p:spPr>
      </p:pic>
      <p:pic>
        <p:nvPicPr>
          <p:cNvPr id="3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48375" y="6076950"/>
            <a:ext cx="333375" cy="333375"/>
          </a:xfrm>
          <a:prstGeom prst="rect">
            <a:avLst/>
          </a:prstGeom>
        </p:spPr>
      </p:pic>
      <p:pic>
        <p:nvPicPr>
          <p:cNvPr id="3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48375" y="5648325"/>
            <a:ext cx="333375" cy="342900"/>
          </a:xfrm>
          <a:prstGeom prst="rect">
            <a:avLst/>
          </a:prstGeom>
        </p:spPr>
      </p:pic>
      <p:sp>
        <p:nvSpPr>
          <p:cNvPr id="34" name="Text 17"/>
          <p:cNvSpPr/>
          <p:nvPr/>
        </p:nvSpPr>
        <p:spPr>
          <a:xfrm>
            <a:off x="6629400" y="6524625"/>
            <a:ext cx="31337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28"/>
              </a:lnSpc>
              <a:buNone/>
            </a:pPr>
            <a:r>
              <a:rPr lang="en-US" sz="1571" dirty="0">
                <a:solidFill>
                  <a:srgbClr val="5D63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common vs variant needs</a:t>
            </a:r>
            <a:endParaRPr lang="en-US" sz="1571" dirty="0"/>
          </a:p>
        </p:txBody>
      </p:sp>
      <p:sp>
        <p:nvSpPr>
          <p:cNvPr id="35" name="Text 18"/>
          <p:cNvSpPr/>
          <p:nvPr/>
        </p:nvSpPr>
        <p:spPr>
          <a:xfrm>
            <a:off x="6648450" y="6086475"/>
            <a:ext cx="18859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500" dirty="0">
                <a:solidFill>
                  <a:srgbClr val="595F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Wave 1 learning</a:t>
            </a:r>
            <a:endParaRPr lang="en-US" sz="1500" dirty="0"/>
          </a:p>
        </p:txBody>
      </p:sp>
      <p:sp>
        <p:nvSpPr>
          <p:cNvPr id="36" name="Text 19"/>
          <p:cNvSpPr/>
          <p:nvPr/>
        </p:nvSpPr>
        <p:spPr>
          <a:xfrm>
            <a:off x="6648450" y="5676900"/>
            <a:ext cx="23050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531" dirty="0">
                <a:solidFill>
                  <a:srgbClr val="5A60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Owner to confirm</a:t>
            </a:r>
            <a:endParaRPr lang="en-US" sz="1531" dirty="0"/>
          </a:p>
        </p:txBody>
      </p:sp>
      <p:sp>
        <p:nvSpPr>
          <p:cNvPr id="37" name="Shape 20"/>
          <p:cNvSpPr/>
          <p:nvPr/>
        </p:nvSpPr>
        <p:spPr>
          <a:xfrm>
            <a:off x="5610225" y="4419600"/>
            <a:ext cx="4857750" cy="1038225"/>
          </a:xfrm>
          <a:prstGeom prst="roundRect">
            <a:avLst>
              <a:gd name="adj" fmla="val 9404"/>
            </a:avLst>
          </a:prstGeom>
          <a:solidFill>
            <a:srgbClr val="E2F3E8"/>
          </a:solidFill>
          <a:ln/>
        </p:spPr>
      </p:sp>
      <p:sp>
        <p:nvSpPr>
          <p:cNvPr id="38" name="Shape 21"/>
          <p:cNvSpPr/>
          <p:nvPr/>
        </p:nvSpPr>
        <p:spPr>
          <a:xfrm>
            <a:off x="6886575" y="4981575"/>
            <a:ext cx="3057525" cy="371475"/>
          </a:xfrm>
          <a:prstGeom prst="roundRect">
            <a:avLst>
              <a:gd name="adj" fmla="val 41026"/>
            </a:avLst>
          </a:prstGeom>
          <a:solidFill>
            <a:srgbClr val="D8E5E4"/>
          </a:solidFill>
          <a:ln/>
        </p:spPr>
      </p:sp>
      <p:sp>
        <p:nvSpPr>
          <p:cNvPr id="39" name="Text 22"/>
          <p:cNvSpPr/>
          <p:nvPr/>
        </p:nvSpPr>
        <p:spPr>
          <a:xfrm>
            <a:off x="7086600" y="5038725"/>
            <a:ext cx="26765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0"/>
              </a:lnSpc>
              <a:buNone/>
            </a:pPr>
            <a:r>
              <a:rPr lang="en-US" sz="1334" dirty="0">
                <a:solidFill>
                  <a:srgbClr val="525B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Sequenced — not yet mobilised</a:t>
            </a:r>
            <a:endParaRPr lang="en-US" sz="1334" dirty="0"/>
          </a:p>
        </p:txBody>
      </p:sp>
      <p:pic>
        <p:nvPicPr>
          <p:cNvPr id="4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24550" y="4676775"/>
            <a:ext cx="609600" cy="457200"/>
          </a:xfrm>
          <a:prstGeom prst="rect">
            <a:avLst/>
          </a:prstGeom>
        </p:spPr>
      </p:pic>
      <p:sp>
        <p:nvSpPr>
          <p:cNvPr id="41" name="Text 23"/>
          <p:cNvSpPr/>
          <p:nvPr/>
        </p:nvSpPr>
        <p:spPr>
          <a:xfrm>
            <a:off x="6877050" y="4619625"/>
            <a:ext cx="1905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2145" b="1" dirty="0">
                <a:solidFill>
                  <a:srgbClr val="2C47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Wave2Retail</a:t>
            </a:r>
            <a:endParaRPr lang="en-US" sz="2145" dirty="0"/>
          </a:p>
        </p:txBody>
      </p:sp>
      <p:pic>
        <p:nvPicPr>
          <p:cNvPr id="4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14325" y="4410075"/>
            <a:ext cx="5086350" cy="2743200"/>
          </a:xfrm>
          <a:prstGeom prst="rect">
            <a:avLst/>
          </a:prstGeom>
        </p:spPr>
      </p:pic>
      <p:sp>
        <p:nvSpPr>
          <p:cNvPr id="43" name="Shape 24"/>
          <p:cNvSpPr/>
          <p:nvPr/>
        </p:nvSpPr>
        <p:spPr>
          <a:xfrm>
            <a:off x="352425" y="5419725"/>
            <a:ext cx="5000625" cy="1714500"/>
          </a:xfrm>
          <a:prstGeom prst="roundRect">
            <a:avLst>
              <a:gd name="adj" fmla="val 2639"/>
            </a:avLst>
          </a:prstGeom>
          <a:solidFill>
            <a:srgbClr val="FDFDFD"/>
          </a:solidFill>
          <a:ln w="28575">
            <a:solidFill>
              <a:srgbClr val="305B4B"/>
            </a:solidFill>
            <a:prstDash val="solid"/>
          </a:ln>
        </p:spPr>
      </p:sp>
      <p:pic>
        <p:nvPicPr>
          <p:cNvPr id="4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14375" y="6400800"/>
            <a:ext cx="342900" cy="342900"/>
          </a:xfrm>
          <a:prstGeom prst="rect">
            <a:avLst/>
          </a:prstGeom>
        </p:spPr>
      </p:pic>
      <p:pic>
        <p:nvPicPr>
          <p:cNvPr id="45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3900" y="6010275"/>
            <a:ext cx="333375" cy="342900"/>
          </a:xfrm>
          <a:prstGeom prst="rect">
            <a:avLst/>
          </a:prstGeom>
        </p:spPr>
      </p:pic>
      <p:pic>
        <p:nvPicPr>
          <p:cNvPr id="46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3900" y="5619750"/>
            <a:ext cx="333375" cy="323850"/>
          </a:xfrm>
          <a:prstGeom prst="rect">
            <a:avLst/>
          </a:prstGeom>
        </p:spPr>
      </p:pic>
      <p:sp>
        <p:nvSpPr>
          <p:cNvPr id="47" name="Text 25"/>
          <p:cNvSpPr/>
          <p:nvPr/>
        </p:nvSpPr>
        <p:spPr>
          <a:xfrm>
            <a:off x="1314450" y="6372225"/>
            <a:ext cx="268605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523" dirty="0">
                <a:solidFill>
                  <a:srgbClr val="5A6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proceed to Stage 4 when</a:t>
            </a:r>
            <a:endParaRPr lang="en-US" sz="1523" dirty="0"/>
          </a:p>
          <a:p>
            <a:pPr algn="l" indent="0" marL="0">
              <a:lnSpc>
                <a:spcPts val="2063"/>
              </a:lnSpc>
              <a:buNone/>
            </a:pPr>
            <a:r>
              <a:rPr lang="en-US" sz="1523" dirty="0">
                <a:solidFill>
                  <a:srgbClr val="5A6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sufficiently understood</a:t>
            </a:r>
            <a:endParaRPr lang="en-US" sz="1523" dirty="0"/>
          </a:p>
        </p:txBody>
      </p:sp>
      <p:sp>
        <p:nvSpPr>
          <p:cNvPr id="48" name="Text 26"/>
          <p:cNvSpPr/>
          <p:nvPr/>
        </p:nvSpPr>
        <p:spPr>
          <a:xfrm>
            <a:off x="1323975" y="6019800"/>
            <a:ext cx="24479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05"/>
              </a:lnSpc>
              <a:buNone/>
            </a:pPr>
            <a:r>
              <a:rPr lang="en-US" sz="1459" dirty="0">
                <a:solidFill>
                  <a:srgbClr val="4E55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Detailed Stage 3 Discovery</a:t>
            </a:r>
            <a:endParaRPr lang="en-US" sz="1459" dirty="0"/>
          </a:p>
        </p:txBody>
      </p:sp>
      <p:sp>
        <p:nvSpPr>
          <p:cNvPr id="49" name="Text 27"/>
          <p:cNvSpPr/>
          <p:nvPr/>
        </p:nvSpPr>
        <p:spPr>
          <a:xfrm>
            <a:off x="1314450" y="5657850"/>
            <a:ext cx="23526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17"/>
              </a:lnSpc>
              <a:buNone/>
            </a:pPr>
            <a:r>
              <a:rPr lang="en-US" sz="1562" dirty="0">
                <a:solidFill>
                  <a:srgbClr val="6F74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Owner confirmed</a:t>
            </a:r>
            <a:endParaRPr lang="en-US" sz="1562" dirty="0"/>
          </a:p>
        </p:txBody>
      </p:sp>
      <p:sp>
        <p:nvSpPr>
          <p:cNvPr id="50" name="Shape 28"/>
          <p:cNvSpPr/>
          <p:nvPr/>
        </p:nvSpPr>
        <p:spPr>
          <a:xfrm>
            <a:off x="1543050" y="4972050"/>
            <a:ext cx="1800225" cy="371475"/>
          </a:xfrm>
          <a:prstGeom prst="roundRect">
            <a:avLst>
              <a:gd name="adj" fmla="val 46154"/>
            </a:avLst>
          </a:prstGeom>
          <a:solidFill>
            <a:srgbClr val="D3EDDD"/>
          </a:solidFill>
          <a:ln w="9525">
            <a:solidFill>
              <a:srgbClr val="B5D2C2"/>
            </a:solidFill>
            <a:prstDash val="solid"/>
          </a:ln>
        </p:spPr>
      </p:sp>
      <p:sp>
        <p:nvSpPr>
          <p:cNvPr id="51" name="Text 29"/>
          <p:cNvSpPr/>
          <p:nvPr/>
        </p:nvSpPr>
        <p:spPr>
          <a:xfrm>
            <a:off x="1876425" y="5048250"/>
            <a:ext cx="1162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41"/>
              </a:lnSpc>
              <a:buNone/>
            </a:pPr>
            <a:r>
              <a:rPr lang="en-US" sz="1396" b="1" dirty="0">
                <a:solidFill>
                  <a:srgbClr val="4762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Mobilise now</a:t>
            </a:r>
            <a:endParaRPr lang="en-US" sz="1396" dirty="0"/>
          </a:p>
        </p:txBody>
      </p:sp>
      <p:pic>
        <p:nvPicPr>
          <p:cNvPr id="5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9600" y="4657725"/>
            <a:ext cx="619125" cy="457200"/>
          </a:xfrm>
          <a:prstGeom prst="rect">
            <a:avLst/>
          </a:prstGeom>
        </p:spPr>
      </p:pic>
      <p:sp>
        <p:nvSpPr>
          <p:cNvPr id="53" name="Text 30"/>
          <p:cNvSpPr/>
          <p:nvPr/>
        </p:nvSpPr>
        <p:spPr>
          <a:xfrm>
            <a:off x="1552575" y="4610100"/>
            <a:ext cx="345757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65"/>
              </a:lnSpc>
              <a:buNone/>
            </a:pPr>
            <a:r>
              <a:rPr lang="en-US" sz="1825" b="1" dirty="0">
                <a:solidFill>
                  <a:srgbClr val="D8E1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Wave 1 — Commercial / CBPM</a:t>
            </a:r>
            <a:endParaRPr lang="en-US" sz="1825" dirty="0"/>
          </a:p>
        </p:txBody>
      </p:sp>
      <p:sp>
        <p:nvSpPr>
          <p:cNvPr id="54" name="Shape 31"/>
          <p:cNvSpPr/>
          <p:nvPr/>
        </p:nvSpPr>
        <p:spPr>
          <a:xfrm>
            <a:off x="5286375" y="2190750"/>
            <a:ext cx="5353050" cy="609600"/>
          </a:xfrm>
          <a:prstGeom prst="roundRect">
            <a:avLst>
              <a:gd name="adj" fmla="val 14453"/>
            </a:avLst>
          </a:prstGeom>
          <a:solidFill>
            <a:srgbClr val="E0F3E7"/>
          </a:solidFill>
          <a:ln w="9525">
            <a:solidFill>
              <a:srgbClr val="E4F4EA"/>
            </a:solidFill>
            <a:prstDash val="solid"/>
          </a:ln>
        </p:spPr>
      </p:sp>
      <p:pic>
        <p:nvPicPr>
          <p:cNvPr id="55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657850" y="2228850"/>
            <a:ext cx="533400" cy="552450"/>
          </a:xfrm>
          <a:prstGeom prst="rect">
            <a:avLst/>
          </a:prstGeom>
        </p:spPr>
      </p:pic>
      <p:sp>
        <p:nvSpPr>
          <p:cNvPr id="56" name="Text 32"/>
          <p:cNvSpPr/>
          <p:nvPr/>
        </p:nvSpPr>
        <p:spPr>
          <a:xfrm>
            <a:off x="6515100" y="2324100"/>
            <a:ext cx="2476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97"/>
              </a:lnSpc>
              <a:buNone/>
            </a:pPr>
            <a:r>
              <a:rPr lang="en-US" sz="2076" b="1" dirty="0">
                <a:solidFill>
                  <a:srgbClr val="304B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Priority</a:t>
            </a:r>
            <a:endParaRPr lang="en-US" sz="2076" dirty="0"/>
          </a:p>
        </p:txBody>
      </p:sp>
      <p:pic>
        <p:nvPicPr>
          <p:cNvPr id="5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2752725" y="4095750"/>
            <a:ext cx="10420350" cy="285750"/>
          </a:xfrm>
          <a:prstGeom prst="rect">
            <a:avLst/>
          </a:prstGeom>
        </p:spPr>
      </p:pic>
      <p:pic>
        <p:nvPicPr>
          <p:cNvPr id="58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3077825" y="4276725"/>
            <a:ext cx="133350" cy="114300"/>
          </a:xfrm>
          <a:prstGeom prst="rect">
            <a:avLst/>
          </a:prstGeom>
        </p:spPr>
      </p:pic>
      <p:sp>
        <p:nvSpPr>
          <p:cNvPr id="59" name="Shape 33"/>
          <p:cNvSpPr/>
          <p:nvPr/>
        </p:nvSpPr>
        <p:spPr>
          <a:xfrm>
            <a:off x="12192000" y="2524125"/>
            <a:ext cx="3390900" cy="1143000"/>
          </a:xfrm>
          <a:prstGeom prst="roundRect">
            <a:avLst>
              <a:gd name="adj" fmla="val 8333"/>
            </a:avLst>
          </a:prstGeom>
          <a:solidFill>
            <a:srgbClr val="E5F7EC"/>
          </a:solidFill>
          <a:ln/>
        </p:spPr>
      </p:sp>
      <p:sp>
        <p:nvSpPr>
          <p:cNvPr id="60" name="Text 34"/>
          <p:cNvSpPr/>
          <p:nvPr/>
        </p:nvSpPr>
        <p:spPr>
          <a:xfrm>
            <a:off x="13182600" y="2667000"/>
            <a:ext cx="21336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548" dirty="0">
                <a:solidFill>
                  <a:srgbClr val="525F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light cross-wave scan</a:t>
            </a:r>
            <a:endParaRPr lang="en-US" sz="1548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548" dirty="0">
                <a:solidFill>
                  <a:srgbClr val="525F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 help SLT choose</a:t>
            </a:r>
            <a:endParaRPr lang="en-US" sz="1548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548" dirty="0">
                <a:solidFill>
                  <a:srgbClr val="525F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to start.</a:t>
            </a:r>
            <a:endParaRPr lang="en-US" sz="1548" dirty="0"/>
          </a:p>
        </p:txBody>
      </p:sp>
      <p:pic>
        <p:nvPicPr>
          <p:cNvPr id="61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2392025" y="2762250"/>
            <a:ext cx="552450" cy="609600"/>
          </a:xfrm>
          <a:prstGeom prst="rect">
            <a:avLst/>
          </a:prstGeom>
        </p:spPr>
      </p:pic>
      <p:pic>
        <p:nvPicPr>
          <p:cNvPr id="62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896600" y="3067050"/>
            <a:ext cx="1276350" cy="57150"/>
          </a:xfrm>
          <a:prstGeom prst="rect">
            <a:avLst/>
          </a:prstGeom>
        </p:spPr>
      </p:pic>
      <p:pic>
        <p:nvPicPr>
          <p:cNvPr id="63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0696575" y="3028950"/>
            <a:ext cx="171450" cy="133350"/>
          </a:xfrm>
          <a:prstGeom prst="rect">
            <a:avLst/>
          </a:prstGeom>
        </p:spPr>
      </p:pic>
      <p:sp>
        <p:nvSpPr>
          <p:cNvPr id="64" name="Shape 35"/>
          <p:cNvSpPr/>
          <p:nvPr/>
        </p:nvSpPr>
        <p:spPr>
          <a:xfrm>
            <a:off x="5314950" y="2819400"/>
            <a:ext cx="5295900" cy="1123950"/>
          </a:xfrm>
          <a:prstGeom prst="roundRect">
            <a:avLst>
              <a:gd name="adj" fmla="val 5297"/>
            </a:avLst>
          </a:prstGeom>
          <a:solidFill>
            <a:srgbClr val="FDFDFE"/>
          </a:solidFill>
          <a:ln/>
        </p:spPr>
      </p:sp>
      <p:sp>
        <p:nvSpPr>
          <p:cNvPr id="65" name="Text 36"/>
          <p:cNvSpPr/>
          <p:nvPr/>
        </p:nvSpPr>
        <p:spPr>
          <a:xfrm>
            <a:off x="6343650" y="2905125"/>
            <a:ext cx="33718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74"/>
              </a:lnSpc>
              <a:buNone/>
            </a:pPr>
            <a:r>
              <a:rPr lang="en-US" sz="1746" dirty="0">
                <a:solidFill>
                  <a:srgbClr val="4C5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 IV report drafting and</a:t>
            </a:r>
            <a:endParaRPr lang="en-US" sz="1746" dirty="0"/>
          </a:p>
          <a:p>
            <a:pPr algn="ctr" indent="0" marL="0">
              <a:lnSpc>
                <a:spcPts val="2174"/>
              </a:lnSpc>
              <a:buNone/>
            </a:pPr>
            <a:r>
              <a:rPr lang="en-US" sz="1746" dirty="0">
                <a:solidFill>
                  <a:srgbClr val="4C5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quality-review efficiency,</a:t>
            </a:r>
            <a:endParaRPr lang="en-US" sz="1746" dirty="0"/>
          </a:p>
          <a:p>
            <a:pPr algn="ctr" indent="0" marL="0">
              <a:lnSpc>
                <a:spcPts val="2174"/>
              </a:lnSpc>
              <a:buNone/>
            </a:pPr>
            <a:r>
              <a:rPr lang="en-US" sz="1746" dirty="0">
                <a:solidFill>
                  <a:srgbClr val="4C51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consistency and guidance use</a:t>
            </a:r>
            <a:endParaRPr lang="en-US" sz="1746" dirty="0"/>
          </a:p>
        </p:txBody>
      </p:sp>
      <p:sp>
        <p:nvSpPr>
          <p:cNvPr id="66" name="Shape 37"/>
          <p:cNvSpPr/>
          <p:nvPr/>
        </p:nvSpPr>
        <p:spPr>
          <a:xfrm>
            <a:off x="333375" y="1190625"/>
            <a:ext cx="15325725" cy="847725"/>
          </a:xfrm>
          <a:prstGeom prst="roundRect">
            <a:avLst>
              <a:gd name="adj" fmla="val 10112"/>
            </a:avLst>
          </a:prstGeom>
          <a:solidFill>
            <a:srgbClr val="E9F7EE"/>
          </a:solidFill>
          <a:ln/>
        </p:spPr>
      </p:sp>
      <p:pic>
        <p:nvPicPr>
          <p:cNvPr id="67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495425" y="1371600"/>
            <a:ext cx="19050" cy="485775"/>
          </a:xfrm>
          <a:prstGeom prst="rect">
            <a:avLst/>
          </a:prstGeom>
        </p:spPr>
      </p:pic>
      <p:pic>
        <p:nvPicPr>
          <p:cNvPr id="68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66750" y="1314450"/>
            <a:ext cx="552450" cy="581025"/>
          </a:xfrm>
          <a:prstGeom prst="rect">
            <a:avLst/>
          </a:prstGeom>
        </p:spPr>
      </p:pic>
      <p:sp>
        <p:nvSpPr>
          <p:cNvPr id="69" name="Text 38"/>
          <p:cNvSpPr/>
          <p:nvPr/>
        </p:nvSpPr>
        <p:spPr>
          <a:xfrm>
            <a:off x="1781175" y="1390650"/>
            <a:ext cx="1256347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4"/>
              </a:lnSpc>
              <a:buNone/>
            </a:pPr>
            <a:r>
              <a:rPr lang="en-US" sz="2005" b="1" dirty="0">
                <a:solidFill>
                  <a:srgbClr val="3251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SLT can prioritise a broad process outcome while mobilising one practical Discovery Wave at a time.</a:t>
            </a:r>
            <a:endParaRPr lang="en-US" sz="2005" dirty="0"/>
          </a:p>
        </p:txBody>
      </p:sp>
      <p:sp>
        <p:nvSpPr>
          <p:cNvPr id="70" name="Shape 39"/>
          <p:cNvSpPr/>
          <p:nvPr/>
        </p:nvSpPr>
        <p:spPr>
          <a:xfrm>
            <a:off x="11934825" y="409575"/>
            <a:ext cx="3667125" cy="542925"/>
          </a:xfrm>
          <a:prstGeom prst="roundRect">
            <a:avLst>
              <a:gd name="adj" fmla="val 36842"/>
            </a:avLst>
          </a:prstGeom>
          <a:solidFill>
            <a:srgbClr val="D9F1E2"/>
          </a:solidFill>
          <a:ln/>
        </p:spPr>
      </p:sp>
      <p:pic>
        <p:nvPicPr>
          <p:cNvPr id="7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2982575" y="561975"/>
            <a:ext cx="28575" cy="247650"/>
          </a:xfrm>
          <a:prstGeom prst="rect">
            <a:avLst/>
          </a:prstGeom>
        </p:spPr>
      </p:pic>
      <p:sp>
        <p:nvSpPr>
          <p:cNvPr id="72" name="Text 40"/>
          <p:cNvSpPr/>
          <p:nvPr/>
        </p:nvSpPr>
        <p:spPr>
          <a:xfrm>
            <a:off x="13173075" y="533400"/>
            <a:ext cx="219075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792" dirty="0">
                <a:solidFill>
                  <a:srgbClr val="4455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Explaining the Model</a:t>
            </a:r>
            <a:endParaRPr lang="en-US" sz="1792" dirty="0"/>
          </a:p>
        </p:txBody>
      </p:sp>
      <p:sp>
        <p:nvSpPr>
          <p:cNvPr id="73" name="Text 41"/>
          <p:cNvSpPr/>
          <p:nvPr/>
        </p:nvSpPr>
        <p:spPr>
          <a:xfrm>
            <a:off x="12182475" y="533400"/>
            <a:ext cx="657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1"/>
              </a:lnSpc>
              <a:buNone/>
            </a:pPr>
            <a:r>
              <a:rPr lang="en-US" sz="1807" b="1" dirty="0">
                <a:solidFill>
                  <a:srgbClr val="2952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1</a:t>
            </a:r>
            <a:endParaRPr lang="en-US" sz="1807" dirty="0"/>
          </a:p>
        </p:txBody>
      </p:sp>
      <p:sp>
        <p:nvSpPr>
          <p:cNvPr id="74" name="Text 42"/>
          <p:cNvSpPr/>
          <p:nvPr/>
        </p:nvSpPr>
        <p:spPr>
          <a:xfrm>
            <a:off x="876300" y="314325"/>
            <a:ext cx="106394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4672" b="1" dirty="0">
                <a:solidFill>
                  <a:srgbClr val="1432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 Priorities &amp; Discovery Waves</a:t>
            </a:r>
            <a:endParaRPr lang="en-US" sz="4672" dirty="0"/>
          </a:p>
        </p:txBody>
      </p:sp>
      <p:pic>
        <p:nvPicPr>
          <p:cNvPr id="75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8100" y="85725"/>
            <a:ext cx="66675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5925800" cy="786765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3925"/>
            <a:ext cx="15925800" cy="4191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524125" y="8763000"/>
            <a:ext cx="12668250" cy="9525"/>
          </a:xfrm>
          <a:prstGeom prst="rect">
            <a:avLst/>
          </a:prstGeom>
          <a:solidFill>
            <a:srgbClr val="C6D8D5"/>
          </a:solidFill>
          <a:ln/>
        </p:spPr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29550"/>
            <a:ext cx="15925800" cy="781050"/>
          </a:xfrm>
          <a:prstGeom prst="rect">
            <a:avLst/>
          </a:prstGeom>
        </p:spPr>
      </p:pic>
      <p:pic>
        <p:nvPicPr>
          <p:cNvPr id="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35075" y="7848600"/>
            <a:ext cx="1781175" cy="733425"/>
          </a:xfrm>
          <a:prstGeom prst="rect">
            <a:avLst/>
          </a:prstGeom>
        </p:spPr>
      </p:pic>
      <p:pic>
        <p:nvPicPr>
          <p:cNvPr id="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4525" y="7981950"/>
            <a:ext cx="28575" cy="476250"/>
          </a:xfrm>
          <a:prstGeom prst="rect">
            <a:avLst/>
          </a:prstGeom>
        </p:spPr>
      </p:pic>
      <p:pic>
        <p:nvPicPr>
          <p:cNvPr id="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7915275"/>
            <a:ext cx="590550" cy="600075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2438400" y="8029575"/>
            <a:ext cx="7715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37"/>
              </a:lnSpc>
              <a:buNone/>
            </a:pPr>
            <a:r>
              <a:rPr lang="en-US" sz="2388" b="1" dirty="0">
                <a:solidFill>
                  <a:srgbClr val="CCD7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the process before designing the solution.</a:t>
            </a:r>
            <a:endParaRPr lang="en-US" sz="2388" dirty="0"/>
          </a:p>
        </p:txBody>
      </p:sp>
      <p:sp>
        <p:nvSpPr>
          <p:cNvPr id="10" name="Shape 2"/>
          <p:cNvSpPr/>
          <p:nvPr/>
        </p:nvSpPr>
        <p:spPr>
          <a:xfrm>
            <a:off x="333375" y="7162800"/>
            <a:ext cx="15278100" cy="609600"/>
          </a:xfrm>
          <a:prstGeom prst="roundRect">
            <a:avLst>
              <a:gd name="adj" fmla="val 28125"/>
            </a:avLst>
          </a:prstGeom>
          <a:solidFill>
            <a:srgbClr val="DDF1E4"/>
          </a:solidFill>
          <a:ln/>
        </p:spPr>
      </p:sp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900" y="7267575"/>
            <a:ext cx="19050" cy="419100"/>
          </a:xfrm>
          <a:prstGeom prst="rect">
            <a:avLst/>
          </a:prstGeom>
        </p:spPr>
      </p:pic>
      <p:pic>
        <p:nvPicPr>
          <p:cNvPr id="1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7210425"/>
            <a:ext cx="495300" cy="523875"/>
          </a:xfrm>
          <a:prstGeom prst="rect">
            <a:avLst/>
          </a:prstGeom>
        </p:spPr>
      </p:pic>
      <p:sp>
        <p:nvSpPr>
          <p:cNvPr id="13" name="Text 3"/>
          <p:cNvSpPr/>
          <p:nvPr/>
        </p:nvSpPr>
        <p:spPr>
          <a:xfrm>
            <a:off x="1866900" y="7353300"/>
            <a:ext cx="76104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343" b="1" dirty="0">
                <a:solidFill>
                  <a:srgbClr val="3452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is where broad priorities are decomposed into actionable opportunities.</a:t>
            </a:r>
            <a:endParaRPr lang="en-US" sz="1343" dirty="0"/>
          </a:p>
        </p:txBody>
      </p:sp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87025" y="4762500"/>
            <a:ext cx="352425" cy="276225"/>
          </a:xfrm>
          <a:prstGeom prst="rect">
            <a:avLst/>
          </a:prstGeom>
        </p:spPr>
      </p:pic>
      <p:sp>
        <p:nvSpPr>
          <p:cNvPr id="15" name="Shape 4"/>
          <p:cNvSpPr/>
          <p:nvPr/>
        </p:nvSpPr>
        <p:spPr>
          <a:xfrm>
            <a:off x="10972800" y="3419475"/>
            <a:ext cx="4638675" cy="3600450"/>
          </a:xfrm>
          <a:prstGeom prst="roundRect">
            <a:avLst>
              <a:gd name="adj" fmla="val 3175"/>
            </a:avLst>
          </a:prstGeom>
          <a:solidFill>
            <a:srgbClr val="FEFDFE"/>
          </a:solidFill>
          <a:ln/>
        </p:spPr>
      </p:sp>
      <p:sp>
        <p:nvSpPr>
          <p:cNvPr id="16" name="Text 5"/>
          <p:cNvSpPr/>
          <p:nvPr/>
        </p:nvSpPr>
        <p:spPr>
          <a:xfrm>
            <a:off x="11953875" y="6591300"/>
            <a:ext cx="3571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1327" dirty="0">
                <a:solidFill>
                  <a:srgbClr val="7C818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Next-wave recommendation where relevant</a:t>
            </a:r>
            <a:endParaRPr lang="en-US" sz="1327" dirty="0"/>
          </a:p>
        </p:txBody>
      </p:sp>
      <p:pic>
        <p:nvPicPr>
          <p:cNvPr id="1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20450" y="6496050"/>
            <a:ext cx="400050" cy="400050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11363325" y="6581775"/>
            <a:ext cx="1333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642" dirty="0">
                <a:solidFill>
                  <a:srgbClr val="3F50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642" dirty="0"/>
          </a:p>
        </p:txBody>
      </p:sp>
      <p:sp>
        <p:nvSpPr>
          <p:cNvPr id="19" name="Text 7"/>
          <p:cNvSpPr/>
          <p:nvPr/>
        </p:nvSpPr>
        <p:spPr>
          <a:xfrm>
            <a:off x="11944350" y="5895975"/>
            <a:ext cx="31908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8"/>
              </a:lnSpc>
              <a:buNone/>
            </a:pPr>
            <a:r>
              <a:rPr lang="en-US" sz="1471" dirty="0">
                <a:solidFill>
                  <a:srgbClr val="7379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opportunities recommended</a:t>
            </a:r>
            <a:endParaRPr lang="en-US" sz="1471" dirty="0"/>
          </a:p>
          <a:p>
            <a:pPr algn="l" indent="0" marL="0">
              <a:lnSpc>
                <a:spcPts val="1708"/>
              </a:lnSpc>
              <a:buNone/>
            </a:pPr>
            <a:r>
              <a:rPr lang="en-US" sz="1471" dirty="0">
                <a:solidFill>
                  <a:srgbClr val="7379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Stage 4</a:t>
            </a:r>
            <a:endParaRPr lang="en-US" sz="1471" dirty="0"/>
          </a:p>
        </p:txBody>
      </p:sp>
      <p:sp>
        <p:nvSpPr>
          <p:cNvPr id="20" name="Shape 8"/>
          <p:cNvSpPr/>
          <p:nvPr/>
        </p:nvSpPr>
        <p:spPr>
          <a:xfrm>
            <a:off x="11220450" y="593407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E6F4EB"/>
            </a:solidFill>
            <a:prstDash val="solid"/>
          </a:ln>
        </p:spPr>
      </p:sp>
      <p:sp>
        <p:nvSpPr>
          <p:cNvPr id="21" name="Text 9"/>
          <p:cNvSpPr/>
          <p:nvPr/>
        </p:nvSpPr>
        <p:spPr>
          <a:xfrm>
            <a:off x="11363325" y="6029325"/>
            <a:ext cx="1333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500" dirty="0">
                <a:solidFill>
                  <a:srgbClr val="354A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10"/>
          <p:cNvSpPr/>
          <p:nvPr/>
        </p:nvSpPr>
        <p:spPr>
          <a:xfrm>
            <a:off x="11944350" y="5467350"/>
            <a:ext cx="27622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053"/>
              </a:lnSpc>
              <a:buNone/>
            </a:pPr>
            <a:r>
              <a:rPr lang="en-US" sz="1448" dirty="0">
                <a:solidFill>
                  <a:srgbClr val="78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Common-vs-Variant Assessment</a:t>
            </a:r>
            <a:endParaRPr lang="en-US" sz="1448" dirty="0"/>
          </a:p>
        </p:txBody>
      </p:sp>
      <p:sp>
        <p:nvSpPr>
          <p:cNvPr id="23" name="Shape 11"/>
          <p:cNvSpPr/>
          <p:nvPr/>
        </p:nvSpPr>
        <p:spPr>
          <a:xfrm>
            <a:off x="11220450" y="540067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DCF1E3"/>
          </a:solidFill>
          <a:ln w="19050">
            <a:solidFill>
              <a:srgbClr val="EBF6EF"/>
            </a:solidFill>
            <a:prstDash val="solid"/>
          </a:ln>
        </p:spPr>
      </p:sp>
      <p:sp>
        <p:nvSpPr>
          <p:cNvPr id="24" name="Text 12"/>
          <p:cNvSpPr/>
          <p:nvPr/>
        </p:nvSpPr>
        <p:spPr>
          <a:xfrm>
            <a:off x="11363325" y="5495925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748" dirty="0">
                <a:solidFill>
                  <a:srgbClr val="354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748" dirty="0"/>
          </a:p>
        </p:txBody>
      </p:sp>
      <p:sp>
        <p:nvSpPr>
          <p:cNvPr id="25" name="Text 13"/>
          <p:cNvSpPr/>
          <p:nvPr/>
        </p:nvSpPr>
        <p:spPr>
          <a:xfrm>
            <a:off x="11953875" y="5019675"/>
            <a:ext cx="26193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433" dirty="0">
                <a:solidFill>
                  <a:srgbClr val="767C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Improvement Opportunity Map</a:t>
            </a:r>
            <a:endParaRPr lang="en-US" sz="1433" dirty="0"/>
          </a:p>
        </p:txBody>
      </p:sp>
      <p:sp>
        <p:nvSpPr>
          <p:cNvPr id="26" name="Shape 14"/>
          <p:cNvSpPr/>
          <p:nvPr/>
        </p:nvSpPr>
        <p:spPr>
          <a:xfrm>
            <a:off x="11220450" y="4933950"/>
            <a:ext cx="400050" cy="400050"/>
          </a:xfrm>
          <a:prstGeom prst="roundRect">
            <a:avLst>
              <a:gd name="adj" fmla="val 46429"/>
            </a:avLst>
          </a:prstGeom>
          <a:solidFill>
            <a:srgbClr val="DDF1E4"/>
          </a:solidFill>
          <a:ln w="9525">
            <a:solidFill>
              <a:srgbClr val="E5F4EA"/>
            </a:solidFill>
            <a:prstDash val="solid"/>
          </a:ln>
        </p:spPr>
      </p:sp>
      <p:sp>
        <p:nvSpPr>
          <p:cNvPr id="27" name="Text 15"/>
          <p:cNvSpPr/>
          <p:nvPr/>
        </p:nvSpPr>
        <p:spPr>
          <a:xfrm>
            <a:off x="11353800" y="5029200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815" dirty="0">
                <a:solidFill>
                  <a:srgbClr val="3546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15" dirty="0"/>
          </a:p>
        </p:txBody>
      </p:sp>
      <p:sp>
        <p:nvSpPr>
          <p:cNvPr id="28" name="Text 16"/>
          <p:cNvSpPr/>
          <p:nvPr/>
        </p:nvSpPr>
        <p:spPr>
          <a:xfrm>
            <a:off x="11953875" y="4543425"/>
            <a:ext cx="29051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1436" dirty="0">
                <a:solidFill>
                  <a:srgbClr val="79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/ constraints where useful</a:t>
            </a:r>
            <a:endParaRPr lang="en-US" sz="1436" dirty="0"/>
          </a:p>
        </p:txBody>
      </p:sp>
      <p:sp>
        <p:nvSpPr>
          <p:cNvPr id="29" name="Shape 17"/>
          <p:cNvSpPr/>
          <p:nvPr/>
        </p:nvSpPr>
        <p:spPr>
          <a:xfrm>
            <a:off x="11220450" y="4467225"/>
            <a:ext cx="400050" cy="400050"/>
          </a:xfrm>
          <a:prstGeom prst="roundRect">
            <a:avLst>
              <a:gd name="adj" fmla="val 48214"/>
            </a:avLst>
          </a:prstGeom>
          <a:solidFill>
            <a:srgbClr val="DDF1E3"/>
          </a:solidFill>
          <a:ln w="9525">
            <a:solidFill>
              <a:srgbClr val="E6F4EB"/>
            </a:solidFill>
            <a:prstDash val="solid"/>
          </a:ln>
        </p:spPr>
      </p:sp>
      <p:sp>
        <p:nvSpPr>
          <p:cNvPr id="30" name="Text 18"/>
          <p:cNvSpPr/>
          <p:nvPr/>
        </p:nvSpPr>
        <p:spPr>
          <a:xfrm>
            <a:off x="11363325" y="4562475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590" dirty="0">
                <a:solidFill>
                  <a:srgbClr val="3F51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90" dirty="0"/>
          </a:p>
        </p:txBody>
      </p:sp>
      <p:sp>
        <p:nvSpPr>
          <p:cNvPr id="31" name="Text 19"/>
          <p:cNvSpPr/>
          <p:nvPr/>
        </p:nvSpPr>
        <p:spPr>
          <a:xfrm>
            <a:off x="11953875" y="4086225"/>
            <a:ext cx="29622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399" dirty="0">
                <a:solidFill>
                  <a:srgbClr val="707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Evidenced pain points &amp; root causes</a:t>
            </a:r>
            <a:endParaRPr lang="en-US" sz="1399" dirty="0"/>
          </a:p>
        </p:txBody>
      </p:sp>
      <p:sp>
        <p:nvSpPr>
          <p:cNvPr id="32" name="Shape 20"/>
          <p:cNvSpPr/>
          <p:nvPr/>
        </p:nvSpPr>
        <p:spPr>
          <a:xfrm>
            <a:off x="11220450" y="401002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DDF1E3"/>
          </a:solidFill>
          <a:ln w="19050">
            <a:solidFill>
              <a:srgbClr val="E9F5ED"/>
            </a:solidFill>
            <a:prstDash val="solid"/>
          </a:ln>
        </p:spPr>
      </p:sp>
      <p:sp>
        <p:nvSpPr>
          <p:cNvPr id="33" name="Text 21"/>
          <p:cNvSpPr/>
          <p:nvPr/>
        </p:nvSpPr>
        <p:spPr>
          <a:xfrm>
            <a:off x="11363325" y="4095750"/>
            <a:ext cx="1238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43"/>
              </a:lnSpc>
              <a:buNone/>
            </a:pPr>
            <a:r>
              <a:rPr lang="en-US" sz="1701" dirty="0">
                <a:solidFill>
                  <a:srgbClr val="334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1" dirty="0"/>
          </a:p>
        </p:txBody>
      </p:sp>
      <p:sp>
        <p:nvSpPr>
          <p:cNvPr id="34" name="Text 22"/>
          <p:cNvSpPr/>
          <p:nvPr/>
        </p:nvSpPr>
        <p:spPr>
          <a:xfrm>
            <a:off x="11934825" y="3619500"/>
            <a:ext cx="237172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58"/>
              </a:lnSpc>
              <a:buNone/>
            </a:pPr>
            <a:r>
              <a:rPr lang="en-US" sz="1395" dirty="0">
                <a:solidFill>
                  <a:srgbClr val="79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Agreed current-state process</a:t>
            </a:r>
            <a:endParaRPr lang="en-US" sz="1395" dirty="0"/>
          </a:p>
        </p:txBody>
      </p:sp>
      <p:sp>
        <p:nvSpPr>
          <p:cNvPr id="35" name="Shape 23"/>
          <p:cNvSpPr/>
          <p:nvPr/>
        </p:nvSpPr>
        <p:spPr>
          <a:xfrm>
            <a:off x="11220450" y="354330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9525">
            <a:solidFill>
              <a:srgbClr val="EAF6EE"/>
            </a:solidFill>
            <a:prstDash val="solid"/>
          </a:ln>
        </p:spPr>
      </p:sp>
      <p:sp>
        <p:nvSpPr>
          <p:cNvPr id="36" name="Text 24"/>
          <p:cNvSpPr/>
          <p:nvPr/>
        </p:nvSpPr>
        <p:spPr>
          <a:xfrm>
            <a:off x="11372850" y="3638550"/>
            <a:ext cx="9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65"/>
              </a:lnSpc>
              <a:buNone/>
            </a:pPr>
            <a:r>
              <a:rPr lang="en-US" sz="1309" b="1" dirty="0">
                <a:solidFill>
                  <a:srgbClr val="3C4B4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9" dirty="0"/>
          </a:p>
        </p:txBody>
      </p:sp>
      <p:sp>
        <p:nvSpPr>
          <p:cNvPr id="37" name="Text 25"/>
          <p:cNvSpPr/>
          <p:nvPr/>
        </p:nvSpPr>
        <p:spPr>
          <a:xfrm>
            <a:off x="12106275" y="2809875"/>
            <a:ext cx="121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2355" b="1" dirty="0">
                <a:solidFill>
                  <a:srgbClr val="2337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</a:t>
            </a:r>
            <a:endParaRPr lang="en-US" sz="2355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144250" y="2638425"/>
            <a:ext cx="714375" cy="704850"/>
          </a:xfrm>
          <a:prstGeom prst="rect">
            <a:avLst/>
          </a:prstGeom>
        </p:spPr>
      </p:pic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9200" y="4762500"/>
            <a:ext cx="361950" cy="276225"/>
          </a:xfrm>
          <a:prstGeom prst="rect">
            <a:avLst/>
          </a:prstGeom>
        </p:spPr>
      </p:pic>
      <p:sp>
        <p:nvSpPr>
          <p:cNvPr id="40" name="Shape 26"/>
          <p:cNvSpPr/>
          <p:nvPr/>
        </p:nvSpPr>
        <p:spPr>
          <a:xfrm>
            <a:off x="5514975" y="3390900"/>
            <a:ext cx="4838700" cy="3638550"/>
          </a:xfrm>
          <a:prstGeom prst="roundRect">
            <a:avLst>
              <a:gd name="adj" fmla="val 2356"/>
            </a:avLst>
          </a:prstGeom>
          <a:solidFill>
            <a:srgbClr val="FDFDFD"/>
          </a:solidFill>
          <a:ln w="19050">
            <a:solidFill>
              <a:srgbClr val="EAF6EE"/>
            </a:solidFill>
            <a:prstDash val="solid"/>
          </a:ln>
        </p:spPr>
      </p:sp>
      <p:sp>
        <p:nvSpPr>
          <p:cNvPr id="41" name="Text 27"/>
          <p:cNvSpPr/>
          <p:nvPr/>
        </p:nvSpPr>
        <p:spPr>
          <a:xfrm>
            <a:off x="6572250" y="6591300"/>
            <a:ext cx="30099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470" dirty="0">
                <a:solidFill>
                  <a:srgbClr val="7A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improvement opportunities</a:t>
            </a:r>
            <a:endParaRPr lang="en-US" sz="1470" dirty="0"/>
          </a:p>
        </p:txBody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29300" y="6505575"/>
            <a:ext cx="419100" cy="409575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5981700" y="6600825"/>
            <a:ext cx="1238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74"/>
              </a:lnSpc>
              <a:buNone/>
            </a:pPr>
            <a:r>
              <a:rPr lang="en-US" sz="1687" dirty="0">
                <a:solidFill>
                  <a:srgbClr val="4258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687" dirty="0"/>
          </a:p>
        </p:txBody>
      </p:sp>
      <p:sp>
        <p:nvSpPr>
          <p:cNvPr id="44" name="Shape 29"/>
          <p:cNvSpPr/>
          <p:nvPr/>
        </p:nvSpPr>
        <p:spPr>
          <a:xfrm>
            <a:off x="5838825" y="6048375"/>
            <a:ext cx="400050" cy="400050"/>
          </a:xfrm>
          <a:prstGeom prst="roundRect">
            <a:avLst>
              <a:gd name="adj" fmla="val 47024"/>
            </a:avLst>
          </a:prstGeom>
          <a:solidFill>
            <a:srgbClr val="DCF1E3"/>
          </a:solidFill>
          <a:ln w="19050">
            <a:solidFill>
              <a:srgbClr val="E9F5ED"/>
            </a:solidFill>
            <a:prstDash val="solid"/>
          </a:ln>
        </p:spPr>
      </p:sp>
      <p:sp>
        <p:nvSpPr>
          <p:cNvPr id="45" name="Text 30"/>
          <p:cNvSpPr/>
          <p:nvPr/>
        </p:nvSpPr>
        <p:spPr>
          <a:xfrm>
            <a:off x="5981700" y="6143625"/>
            <a:ext cx="1333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500" dirty="0">
                <a:solidFill>
                  <a:srgbClr val="3346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500" dirty="0"/>
          </a:p>
        </p:txBody>
      </p:sp>
      <p:sp>
        <p:nvSpPr>
          <p:cNvPr id="46" name="Shape 31"/>
          <p:cNvSpPr/>
          <p:nvPr/>
        </p:nvSpPr>
        <p:spPr>
          <a:xfrm>
            <a:off x="5838825" y="550545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19050">
            <a:solidFill>
              <a:srgbClr val="ECF7EF"/>
            </a:solidFill>
            <a:prstDash val="solid"/>
          </a:ln>
        </p:spPr>
      </p:sp>
      <p:sp>
        <p:nvSpPr>
          <p:cNvPr id="47" name="Text 32"/>
          <p:cNvSpPr/>
          <p:nvPr/>
        </p:nvSpPr>
        <p:spPr>
          <a:xfrm>
            <a:off x="5981700" y="5591175"/>
            <a:ext cx="1238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75"/>
              </a:lnSpc>
              <a:buNone/>
            </a:pPr>
            <a:r>
              <a:rPr lang="en-US" sz="1605" b="1" dirty="0">
                <a:solidFill>
                  <a:srgbClr val="3749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5" dirty="0"/>
          </a:p>
        </p:txBody>
      </p:sp>
      <p:sp>
        <p:nvSpPr>
          <p:cNvPr id="48" name="Shape 33"/>
          <p:cNvSpPr/>
          <p:nvPr/>
        </p:nvSpPr>
        <p:spPr>
          <a:xfrm>
            <a:off x="5838825" y="497205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DCF1E3"/>
          </a:solidFill>
          <a:ln w="9525">
            <a:solidFill>
              <a:srgbClr val="EAF6EE"/>
            </a:solidFill>
            <a:prstDash val="solid"/>
          </a:ln>
        </p:spPr>
      </p:sp>
      <p:sp>
        <p:nvSpPr>
          <p:cNvPr id="49" name="Text 34"/>
          <p:cNvSpPr/>
          <p:nvPr/>
        </p:nvSpPr>
        <p:spPr>
          <a:xfrm>
            <a:off x="5972175" y="5067300"/>
            <a:ext cx="1428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815" dirty="0">
                <a:solidFill>
                  <a:srgbClr val="2B3F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15" dirty="0"/>
          </a:p>
        </p:txBody>
      </p:sp>
      <p:sp>
        <p:nvSpPr>
          <p:cNvPr id="50" name="Shape 35"/>
          <p:cNvSpPr/>
          <p:nvPr/>
        </p:nvSpPr>
        <p:spPr>
          <a:xfrm>
            <a:off x="5838825" y="4419600"/>
            <a:ext cx="400050" cy="409575"/>
          </a:xfrm>
          <a:prstGeom prst="roundRect">
            <a:avLst>
              <a:gd name="adj" fmla="val 50000"/>
            </a:avLst>
          </a:prstGeom>
          <a:solidFill>
            <a:srgbClr val="DEF1E4"/>
          </a:solidFill>
          <a:ln w="9525">
            <a:solidFill>
              <a:srgbClr val="EAF6EE"/>
            </a:solidFill>
            <a:prstDash val="solid"/>
          </a:ln>
        </p:spPr>
      </p:sp>
      <p:sp>
        <p:nvSpPr>
          <p:cNvPr id="51" name="Text 36"/>
          <p:cNvSpPr/>
          <p:nvPr/>
        </p:nvSpPr>
        <p:spPr>
          <a:xfrm>
            <a:off x="5981700" y="4514850"/>
            <a:ext cx="1333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62"/>
              </a:lnSpc>
              <a:buNone/>
            </a:pPr>
            <a:r>
              <a:rPr lang="en-US" sz="1831" dirty="0">
                <a:solidFill>
                  <a:srgbClr val="3B4F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31" dirty="0"/>
          </a:p>
        </p:txBody>
      </p:sp>
      <p:sp>
        <p:nvSpPr>
          <p:cNvPr id="52" name="Shape 37"/>
          <p:cNvSpPr/>
          <p:nvPr/>
        </p:nvSpPr>
        <p:spPr>
          <a:xfrm>
            <a:off x="5838825" y="393382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19050">
            <a:solidFill>
              <a:srgbClr val="EAF6EE"/>
            </a:solidFill>
            <a:prstDash val="solid"/>
          </a:ln>
        </p:spPr>
      </p:sp>
      <p:sp>
        <p:nvSpPr>
          <p:cNvPr id="53" name="Text 38"/>
          <p:cNvSpPr/>
          <p:nvPr/>
        </p:nvSpPr>
        <p:spPr>
          <a:xfrm>
            <a:off x="5981700" y="4019550"/>
            <a:ext cx="12382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627" dirty="0">
                <a:solidFill>
                  <a:srgbClr val="33453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27" dirty="0"/>
          </a:p>
        </p:txBody>
      </p:sp>
      <p:sp>
        <p:nvSpPr>
          <p:cNvPr id="54" name="Text 39"/>
          <p:cNvSpPr/>
          <p:nvPr/>
        </p:nvSpPr>
        <p:spPr>
          <a:xfrm>
            <a:off x="6543675" y="3552825"/>
            <a:ext cx="32670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64"/>
              </a:lnSpc>
              <a:buNone/>
            </a:pPr>
            <a:r>
              <a:rPr lang="en-US" sz="1436" dirty="0">
                <a:solidFill>
                  <a:srgbClr val="656C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Walk through representative real cases</a:t>
            </a:r>
            <a:endParaRPr lang="en-US" sz="1436" dirty="0"/>
          </a:p>
        </p:txBody>
      </p:sp>
      <p:sp>
        <p:nvSpPr>
          <p:cNvPr id="55" name="Shape 40"/>
          <p:cNvSpPr/>
          <p:nvPr/>
        </p:nvSpPr>
        <p:spPr>
          <a:xfrm>
            <a:off x="5838825" y="3476625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DCF1E3"/>
          </a:solidFill>
          <a:ln w="19050">
            <a:solidFill>
              <a:srgbClr val="E8F5EC"/>
            </a:solidFill>
            <a:prstDash val="solid"/>
          </a:ln>
        </p:spPr>
      </p:sp>
      <p:sp>
        <p:nvSpPr>
          <p:cNvPr id="56" name="Text 41"/>
          <p:cNvSpPr/>
          <p:nvPr/>
        </p:nvSpPr>
        <p:spPr>
          <a:xfrm>
            <a:off x="5991225" y="3571875"/>
            <a:ext cx="9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65"/>
              </a:lnSpc>
              <a:buNone/>
            </a:pPr>
            <a:r>
              <a:rPr lang="en-US" sz="1309" dirty="0">
                <a:solidFill>
                  <a:srgbClr val="3549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9" dirty="0"/>
          </a:p>
        </p:txBody>
      </p:sp>
      <p:sp>
        <p:nvSpPr>
          <p:cNvPr id="57" name="Text 42"/>
          <p:cNvSpPr/>
          <p:nvPr/>
        </p:nvSpPr>
        <p:spPr>
          <a:xfrm>
            <a:off x="6696075" y="2790825"/>
            <a:ext cx="2143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2198" b="1" dirty="0">
                <a:solidFill>
                  <a:srgbClr val="2439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FDE Does</a:t>
            </a:r>
            <a:endParaRPr lang="en-US" sz="2198" dirty="0"/>
          </a:p>
        </p:txBody>
      </p:sp>
      <p:pic>
        <p:nvPicPr>
          <p:cNvPr id="5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53100" y="2638425"/>
            <a:ext cx="704850" cy="704850"/>
          </a:xfrm>
          <a:prstGeom prst="rect">
            <a:avLst/>
          </a:prstGeom>
        </p:spPr>
      </p:pic>
      <p:sp>
        <p:nvSpPr>
          <p:cNvPr id="59" name="Text 43"/>
          <p:cNvSpPr/>
          <p:nvPr/>
        </p:nvSpPr>
        <p:spPr>
          <a:xfrm>
            <a:off x="6562725" y="6134100"/>
            <a:ext cx="282892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63"/>
              </a:lnSpc>
              <a:buNone/>
            </a:pPr>
            <a:r>
              <a:rPr lang="en-US" sz="1443" dirty="0">
                <a:solidFill>
                  <a:srgbClr val="767B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 common vs variant needs</a:t>
            </a:r>
            <a:endParaRPr lang="en-US" sz="1443" dirty="0"/>
          </a:p>
        </p:txBody>
      </p:sp>
      <p:sp>
        <p:nvSpPr>
          <p:cNvPr id="60" name="Text 44"/>
          <p:cNvSpPr/>
          <p:nvPr/>
        </p:nvSpPr>
        <p:spPr>
          <a:xfrm>
            <a:off x="6572250" y="5448300"/>
            <a:ext cx="28194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52"/>
              </a:lnSpc>
              <a:buNone/>
            </a:pPr>
            <a:r>
              <a:rPr lang="en-US" sz="1446" dirty="0">
                <a:solidFill>
                  <a:srgbClr val="78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systems, data, evidence and</a:t>
            </a:r>
            <a:endParaRPr lang="en-US" sz="1446" dirty="0"/>
          </a:p>
          <a:p>
            <a:pPr algn="l" indent="0" marL="0">
              <a:lnSpc>
                <a:spcPts val="1752"/>
              </a:lnSpc>
              <a:buNone/>
            </a:pPr>
            <a:r>
              <a:rPr lang="en-US" sz="1446" dirty="0">
                <a:solidFill>
                  <a:srgbClr val="787D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initiatives</a:t>
            </a:r>
            <a:endParaRPr lang="en-US" sz="1446" dirty="0"/>
          </a:p>
        </p:txBody>
      </p:sp>
      <p:sp>
        <p:nvSpPr>
          <p:cNvPr id="61" name="Text 45"/>
          <p:cNvSpPr/>
          <p:nvPr/>
        </p:nvSpPr>
        <p:spPr>
          <a:xfrm>
            <a:off x="6572250" y="5048250"/>
            <a:ext cx="30194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39"/>
              </a:lnSpc>
              <a:buNone/>
            </a:pPr>
            <a:r>
              <a:rPr lang="en-US" sz="1467" dirty="0">
                <a:solidFill>
                  <a:srgbClr val="666C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pain points and root causes</a:t>
            </a:r>
            <a:endParaRPr lang="en-US" sz="1467" dirty="0"/>
          </a:p>
        </p:txBody>
      </p:sp>
      <p:sp>
        <p:nvSpPr>
          <p:cNvPr id="62" name="Text 46"/>
          <p:cNvSpPr/>
          <p:nvPr/>
        </p:nvSpPr>
        <p:spPr>
          <a:xfrm>
            <a:off x="6562725" y="4352925"/>
            <a:ext cx="307657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9"/>
              </a:lnSpc>
              <a:buNone/>
            </a:pPr>
            <a:r>
              <a:rPr lang="en-US" sz="1464" dirty="0">
                <a:solidFill>
                  <a:srgbClr val="7A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roles, handoffs, controls</a:t>
            </a:r>
            <a:endParaRPr lang="en-US" sz="1464" dirty="0"/>
          </a:p>
          <a:p>
            <a:pPr algn="l" indent="0" marL="0">
              <a:lnSpc>
                <a:spcPts val="1709"/>
              </a:lnSpc>
              <a:buNone/>
            </a:pPr>
            <a:r>
              <a:rPr lang="en-US" sz="1464" dirty="0">
                <a:solidFill>
                  <a:srgbClr val="7A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judgement</a:t>
            </a:r>
            <a:endParaRPr lang="en-US" sz="1464" dirty="0"/>
          </a:p>
        </p:txBody>
      </p:sp>
      <p:sp>
        <p:nvSpPr>
          <p:cNvPr id="63" name="Text 47"/>
          <p:cNvSpPr/>
          <p:nvPr/>
        </p:nvSpPr>
        <p:spPr>
          <a:xfrm>
            <a:off x="6572250" y="3990975"/>
            <a:ext cx="30289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456" dirty="0">
                <a:solidFill>
                  <a:srgbClr val="61677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the current end-to-end process</a:t>
            </a:r>
            <a:endParaRPr lang="en-US" sz="1456" dirty="0"/>
          </a:p>
        </p:txBody>
      </p:sp>
      <p:sp>
        <p:nvSpPr>
          <p:cNvPr id="64" name="Shape 48"/>
          <p:cNvSpPr/>
          <p:nvPr/>
        </p:nvSpPr>
        <p:spPr>
          <a:xfrm>
            <a:off x="333375" y="3400425"/>
            <a:ext cx="4562475" cy="3619500"/>
          </a:xfrm>
          <a:prstGeom prst="roundRect">
            <a:avLst>
              <a:gd name="adj" fmla="val 4934"/>
            </a:avLst>
          </a:prstGeom>
          <a:solidFill>
            <a:srgbClr val="FDFDFD"/>
          </a:solidFill>
          <a:ln w="28575">
            <a:solidFill>
              <a:srgbClr val="EBF6EF"/>
            </a:solidFill>
            <a:prstDash val="solid"/>
          </a:ln>
        </p:spPr>
      </p:sp>
      <p:sp>
        <p:nvSpPr>
          <p:cNvPr id="65" name="Text 49"/>
          <p:cNvSpPr/>
          <p:nvPr/>
        </p:nvSpPr>
        <p:spPr>
          <a:xfrm>
            <a:off x="1485900" y="6391275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87"/>
              </a:lnSpc>
              <a:buNone/>
            </a:pPr>
            <a:r>
              <a:rPr lang="en-US" sz="1395" dirty="0">
                <a:solidFill>
                  <a:srgbClr val="757B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users / SMEs</a:t>
            </a:r>
            <a:endParaRPr lang="en-US" sz="1395" dirty="0"/>
          </a:p>
        </p:txBody>
      </p:sp>
      <p:sp>
        <p:nvSpPr>
          <p:cNvPr id="66" name="Shape 50"/>
          <p:cNvSpPr/>
          <p:nvPr/>
        </p:nvSpPr>
        <p:spPr>
          <a:xfrm>
            <a:off x="733425" y="6305550"/>
            <a:ext cx="428625" cy="419100"/>
          </a:xfrm>
          <a:prstGeom prst="roundRect">
            <a:avLst>
              <a:gd name="adj" fmla="val 50568"/>
            </a:avLst>
          </a:prstGeom>
          <a:solidFill>
            <a:srgbClr val="DDF1E4"/>
          </a:solidFill>
          <a:ln w="9525">
            <a:solidFill>
              <a:srgbClr val="EEF8F2"/>
            </a:solidFill>
            <a:prstDash val="solid"/>
          </a:ln>
        </p:spPr>
      </p:sp>
      <p:sp>
        <p:nvSpPr>
          <p:cNvPr id="67" name="Text 51"/>
          <p:cNvSpPr/>
          <p:nvPr/>
        </p:nvSpPr>
        <p:spPr>
          <a:xfrm>
            <a:off x="895350" y="6400800"/>
            <a:ext cx="1238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75"/>
              </a:lnSpc>
              <a:buNone/>
            </a:pPr>
            <a:r>
              <a:rPr lang="en-US" sz="1575" dirty="0">
                <a:solidFill>
                  <a:srgbClr val="404F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575" dirty="0"/>
          </a:p>
        </p:txBody>
      </p:sp>
      <p:sp>
        <p:nvSpPr>
          <p:cNvPr id="68" name="Text 52"/>
          <p:cNvSpPr/>
          <p:nvPr/>
        </p:nvSpPr>
        <p:spPr>
          <a:xfrm>
            <a:off x="1485900" y="5734050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71"/>
              </a:lnSpc>
              <a:buNone/>
            </a:pPr>
            <a:r>
              <a:rPr lang="en-US" sz="1429" dirty="0">
                <a:solidFill>
                  <a:srgbClr val="7379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question</a:t>
            </a:r>
            <a:endParaRPr lang="en-US" sz="1429" dirty="0"/>
          </a:p>
        </p:txBody>
      </p:sp>
      <p:sp>
        <p:nvSpPr>
          <p:cNvPr id="69" name="Shape 53"/>
          <p:cNvSpPr/>
          <p:nvPr/>
        </p:nvSpPr>
        <p:spPr>
          <a:xfrm>
            <a:off x="733425" y="5638800"/>
            <a:ext cx="428625" cy="428625"/>
          </a:xfrm>
          <a:prstGeom prst="roundRect">
            <a:avLst>
              <a:gd name="adj" fmla="val 50000"/>
            </a:avLst>
          </a:prstGeom>
          <a:solidFill>
            <a:srgbClr val="DDF1E4"/>
          </a:solidFill>
          <a:ln w="28575">
            <a:solidFill>
              <a:srgbClr val="E3F3E9"/>
            </a:solidFill>
            <a:prstDash val="solid"/>
          </a:ln>
        </p:spPr>
      </p:sp>
      <p:sp>
        <p:nvSpPr>
          <p:cNvPr id="70" name="Text 54"/>
          <p:cNvSpPr/>
          <p:nvPr/>
        </p:nvSpPr>
        <p:spPr>
          <a:xfrm>
            <a:off x="876300" y="5734050"/>
            <a:ext cx="152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815" dirty="0">
                <a:solidFill>
                  <a:srgbClr val="364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815" dirty="0"/>
          </a:p>
        </p:txBody>
      </p:sp>
      <p:sp>
        <p:nvSpPr>
          <p:cNvPr id="71" name="Text 55"/>
          <p:cNvSpPr/>
          <p:nvPr/>
        </p:nvSpPr>
        <p:spPr>
          <a:xfrm>
            <a:off x="1485900" y="5057775"/>
            <a:ext cx="1838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395" dirty="0">
                <a:solidFill>
                  <a:srgbClr val="65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Initial Discovery Wave</a:t>
            </a:r>
            <a:endParaRPr lang="en-US" sz="1395" dirty="0"/>
          </a:p>
        </p:txBody>
      </p:sp>
      <p:sp>
        <p:nvSpPr>
          <p:cNvPr id="72" name="Shape 56"/>
          <p:cNvSpPr/>
          <p:nvPr/>
        </p:nvSpPr>
        <p:spPr>
          <a:xfrm>
            <a:off x="733425" y="4972050"/>
            <a:ext cx="428625" cy="428625"/>
          </a:xfrm>
          <a:prstGeom prst="roundRect">
            <a:avLst>
              <a:gd name="adj" fmla="val 49444"/>
            </a:avLst>
          </a:prstGeom>
          <a:solidFill>
            <a:srgbClr val="DDF1E4"/>
          </a:solidFill>
          <a:ln w="9525">
            <a:solidFill>
              <a:srgbClr val="F0F8F3"/>
            </a:solidFill>
            <a:prstDash val="solid"/>
          </a:ln>
        </p:spPr>
      </p:sp>
      <p:sp>
        <p:nvSpPr>
          <p:cNvPr id="73" name="Text 57"/>
          <p:cNvSpPr/>
          <p:nvPr/>
        </p:nvSpPr>
        <p:spPr>
          <a:xfrm>
            <a:off x="885825" y="5076825"/>
            <a:ext cx="1333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75"/>
              </a:lnSpc>
              <a:buNone/>
            </a:pPr>
            <a:r>
              <a:rPr lang="en-US" sz="1658" dirty="0">
                <a:solidFill>
                  <a:srgbClr val="3F5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58" dirty="0"/>
          </a:p>
        </p:txBody>
      </p:sp>
      <p:sp>
        <p:nvSpPr>
          <p:cNvPr id="74" name="Text 58"/>
          <p:cNvSpPr/>
          <p:nvPr/>
        </p:nvSpPr>
        <p:spPr>
          <a:xfrm>
            <a:off x="1476375" y="4429125"/>
            <a:ext cx="2200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185"/>
              </a:lnSpc>
              <a:buNone/>
            </a:pPr>
            <a:r>
              <a:rPr lang="en-US" sz="1429" dirty="0">
                <a:solidFill>
                  <a:srgbClr val="747A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Confirmed Process Owner</a:t>
            </a:r>
            <a:endParaRPr lang="en-US" sz="1429" dirty="0"/>
          </a:p>
        </p:txBody>
      </p:sp>
      <p:sp>
        <p:nvSpPr>
          <p:cNvPr id="75" name="Shape 59"/>
          <p:cNvSpPr/>
          <p:nvPr/>
        </p:nvSpPr>
        <p:spPr>
          <a:xfrm>
            <a:off x="733425" y="4343400"/>
            <a:ext cx="428625" cy="428625"/>
          </a:xfrm>
          <a:prstGeom prst="roundRect">
            <a:avLst>
              <a:gd name="adj" fmla="val 49444"/>
            </a:avLst>
          </a:prstGeom>
          <a:solidFill>
            <a:srgbClr val="DDF1E4"/>
          </a:solidFill>
          <a:ln w="9525">
            <a:solidFill>
              <a:srgbClr val="F0F8F3"/>
            </a:solidFill>
            <a:prstDash val="solid"/>
          </a:ln>
        </p:spPr>
      </p:sp>
      <p:sp>
        <p:nvSpPr>
          <p:cNvPr id="76" name="Text 60"/>
          <p:cNvSpPr/>
          <p:nvPr/>
        </p:nvSpPr>
        <p:spPr>
          <a:xfrm>
            <a:off x="885825" y="4438650"/>
            <a:ext cx="1333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62"/>
              </a:lnSpc>
              <a:buNone/>
            </a:pPr>
            <a:r>
              <a:rPr lang="en-US" sz="1737" dirty="0">
                <a:solidFill>
                  <a:srgbClr val="3F52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737" dirty="0"/>
          </a:p>
        </p:txBody>
      </p:sp>
      <p:sp>
        <p:nvSpPr>
          <p:cNvPr id="77" name="Shape 61"/>
          <p:cNvSpPr/>
          <p:nvPr/>
        </p:nvSpPr>
        <p:spPr>
          <a:xfrm>
            <a:off x="733425" y="3714750"/>
            <a:ext cx="428625" cy="428625"/>
          </a:xfrm>
          <a:prstGeom prst="roundRect">
            <a:avLst>
              <a:gd name="adj" fmla="val 49444"/>
            </a:avLst>
          </a:prstGeom>
          <a:solidFill>
            <a:srgbClr val="DDF1E4"/>
          </a:solidFill>
          <a:ln w="28575">
            <a:solidFill>
              <a:srgbClr val="E3F3E8"/>
            </a:solidFill>
            <a:prstDash val="solid"/>
          </a:ln>
        </p:spPr>
      </p:sp>
      <p:sp>
        <p:nvSpPr>
          <p:cNvPr id="78" name="Text 62"/>
          <p:cNvSpPr/>
          <p:nvPr/>
        </p:nvSpPr>
        <p:spPr>
          <a:xfrm>
            <a:off x="895350" y="3810000"/>
            <a:ext cx="1047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127"/>
              </a:lnSpc>
              <a:buNone/>
            </a:pPr>
            <a:r>
              <a:rPr lang="en-US" sz="1439" b="1" dirty="0">
                <a:solidFill>
                  <a:srgbClr val="4757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39" dirty="0"/>
          </a:p>
        </p:txBody>
      </p:sp>
      <p:sp>
        <p:nvSpPr>
          <p:cNvPr id="79" name="Text 63"/>
          <p:cNvSpPr/>
          <p:nvPr/>
        </p:nvSpPr>
        <p:spPr>
          <a:xfrm>
            <a:off x="1590675" y="2809875"/>
            <a:ext cx="914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28" b="1" dirty="0">
                <a:solidFill>
                  <a:srgbClr val="1E33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</a:t>
            </a:r>
            <a:endParaRPr lang="en-US" sz="2228" dirty="0"/>
          </a:p>
        </p:txBody>
      </p:sp>
      <p:pic>
        <p:nvPicPr>
          <p:cNvPr id="8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2638425"/>
            <a:ext cx="742950" cy="714375"/>
          </a:xfrm>
          <a:prstGeom prst="rect">
            <a:avLst/>
          </a:prstGeom>
        </p:spPr>
      </p:pic>
      <p:sp>
        <p:nvSpPr>
          <p:cNvPr id="81" name="Text 64"/>
          <p:cNvSpPr/>
          <p:nvPr/>
        </p:nvSpPr>
        <p:spPr>
          <a:xfrm>
            <a:off x="1466850" y="3800475"/>
            <a:ext cx="2533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78"/>
              </a:lnSpc>
              <a:buNone/>
            </a:pPr>
            <a:r>
              <a:rPr lang="en-US" sz="1450" dirty="0">
                <a:solidFill>
                  <a:srgbClr val="6168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leadership outcome</a:t>
            </a:r>
            <a:endParaRPr lang="en-US" sz="1450" dirty="0"/>
          </a:p>
        </p:txBody>
      </p:sp>
      <p:sp>
        <p:nvSpPr>
          <p:cNvPr id="82" name="Shape 65"/>
          <p:cNvSpPr/>
          <p:nvPr/>
        </p:nvSpPr>
        <p:spPr>
          <a:xfrm>
            <a:off x="314325" y="1466850"/>
            <a:ext cx="15297150" cy="933450"/>
          </a:xfrm>
          <a:prstGeom prst="roundRect">
            <a:avLst>
              <a:gd name="adj" fmla="val 10204"/>
            </a:avLst>
          </a:prstGeom>
          <a:solidFill>
            <a:srgbClr val="EAF7EF"/>
          </a:solidFill>
          <a:ln w="47625">
            <a:solidFill>
              <a:srgbClr val="E2EFE7"/>
            </a:solidFill>
            <a:prstDash val="solid"/>
          </a:ln>
        </p:spPr>
      </p:sp>
      <p:pic>
        <p:nvPicPr>
          <p:cNvPr id="8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85900" y="1685925"/>
            <a:ext cx="19050" cy="504825"/>
          </a:xfrm>
          <a:prstGeom prst="rect">
            <a:avLst/>
          </a:prstGeom>
        </p:spPr>
      </p:pic>
      <p:pic>
        <p:nvPicPr>
          <p:cNvPr id="8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0075" y="1628775"/>
            <a:ext cx="600075" cy="609600"/>
          </a:xfrm>
          <a:prstGeom prst="rect">
            <a:avLst/>
          </a:prstGeom>
        </p:spPr>
      </p:pic>
      <p:sp>
        <p:nvSpPr>
          <p:cNvPr id="85" name="Text 66"/>
          <p:cNvSpPr/>
          <p:nvPr/>
        </p:nvSpPr>
        <p:spPr>
          <a:xfrm>
            <a:off x="1781175" y="1781175"/>
            <a:ext cx="1360170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80" b="1" dirty="0">
                <a:solidFill>
                  <a:srgbClr val="425B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FDE turns the approved priority and initial wave into an evidenced understanding of the real process and actionable improvement opportunities.</a:t>
            </a:r>
            <a:endParaRPr lang="en-US" sz="1380" dirty="0"/>
          </a:p>
        </p:txBody>
      </p:sp>
      <p:sp>
        <p:nvSpPr>
          <p:cNvPr id="86" name="Shape 67"/>
          <p:cNvSpPr/>
          <p:nvPr/>
        </p:nvSpPr>
        <p:spPr>
          <a:xfrm>
            <a:off x="11972925" y="552450"/>
            <a:ext cx="3648075" cy="561975"/>
          </a:xfrm>
          <a:prstGeom prst="roundRect">
            <a:avLst>
              <a:gd name="adj" fmla="val 37288"/>
            </a:avLst>
          </a:prstGeom>
          <a:solidFill>
            <a:srgbClr val="DBF1E3"/>
          </a:solidFill>
          <a:ln/>
        </p:spPr>
      </p:sp>
      <p:pic>
        <p:nvPicPr>
          <p:cNvPr id="8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3039725" y="714375"/>
            <a:ext cx="19050" cy="247650"/>
          </a:xfrm>
          <a:prstGeom prst="rect">
            <a:avLst/>
          </a:prstGeom>
        </p:spPr>
      </p:pic>
      <p:sp>
        <p:nvSpPr>
          <p:cNvPr id="88" name="Text 68"/>
          <p:cNvSpPr/>
          <p:nvPr/>
        </p:nvSpPr>
        <p:spPr>
          <a:xfrm>
            <a:off x="13230225" y="685800"/>
            <a:ext cx="218122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02"/>
              </a:lnSpc>
              <a:buNone/>
            </a:pPr>
            <a:r>
              <a:rPr lang="en-US" sz="1794" dirty="0">
                <a:solidFill>
                  <a:srgbClr val="4556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Explaining the Model</a:t>
            </a:r>
            <a:endParaRPr lang="en-US" sz="1794" dirty="0"/>
          </a:p>
        </p:txBody>
      </p:sp>
      <p:sp>
        <p:nvSpPr>
          <p:cNvPr id="89" name="Text 69"/>
          <p:cNvSpPr/>
          <p:nvPr/>
        </p:nvSpPr>
        <p:spPr>
          <a:xfrm>
            <a:off x="12220575" y="695325"/>
            <a:ext cx="6762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858" b="1" dirty="0">
                <a:solidFill>
                  <a:srgbClr val="2D5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1</a:t>
            </a:r>
            <a:endParaRPr lang="en-US" sz="1858" dirty="0"/>
          </a:p>
        </p:txBody>
      </p:sp>
      <p:pic>
        <p:nvPicPr>
          <p:cNvPr id="9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161925"/>
            <a:ext cx="742950" cy="1133475"/>
          </a:xfrm>
          <a:prstGeom prst="rect">
            <a:avLst/>
          </a:prstGeom>
        </p:spPr>
      </p:pic>
      <p:sp>
        <p:nvSpPr>
          <p:cNvPr id="91" name="Text 70"/>
          <p:cNvSpPr/>
          <p:nvPr/>
        </p:nvSpPr>
        <p:spPr>
          <a:xfrm>
            <a:off x="15478125" y="8667750"/>
            <a:ext cx="10477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1230" dirty="0">
                <a:solidFill>
                  <a:srgbClr val="6870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30" dirty="0"/>
          </a:p>
        </p:txBody>
      </p:sp>
      <p:sp>
        <p:nvSpPr>
          <p:cNvPr id="92" name="Text 71"/>
          <p:cNvSpPr/>
          <p:nvPr/>
        </p:nvSpPr>
        <p:spPr>
          <a:xfrm>
            <a:off x="390525" y="8658225"/>
            <a:ext cx="18954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1179" dirty="0">
                <a:solidFill>
                  <a:srgbClr val="7D86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MRO FDE Operating Model</a:t>
            </a:r>
            <a:endParaRPr lang="en-US" sz="1179" dirty="0"/>
          </a:p>
        </p:txBody>
      </p:sp>
      <p:sp>
        <p:nvSpPr>
          <p:cNvPr id="93" name="Text 72"/>
          <p:cNvSpPr/>
          <p:nvPr/>
        </p:nvSpPr>
        <p:spPr>
          <a:xfrm>
            <a:off x="895350" y="495300"/>
            <a:ext cx="10334625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5178"/>
              </a:lnSpc>
              <a:buNone/>
            </a:pPr>
            <a:r>
              <a:rPr lang="en-US" sz="4830" b="1" dirty="0">
                <a:solidFill>
                  <a:srgbClr val="1435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3 — FDE Process Discovery</a:t>
            </a:r>
            <a:endParaRPr lang="en-US" sz="48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925800" cy="8963025"/>
          </a:xfrm>
          <a:prstGeom prst="rect">
            <a:avLst/>
          </a:prstGeom>
          <a:solidFill>
            <a:srgbClr val="F0FCF5"/>
          </a:solidFill>
          <a:ln/>
        </p:spPr>
      </p:sp>
      <p:sp>
        <p:nvSpPr>
          <p:cNvPr id="3" name="Text 1"/>
          <p:cNvSpPr/>
          <p:nvPr/>
        </p:nvSpPr>
        <p:spPr>
          <a:xfrm>
            <a:off x="15440025" y="8591550"/>
            <a:ext cx="1047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1245" dirty="0">
                <a:solidFill>
                  <a:srgbClr val="828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245" dirty="0"/>
          </a:p>
        </p:txBody>
      </p:sp>
      <p:sp>
        <p:nvSpPr>
          <p:cNvPr id="4" name="Shape 2"/>
          <p:cNvSpPr/>
          <p:nvPr/>
        </p:nvSpPr>
        <p:spPr>
          <a:xfrm>
            <a:off x="2495550" y="8696325"/>
            <a:ext cx="12668250" cy="9525"/>
          </a:xfrm>
          <a:prstGeom prst="rect">
            <a:avLst/>
          </a:prstGeom>
          <a:solidFill>
            <a:srgbClr val="788B94"/>
          </a:solidFill>
          <a:ln/>
        </p:spPr>
      </p:sp>
      <p:sp>
        <p:nvSpPr>
          <p:cNvPr id="5" name="Text 3"/>
          <p:cNvSpPr/>
          <p:nvPr/>
        </p:nvSpPr>
        <p:spPr>
          <a:xfrm>
            <a:off x="390525" y="8591550"/>
            <a:ext cx="18669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5"/>
              </a:lnSpc>
              <a:buNone/>
            </a:pPr>
            <a:r>
              <a:rPr lang="en-US" sz="1161" dirty="0">
                <a:solidFill>
                  <a:srgbClr val="808A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MRO FDE Operating Model</a:t>
            </a:r>
            <a:endParaRPr lang="en-US" sz="1161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075" y="7734300"/>
            <a:ext cx="15478125" cy="7905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4600" y="7743825"/>
            <a:ext cx="1647825" cy="752475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475" y="7934325"/>
            <a:ext cx="28575" cy="43815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7867650"/>
            <a:ext cx="542925" cy="5524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2447925" y="7991475"/>
            <a:ext cx="10106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43"/>
              </a:lnSpc>
              <a:buNone/>
            </a:pPr>
            <a:r>
              <a:rPr lang="en-US" sz="1943" b="1" dirty="0">
                <a:solidFill>
                  <a:srgbClr val="C7D3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Stages 4–8 strengthen and standardise the current lifecycle rather than replacing it.</a:t>
            </a:r>
            <a:endParaRPr lang="en-US" sz="1943" dirty="0"/>
          </a:p>
        </p:txBody>
      </p:sp>
      <p:sp>
        <p:nvSpPr>
          <p:cNvPr id="11" name="Shape 5"/>
          <p:cNvSpPr/>
          <p:nvPr/>
        </p:nvSpPr>
        <p:spPr>
          <a:xfrm>
            <a:off x="361950" y="7096125"/>
            <a:ext cx="15201900" cy="571500"/>
          </a:xfrm>
          <a:prstGeom prst="roundRect">
            <a:avLst>
              <a:gd name="adj" fmla="val 15000"/>
            </a:avLst>
          </a:prstGeom>
          <a:solidFill>
            <a:srgbClr val="E0F4E8"/>
          </a:solidFill>
          <a:ln w="9525">
            <a:solidFill>
              <a:srgbClr val="E5F5EC"/>
            </a:solidFill>
            <a:prstDash val="solid"/>
          </a:ln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075" y="7210425"/>
            <a:ext cx="19050" cy="342900"/>
          </a:xfrm>
          <a:prstGeom prst="rect">
            <a:avLst/>
          </a:prstGeom>
        </p:spPr>
      </p:pic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7200900"/>
            <a:ext cx="400050" cy="40005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657350" y="7239000"/>
            <a:ext cx="101822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590" dirty="0">
                <a:solidFill>
                  <a:srgbClr val="526F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initiatives enter at the stage they are genuinely in; completed research, PoCs and testing are reused.</a:t>
            </a:r>
            <a:endParaRPr lang="en-US" sz="1590" dirty="0"/>
          </a:p>
        </p:txBody>
      </p:sp>
      <p:sp>
        <p:nvSpPr>
          <p:cNvPr id="15" name="Text 7"/>
          <p:cNvSpPr/>
          <p:nvPr/>
        </p:nvSpPr>
        <p:spPr>
          <a:xfrm>
            <a:off x="2628900" y="6705600"/>
            <a:ext cx="107537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24"/>
              </a:lnSpc>
              <a:buNone/>
            </a:pPr>
            <a:r>
              <a:rPr lang="en-US" sz="1662" b="1" dirty="0">
                <a:solidFill>
                  <a:srgbClr val="3146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familiar Tech &amp; Tooling work — now with clearer gates, evidence traceability and benefits review.</a:t>
            </a:r>
            <a:endParaRPr lang="en-US" sz="1662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39650" y="4210050"/>
            <a:ext cx="238125" cy="266700"/>
          </a:xfrm>
          <a:prstGeom prst="rect">
            <a:avLst/>
          </a:prstGeom>
        </p:spPr>
      </p:pic>
      <p:sp>
        <p:nvSpPr>
          <p:cNvPr id="17" name="Shape 8"/>
          <p:cNvSpPr/>
          <p:nvPr/>
        </p:nvSpPr>
        <p:spPr>
          <a:xfrm>
            <a:off x="12706350" y="3048000"/>
            <a:ext cx="2895600" cy="3448050"/>
          </a:xfrm>
          <a:prstGeom prst="roundRect">
            <a:avLst>
              <a:gd name="adj" fmla="val 5263"/>
            </a:avLst>
          </a:prstGeom>
          <a:solidFill>
            <a:srgbClr val="FCFDFC"/>
          </a:solidFill>
          <a:ln w="19050">
            <a:solidFill>
              <a:srgbClr val="EDF8F1"/>
            </a:solidFill>
            <a:prstDash val="solid"/>
          </a:ln>
        </p:spPr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63525" y="5257800"/>
            <a:ext cx="152400" cy="142875"/>
          </a:xfrm>
          <a:prstGeom prst="rect">
            <a:avLst/>
          </a:prstGeom>
        </p:spPr>
      </p:pic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34950" y="4991100"/>
            <a:ext cx="2466975" cy="76200"/>
          </a:xfrm>
          <a:prstGeom prst="rect">
            <a:avLst/>
          </a:prstGeom>
        </p:spPr>
      </p:pic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716000" y="3400425"/>
            <a:ext cx="771525" cy="952500"/>
          </a:xfrm>
          <a:prstGeom prst="rect">
            <a:avLst/>
          </a:prstGeom>
        </p:spPr>
      </p:pic>
      <p:sp>
        <p:nvSpPr>
          <p:cNvPr id="21" name="Shape 9"/>
          <p:cNvSpPr/>
          <p:nvPr/>
        </p:nvSpPr>
        <p:spPr>
          <a:xfrm>
            <a:off x="13839825" y="2590800"/>
            <a:ext cx="628650" cy="619125"/>
          </a:xfrm>
          <a:prstGeom prst="roundRect">
            <a:avLst>
              <a:gd name="adj" fmla="val 50385"/>
            </a:avLst>
          </a:prstGeom>
          <a:solidFill>
            <a:srgbClr val="CCE9D7"/>
          </a:solidFill>
          <a:ln w="28575">
            <a:solidFill>
              <a:srgbClr val="E1F2E7"/>
            </a:solidFill>
            <a:prstDash val="solid"/>
          </a:ln>
        </p:spPr>
      </p:sp>
      <p:sp>
        <p:nvSpPr>
          <p:cNvPr id="22" name="Text 10"/>
          <p:cNvSpPr/>
          <p:nvPr/>
        </p:nvSpPr>
        <p:spPr>
          <a:xfrm>
            <a:off x="14039850" y="2724150"/>
            <a:ext cx="2381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2685" dirty="0">
                <a:solidFill>
                  <a:srgbClr val="1B2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2685" dirty="0"/>
          </a:p>
        </p:txBody>
      </p:sp>
      <p:sp>
        <p:nvSpPr>
          <p:cNvPr id="23" name="Text 11"/>
          <p:cNvSpPr/>
          <p:nvPr/>
        </p:nvSpPr>
        <p:spPr>
          <a:xfrm>
            <a:off x="13335000" y="5153025"/>
            <a:ext cx="1733550" cy="895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31"/>
              </a:lnSpc>
              <a:buNone/>
            </a:pPr>
            <a:r>
              <a:rPr lang="en-US" sz="1725" dirty="0">
                <a:solidFill>
                  <a:srgbClr val="4D5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adoption,</a:t>
            </a:r>
            <a:endParaRPr lang="en-US" sz="1725" dirty="0"/>
          </a:p>
          <a:p>
            <a:pPr algn="l" indent="0" marL="0">
              <a:lnSpc>
                <a:spcPts val="2231"/>
              </a:lnSpc>
              <a:buNone/>
            </a:pPr>
            <a:r>
              <a:rPr lang="en-US" sz="1725" dirty="0">
                <a:solidFill>
                  <a:srgbClr val="4D5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benefits, learning</a:t>
            </a:r>
            <a:endParaRPr lang="en-US" sz="1725" dirty="0"/>
          </a:p>
          <a:p>
            <a:pPr algn="l" indent="0" marL="0">
              <a:lnSpc>
                <a:spcPts val="2231"/>
              </a:lnSpc>
              <a:buNone/>
            </a:pPr>
            <a:r>
              <a:rPr lang="en-US" sz="1725" dirty="0">
                <a:solidFill>
                  <a:srgbClr val="4D51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reuse</a:t>
            </a:r>
            <a:endParaRPr lang="en-US" sz="1725" dirty="0"/>
          </a:p>
        </p:txBody>
      </p:sp>
      <p:sp>
        <p:nvSpPr>
          <p:cNvPr id="24" name="Text 12"/>
          <p:cNvSpPr/>
          <p:nvPr/>
        </p:nvSpPr>
        <p:spPr>
          <a:xfrm>
            <a:off x="13239750" y="4552950"/>
            <a:ext cx="19716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14"/>
              </a:lnSpc>
              <a:buNone/>
            </a:pPr>
            <a:r>
              <a:rPr lang="en-US" sz="1831" b="1" dirty="0">
                <a:solidFill>
                  <a:srgbClr val="2E38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Benefits &amp; Reuse</a:t>
            </a:r>
            <a:endParaRPr lang="en-US" sz="1831" dirty="0"/>
          </a:p>
        </p:txBody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86875" y="4210050"/>
            <a:ext cx="238125" cy="266700"/>
          </a:xfrm>
          <a:prstGeom prst="rect">
            <a:avLst/>
          </a:prstGeom>
        </p:spPr>
      </p:pic>
      <p:sp>
        <p:nvSpPr>
          <p:cNvPr id="26" name="Shape 13"/>
          <p:cNvSpPr/>
          <p:nvPr/>
        </p:nvSpPr>
        <p:spPr>
          <a:xfrm>
            <a:off x="9572625" y="3067050"/>
            <a:ext cx="2838450" cy="3429000"/>
          </a:xfrm>
          <a:prstGeom prst="roundRect">
            <a:avLst>
              <a:gd name="adj" fmla="val 3020"/>
            </a:avLst>
          </a:prstGeom>
          <a:solidFill>
            <a:srgbClr val="FCFDFC"/>
          </a:solidFill>
          <a:ln/>
        </p:spPr>
      </p:sp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20275" y="5581650"/>
            <a:ext cx="142875" cy="142875"/>
          </a:xfrm>
          <a:prstGeom prst="rect">
            <a:avLst/>
          </a:prstGeom>
        </p:spPr>
      </p:pic>
      <p:pic>
        <p:nvPicPr>
          <p:cNvPr id="2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10750" y="5219700"/>
            <a:ext cx="152400" cy="142875"/>
          </a:xfrm>
          <a:prstGeom prst="rect">
            <a:avLst/>
          </a:prstGeom>
        </p:spPr>
      </p:pic>
      <p:pic>
        <p:nvPicPr>
          <p:cNvPr id="2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72650" y="4991100"/>
            <a:ext cx="2457450" cy="76200"/>
          </a:xfrm>
          <a:prstGeom prst="rect">
            <a:avLst/>
          </a:prstGeom>
        </p:spPr>
      </p:pic>
      <p:pic>
        <p:nvPicPr>
          <p:cNvPr id="3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25125" y="3429000"/>
            <a:ext cx="904875" cy="923925"/>
          </a:xfrm>
          <a:prstGeom prst="rect">
            <a:avLst/>
          </a:prstGeom>
        </p:spPr>
      </p:pic>
      <p:pic>
        <p:nvPicPr>
          <p:cNvPr id="3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58475" y="2581275"/>
            <a:ext cx="638175" cy="628650"/>
          </a:xfrm>
          <a:prstGeom prst="rect">
            <a:avLst/>
          </a:prstGeom>
        </p:spPr>
      </p:pic>
      <p:sp>
        <p:nvSpPr>
          <p:cNvPr id="32" name="Text 14"/>
          <p:cNvSpPr/>
          <p:nvPr/>
        </p:nvSpPr>
        <p:spPr>
          <a:xfrm>
            <a:off x="10868025" y="2714625"/>
            <a:ext cx="2286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2760" dirty="0">
                <a:solidFill>
                  <a:srgbClr val="2538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2760" dirty="0"/>
          </a:p>
        </p:txBody>
      </p:sp>
      <p:sp>
        <p:nvSpPr>
          <p:cNvPr id="33" name="Text 15"/>
          <p:cNvSpPr/>
          <p:nvPr/>
        </p:nvSpPr>
        <p:spPr>
          <a:xfrm>
            <a:off x="10134600" y="5486400"/>
            <a:ext cx="164782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98"/>
              </a:lnSpc>
              <a:buNone/>
            </a:pPr>
            <a:r>
              <a:rPr lang="en-US" sz="1783" dirty="0">
                <a:solidFill>
                  <a:srgbClr val="5156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Test, rollout and</a:t>
            </a:r>
            <a:endParaRPr lang="en-US" sz="1783" dirty="0"/>
          </a:p>
          <a:p>
            <a:pPr algn="l" indent="0" marL="0">
              <a:lnSpc>
                <a:spcPts val="2098"/>
              </a:lnSpc>
              <a:buNone/>
            </a:pPr>
            <a:r>
              <a:rPr lang="en-US" sz="1783" dirty="0">
                <a:solidFill>
                  <a:srgbClr val="5156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 over</a:t>
            </a:r>
            <a:endParaRPr lang="en-US" sz="1783" dirty="0"/>
          </a:p>
        </p:txBody>
      </p:sp>
      <p:sp>
        <p:nvSpPr>
          <p:cNvPr id="34" name="Text 16"/>
          <p:cNvSpPr/>
          <p:nvPr/>
        </p:nvSpPr>
        <p:spPr>
          <a:xfrm>
            <a:off x="10153650" y="5133975"/>
            <a:ext cx="1362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1717" dirty="0">
                <a:solidFill>
                  <a:srgbClr val="4B506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Productionise</a:t>
            </a:r>
            <a:endParaRPr lang="en-US" sz="1717" dirty="0"/>
          </a:p>
        </p:txBody>
      </p:sp>
      <p:sp>
        <p:nvSpPr>
          <p:cNvPr id="35" name="Text 17"/>
          <p:cNvSpPr/>
          <p:nvPr/>
        </p:nvSpPr>
        <p:spPr>
          <a:xfrm>
            <a:off x="9886950" y="4514850"/>
            <a:ext cx="23241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8"/>
              </a:lnSpc>
              <a:buNone/>
            </a:pPr>
            <a:r>
              <a:rPr lang="en-US" sz="1815" b="1" dirty="0">
                <a:solidFill>
                  <a:srgbClr val="2D38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&amp; Handover</a:t>
            </a:r>
            <a:endParaRPr lang="en-US" sz="1815" dirty="0"/>
          </a:p>
        </p:txBody>
      </p:sp>
      <p:pic>
        <p:nvPicPr>
          <p:cNvPr id="3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62700" y="4210050"/>
            <a:ext cx="238125" cy="266700"/>
          </a:xfrm>
          <a:prstGeom prst="rect">
            <a:avLst/>
          </a:prstGeom>
        </p:spPr>
      </p:pic>
      <p:sp>
        <p:nvSpPr>
          <p:cNvPr id="37" name="Shape 18"/>
          <p:cNvSpPr/>
          <p:nvPr/>
        </p:nvSpPr>
        <p:spPr>
          <a:xfrm>
            <a:off x="6638925" y="3057525"/>
            <a:ext cx="2638425" cy="3438525"/>
          </a:xfrm>
          <a:prstGeom prst="roundRect">
            <a:avLst>
              <a:gd name="adj" fmla="val 4332"/>
            </a:avLst>
          </a:prstGeom>
          <a:solidFill>
            <a:srgbClr val="FCFDFC"/>
          </a:solidFill>
          <a:ln w="9525">
            <a:solidFill>
              <a:srgbClr val="F9FDFA"/>
            </a:solidFill>
            <a:prstDash val="solid"/>
          </a:ln>
        </p:spPr>
      </p:sp>
      <p:pic>
        <p:nvPicPr>
          <p:cNvPr id="3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67525" y="5553075"/>
            <a:ext cx="142875" cy="142875"/>
          </a:xfrm>
          <a:prstGeom prst="rect">
            <a:avLst/>
          </a:prstGeom>
        </p:spPr>
      </p:pic>
      <p:pic>
        <p:nvPicPr>
          <p:cNvPr id="39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67525" y="5219700"/>
            <a:ext cx="152400" cy="142875"/>
          </a:xfrm>
          <a:prstGeom prst="rect">
            <a:avLst/>
          </a:prstGeom>
        </p:spPr>
      </p:pic>
      <p:pic>
        <p:nvPicPr>
          <p:cNvPr id="4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838950" y="4991100"/>
            <a:ext cx="2247900" cy="76200"/>
          </a:xfrm>
          <a:prstGeom prst="rect">
            <a:avLst/>
          </a:prstGeom>
        </p:spPr>
      </p:pic>
      <p:pic>
        <p:nvPicPr>
          <p:cNvPr id="4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10475" y="3419475"/>
            <a:ext cx="714375" cy="857250"/>
          </a:xfrm>
          <a:prstGeom prst="rect">
            <a:avLst/>
          </a:prstGeom>
        </p:spPr>
      </p:pic>
      <p:sp>
        <p:nvSpPr>
          <p:cNvPr id="42" name="Shape 19"/>
          <p:cNvSpPr/>
          <p:nvPr/>
        </p:nvSpPr>
        <p:spPr>
          <a:xfrm>
            <a:off x="7658100" y="2581275"/>
            <a:ext cx="609600" cy="619125"/>
          </a:xfrm>
          <a:prstGeom prst="roundRect">
            <a:avLst>
              <a:gd name="adj" fmla="val 46094"/>
            </a:avLst>
          </a:prstGeom>
          <a:solidFill>
            <a:srgbClr val="CDE7D5"/>
          </a:solidFill>
          <a:ln w="9525">
            <a:solidFill>
              <a:srgbClr val="ECF7EE"/>
            </a:solidFill>
            <a:prstDash val="solid"/>
          </a:ln>
        </p:spPr>
      </p:sp>
      <p:sp>
        <p:nvSpPr>
          <p:cNvPr id="43" name="Text 20"/>
          <p:cNvSpPr/>
          <p:nvPr/>
        </p:nvSpPr>
        <p:spPr>
          <a:xfrm>
            <a:off x="7848600" y="2733675"/>
            <a:ext cx="228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2760" dirty="0">
                <a:solidFill>
                  <a:srgbClr val="1C2E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2760" dirty="0"/>
          </a:p>
        </p:txBody>
      </p:sp>
      <p:sp>
        <p:nvSpPr>
          <p:cNvPr id="44" name="Text 21"/>
          <p:cNvSpPr/>
          <p:nvPr/>
        </p:nvSpPr>
        <p:spPr>
          <a:xfrm>
            <a:off x="7200900" y="5457825"/>
            <a:ext cx="1809750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764" dirty="0">
                <a:solidFill>
                  <a:srgbClr val="5559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production</a:t>
            </a:r>
            <a:endParaRPr lang="en-US" sz="1764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764" dirty="0">
                <a:solidFill>
                  <a:srgbClr val="5559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and</a:t>
            </a:r>
            <a:endParaRPr lang="en-US" sz="1764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764" dirty="0">
                <a:solidFill>
                  <a:srgbClr val="5559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</a:t>
            </a:r>
            <a:endParaRPr lang="en-US" sz="1764" dirty="0"/>
          </a:p>
        </p:txBody>
      </p:sp>
      <p:sp>
        <p:nvSpPr>
          <p:cNvPr id="45" name="Text 22"/>
          <p:cNvSpPr/>
          <p:nvPr/>
        </p:nvSpPr>
        <p:spPr>
          <a:xfrm>
            <a:off x="7210425" y="5143500"/>
            <a:ext cx="176212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15"/>
              </a:lnSpc>
              <a:buNone/>
            </a:pPr>
            <a:r>
              <a:rPr lang="en-US" sz="1647" dirty="0">
                <a:solidFill>
                  <a:srgbClr val="4F54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evidence</a:t>
            </a:r>
            <a:endParaRPr lang="en-US" sz="1647" dirty="0"/>
          </a:p>
        </p:txBody>
      </p:sp>
      <p:sp>
        <p:nvSpPr>
          <p:cNvPr id="46" name="Text 23"/>
          <p:cNvSpPr/>
          <p:nvPr/>
        </p:nvSpPr>
        <p:spPr>
          <a:xfrm>
            <a:off x="7286625" y="4343400"/>
            <a:ext cx="14287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81"/>
              </a:lnSpc>
              <a:buNone/>
            </a:pPr>
            <a:r>
              <a:rPr lang="en-US" sz="1802" b="1" dirty="0">
                <a:solidFill>
                  <a:srgbClr val="2E39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&amp;</a:t>
            </a:r>
            <a:endParaRPr lang="en-US" sz="1802" dirty="0"/>
          </a:p>
          <a:p>
            <a:pPr algn="ctr" indent="0" marL="0">
              <a:lnSpc>
                <a:spcPts val="2181"/>
              </a:lnSpc>
              <a:buNone/>
            </a:pPr>
            <a:r>
              <a:rPr lang="en-US" sz="1802" b="1" dirty="0">
                <a:solidFill>
                  <a:srgbClr val="2E39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Readiness</a:t>
            </a:r>
            <a:endParaRPr lang="en-US" sz="1802" dirty="0"/>
          </a:p>
        </p:txBody>
      </p:sp>
      <p:pic>
        <p:nvPicPr>
          <p:cNvPr id="47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248025" y="4210050"/>
            <a:ext cx="257175" cy="266700"/>
          </a:xfrm>
          <a:prstGeom prst="rect">
            <a:avLst/>
          </a:prstGeom>
        </p:spPr>
      </p:pic>
      <p:sp>
        <p:nvSpPr>
          <p:cNvPr id="48" name="Shape 24"/>
          <p:cNvSpPr/>
          <p:nvPr/>
        </p:nvSpPr>
        <p:spPr>
          <a:xfrm>
            <a:off x="3562350" y="3048000"/>
            <a:ext cx="2781300" cy="3448050"/>
          </a:xfrm>
          <a:prstGeom prst="roundRect">
            <a:avLst>
              <a:gd name="adj" fmla="val 5137"/>
            </a:avLst>
          </a:prstGeom>
          <a:solidFill>
            <a:srgbClr val="FCFDFC"/>
          </a:solidFill>
          <a:ln w="9525">
            <a:solidFill>
              <a:srgbClr val="F1F9F4"/>
            </a:solidFill>
            <a:prstDash val="solid"/>
          </a:ln>
        </p:spPr>
      </p:sp>
      <p:pic>
        <p:nvPicPr>
          <p:cNvPr id="49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819525" y="5553075"/>
            <a:ext cx="142875" cy="142875"/>
          </a:xfrm>
          <a:prstGeom prst="rect">
            <a:avLst/>
          </a:prstGeom>
        </p:spPr>
      </p:pic>
      <p:pic>
        <p:nvPicPr>
          <p:cNvPr id="50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819525" y="5210175"/>
            <a:ext cx="142875" cy="152400"/>
          </a:xfrm>
          <a:prstGeom prst="rect">
            <a:avLst/>
          </a:prstGeom>
        </p:spPr>
      </p:pic>
      <p:pic>
        <p:nvPicPr>
          <p:cNvPr id="51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771900" y="4991100"/>
            <a:ext cx="2371725" cy="76200"/>
          </a:xfrm>
          <a:prstGeom prst="rect">
            <a:avLst/>
          </a:prstGeom>
        </p:spPr>
      </p:pic>
      <p:pic>
        <p:nvPicPr>
          <p:cNvPr id="52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552950" y="3419475"/>
            <a:ext cx="800100" cy="904875"/>
          </a:xfrm>
          <a:prstGeom prst="rect">
            <a:avLst/>
          </a:prstGeom>
        </p:spPr>
      </p:pic>
      <p:sp>
        <p:nvSpPr>
          <p:cNvPr id="53" name="Shape 25"/>
          <p:cNvSpPr/>
          <p:nvPr/>
        </p:nvSpPr>
        <p:spPr>
          <a:xfrm>
            <a:off x="4638675" y="2590800"/>
            <a:ext cx="628650" cy="619125"/>
          </a:xfrm>
          <a:prstGeom prst="roundRect">
            <a:avLst>
              <a:gd name="adj" fmla="val 50769"/>
            </a:avLst>
          </a:prstGeom>
          <a:solidFill>
            <a:srgbClr val="CCE9D7"/>
          </a:solidFill>
          <a:ln w="28575">
            <a:solidFill>
              <a:srgbClr val="D9EEE1"/>
            </a:solidFill>
            <a:prstDash val="solid"/>
          </a:ln>
        </p:spPr>
      </p:sp>
      <p:sp>
        <p:nvSpPr>
          <p:cNvPr id="54" name="Text 26"/>
          <p:cNvSpPr/>
          <p:nvPr/>
        </p:nvSpPr>
        <p:spPr>
          <a:xfrm>
            <a:off x="4848225" y="2724150"/>
            <a:ext cx="21907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25"/>
              </a:lnSpc>
              <a:buNone/>
            </a:pPr>
            <a:r>
              <a:rPr lang="en-US" sz="2760" dirty="0">
                <a:solidFill>
                  <a:srgbClr val="2739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760" dirty="0"/>
          </a:p>
        </p:txBody>
      </p:sp>
      <p:sp>
        <p:nvSpPr>
          <p:cNvPr id="55" name="Text 27"/>
          <p:cNvSpPr/>
          <p:nvPr/>
        </p:nvSpPr>
        <p:spPr>
          <a:xfrm>
            <a:off x="4143375" y="5457825"/>
            <a:ext cx="195262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38"/>
              </a:lnSpc>
              <a:buNone/>
            </a:pPr>
            <a:r>
              <a:rPr lang="en-US" sz="1500" dirty="0">
                <a:solidFill>
                  <a:srgbClr val="646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where needed,</a:t>
            </a:r>
            <a:endParaRPr lang="en-US" sz="1500" dirty="0"/>
          </a:p>
          <a:p>
            <a:pPr algn="l" indent="0" marL="0">
              <a:lnSpc>
                <a:spcPts val="2138"/>
              </a:lnSpc>
              <a:buNone/>
            </a:pPr>
            <a:r>
              <a:rPr lang="en-US" sz="1500" dirty="0">
                <a:solidFill>
                  <a:srgbClr val="646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end-to-end</a:t>
            </a:r>
            <a:endParaRPr lang="en-US" sz="1500" dirty="0"/>
          </a:p>
          <a:p>
            <a:pPr algn="l" indent="0" marL="0">
              <a:lnSpc>
                <a:spcPts val="2138"/>
              </a:lnSpc>
              <a:buNone/>
            </a:pPr>
            <a:r>
              <a:rPr lang="en-US" sz="1500" dirty="0">
                <a:solidFill>
                  <a:srgbClr val="6469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1500" dirty="0"/>
          </a:p>
        </p:txBody>
      </p:sp>
      <p:sp>
        <p:nvSpPr>
          <p:cNvPr id="56" name="Text 28"/>
          <p:cNvSpPr/>
          <p:nvPr/>
        </p:nvSpPr>
        <p:spPr>
          <a:xfrm>
            <a:off x="4152900" y="5133975"/>
            <a:ext cx="19240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680" dirty="0">
                <a:solidFill>
                  <a:srgbClr val="585C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 the capability</a:t>
            </a:r>
            <a:endParaRPr lang="en-US" sz="1680" dirty="0"/>
          </a:p>
        </p:txBody>
      </p:sp>
      <p:sp>
        <p:nvSpPr>
          <p:cNvPr id="57" name="Text 29"/>
          <p:cNvSpPr/>
          <p:nvPr/>
        </p:nvSpPr>
        <p:spPr>
          <a:xfrm>
            <a:off x="4295775" y="4514850"/>
            <a:ext cx="136207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910" b="1" dirty="0">
                <a:solidFill>
                  <a:srgbClr val="2C37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</a:t>
            </a:r>
            <a:endParaRPr lang="en-US" sz="1910" dirty="0"/>
          </a:p>
        </p:txBody>
      </p:sp>
      <p:sp>
        <p:nvSpPr>
          <p:cNvPr id="58" name="Shape 30"/>
          <p:cNvSpPr/>
          <p:nvPr/>
        </p:nvSpPr>
        <p:spPr>
          <a:xfrm>
            <a:off x="342900" y="3057525"/>
            <a:ext cx="2847975" cy="3448050"/>
          </a:xfrm>
          <a:prstGeom prst="roundRect">
            <a:avLst>
              <a:gd name="adj" fmla="val 3344"/>
            </a:avLst>
          </a:prstGeom>
          <a:solidFill>
            <a:srgbClr val="FCFDFC"/>
          </a:solidFill>
          <a:ln/>
        </p:spPr>
      </p:sp>
      <p:pic>
        <p:nvPicPr>
          <p:cNvPr id="59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33400" y="5257800"/>
            <a:ext cx="142875" cy="142875"/>
          </a:xfrm>
          <a:prstGeom prst="rect">
            <a:avLst/>
          </a:prstGeom>
        </p:spPr>
      </p:pic>
      <p:pic>
        <p:nvPicPr>
          <p:cNvPr id="60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04825" y="4991100"/>
            <a:ext cx="2514600" cy="76200"/>
          </a:xfrm>
          <a:prstGeom prst="rect">
            <a:avLst/>
          </a:prstGeom>
        </p:spPr>
      </p:pic>
      <p:pic>
        <p:nvPicPr>
          <p:cNvPr id="61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47775" y="3429000"/>
            <a:ext cx="1009650" cy="923925"/>
          </a:xfrm>
          <a:prstGeom prst="rect">
            <a:avLst/>
          </a:prstGeom>
        </p:spPr>
      </p:pic>
      <p:sp>
        <p:nvSpPr>
          <p:cNvPr id="62" name="Shape 31"/>
          <p:cNvSpPr/>
          <p:nvPr/>
        </p:nvSpPr>
        <p:spPr>
          <a:xfrm>
            <a:off x="1447800" y="2581275"/>
            <a:ext cx="638175" cy="619125"/>
          </a:xfrm>
          <a:prstGeom prst="roundRect">
            <a:avLst>
              <a:gd name="adj" fmla="val 45000"/>
            </a:avLst>
          </a:prstGeom>
          <a:solidFill>
            <a:srgbClr val="CCE7D5"/>
          </a:solidFill>
          <a:ln w="9525">
            <a:solidFill>
              <a:srgbClr val="EDF7EF"/>
            </a:solidFill>
            <a:prstDash val="solid"/>
          </a:ln>
        </p:spPr>
      </p:sp>
      <p:sp>
        <p:nvSpPr>
          <p:cNvPr id="63" name="Text 32"/>
          <p:cNvSpPr/>
          <p:nvPr/>
        </p:nvSpPr>
        <p:spPr>
          <a:xfrm>
            <a:off x="1638300" y="2714625"/>
            <a:ext cx="24765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2685" dirty="0">
                <a:solidFill>
                  <a:srgbClr val="192F2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685" dirty="0"/>
          </a:p>
        </p:txBody>
      </p:sp>
      <p:sp>
        <p:nvSpPr>
          <p:cNvPr id="64" name="Text 33"/>
          <p:cNvSpPr/>
          <p:nvPr/>
        </p:nvSpPr>
        <p:spPr>
          <a:xfrm>
            <a:off x="857250" y="5153025"/>
            <a:ext cx="2076450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25" dirty="0">
                <a:solidFill>
                  <a:srgbClr val="58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simplest</a:t>
            </a:r>
            <a:endParaRPr lang="en-US" sz="1425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425" dirty="0">
                <a:solidFill>
                  <a:srgbClr val="58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appropriate</a:t>
            </a:r>
            <a:endParaRPr lang="en-US" sz="1425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425" dirty="0">
                <a:solidFill>
                  <a:srgbClr val="585D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intervention</a:t>
            </a:r>
            <a:endParaRPr lang="en-US" sz="1425" dirty="0"/>
          </a:p>
        </p:txBody>
      </p:sp>
      <p:sp>
        <p:nvSpPr>
          <p:cNvPr id="65" name="Text 34"/>
          <p:cNvSpPr/>
          <p:nvPr/>
        </p:nvSpPr>
        <p:spPr>
          <a:xfrm>
            <a:off x="819150" y="4524375"/>
            <a:ext cx="1952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86"/>
              </a:lnSpc>
              <a:buNone/>
            </a:pPr>
            <a:r>
              <a:rPr lang="en-US" sz="1891" b="1" dirty="0">
                <a:solidFill>
                  <a:srgbClr val="2E393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Options &amp; Route</a:t>
            </a:r>
            <a:endParaRPr lang="en-US" sz="1891" dirty="0"/>
          </a:p>
        </p:txBody>
      </p:sp>
      <p:sp>
        <p:nvSpPr>
          <p:cNvPr id="66" name="Shape 35"/>
          <p:cNvSpPr/>
          <p:nvPr/>
        </p:nvSpPr>
        <p:spPr>
          <a:xfrm>
            <a:off x="352425" y="1285875"/>
            <a:ext cx="15249525" cy="1028700"/>
          </a:xfrm>
          <a:prstGeom prst="roundRect">
            <a:avLst>
              <a:gd name="adj" fmla="val 8333"/>
            </a:avLst>
          </a:prstGeom>
          <a:solidFill>
            <a:srgbClr val="E7F6EC"/>
          </a:solidFill>
          <a:ln w="9525">
            <a:solidFill>
              <a:srgbClr val="E9F5ED"/>
            </a:solidFill>
            <a:prstDash val="solid"/>
          </a:ln>
        </p:spPr>
      </p:sp>
      <p:pic>
        <p:nvPicPr>
          <p:cNvPr id="67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495425" y="1514475"/>
            <a:ext cx="9525" cy="581025"/>
          </a:xfrm>
          <a:prstGeom prst="rect">
            <a:avLst/>
          </a:prstGeom>
        </p:spPr>
      </p:pic>
      <p:pic>
        <p:nvPicPr>
          <p:cNvPr id="68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09600" y="1485900"/>
            <a:ext cx="581025" cy="609600"/>
          </a:xfrm>
          <a:prstGeom prst="rect">
            <a:avLst/>
          </a:prstGeom>
        </p:spPr>
      </p:pic>
      <p:sp>
        <p:nvSpPr>
          <p:cNvPr id="69" name="Text 36"/>
          <p:cNvSpPr/>
          <p:nvPr/>
        </p:nvSpPr>
        <p:spPr>
          <a:xfrm>
            <a:off x="1828800" y="1485900"/>
            <a:ext cx="13439775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373" b="1" dirty="0">
                <a:solidFill>
                  <a:srgbClr val="4059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Once Discovery identifies a sufficiently evidenced opportunity, the existing Tech &amp; Tooling lifecycle continues with clearer options, proof, controls,</a:t>
            </a:r>
            <a:endParaRPr lang="en-US" sz="1373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373" b="1" dirty="0">
                <a:solidFill>
                  <a:srgbClr val="4059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and benefits review.</a:t>
            </a:r>
            <a:endParaRPr lang="en-US" sz="1373" dirty="0"/>
          </a:p>
        </p:txBody>
      </p:sp>
      <p:sp>
        <p:nvSpPr>
          <p:cNvPr id="70" name="Shape 37"/>
          <p:cNvSpPr/>
          <p:nvPr/>
        </p:nvSpPr>
        <p:spPr>
          <a:xfrm>
            <a:off x="12277725" y="504825"/>
            <a:ext cx="3333750" cy="476250"/>
          </a:xfrm>
          <a:prstGeom prst="roundRect">
            <a:avLst>
              <a:gd name="adj" fmla="val 36000"/>
            </a:avLst>
          </a:prstGeom>
          <a:solidFill>
            <a:srgbClr val="DCF1E4"/>
          </a:solidFill>
          <a:ln/>
        </p:spPr>
      </p:sp>
      <p:pic>
        <p:nvPicPr>
          <p:cNvPr id="71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3239750" y="638175"/>
            <a:ext cx="19050" cy="228600"/>
          </a:xfrm>
          <a:prstGeom prst="rect">
            <a:avLst/>
          </a:prstGeom>
        </p:spPr>
      </p:pic>
      <p:sp>
        <p:nvSpPr>
          <p:cNvPr id="72" name="Text 38"/>
          <p:cNvSpPr/>
          <p:nvPr/>
        </p:nvSpPr>
        <p:spPr>
          <a:xfrm>
            <a:off x="13420725" y="609600"/>
            <a:ext cx="19812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81"/>
              </a:lnSpc>
              <a:buNone/>
            </a:pPr>
            <a:r>
              <a:rPr lang="en-US" sz="1630" dirty="0">
                <a:solidFill>
                  <a:srgbClr val="4251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Explaining the Model</a:t>
            </a:r>
            <a:endParaRPr lang="en-US" sz="1630" dirty="0"/>
          </a:p>
        </p:txBody>
      </p:sp>
      <p:sp>
        <p:nvSpPr>
          <p:cNvPr id="73" name="Text 39"/>
          <p:cNvSpPr/>
          <p:nvPr/>
        </p:nvSpPr>
        <p:spPr>
          <a:xfrm>
            <a:off x="12487275" y="609600"/>
            <a:ext cx="6286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263"/>
              </a:lnSpc>
              <a:buNone/>
            </a:pPr>
            <a:r>
              <a:rPr lang="en-US" sz="1728" b="1" dirty="0">
                <a:solidFill>
                  <a:srgbClr val="2E483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1</a:t>
            </a:r>
            <a:endParaRPr lang="en-US" sz="1728" dirty="0"/>
          </a:p>
        </p:txBody>
      </p:sp>
      <p:sp>
        <p:nvSpPr>
          <p:cNvPr id="74" name="Text 40"/>
          <p:cNvSpPr/>
          <p:nvPr/>
        </p:nvSpPr>
        <p:spPr>
          <a:xfrm>
            <a:off x="923925" y="466725"/>
            <a:ext cx="112585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3381"/>
              </a:lnSpc>
              <a:buNone/>
            </a:pPr>
            <a:r>
              <a:rPr lang="en-US" sz="3112" b="1" dirty="0">
                <a:solidFill>
                  <a:srgbClr val="192C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Stages 4–8 — Enhanced Tech &amp; Tooling Delivery Lifecycle</a:t>
            </a:r>
            <a:endParaRPr lang="en-US" sz="3112" dirty="0"/>
          </a:p>
        </p:txBody>
      </p:sp>
      <p:pic>
        <p:nvPicPr>
          <p:cNvPr id="75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0" y="152400"/>
            <a:ext cx="714375" cy="9810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2026-10-06T11:53:19Z</dcterms:created>
  <dcterms:modified xsi:type="dcterms:W3CDTF">2026-10-06T11:53:19Z</dcterms:modified>
</cp:coreProperties>
</file>