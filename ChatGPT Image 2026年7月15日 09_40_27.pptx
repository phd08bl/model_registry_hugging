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925800" cy="8963025"/>
  <p:notesSz cx="8963025" cy="15925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jpe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jpe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jpe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jpe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jpeg"/><Relationship Id="rId28" Type="http://schemas.openxmlformats.org/officeDocument/2006/relationships/image" Target="../media/image-1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925800" cy="8963025"/>
          </a:xfrm>
          <a:prstGeom prst="rect">
            <a:avLst/>
          </a:prstGeom>
          <a:solidFill>
            <a:srgbClr val="FEFEF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648575"/>
            <a:ext cx="15106650" cy="1000125"/>
          </a:xfrm>
          <a:prstGeom prst="roundRect">
            <a:avLst>
              <a:gd name="adj" fmla="val 8571"/>
            </a:avLst>
          </a:prstGeom>
          <a:solidFill>
            <a:srgbClr val="003116"/>
          </a:solidFill>
          <a:ln w="9525">
            <a:solidFill>
              <a:srgbClr val="3A574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7705725"/>
            <a:ext cx="933450" cy="9334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14550" y="7972425"/>
            <a:ext cx="131349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36"/>
              </a:lnSpc>
              <a:buNone/>
            </a:pPr>
            <a:r>
              <a:rPr lang="en-US" sz="1735" b="1" dirty="0">
                <a:solidFill>
                  <a:srgbClr val="C0CD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turns Al governance from relationship-based navigation into a consistent, evidence-led and risk-based workflow.</a:t>
            </a:r>
            <a:endParaRPr lang="en-US" sz="1735" dirty="0"/>
          </a:p>
        </p:txBody>
      </p:sp>
      <p:sp>
        <p:nvSpPr>
          <p:cNvPr id="6" name="Shape 3"/>
          <p:cNvSpPr/>
          <p:nvPr/>
        </p:nvSpPr>
        <p:spPr>
          <a:xfrm>
            <a:off x="12839700" y="2705100"/>
            <a:ext cx="2752725" cy="4695825"/>
          </a:xfrm>
          <a:prstGeom prst="roundRect">
            <a:avLst>
              <a:gd name="adj" fmla="val 7266"/>
            </a:avLst>
          </a:prstGeom>
          <a:solidFill>
            <a:srgbClr val="FDFDFD"/>
          </a:solidFill>
          <a:ln w="9525">
            <a:solidFill>
              <a:srgbClr val="C1D5C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2100" y="6315075"/>
            <a:ext cx="66675" cy="66675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2100" y="5467350"/>
            <a:ext cx="66675" cy="66675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0675" y="4219575"/>
            <a:ext cx="2257425" cy="9525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63600" y="2876550"/>
            <a:ext cx="1228725" cy="122872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3201650" y="6200775"/>
            <a:ext cx="20764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0"/>
              </a:lnSpc>
              <a:buNone/>
            </a:pPr>
            <a:r>
              <a:rPr lang="en-US" sz="1585" dirty="0">
                <a:solidFill>
                  <a:srgbClr val="5B5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Highlights where</a:t>
            </a:r>
            <a:endParaRPr lang="en-US" sz="1585" dirty="0"/>
          </a:p>
          <a:p>
            <a:pPr algn="l" indent="0" marL="0">
              <a:lnSpc>
                <a:spcPts val="1870"/>
              </a:lnSpc>
              <a:buNone/>
            </a:pPr>
            <a:r>
              <a:rPr lang="en-US" sz="1585" dirty="0">
                <a:solidFill>
                  <a:srgbClr val="5B5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validation</a:t>
            </a:r>
            <a:endParaRPr lang="en-US" sz="1585" dirty="0"/>
          </a:p>
          <a:p>
            <a:pPr algn="l" indent="0" marL="0">
              <a:lnSpc>
                <a:spcPts val="1870"/>
              </a:lnSpc>
              <a:buNone/>
            </a:pPr>
            <a:r>
              <a:rPr lang="en-US" sz="1585" dirty="0">
                <a:solidFill>
                  <a:srgbClr val="5B5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required.</a:t>
            </a:r>
            <a:endParaRPr lang="en-US" sz="1585" dirty="0"/>
          </a:p>
        </p:txBody>
      </p:sp>
      <p:sp>
        <p:nvSpPr>
          <p:cNvPr id="12" name="Text 5"/>
          <p:cNvSpPr/>
          <p:nvPr/>
        </p:nvSpPr>
        <p:spPr>
          <a:xfrm>
            <a:off x="13192125" y="5362575"/>
            <a:ext cx="220027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sz="1551" dirty="0">
                <a:solidFill>
                  <a:srgbClr val="434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Informs approval route,</a:t>
            </a:r>
            <a:endParaRPr lang="en-US" sz="1551" dirty="0"/>
          </a:p>
          <a:p>
            <a:pPr algn="l" indent="0" marL="0">
              <a:lnSpc>
                <a:spcPts val="1830"/>
              </a:lnSpc>
              <a:buNone/>
            </a:pPr>
            <a:r>
              <a:rPr lang="en-US" sz="1551" dirty="0">
                <a:solidFill>
                  <a:srgbClr val="434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depth and</a:t>
            </a:r>
            <a:endParaRPr lang="en-US" sz="1551" dirty="0"/>
          </a:p>
          <a:p>
            <a:pPr algn="l" indent="0" marL="0">
              <a:lnSpc>
                <a:spcPts val="1830"/>
              </a:lnSpc>
              <a:buNone/>
            </a:pPr>
            <a:r>
              <a:rPr lang="en-US" sz="1551" dirty="0">
                <a:solidFill>
                  <a:srgbClr val="434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expectations.</a:t>
            </a:r>
            <a:endParaRPr lang="en-US" sz="1551" dirty="0"/>
          </a:p>
        </p:txBody>
      </p:sp>
      <p:sp>
        <p:nvSpPr>
          <p:cNvPr id="13" name="Text 6"/>
          <p:cNvSpPr/>
          <p:nvPr/>
        </p:nvSpPr>
        <p:spPr>
          <a:xfrm>
            <a:off x="13011150" y="4362450"/>
            <a:ext cx="172402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96"/>
              </a:lnSpc>
              <a:buNone/>
            </a:pPr>
            <a:r>
              <a:rPr lang="en-US" sz="1717" b="1" dirty="0">
                <a:solidFill>
                  <a:srgbClr val="2E5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5.0utput to</a:t>
            </a:r>
            <a:endParaRPr lang="en-US" sz="1717" dirty="0"/>
          </a:p>
          <a:p>
            <a:pPr algn="l" indent="0" marL="0">
              <a:lnSpc>
                <a:spcPts val="2096"/>
              </a:lnSpc>
              <a:buNone/>
            </a:pPr>
            <a:r>
              <a:rPr lang="en-US" sz="1717" b="1" dirty="0">
                <a:solidFill>
                  <a:srgbClr val="2E5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</a:t>
            </a:r>
            <a:endParaRPr lang="en-US" sz="1717" dirty="0"/>
          </a:p>
          <a:p>
            <a:pPr algn="l" indent="0" marL="0">
              <a:lnSpc>
                <a:spcPts val="2096"/>
              </a:lnSpc>
              <a:buNone/>
            </a:pPr>
            <a:r>
              <a:rPr lang="en-US" sz="1717" b="1" dirty="0">
                <a:solidFill>
                  <a:srgbClr val="2E50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717" dirty="0"/>
          </a:p>
        </p:txBody>
      </p:sp>
      <p:sp>
        <p:nvSpPr>
          <p:cNvPr id="14" name="Shape 7"/>
          <p:cNvSpPr/>
          <p:nvPr/>
        </p:nvSpPr>
        <p:spPr>
          <a:xfrm>
            <a:off x="9744075" y="2705100"/>
            <a:ext cx="2667000" cy="4676775"/>
          </a:xfrm>
          <a:prstGeom prst="roundRect">
            <a:avLst>
              <a:gd name="adj" fmla="val 6250"/>
            </a:avLst>
          </a:prstGeom>
          <a:solidFill>
            <a:srgbClr val="FDFDFD"/>
          </a:solidFill>
          <a:ln w="9525">
            <a:solidFill>
              <a:srgbClr val="B8CEBA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5050" y="6286500"/>
            <a:ext cx="57150" cy="66675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5050" y="5191125"/>
            <a:ext cx="57150" cy="66675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4100" y="4238625"/>
            <a:ext cx="2181225" cy="9525"/>
          </a:xfrm>
          <a:prstGeom prst="rect">
            <a:avLst/>
          </a:prstGeom>
        </p:spPr>
      </p:pic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01300" y="2886075"/>
            <a:ext cx="1247775" cy="1247775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10115550" y="6172200"/>
            <a:ext cx="1943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125" dirty="0">
                <a:solidFill>
                  <a:srgbClr val="454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Reduces repeat</a:t>
            </a:r>
            <a:endParaRPr lang="en-US" sz="1125" dirty="0"/>
          </a:p>
          <a:p>
            <a:pPr algn="l" indent="0" marL="0">
              <a:lnSpc>
                <a:spcPts val="1792"/>
              </a:lnSpc>
              <a:buNone/>
            </a:pPr>
            <a:r>
              <a:rPr lang="en-US" sz="1125" dirty="0">
                <a:solidFill>
                  <a:srgbClr val="454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 across 2LoD</a:t>
            </a:r>
            <a:endParaRPr lang="en-US" sz="1125" dirty="0"/>
          </a:p>
          <a:p>
            <a:pPr algn="l" indent="0" marL="0">
              <a:lnSpc>
                <a:spcPts val="1792"/>
              </a:lnSpc>
              <a:buNone/>
            </a:pPr>
            <a:r>
              <a:rPr lang="en-US" sz="1125" dirty="0">
                <a:solidFill>
                  <a:srgbClr val="454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teams.</a:t>
            </a:r>
            <a:endParaRPr lang="en-US" sz="1125" dirty="0"/>
          </a:p>
        </p:txBody>
      </p:sp>
      <p:sp>
        <p:nvSpPr>
          <p:cNvPr id="20" name="Text 9"/>
          <p:cNvSpPr/>
          <p:nvPr/>
        </p:nvSpPr>
        <p:spPr>
          <a:xfrm>
            <a:off x="10115550" y="5076825"/>
            <a:ext cx="1933575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545" dirty="0">
                <a:solidFill>
                  <a:srgbClr val="424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Captures evidence.</a:t>
            </a:r>
            <a:endParaRPr lang="en-US" sz="1545" dirty="0"/>
          </a:p>
          <a:p>
            <a:pPr algn="l" indent="0" marL="0">
              <a:lnSpc>
                <a:spcPts val="1823"/>
              </a:lnSpc>
              <a:buNone/>
            </a:pPr>
            <a:r>
              <a:rPr lang="en-US" sz="1545" dirty="0">
                <a:solidFill>
                  <a:srgbClr val="424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 and actions</a:t>
            </a:r>
            <a:endParaRPr lang="en-US" sz="1545" dirty="0"/>
          </a:p>
          <a:p>
            <a:pPr algn="l" indent="0" marL="0">
              <a:lnSpc>
                <a:spcPts val="1823"/>
              </a:lnSpc>
              <a:buNone/>
            </a:pPr>
            <a:r>
              <a:rPr lang="en-US" sz="1545" dirty="0">
                <a:solidFill>
                  <a:srgbClr val="424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 consistent</a:t>
            </a:r>
            <a:endParaRPr lang="en-US" sz="1545" dirty="0"/>
          </a:p>
          <a:p>
            <a:pPr algn="l" indent="0" marL="0">
              <a:lnSpc>
                <a:spcPts val="1823"/>
              </a:lnSpc>
              <a:buNone/>
            </a:pPr>
            <a:r>
              <a:rPr lang="en-US" sz="1545" dirty="0">
                <a:solidFill>
                  <a:srgbClr val="424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workflow.</a:t>
            </a:r>
            <a:endParaRPr lang="en-US" sz="1545" dirty="0"/>
          </a:p>
        </p:txBody>
      </p:sp>
      <p:sp>
        <p:nvSpPr>
          <p:cNvPr id="21" name="Text 10"/>
          <p:cNvSpPr/>
          <p:nvPr/>
        </p:nvSpPr>
        <p:spPr>
          <a:xfrm>
            <a:off x="9934575" y="4362450"/>
            <a:ext cx="231457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3"/>
              </a:lnSpc>
              <a:buNone/>
            </a:pPr>
            <a:r>
              <a:rPr lang="en-US" sz="1674" b="1" dirty="0">
                <a:solidFill>
                  <a:srgbClr val="3E5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4.Evidence capture</a:t>
            </a:r>
            <a:endParaRPr lang="en-US" sz="1674" dirty="0"/>
          </a:p>
          <a:p>
            <a:pPr algn="l" indent="0" marL="0">
              <a:lnSpc>
                <a:spcPts val="2043"/>
              </a:lnSpc>
              <a:buNone/>
            </a:pPr>
            <a:r>
              <a:rPr lang="en-US" sz="1674" b="1" dirty="0">
                <a:solidFill>
                  <a:srgbClr val="3E5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workflow tracking</a:t>
            </a:r>
            <a:endParaRPr lang="en-US" sz="1674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01550" y="4200525"/>
            <a:ext cx="419100" cy="476250"/>
          </a:xfrm>
          <a:prstGeom prst="rect">
            <a:avLst/>
          </a:prstGeom>
        </p:spPr>
      </p:pic>
      <p:sp>
        <p:nvSpPr>
          <p:cNvPr id="23" name="Shape 11"/>
          <p:cNvSpPr/>
          <p:nvPr/>
        </p:nvSpPr>
        <p:spPr>
          <a:xfrm>
            <a:off x="6667500" y="2695575"/>
            <a:ext cx="2667000" cy="4676775"/>
          </a:xfrm>
          <a:prstGeom prst="roundRect">
            <a:avLst>
              <a:gd name="adj" fmla="val 6429"/>
            </a:avLst>
          </a:prstGeom>
          <a:solidFill>
            <a:srgbClr val="FDFDFD"/>
          </a:solidFill>
          <a:ln w="9525">
            <a:solidFill>
              <a:srgbClr val="BBD1BD"/>
            </a:solidFill>
            <a:prstDash val="solid"/>
          </a:ln>
        </p:spPr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48475" y="6048375"/>
            <a:ext cx="66675" cy="57150"/>
          </a:xfrm>
          <a:prstGeom prst="rect">
            <a:avLst/>
          </a:prstGeom>
        </p:spPr>
      </p:pic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48475" y="5200650"/>
            <a:ext cx="66675" cy="66675"/>
          </a:xfrm>
          <a:prstGeom prst="rect">
            <a:avLst/>
          </a:prstGeom>
        </p:spPr>
      </p:pic>
      <p:pic>
        <p:nvPicPr>
          <p:cNvPr id="2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67525" y="4238625"/>
            <a:ext cx="2181225" cy="19050"/>
          </a:xfrm>
          <a:prstGeom prst="rect">
            <a:avLst/>
          </a:prstGeom>
        </p:spPr>
      </p:pic>
      <p:pic>
        <p:nvPicPr>
          <p:cNvPr id="2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24725" y="2895600"/>
            <a:ext cx="1228725" cy="1228725"/>
          </a:xfrm>
          <a:prstGeom prst="rect">
            <a:avLst/>
          </a:prstGeom>
        </p:spPr>
      </p:pic>
      <p:sp>
        <p:nvSpPr>
          <p:cNvPr id="28" name="Text 12"/>
          <p:cNvSpPr/>
          <p:nvPr/>
        </p:nvSpPr>
        <p:spPr>
          <a:xfrm>
            <a:off x="7048500" y="5934075"/>
            <a:ext cx="172402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7"/>
              </a:lnSpc>
              <a:buNone/>
            </a:pPr>
            <a:r>
              <a:rPr lang="en-US" sz="1500" dirty="0">
                <a:solidFill>
                  <a:srgbClr val="424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Sets out required</a:t>
            </a:r>
            <a:endParaRPr lang="en-US" sz="1500" dirty="0"/>
          </a:p>
          <a:p>
            <a:pPr algn="l" indent="0" marL="0">
              <a:lnSpc>
                <a:spcPts val="1927"/>
              </a:lnSpc>
              <a:buNone/>
            </a:pPr>
            <a:r>
              <a:rPr lang="en-US" sz="1500" dirty="0">
                <a:solidFill>
                  <a:srgbClr val="424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evidence, artefacts</a:t>
            </a:r>
            <a:endParaRPr lang="en-US" sz="1500" dirty="0"/>
          </a:p>
          <a:p>
            <a:pPr algn="l" indent="0" marL="0">
              <a:lnSpc>
                <a:spcPts val="1927"/>
              </a:lnSpc>
              <a:buNone/>
            </a:pPr>
            <a:r>
              <a:rPr lang="en-US" sz="1500" dirty="0">
                <a:solidFill>
                  <a:srgbClr val="424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approvals.</a:t>
            </a:r>
            <a:endParaRPr lang="en-US" sz="1500" dirty="0"/>
          </a:p>
        </p:txBody>
      </p:sp>
      <p:sp>
        <p:nvSpPr>
          <p:cNvPr id="29" name="Text 13"/>
          <p:cNvSpPr/>
          <p:nvPr/>
        </p:nvSpPr>
        <p:spPr>
          <a:xfrm>
            <a:off x="7048500" y="5076825"/>
            <a:ext cx="19335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43"/>
              </a:lnSpc>
              <a:buNone/>
            </a:pPr>
            <a:r>
              <a:rPr lang="en-US" sz="1554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Identifies which 2LoD</a:t>
            </a:r>
            <a:endParaRPr lang="en-US" sz="1554" dirty="0"/>
          </a:p>
          <a:p>
            <a:pPr algn="l" indent="0" marL="0">
              <a:lnSpc>
                <a:spcPts val="1843"/>
              </a:lnSpc>
              <a:buNone/>
            </a:pPr>
            <a:r>
              <a:rPr lang="en-US" sz="1554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need to be</a:t>
            </a:r>
            <a:endParaRPr lang="en-US" sz="1554" dirty="0"/>
          </a:p>
          <a:p>
            <a:pPr algn="l" indent="0" marL="0">
              <a:lnSpc>
                <a:spcPts val="1843"/>
              </a:lnSpc>
              <a:buNone/>
            </a:pPr>
            <a:r>
              <a:rPr lang="en-US" sz="1554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engaged.</a:t>
            </a:r>
            <a:endParaRPr lang="en-US" sz="1554" dirty="0"/>
          </a:p>
        </p:txBody>
      </p:sp>
      <p:sp>
        <p:nvSpPr>
          <p:cNvPr id="30" name="Text 14"/>
          <p:cNvSpPr/>
          <p:nvPr/>
        </p:nvSpPr>
        <p:spPr>
          <a:xfrm>
            <a:off x="6877050" y="4362450"/>
            <a:ext cx="21050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70"/>
              </a:lnSpc>
              <a:buNone/>
            </a:pPr>
            <a:r>
              <a:rPr lang="en-US" sz="1713" b="1" dirty="0">
                <a:solidFill>
                  <a:srgbClr val="3D5C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2LoD routing and</a:t>
            </a:r>
            <a:endParaRPr lang="en-US" sz="1713" dirty="0"/>
          </a:p>
          <a:p>
            <a:pPr algn="ctr" indent="0" marL="0">
              <a:lnSpc>
                <a:spcPts val="2270"/>
              </a:lnSpc>
              <a:buNone/>
            </a:pPr>
            <a:r>
              <a:rPr lang="en-US" sz="1713" b="1" dirty="0">
                <a:solidFill>
                  <a:srgbClr val="3D5C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</a:t>
            </a:r>
            <a:endParaRPr lang="en-US" sz="1713" dirty="0"/>
          </a:p>
        </p:txBody>
      </p:sp>
      <p:pic>
        <p:nvPicPr>
          <p:cNvPr id="3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24975" y="4200525"/>
            <a:ext cx="400050" cy="485775"/>
          </a:xfrm>
          <a:prstGeom prst="rect">
            <a:avLst/>
          </a:prstGeom>
        </p:spPr>
      </p:pic>
      <p:sp>
        <p:nvSpPr>
          <p:cNvPr id="32" name="Shape 15"/>
          <p:cNvSpPr/>
          <p:nvPr/>
        </p:nvSpPr>
        <p:spPr>
          <a:xfrm>
            <a:off x="3552825" y="2695575"/>
            <a:ext cx="2676525" cy="4676775"/>
          </a:xfrm>
          <a:prstGeom prst="roundRect">
            <a:avLst>
              <a:gd name="adj" fmla="val 7473"/>
            </a:avLst>
          </a:prstGeom>
          <a:solidFill>
            <a:srgbClr val="FDFDFD"/>
          </a:solidFill>
          <a:ln w="9525">
            <a:solidFill>
              <a:srgbClr val="BED2BF"/>
            </a:solidFill>
            <a:prstDash val="solid"/>
          </a:ln>
        </p:spPr>
      </p:sp>
      <p:pic>
        <p:nvPicPr>
          <p:cNvPr id="3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24275" y="6257925"/>
            <a:ext cx="66675" cy="66675"/>
          </a:xfrm>
          <a:prstGeom prst="rect">
            <a:avLst/>
          </a:prstGeom>
        </p:spPr>
      </p:pic>
      <p:pic>
        <p:nvPicPr>
          <p:cNvPr id="3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24275" y="5181600"/>
            <a:ext cx="66675" cy="66675"/>
          </a:xfrm>
          <a:prstGeom prst="rect">
            <a:avLst/>
          </a:prstGeom>
        </p:spPr>
      </p:pic>
      <p:pic>
        <p:nvPicPr>
          <p:cNvPr id="3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62375" y="4229100"/>
            <a:ext cx="2181225" cy="9525"/>
          </a:xfrm>
          <a:prstGeom prst="rect">
            <a:avLst/>
          </a:prstGeom>
        </p:spPr>
      </p:pic>
      <p:pic>
        <p:nvPicPr>
          <p:cNvPr id="3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29100" y="2867025"/>
            <a:ext cx="1266825" cy="1266825"/>
          </a:xfrm>
          <a:prstGeom prst="rect">
            <a:avLst/>
          </a:prstGeom>
        </p:spPr>
      </p:pic>
      <p:sp>
        <p:nvSpPr>
          <p:cNvPr id="37" name="Text 16"/>
          <p:cNvSpPr/>
          <p:nvPr/>
        </p:nvSpPr>
        <p:spPr>
          <a:xfrm>
            <a:off x="3924300" y="6143625"/>
            <a:ext cx="215265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27"/>
              </a:lnSpc>
              <a:buNone/>
            </a:pPr>
            <a:r>
              <a:rPr lang="en-US" sz="1549" dirty="0">
                <a:solidFill>
                  <a:srgbClr val="424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Determines whether the</a:t>
            </a:r>
            <a:endParaRPr lang="en-US" sz="1549" dirty="0"/>
          </a:p>
          <a:p>
            <a:pPr algn="l" indent="0" marL="0">
              <a:lnSpc>
                <a:spcPts val="1827"/>
              </a:lnSpc>
              <a:buNone/>
            </a:pPr>
            <a:r>
              <a:rPr lang="en-US" sz="1549" dirty="0">
                <a:solidFill>
                  <a:srgbClr val="424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follows a light,</a:t>
            </a:r>
            <a:endParaRPr lang="en-US" sz="1549" dirty="0"/>
          </a:p>
          <a:p>
            <a:pPr algn="l" indent="0" marL="0">
              <a:lnSpc>
                <a:spcPts val="1827"/>
              </a:lnSpc>
              <a:buNone/>
            </a:pPr>
            <a:r>
              <a:rPr lang="en-US" sz="1549" dirty="0">
                <a:solidFill>
                  <a:srgbClr val="424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or enhanced</a:t>
            </a:r>
            <a:endParaRPr lang="en-US" sz="1549" dirty="0"/>
          </a:p>
          <a:p>
            <a:pPr algn="l" indent="0" marL="0">
              <a:lnSpc>
                <a:spcPts val="1827"/>
              </a:lnSpc>
              <a:buNone/>
            </a:pPr>
            <a:r>
              <a:rPr lang="en-US" sz="1549" dirty="0">
                <a:solidFill>
                  <a:srgbClr val="424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route.</a:t>
            </a:r>
            <a:endParaRPr lang="en-US" sz="1549" dirty="0"/>
          </a:p>
        </p:txBody>
      </p:sp>
      <p:sp>
        <p:nvSpPr>
          <p:cNvPr id="38" name="Text 17"/>
          <p:cNvSpPr/>
          <p:nvPr/>
        </p:nvSpPr>
        <p:spPr>
          <a:xfrm>
            <a:off x="3924300" y="5057775"/>
            <a:ext cx="21336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28"/>
              </a:lnSpc>
              <a:buNone/>
            </a:pPr>
            <a:r>
              <a:rPr lang="en-US" sz="1543" dirty="0">
                <a:solidFill>
                  <a:srgbClr val="4E4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applies agreed</a:t>
            </a:r>
            <a:endParaRPr lang="en-US" sz="1543" dirty="0"/>
          </a:p>
          <a:p>
            <a:pPr algn="l" indent="0" marL="0">
              <a:lnSpc>
                <a:spcPts val="1828"/>
              </a:lnSpc>
              <a:buNone/>
            </a:pPr>
            <a:r>
              <a:rPr lang="en-US" sz="1543" dirty="0">
                <a:solidFill>
                  <a:srgbClr val="4E4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 logic to assess</a:t>
            </a:r>
            <a:endParaRPr lang="en-US" sz="1543" dirty="0"/>
          </a:p>
          <a:p>
            <a:pPr algn="l" indent="0" marL="0">
              <a:lnSpc>
                <a:spcPts val="1828"/>
              </a:lnSpc>
              <a:buNone/>
            </a:pPr>
            <a:r>
              <a:rPr lang="en-US" sz="1543" dirty="0">
                <a:solidFill>
                  <a:srgbClr val="4E4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inherent risk, materiality</a:t>
            </a:r>
            <a:endParaRPr lang="en-US" sz="1543" dirty="0"/>
          </a:p>
          <a:p>
            <a:pPr algn="l" indent="0" marL="0">
              <a:lnSpc>
                <a:spcPts val="1828"/>
              </a:lnSpc>
              <a:buNone/>
            </a:pPr>
            <a:r>
              <a:rPr lang="en-US" sz="1543" dirty="0">
                <a:solidFill>
                  <a:srgbClr val="4E4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AI system type.</a:t>
            </a:r>
            <a:endParaRPr lang="en-US" sz="1543" dirty="0"/>
          </a:p>
        </p:txBody>
      </p:sp>
      <p:sp>
        <p:nvSpPr>
          <p:cNvPr id="39" name="Text 18"/>
          <p:cNvSpPr/>
          <p:nvPr/>
        </p:nvSpPr>
        <p:spPr>
          <a:xfrm>
            <a:off x="3743325" y="4362450"/>
            <a:ext cx="20859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19"/>
              </a:lnSpc>
              <a:buNone/>
            </a:pPr>
            <a:r>
              <a:rPr lang="en-US" sz="1737" b="1" dirty="0">
                <a:solidFill>
                  <a:srgbClr val="4763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2.Risk-based triage</a:t>
            </a:r>
            <a:endParaRPr lang="en-US" sz="1737" dirty="0"/>
          </a:p>
          <a:p>
            <a:pPr algn="l" indent="0" marL="0">
              <a:lnSpc>
                <a:spcPts val="2119"/>
              </a:lnSpc>
              <a:buNone/>
            </a:pPr>
            <a:r>
              <a:rPr lang="en-US" sz="1737" b="1" dirty="0">
                <a:solidFill>
                  <a:srgbClr val="4763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tiering</a:t>
            </a:r>
            <a:endParaRPr lang="en-US" sz="1737" dirty="0"/>
          </a:p>
        </p:txBody>
      </p:sp>
      <p:pic>
        <p:nvPicPr>
          <p:cNvPr id="4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19825" y="4191000"/>
            <a:ext cx="428625" cy="485775"/>
          </a:xfrm>
          <a:prstGeom prst="rect">
            <a:avLst/>
          </a:prstGeom>
        </p:spPr>
      </p:pic>
      <p:sp>
        <p:nvSpPr>
          <p:cNvPr id="41" name="Shape 19"/>
          <p:cNvSpPr/>
          <p:nvPr/>
        </p:nvSpPr>
        <p:spPr>
          <a:xfrm>
            <a:off x="447675" y="2686050"/>
            <a:ext cx="2705100" cy="4686300"/>
          </a:xfrm>
          <a:prstGeom prst="roundRect">
            <a:avLst>
              <a:gd name="adj" fmla="val 6690"/>
            </a:avLst>
          </a:prstGeom>
          <a:solidFill>
            <a:srgbClr val="FDFEFD"/>
          </a:solidFill>
          <a:ln w="9525">
            <a:solidFill>
              <a:srgbClr val="BACFBC"/>
            </a:solidFill>
            <a:prstDash val="solid"/>
          </a:ln>
        </p:spPr>
      </p:sp>
      <p:pic>
        <p:nvPicPr>
          <p:cNvPr id="4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" y="5781675"/>
            <a:ext cx="66675" cy="66675"/>
          </a:xfrm>
          <a:prstGeom prst="rect">
            <a:avLst/>
          </a:prstGeom>
        </p:spPr>
      </p:pic>
      <p:pic>
        <p:nvPicPr>
          <p:cNvPr id="4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600" y="4933950"/>
            <a:ext cx="66675" cy="57150"/>
          </a:xfrm>
          <a:prstGeom prst="rect">
            <a:avLst/>
          </a:prstGeom>
        </p:spPr>
      </p:pic>
      <p:pic>
        <p:nvPicPr>
          <p:cNvPr id="4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0550" y="4181475"/>
            <a:ext cx="2305050" cy="85725"/>
          </a:xfrm>
          <a:prstGeom prst="rect">
            <a:avLst/>
          </a:prstGeom>
        </p:spPr>
      </p:pic>
      <p:pic>
        <p:nvPicPr>
          <p:cNvPr id="4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76325" y="2857500"/>
            <a:ext cx="1266825" cy="1266825"/>
          </a:xfrm>
          <a:prstGeom prst="rect">
            <a:avLst/>
          </a:prstGeom>
        </p:spPr>
      </p:pic>
      <p:sp>
        <p:nvSpPr>
          <p:cNvPr id="46" name="Text 20"/>
          <p:cNvSpPr/>
          <p:nvPr/>
        </p:nvSpPr>
        <p:spPr>
          <a:xfrm>
            <a:off x="809625" y="5667375"/>
            <a:ext cx="2066925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70"/>
              </a:lnSpc>
              <a:buNone/>
            </a:pPr>
            <a:r>
              <a:rPr lang="en-US" sz="1402" dirty="0">
                <a:solidFill>
                  <a:srgbClr val="4F4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inputs include</a:t>
            </a:r>
            <a:endParaRPr lang="en-US" sz="1402" dirty="0"/>
          </a:p>
          <a:p>
            <a:pPr algn="l" indent="0" marL="0">
              <a:lnSpc>
                <a:spcPts val="1970"/>
              </a:lnSpc>
              <a:buNone/>
            </a:pPr>
            <a:r>
              <a:rPr lang="en-US" sz="1402" dirty="0">
                <a:solidFill>
                  <a:srgbClr val="4F4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purpose, AI type, users,</a:t>
            </a:r>
            <a:endParaRPr lang="en-US" sz="1402" dirty="0"/>
          </a:p>
          <a:p>
            <a:pPr algn="l" indent="0" marL="0">
              <a:lnSpc>
                <a:spcPts val="1970"/>
              </a:lnSpc>
              <a:buNone/>
            </a:pPr>
            <a:r>
              <a:rPr lang="en-US" sz="1402" dirty="0">
                <a:solidFill>
                  <a:srgbClr val="4F4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data, autonomy, third-</a:t>
            </a:r>
            <a:endParaRPr lang="en-US" sz="1402" dirty="0"/>
          </a:p>
          <a:p>
            <a:pPr algn="l" indent="0" marL="0">
              <a:lnSpc>
                <a:spcPts val="1970"/>
              </a:lnSpc>
              <a:buNone/>
            </a:pPr>
            <a:r>
              <a:rPr lang="en-US" sz="1402" dirty="0">
                <a:solidFill>
                  <a:srgbClr val="4F4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party dependency and</a:t>
            </a:r>
            <a:endParaRPr lang="en-US" sz="1402" dirty="0"/>
          </a:p>
          <a:p>
            <a:pPr algn="l" indent="0" marL="0">
              <a:lnSpc>
                <a:spcPts val="1970"/>
              </a:lnSpc>
              <a:buNone/>
            </a:pPr>
            <a:r>
              <a:rPr lang="en-US" sz="1402" dirty="0">
                <a:solidFill>
                  <a:srgbClr val="4F4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impact</a:t>
            </a:r>
            <a:endParaRPr lang="en-US" sz="1402" dirty="0"/>
          </a:p>
        </p:txBody>
      </p:sp>
      <p:sp>
        <p:nvSpPr>
          <p:cNvPr id="47" name="Text 21"/>
          <p:cNvSpPr/>
          <p:nvPr/>
        </p:nvSpPr>
        <p:spPr>
          <a:xfrm>
            <a:off x="809625" y="4800600"/>
            <a:ext cx="18192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553" dirty="0">
                <a:solidFill>
                  <a:srgbClr val="5C5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1LoD submits the Al</a:t>
            </a:r>
            <a:endParaRPr lang="en-US" sz="1553" dirty="0"/>
          </a:p>
          <a:p>
            <a:pPr algn="l" indent="0" marL="0">
              <a:lnSpc>
                <a:spcPts val="1856"/>
              </a:lnSpc>
              <a:buNone/>
            </a:pPr>
            <a:r>
              <a:rPr lang="en-US" sz="1553" dirty="0">
                <a:solidFill>
                  <a:srgbClr val="5C5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through a</a:t>
            </a:r>
            <a:endParaRPr lang="en-US" sz="1553" dirty="0"/>
          </a:p>
          <a:p>
            <a:pPr algn="l" indent="0" marL="0">
              <a:lnSpc>
                <a:spcPts val="1856"/>
              </a:lnSpc>
              <a:buNone/>
            </a:pPr>
            <a:r>
              <a:rPr lang="en-US" sz="1553" dirty="0">
                <a:solidFill>
                  <a:srgbClr val="5C5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front door.</a:t>
            </a:r>
            <a:endParaRPr lang="en-US" sz="1553" dirty="0"/>
          </a:p>
        </p:txBody>
      </p:sp>
      <p:sp>
        <p:nvSpPr>
          <p:cNvPr id="48" name="Text 22"/>
          <p:cNvSpPr/>
          <p:nvPr/>
        </p:nvSpPr>
        <p:spPr>
          <a:xfrm>
            <a:off x="628650" y="4381500"/>
            <a:ext cx="1866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792" dirty="0">
                <a:solidFill>
                  <a:srgbClr val="405E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1.Use case intake</a:t>
            </a:r>
            <a:endParaRPr lang="en-US" sz="1792" dirty="0"/>
          </a:p>
        </p:txBody>
      </p:sp>
      <p:pic>
        <p:nvPicPr>
          <p:cNvPr id="49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133725" y="4200525"/>
            <a:ext cx="409575" cy="476250"/>
          </a:xfrm>
          <a:prstGeom prst="rect">
            <a:avLst/>
          </a:prstGeom>
        </p:spPr>
      </p:pic>
      <p:sp>
        <p:nvSpPr>
          <p:cNvPr id="50" name="Text 23"/>
          <p:cNvSpPr/>
          <p:nvPr/>
        </p:nvSpPr>
        <p:spPr>
          <a:xfrm>
            <a:off x="13554075" y="600075"/>
            <a:ext cx="11525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1014" b="1" dirty="0">
                <a:solidFill>
                  <a:srgbClr val="5656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 GROUP</a:t>
            </a:r>
            <a:endParaRPr lang="en-US" sz="1014" dirty="0"/>
          </a:p>
        </p:txBody>
      </p:sp>
      <p:sp>
        <p:nvSpPr>
          <p:cNvPr id="51" name="Text 24"/>
          <p:cNvSpPr/>
          <p:nvPr/>
        </p:nvSpPr>
        <p:spPr>
          <a:xfrm>
            <a:off x="13554075" y="247650"/>
            <a:ext cx="11811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8"/>
              </a:lnSpc>
              <a:buNone/>
            </a:pPr>
            <a:r>
              <a:rPr lang="en-US" sz="2286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LLOYDS</a:t>
            </a:r>
            <a:endParaRPr lang="en-US" sz="2286" dirty="0"/>
          </a:p>
        </p:txBody>
      </p:sp>
      <p:sp>
        <p:nvSpPr>
          <p:cNvPr id="52" name="Shape 25"/>
          <p:cNvSpPr/>
          <p:nvPr/>
        </p:nvSpPr>
        <p:spPr>
          <a:xfrm>
            <a:off x="447675" y="1371600"/>
            <a:ext cx="15116175" cy="1009650"/>
          </a:xfrm>
          <a:prstGeom prst="roundRect">
            <a:avLst>
              <a:gd name="adj" fmla="val 5660"/>
            </a:avLst>
          </a:prstGeom>
          <a:solidFill>
            <a:srgbClr val="E6F0E2"/>
          </a:solidFill>
          <a:ln/>
        </p:spPr>
      </p:sp>
      <p:pic>
        <p:nvPicPr>
          <p:cNvPr id="53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7700" y="1504950"/>
            <a:ext cx="819150" cy="781050"/>
          </a:xfrm>
          <a:prstGeom prst="rect">
            <a:avLst/>
          </a:prstGeom>
        </p:spPr>
      </p:pic>
      <p:sp>
        <p:nvSpPr>
          <p:cNvPr id="54" name="Text 26"/>
          <p:cNvSpPr/>
          <p:nvPr/>
        </p:nvSpPr>
        <p:spPr>
          <a:xfrm>
            <a:off x="1752600" y="1533525"/>
            <a:ext cx="1362075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75"/>
              </a:lnSpc>
              <a:buNone/>
            </a:pPr>
            <a:r>
              <a:rPr lang="en-US" sz="1833" b="1" dirty="0">
                <a:solidFill>
                  <a:srgbClr val="395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triage workflow tool operationalises a single 2LoD front door by classifying Al use cases, identifying relevant</a:t>
            </a:r>
            <a:endParaRPr lang="en-US" sz="1833" dirty="0"/>
          </a:p>
          <a:p>
            <a:pPr algn="l" indent="0" marL="0">
              <a:lnSpc>
                <a:spcPts val="2575"/>
              </a:lnSpc>
              <a:buNone/>
            </a:pPr>
            <a:r>
              <a:rPr lang="en-US" sz="1833" b="1" dirty="0">
                <a:solidFill>
                  <a:srgbClr val="395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2LoD teams, capturing evidence requirements and routing each use case through the appropriate governance pathway.</a:t>
            </a:r>
            <a:endParaRPr lang="en-US" sz="1833" dirty="0"/>
          </a:p>
        </p:txBody>
      </p:sp>
      <p:pic>
        <p:nvPicPr>
          <p:cNvPr id="55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525500" y="990600"/>
            <a:ext cx="2085975" cy="76200"/>
          </a:xfrm>
          <a:prstGeom prst="rect">
            <a:avLst/>
          </a:prstGeom>
        </p:spPr>
      </p:pic>
      <p:sp>
        <p:nvSpPr>
          <p:cNvPr id="56" name="Text 27"/>
          <p:cNvSpPr/>
          <p:nvPr/>
        </p:nvSpPr>
        <p:spPr>
          <a:xfrm>
            <a:off x="457200" y="419100"/>
            <a:ext cx="1243012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1"/>
              </a:lnSpc>
              <a:buNone/>
            </a:pPr>
            <a:r>
              <a:rPr lang="en-US" sz="3707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PwC Triage Workflow Tool Works End-to-End</a:t>
            </a:r>
            <a:endParaRPr lang="en-US" sz="3707" dirty="0"/>
          </a:p>
        </p:txBody>
      </p:sp>
      <p:pic>
        <p:nvPicPr>
          <p:cNvPr id="57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4782800" y="161925"/>
            <a:ext cx="990600" cy="8667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2026-07-15T08:41:22Z</dcterms:created>
  <dcterms:modified xsi:type="dcterms:W3CDTF">2026-07-15T08:41:22Z</dcterms:modified>
</cp:coreProperties>
</file>