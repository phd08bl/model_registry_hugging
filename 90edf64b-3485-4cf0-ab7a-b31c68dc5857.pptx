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9753600"/>
  <p:notesSz cx="9753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jpeg"/><Relationship Id="rId14" Type="http://schemas.openxmlformats.org/officeDocument/2006/relationships/image" Target="../media/image-1-14.png"/><Relationship Id="rId15" Type="http://schemas.openxmlformats.org/officeDocument/2006/relationships/image" Target="../media/image-1-15.jpeg"/><Relationship Id="rId16" Type="http://schemas.openxmlformats.org/officeDocument/2006/relationships/image" Target="../media/image-1-16.png"/><Relationship Id="rId17" Type="http://schemas.openxmlformats.org/officeDocument/2006/relationships/image" Target="../media/image-1-17.jpeg"/><Relationship Id="rId18" Type="http://schemas.openxmlformats.org/officeDocument/2006/relationships/image" Target="../media/image-1-18.png"/><Relationship Id="rId19" Type="http://schemas.openxmlformats.org/officeDocument/2006/relationships/image" Target="../media/image-1-19.jpe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jpeg"/><Relationship Id="rId24" Type="http://schemas.openxmlformats.org/officeDocument/2006/relationships/image" Target="../media/image-1-24.jpe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jpe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slideLayout" Target="../slideLayouts/slideLayout1.xml"/><Relationship Id="rId5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9753600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3" name="Shape 1"/>
          <p:cNvSpPr/>
          <p:nvPr/>
        </p:nvSpPr>
        <p:spPr>
          <a:xfrm>
            <a:off x="2266950" y="9334500"/>
            <a:ext cx="9134475" cy="371475"/>
          </a:xfrm>
          <a:prstGeom prst="roundRect">
            <a:avLst>
              <a:gd name="adj" fmla="val 7692"/>
            </a:avLst>
          </a:prstGeom>
          <a:solidFill>
            <a:srgbClr val="F2F9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9410700"/>
            <a:ext cx="266700" cy="209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48450" y="9391650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4"/>
              </a:lnSpc>
              <a:buNone/>
            </a:pPr>
            <a:r>
              <a:rPr lang="en-US" sz="1630" b="1" dirty="0">
                <a:solidFill>
                  <a:srgbClr val="2F99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building the bank's Al Risk brain.</a:t>
            </a:r>
            <a:endParaRPr lang="en-US" sz="1630" dirty="0"/>
          </a:p>
        </p:txBody>
      </p:sp>
      <p:sp>
        <p:nvSpPr>
          <p:cNvPr id="6" name="Text 3"/>
          <p:cNvSpPr/>
          <p:nvPr/>
        </p:nvSpPr>
        <p:spPr>
          <a:xfrm>
            <a:off x="3143250" y="9391650"/>
            <a:ext cx="34004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83"/>
              </a:lnSpc>
              <a:buNone/>
            </a:pPr>
            <a:r>
              <a:rPr lang="en-US" sz="1554" b="1" dirty="0">
                <a:solidFill>
                  <a:srgbClr val="313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not just building a platform.</a:t>
            </a:r>
            <a:endParaRPr lang="en-US" sz="1554" dirty="0"/>
          </a:p>
        </p:txBody>
      </p:sp>
      <p:sp>
        <p:nvSpPr>
          <p:cNvPr id="7" name="Shape 4"/>
          <p:cNvSpPr/>
          <p:nvPr/>
        </p:nvSpPr>
        <p:spPr>
          <a:xfrm>
            <a:off x="352425" y="8172450"/>
            <a:ext cx="13839825" cy="1133475"/>
          </a:xfrm>
          <a:prstGeom prst="roundRect">
            <a:avLst>
              <a:gd name="adj" fmla="val 5882"/>
            </a:avLst>
          </a:prstGeom>
          <a:solidFill>
            <a:srgbClr val="FDFDFD"/>
          </a:solidFill>
          <a:ln w="19050">
            <a:solidFill>
              <a:srgbClr val="F2F5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906000" y="8229600"/>
            <a:ext cx="4171950" cy="1038225"/>
          </a:xfrm>
          <a:prstGeom prst="roundRect">
            <a:avLst>
              <a:gd name="adj" fmla="val 5505"/>
            </a:avLst>
          </a:prstGeom>
          <a:solidFill>
            <a:srgbClr val="013D1E"/>
          </a:solidFill>
          <a:ln w="9525">
            <a:solidFill>
              <a:srgbClr val="36614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8467725"/>
            <a:ext cx="609600" cy="523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06125" y="8582025"/>
            <a:ext cx="2571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4"/>
              </a:lnSpc>
              <a:buNone/>
            </a:pPr>
            <a:r>
              <a:rPr lang="en-US" sz="825" dirty="0">
                <a:solidFill>
                  <a:srgbClr val="99B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differentiated capability that</a:t>
            </a:r>
            <a:endParaRPr lang="en-US" sz="825" dirty="0"/>
          </a:p>
          <a:p>
            <a:pPr algn="l" indent="0" marL="0">
              <a:lnSpc>
                <a:spcPts val="1314"/>
              </a:lnSpc>
              <a:buNone/>
            </a:pPr>
            <a:r>
              <a:rPr lang="en-US" sz="825" dirty="0">
                <a:solidFill>
                  <a:srgbClr val="99B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strengthens our risk culture, earns trust,</a:t>
            </a:r>
            <a:endParaRPr lang="en-US" sz="825" dirty="0"/>
          </a:p>
          <a:p>
            <a:pPr algn="l" indent="0" marL="0">
              <a:lnSpc>
                <a:spcPts val="1314"/>
              </a:lnSpc>
              <a:buNone/>
            </a:pPr>
            <a:r>
              <a:rPr lang="en-US" sz="825" dirty="0">
                <a:solidFill>
                  <a:srgbClr val="99B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creates sustainable value for the bank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10906125" y="8343900"/>
            <a:ext cx="1438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buNone/>
            </a:pPr>
            <a:r>
              <a:rPr lang="en-US" sz="1279" b="1" dirty="0">
                <a:solidFill>
                  <a:srgbClr val="B4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Term Impact</a:t>
            </a:r>
            <a:endParaRPr lang="en-US" sz="1279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725" y="8496300"/>
            <a:ext cx="523875" cy="1619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91525" y="8886825"/>
            <a:ext cx="285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3"/>
              </a:lnSpc>
              <a:buNone/>
            </a:pPr>
            <a:r>
              <a:rPr lang="en-US" sz="982" dirty="0">
                <a:solidFill>
                  <a:srgbClr val="6565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982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5" y="8248650"/>
            <a:ext cx="590550" cy="59055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8496300"/>
            <a:ext cx="514350" cy="1619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72225" y="8867775"/>
            <a:ext cx="6191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465" dirty="0">
                <a:solidFill>
                  <a:srgbClr val="747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Intelligence</a:t>
            </a:r>
            <a:endParaRPr lang="en-US" sz="465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8248650"/>
            <a:ext cx="600075" cy="59055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7825" y="8496300"/>
            <a:ext cx="514350" cy="1619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467225" y="9048750"/>
            <a:ext cx="6381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68" dirty="0">
                <a:solidFill>
                  <a:srgbClr val="6666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968" dirty="0"/>
          </a:p>
        </p:txBody>
      </p:sp>
      <p:sp>
        <p:nvSpPr>
          <p:cNvPr id="20" name="Text 11"/>
          <p:cNvSpPr/>
          <p:nvPr/>
        </p:nvSpPr>
        <p:spPr>
          <a:xfrm>
            <a:off x="4524375" y="8886825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8"/>
              </a:lnSpc>
              <a:buNone/>
            </a:pPr>
            <a:r>
              <a:rPr lang="en-US" sz="1004" dirty="0">
                <a:solidFill>
                  <a:srgbClr val="6E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1004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6275" y="8248650"/>
            <a:ext cx="590550" cy="590550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1400" y="8496300"/>
            <a:ext cx="514350" cy="16192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2381250" y="9048750"/>
            <a:ext cx="95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963" dirty="0">
                <a:solidFill>
                  <a:srgbClr val="6868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Data</a:t>
            </a:r>
            <a:endParaRPr lang="en-US" sz="963" dirty="0"/>
          </a:p>
        </p:txBody>
      </p:sp>
      <p:sp>
        <p:nvSpPr>
          <p:cNvPr id="24" name="Text 13"/>
          <p:cNvSpPr/>
          <p:nvPr/>
        </p:nvSpPr>
        <p:spPr>
          <a:xfrm>
            <a:off x="2657475" y="8886825"/>
            <a:ext cx="409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975" dirty="0">
                <a:solidFill>
                  <a:srgbClr val="6363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</a:t>
            </a:r>
            <a:endParaRPr lang="en-US" sz="975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2225" y="8248650"/>
            <a:ext cx="590550" cy="59055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76275" y="8553450"/>
            <a:ext cx="12858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2"/>
              </a:lnSpc>
              <a:buNone/>
            </a:pPr>
            <a:r>
              <a:rPr lang="en-US" sz="1090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transactions</a:t>
            </a:r>
            <a:endParaRPr lang="en-US" sz="1090" dirty="0"/>
          </a:p>
          <a:p>
            <a:pPr algn="l" indent="0" marL="0">
              <a:lnSpc>
                <a:spcPts val="1292"/>
              </a:lnSpc>
              <a:buNone/>
            </a:pPr>
            <a:r>
              <a:rPr lang="en-US" sz="1090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intelligence</a:t>
            </a:r>
            <a:endParaRPr lang="en-US" sz="1090" dirty="0"/>
          </a:p>
          <a:p>
            <a:pPr algn="l" indent="0" marL="0">
              <a:lnSpc>
                <a:spcPts val="1292"/>
              </a:lnSpc>
              <a:buNone/>
            </a:pPr>
            <a:r>
              <a:rPr lang="en-US" sz="1090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enduring memory</a:t>
            </a:r>
            <a:endParaRPr lang="en-US" sz="1090" dirty="0"/>
          </a:p>
        </p:txBody>
      </p:sp>
      <p:sp>
        <p:nvSpPr>
          <p:cNvPr id="27" name="Text 15"/>
          <p:cNvSpPr/>
          <p:nvPr/>
        </p:nvSpPr>
        <p:spPr>
          <a:xfrm>
            <a:off x="676275" y="8315325"/>
            <a:ext cx="116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8"/>
              </a:lnSpc>
              <a:buNone/>
            </a:pPr>
            <a:r>
              <a:rPr lang="en-US" sz="1343" b="1" dirty="0">
                <a:solidFill>
                  <a:srgbClr val="4A6C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Evolution</a:t>
            </a:r>
            <a:endParaRPr lang="en-US" sz="1343" dirty="0"/>
          </a:p>
        </p:txBody>
      </p:sp>
      <p:sp>
        <p:nvSpPr>
          <p:cNvPr id="28" name="Text 16"/>
          <p:cNvSpPr/>
          <p:nvPr/>
        </p:nvSpPr>
        <p:spPr>
          <a:xfrm>
            <a:off x="7858125" y="905827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82" dirty="0">
                <a:solidFill>
                  <a:srgbClr val="676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Organisational Memory</a:t>
            </a:r>
            <a:endParaRPr lang="en-US" sz="982" dirty="0"/>
          </a:p>
        </p:txBody>
      </p:sp>
      <p:sp>
        <p:nvSpPr>
          <p:cNvPr id="29" name="Shape 17"/>
          <p:cNvSpPr/>
          <p:nvPr/>
        </p:nvSpPr>
        <p:spPr>
          <a:xfrm>
            <a:off x="6829425" y="6572250"/>
            <a:ext cx="3438525" cy="1533525"/>
          </a:xfrm>
          <a:prstGeom prst="rect">
            <a:avLst/>
          </a:prstGeom>
          <a:solidFill>
            <a:srgbClr val="F4FAF6"/>
          </a:solidFill>
          <a:ln w="57150">
            <a:solidFill>
              <a:srgbClr val="FEFDFD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1825" y="6991350"/>
            <a:ext cx="790575" cy="790575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7934325" y="7600950"/>
            <a:ext cx="2152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050" dirty="0">
                <a:solidFill>
                  <a:srgbClr val="5F6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What have we learned</a:t>
            </a:r>
            <a:endParaRPr lang="en-US" sz="1050" dirty="0"/>
          </a:p>
          <a:p>
            <a:pPr algn="l" indent="0" marL="0">
              <a:lnSpc>
                <a:spcPts val="1467"/>
              </a:lnSpc>
              <a:buNone/>
            </a:pPr>
            <a:r>
              <a:rPr lang="en-US" sz="1050" dirty="0">
                <a:solidFill>
                  <a:srgbClr val="5F6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similar systems in the past?</a:t>
            </a:r>
            <a:endParaRPr lang="en-US" sz="1050" dirty="0"/>
          </a:p>
        </p:txBody>
      </p:sp>
      <p:sp>
        <p:nvSpPr>
          <p:cNvPr id="32" name="Text 19"/>
          <p:cNvSpPr/>
          <p:nvPr/>
        </p:nvSpPr>
        <p:spPr>
          <a:xfrm>
            <a:off x="7924800" y="7077075"/>
            <a:ext cx="22002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1"/>
              </a:lnSpc>
              <a:buNone/>
            </a:pPr>
            <a:r>
              <a:rPr lang="en-US" sz="1326" b="1" dirty="0">
                <a:solidFill>
                  <a:srgbClr val="424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has our organisation</a:t>
            </a:r>
            <a:endParaRPr lang="en-US" sz="1326" dirty="0"/>
          </a:p>
          <a:p>
            <a:pPr algn="l" indent="0" marL="0">
              <a:lnSpc>
                <a:spcPts val="1651"/>
              </a:lnSpc>
              <a:buNone/>
            </a:pPr>
            <a:r>
              <a:rPr lang="en-US" sz="1326" b="1" dirty="0">
                <a:solidFill>
                  <a:srgbClr val="424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learned?</a:t>
            </a:r>
            <a:endParaRPr lang="en-US" sz="1326" dirty="0"/>
          </a:p>
        </p:txBody>
      </p:sp>
      <p:sp>
        <p:nvSpPr>
          <p:cNvPr id="33" name="Text 20"/>
          <p:cNvSpPr/>
          <p:nvPr/>
        </p:nvSpPr>
        <p:spPr>
          <a:xfrm>
            <a:off x="7934325" y="6762750"/>
            <a:ext cx="1524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8"/>
              </a:lnSpc>
              <a:buNone/>
            </a:pPr>
            <a:r>
              <a:rPr lang="en-US" sz="1084" b="1" dirty="0">
                <a:solidFill>
                  <a:srgbClr val="4DA2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084" dirty="0"/>
          </a:p>
        </p:txBody>
      </p:sp>
      <p:sp>
        <p:nvSpPr>
          <p:cNvPr id="34" name="Shape 21"/>
          <p:cNvSpPr/>
          <p:nvPr/>
        </p:nvSpPr>
        <p:spPr>
          <a:xfrm>
            <a:off x="10496550" y="1419225"/>
            <a:ext cx="3667125" cy="6724650"/>
          </a:xfrm>
          <a:prstGeom prst="roundRect">
            <a:avLst>
              <a:gd name="adj" fmla="val 3636"/>
            </a:avLst>
          </a:prstGeom>
          <a:solidFill>
            <a:srgbClr val="FDFDFD"/>
          </a:solidFill>
          <a:ln w="28575">
            <a:solidFill>
              <a:srgbClr val="F3F6F5"/>
            </a:solidFill>
            <a:prstDash val="solid"/>
          </a:ln>
        </p:spPr>
      </p:sp>
      <p:sp>
        <p:nvSpPr>
          <p:cNvPr id="35" name="Text 22"/>
          <p:cNvSpPr/>
          <p:nvPr/>
        </p:nvSpPr>
        <p:spPr>
          <a:xfrm>
            <a:off x="11525250" y="7324725"/>
            <a:ext cx="20955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125" dirty="0">
                <a:solidFill>
                  <a:srgbClr val="5E5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Continuously learns and adapts</a:t>
            </a:r>
            <a:endParaRPr lang="en-US" sz="1125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125" dirty="0">
                <a:solidFill>
                  <a:srgbClr val="5E5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Al technology, risks and</a:t>
            </a:r>
            <a:endParaRPr lang="en-US" sz="1125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125" dirty="0">
                <a:solidFill>
                  <a:srgbClr val="5E5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regulations evolve.</a:t>
            </a:r>
            <a:endParaRPr lang="en-US" sz="1125" dirty="0"/>
          </a:p>
        </p:txBody>
      </p:sp>
      <p:sp>
        <p:nvSpPr>
          <p:cNvPr id="36" name="Text 23"/>
          <p:cNvSpPr/>
          <p:nvPr/>
        </p:nvSpPr>
        <p:spPr>
          <a:xfrm>
            <a:off x="11525250" y="706755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1"/>
              </a:lnSpc>
              <a:buNone/>
            </a:pPr>
            <a:r>
              <a:rPr lang="en-US" sz="1270" b="1" dirty="0">
                <a:solidFill>
                  <a:srgbClr val="47A5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Future-Proofs Our Capability</a:t>
            </a:r>
            <a:endParaRPr lang="en-US" sz="127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39425" y="7000875"/>
            <a:ext cx="704850" cy="733425"/>
          </a:xfrm>
          <a:prstGeom prst="rect">
            <a:avLst/>
          </a:prstGeom>
        </p:spPr>
      </p:pic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10850" y="6848475"/>
            <a:ext cx="3438525" cy="5715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11525250" y="6134100"/>
            <a:ext cx="22574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050" dirty="0">
                <a:solidFill>
                  <a:srgbClr val="6464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Codify expert knowledge so every</a:t>
            </a:r>
            <a:endParaRPr lang="en-US" sz="1050" dirty="0"/>
          </a:p>
          <a:p>
            <a:pPr algn="l" indent="0" marL="0">
              <a:lnSpc>
                <a:spcPts val="1577"/>
              </a:lnSpc>
              <a:buNone/>
            </a:pPr>
            <a:r>
              <a:rPr lang="en-US" sz="1050" dirty="0">
                <a:solidFill>
                  <a:srgbClr val="6464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and business unit can</a:t>
            </a:r>
            <a:endParaRPr lang="en-US" sz="1050" dirty="0"/>
          </a:p>
          <a:p>
            <a:pPr algn="l" indent="0" marL="0">
              <a:lnSpc>
                <a:spcPts val="1577"/>
              </a:lnSpc>
              <a:buNone/>
            </a:pPr>
            <a:r>
              <a:rPr lang="en-US" sz="1050" dirty="0">
                <a:solidFill>
                  <a:srgbClr val="6464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 from collective experience.</a:t>
            </a:r>
            <a:endParaRPr lang="en-US" sz="1050" dirty="0"/>
          </a:p>
        </p:txBody>
      </p:sp>
      <p:sp>
        <p:nvSpPr>
          <p:cNvPr id="40" name="Text 25"/>
          <p:cNvSpPr/>
          <p:nvPr/>
        </p:nvSpPr>
        <p:spPr>
          <a:xfrm>
            <a:off x="11534775" y="5886450"/>
            <a:ext cx="21621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271" b="1" dirty="0">
                <a:solidFill>
                  <a:srgbClr val="4CA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Scalable Expertise</a:t>
            </a:r>
            <a:endParaRPr lang="en-US" sz="1271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39425" y="5810250"/>
            <a:ext cx="714375" cy="742950"/>
          </a:xfrm>
          <a:prstGeom prst="rect">
            <a:avLst/>
          </a:prstGeom>
        </p:spPr>
      </p:pic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10850" y="5657850"/>
            <a:ext cx="3438525" cy="5715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11525250" y="4895850"/>
            <a:ext cx="24384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50" dirty="0">
                <a:solidFill>
                  <a:srgbClr val="5C5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proven methods, tools and</a:t>
            </a:r>
            <a:endParaRPr lang="en-US" sz="1150" dirty="0"/>
          </a:p>
          <a:p>
            <a:pPr algn="l" indent="0" marL="0">
              <a:lnSpc>
                <a:spcPts val="1364"/>
              </a:lnSpc>
              <a:buNone/>
            </a:pPr>
            <a:r>
              <a:rPr lang="en-US" sz="1150" dirty="0">
                <a:solidFill>
                  <a:srgbClr val="5C5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to reduce effort and improve</a:t>
            </a:r>
            <a:endParaRPr lang="en-US" sz="1150" dirty="0"/>
          </a:p>
          <a:p>
            <a:pPr algn="l" indent="0" marL="0">
              <a:lnSpc>
                <a:spcPts val="1364"/>
              </a:lnSpc>
              <a:buNone/>
            </a:pPr>
            <a:r>
              <a:rPr lang="en-US" sz="1150" dirty="0">
                <a:solidFill>
                  <a:srgbClr val="5C5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quality.</a:t>
            </a:r>
            <a:endParaRPr lang="en-US" sz="1150" dirty="0"/>
          </a:p>
        </p:txBody>
      </p:sp>
      <p:sp>
        <p:nvSpPr>
          <p:cNvPr id="44" name="Text 27"/>
          <p:cNvSpPr/>
          <p:nvPr/>
        </p:nvSpPr>
        <p:spPr>
          <a:xfrm>
            <a:off x="11534775" y="4629150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1244" b="1" dirty="0">
                <a:solidFill>
                  <a:srgbClr val="4BA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Increases Efficiency &amp; Quality</a:t>
            </a:r>
            <a:endParaRPr lang="en-US" sz="1244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39425" y="4543425"/>
            <a:ext cx="723900" cy="762000"/>
          </a:xfrm>
          <a:prstGeom prst="rect">
            <a:avLst/>
          </a:prstGeom>
        </p:spPr>
      </p:pic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10850" y="4400550"/>
            <a:ext cx="3438525" cy="57150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11525250" y="3609975"/>
            <a:ext cx="24193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00" dirty="0">
                <a:solidFill>
                  <a:srgbClr val="6464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Data-driven insights and institutional</a:t>
            </a:r>
            <a:endParaRPr lang="en-US" sz="900" dirty="0"/>
          </a:p>
          <a:p>
            <a:pPr algn="l" indent="0" marL="0">
              <a:lnSpc>
                <a:spcPts val="1434"/>
              </a:lnSpc>
              <a:buNone/>
            </a:pPr>
            <a:r>
              <a:rPr lang="en-US" sz="900" dirty="0">
                <a:solidFill>
                  <a:srgbClr val="6464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lead to more accurate and</a:t>
            </a:r>
            <a:endParaRPr lang="en-US" sz="900" dirty="0"/>
          </a:p>
          <a:p>
            <a:pPr algn="l" indent="0" marL="0">
              <a:lnSpc>
                <a:spcPts val="1434"/>
              </a:lnSpc>
              <a:buNone/>
            </a:pPr>
            <a:r>
              <a:rPr lang="en-US" sz="900" dirty="0">
                <a:solidFill>
                  <a:srgbClr val="6464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risk decisions.</a:t>
            </a:r>
            <a:endParaRPr lang="en-US" sz="900" dirty="0"/>
          </a:p>
        </p:txBody>
      </p:sp>
      <p:sp>
        <p:nvSpPr>
          <p:cNvPr id="48" name="Text 29"/>
          <p:cNvSpPr/>
          <p:nvPr/>
        </p:nvSpPr>
        <p:spPr>
          <a:xfrm>
            <a:off x="11534775" y="3352800"/>
            <a:ext cx="1838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1251" b="1" dirty="0">
                <a:solidFill>
                  <a:srgbClr val="4FA9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 Better Decisions</a:t>
            </a:r>
            <a:endParaRPr lang="en-US" sz="1251" dirty="0"/>
          </a:p>
        </p:txBody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39425" y="3276600"/>
            <a:ext cx="733425" cy="762000"/>
          </a:xfrm>
          <a:prstGeom prst="rect">
            <a:avLst/>
          </a:prstGeom>
        </p:spPr>
      </p:pic>
      <p:pic>
        <p:nvPicPr>
          <p:cNvPr id="5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10850" y="3114675"/>
            <a:ext cx="3438525" cy="66675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11525250" y="2447925"/>
            <a:ext cx="23812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1125" dirty="0">
                <a:solidFill>
                  <a:srgbClr val="6262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accumulated knowledge and</a:t>
            </a:r>
            <a:endParaRPr lang="en-US" sz="1125" dirty="0"/>
          </a:p>
          <a:p>
            <a:pPr algn="l" indent="0" marL="0">
              <a:lnSpc>
                <a:spcPts val="1511"/>
              </a:lnSpc>
              <a:buNone/>
            </a:pPr>
            <a:r>
              <a:rPr lang="en-US" sz="1125" dirty="0">
                <a:solidFill>
                  <a:srgbClr val="6262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cannot be easily copied.</a:t>
            </a:r>
            <a:endParaRPr lang="en-US" sz="1125" dirty="0"/>
          </a:p>
        </p:txBody>
      </p:sp>
      <p:sp>
        <p:nvSpPr>
          <p:cNvPr id="52" name="Text 31"/>
          <p:cNvSpPr/>
          <p:nvPr/>
        </p:nvSpPr>
        <p:spPr>
          <a:xfrm>
            <a:off x="11534775" y="2190750"/>
            <a:ext cx="1952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4"/>
              </a:lnSpc>
              <a:buNone/>
            </a:pPr>
            <a:r>
              <a:rPr lang="en-US" sz="1258" b="1" dirty="0">
                <a:solidFill>
                  <a:srgbClr val="435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a Defensible Moat</a:t>
            </a:r>
            <a:endParaRPr lang="en-US" sz="1258" dirty="0"/>
          </a:p>
        </p:txBody>
      </p:sp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48950" y="2085975"/>
            <a:ext cx="733425" cy="771525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11020425" y="1628775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46"/>
              </a:lnSpc>
              <a:buNone/>
            </a:pPr>
            <a:r>
              <a:rPr lang="en-US" sz="1482" b="1" dirty="0">
                <a:solidFill>
                  <a:srgbClr val="2C38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a Game Changer</a:t>
            </a:r>
            <a:endParaRPr lang="en-US" sz="1482" dirty="0"/>
          </a:p>
        </p:txBody>
      </p:sp>
      <p:sp>
        <p:nvSpPr>
          <p:cNvPr id="55" name="Shape 33"/>
          <p:cNvSpPr/>
          <p:nvPr/>
        </p:nvSpPr>
        <p:spPr>
          <a:xfrm>
            <a:off x="6829425" y="4867275"/>
            <a:ext cx="3438525" cy="1666875"/>
          </a:xfrm>
          <a:prstGeom prst="rect">
            <a:avLst/>
          </a:prstGeom>
          <a:solidFill>
            <a:srgbClr val="F4FAF6"/>
          </a:solidFill>
          <a:ln w="57150">
            <a:solidFill>
              <a:srgbClr val="FEFEFE"/>
            </a:solidFill>
            <a:prstDash val="solid"/>
          </a:ln>
        </p:spPr>
      </p:sp>
      <p:pic>
        <p:nvPicPr>
          <p:cNvPr id="5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19925" y="5343525"/>
            <a:ext cx="752475" cy="809625"/>
          </a:xfrm>
          <a:prstGeom prst="rect">
            <a:avLst/>
          </a:prstGeom>
        </p:spPr>
      </p:pic>
      <p:sp>
        <p:nvSpPr>
          <p:cNvPr id="57" name="Text 34"/>
          <p:cNvSpPr/>
          <p:nvPr/>
        </p:nvSpPr>
        <p:spPr>
          <a:xfrm>
            <a:off x="7934325" y="5981700"/>
            <a:ext cx="2133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1125" dirty="0">
                <a:solidFill>
                  <a:srgbClr val="5B5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Which tests are most</a:t>
            </a:r>
            <a:endParaRPr lang="en-US" sz="1125" dirty="0"/>
          </a:p>
          <a:p>
            <a:pPr algn="l" indent="0" marL="0">
              <a:lnSpc>
                <a:spcPts val="1511"/>
              </a:lnSpc>
              <a:buNone/>
            </a:pPr>
            <a:r>
              <a:rPr lang="en-US" sz="1125" dirty="0">
                <a:solidFill>
                  <a:srgbClr val="5B5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for Agentic AI systems?</a:t>
            </a:r>
            <a:endParaRPr lang="en-US" sz="1125" dirty="0"/>
          </a:p>
        </p:txBody>
      </p:sp>
      <p:sp>
        <p:nvSpPr>
          <p:cNvPr id="58" name="Text 35"/>
          <p:cNvSpPr/>
          <p:nvPr/>
        </p:nvSpPr>
        <p:spPr>
          <a:xfrm>
            <a:off x="7924800" y="5410200"/>
            <a:ext cx="14097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399" b="1" dirty="0">
                <a:solidFill>
                  <a:srgbClr val="434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we</a:t>
            </a:r>
            <a:endParaRPr lang="en-US" sz="1399" dirty="0"/>
          </a:p>
          <a:p>
            <a:pPr algn="l" indent="0" marL="0">
              <a:lnSpc>
                <a:spcPts val="1710"/>
              </a:lnSpc>
              <a:buNone/>
            </a:pPr>
            <a:r>
              <a:rPr lang="en-US" sz="1399" b="1" dirty="0">
                <a:solidFill>
                  <a:srgbClr val="434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recommend?</a:t>
            </a:r>
            <a:endParaRPr lang="en-US" sz="1399" dirty="0"/>
          </a:p>
        </p:txBody>
      </p:sp>
      <p:sp>
        <p:nvSpPr>
          <p:cNvPr id="59" name="Text 36"/>
          <p:cNvSpPr/>
          <p:nvPr/>
        </p:nvSpPr>
        <p:spPr>
          <a:xfrm>
            <a:off x="7934325" y="5057775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084" b="1" dirty="0">
                <a:solidFill>
                  <a:srgbClr val="4FA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084" dirty="0"/>
          </a:p>
        </p:txBody>
      </p:sp>
      <p:sp>
        <p:nvSpPr>
          <p:cNvPr id="60" name="Text 37"/>
          <p:cNvSpPr/>
          <p:nvPr/>
        </p:nvSpPr>
        <p:spPr>
          <a:xfrm>
            <a:off x="4133850" y="7800975"/>
            <a:ext cx="2381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1121" dirty="0">
                <a:solidFill>
                  <a:srgbClr val="5D5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memory across domains</a:t>
            </a:r>
            <a:endParaRPr lang="en-US" sz="1121" dirty="0"/>
          </a:p>
        </p:txBody>
      </p:sp>
      <p:pic>
        <p:nvPicPr>
          <p:cNvPr id="6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43350" y="7877175"/>
            <a:ext cx="38100" cy="38100"/>
          </a:xfrm>
          <a:prstGeom prst="rect">
            <a:avLst/>
          </a:prstGeom>
        </p:spPr>
      </p:pic>
      <p:sp>
        <p:nvSpPr>
          <p:cNvPr id="62" name="Text 38"/>
          <p:cNvSpPr/>
          <p:nvPr/>
        </p:nvSpPr>
        <p:spPr>
          <a:xfrm>
            <a:off x="4133850" y="7591425"/>
            <a:ext cx="2000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5" b="1" dirty="0">
                <a:solidFill>
                  <a:srgbClr val="606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Evolution of risks &amp; mitigations</a:t>
            </a:r>
            <a:endParaRPr lang="en-US" sz="945" dirty="0"/>
          </a:p>
        </p:txBody>
      </p:sp>
      <p:pic>
        <p:nvPicPr>
          <p:cNvPr id="6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52875" y="7667625"/>
            <a:ext cx="28575" cy="38100"/>
          </a:xfrm>
          <a:prstGeom prst="rect">
            <a:avLst/>
          </a:prstGeom>
        </p:spPr>
      </p:pic>
      <p:sp>
        <p:nvSpPr>
          <p:cNvPr id="64" name="Text 39"/>
          <p:cNvSpPr/>
          <p:nvPr/>
        </p:nvSpPr>
        <p:spPr>
          <a:xfrm>
            <a:off x="4124325" y="7381875"/>
            <a:ext cx="1981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132" dirty="0">
                <a:solidFill>
                  <a:srgbClr val="5A5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wisdom &amp; playbooks</a:t>
            </a:r>
            <a:endParaRPr lang="en-US" sz="1132" dirty="0"/>
          </a:p>
        </p:txBody>
      </p:sp>
      <p:pic>
        <p:nvPicPr>
          <p:cNvPr id="6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52875" y="7458075"/>
            <a:ext cx="28575" cy="38100"/>
          </a:xfrm>
          <a:prstGeom prst="rect">
            <a:avLst/>
          </a:prstGeom>
        </p:spPr>
      </p:pic>
      <p:sp>
        <p:nvSpPr>
          <p:cNvPr id="66" name="Text 40"/>
          <p:cNvSpPr/>
          <p:nvPr/>
        </p:nvSpPr>
        <p:spPr>
          <a:xfrm>
            <a:off x="4133850" y="7172325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9"/>
              </a:lnSpc>
              <a:buNone/>
            </a:pPr>
            <a:r>
              <a:rPr lang="en-US" sz="1108" dirty="0">
                <a:solidFill>
                  <a:srgbClr val="5E5E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Findings, overrides &amp; lessons learned</a:t>
            </a:r>
            <a:endParaRPr lang="en-US" sz="1108" dirty="0"/>
          </a:p>
        </p:txBody>
      </p:sp>
      <p:pic>
        <p:nvPicPr>
          <p:cNvPr id="6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43350" y="7248525"/>
            <a:ext cx="38100" cy="38100"/>
          </a:xfrm>
          <a:prstGeom prst="rect">
            <a:avLst/>
          </a:prstGeom>
        </p:spPr>
      </p:pic>
      <p:sp>
        <p:nvSpPr>
          <p:cNvPr id="68" name="Text 41"/>
          <p:cNvSpPr/>
          <p:nvPr/>
        </p:nvSpPr>
        <p:spPr>
          <a:xfrm>
            <a:off x="4133850" y="6962775"/>
            <a:ext cx="206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1043" dirty="0">
                <a:solidFill>
                  <a:srgbClr val="666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decisions &amp; rationales</a:t>
            </a:r>
            <a:endParaRPr lang="en-US" sz="1043" dirty="0"/>
          </a:p>
        </p:txBody>
      </p:sp>
      <p:pic>
        <p:nvPicPr>
          <p:cNvPr id="6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52875" y="7038975"/>
            <a:ext cx="28575" cy="47625"/>
          </a:xfrm>
          <a:prstGeom prst="rect">
            <a:avLst/>
          </a:prstGeom>
        </p:spPr>
      </p:pic>
      <p:sp>
        <p:nvSpPr>
          <p:cNvPr id="70" name="Text 42"/>
          <p:cNvSpPr/>
          <p:nvPr/>
        </p:nvSpPr>
        <p:spPr>
          <a:xfrm>
            <a:off x="3971925" y="6705600"/>
            <a:ext cx="1152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5" b="1" dirty="0">
                <a:solidFill>
                  <a:srgbClr val="4CA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25" dirty="0"/>
          </a:p>
        </p:txBody>
      </p:sp>
      <p:sp>
        <p:nvSpPr>
          <p:cNvPr id="71" name="Text 43"/>
          <p:cNvSpPr/>
          <p:nvPr/>
        </p:nvSpPr>
        <p:spPr>
          <a:xfrm>
            <a:off x="4124325" y="6315075"/>
            <a:ext cx="2019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02" dirty="0">
                <a:solidFill>
                  <a:srgbClr val="5E5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 loop</a:t>
            </a:r>
            <a:endParaRPr lang="en-US" sz="1102" dirty="0"/>
          </a:p>
        </p:txBody>
      </p:sp>
      <p:pic>
        <p:nvPicPr>
          <p:cNvPr id="7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43350" y="6391275"/>
            <a:ext cx="38100" cy="38100"/>
          </a:xfrm>
          <a:prstGeom prst="rect">
            <a:avLst/>
          </a:prstGeom>
        </p:spPr>
      </p:pic>
      <p:sp>
        <p:nvSpPr>
          <p:cNvPr id="73" name="Text 44"/>
          <p:cNvSpPr/>
          <p:nvPr/>
        </p:nvSpPr>
        <p:spPr>
          <a:xfrm>
            <a:off x="4124325" y="6105525"/>
            <a:ext cx="2019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1134" dirty="0">
                <a:solidFill>
                  <a:srgbClr val="5C5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Auto-suggested test strategies</a:t>
            </a:r>
            <a:endParaRPr lang="en-US" sz="1134" dirty="0"/>
          </a:p>
        </p:txBody>
      </p:sp>
      <p:pic>
        <p:nvPicPr>
          <p:cNvPr id="7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952875" y="6181725"/>
            <a:ext cx="28575" cy="38100"/>
          </a:xfrm>
          <a:prstGeom prst="rect">
            <a:avLst/>
          </a:prstGeom>
        </p:spPr>
      </p:pic>
      <p:sp>
        <p:nvSpPr>
          <p:cNvPr id="75" name="Text 45"/>
          <p:cNvSpPr/>
          <p:nvPr/>
        </p:nvSpPr>
        <p:spPr>
          <a:xfrm>
            <a:off x="4133850" y="5895975"/>
            <a:ext cx="1638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2"/>
              </a:lnSpc>
              <a:buNone/>
            </a:pPr>
            <a:r>
              <a:rPr lang="en-US" sz="1115" dirty="0">
                <a:solidFill>
                  <a:srgbClr val="6060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Recommertntttion engine</a:t>
            </a:r>
            <a:endParaRPr lang="en-US" sz="1115" dirty="0"/>
          </a:p>
        </p:txBody>
      </p:sp>
      <p:pic>
        <p:nvPicPr>
          <p:cNvPr id="7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52875" y="5972175"/>
            <a:ext cx="28575" cy="38100"/>
          </a:xfrm>
          <a:prstGeom prst="rect">
            <a:avLst/>
          </a:prstGeom>
        </p:spPr>
      </p:pic>
      <p:sp>
        <p:nvSpPr>
          <p:cNvPr id="77" name="Text 46"/>
          <p:cNvSpPr/>
          <p:nvPr/>
        </p:nvSpPr>
        <p:spPr>
          <a:xfrm>
            <a:off x="4133850" y="5676900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9"/>
              </a:lnSpc>
              <a:buNone/>
            </a:pPr>
            <a:r>
              <a:rPr lang="en-US" sz="1120" dirty="0">
                <a:solidFill>
                  <a:srgbClr val="5C5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prevalence &amp; trend analytics</a:t>
            </a:r>
            <a:endParaRPr lang="en-US" sz="1120" dirty="0"/>
          </a:p>
        </p:txBody>
      </p:sp>
      <p:pic>
        <p:nvPicPr>
          <p:cNvPr id="7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952875" y="5753100"/>
            <a:ext cx="28575" cy="38100"/>
          </a:xfrm>
          <a:prstGeom prst="rect">
            <a:avLst/>
          </a:prstGeom>
        </p:spPr>
      </p:pic>
      <p:sp>
        <p:nvSpPr>
          <p:cNvPr id="79" name="Text 47"/>
          <p:cNvSpPr/>
          <p:nvPr/>
        </p:nvSpPr>
        <p:spPr>
          <a:xfrm>
            <a:off x="4133850" y="5467350"/>
            <a:ext cx="1971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088" dirty="0">
                <a:solidFill>
                  <a:srgbClr val="5C5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effectiveness analysis</a:t>
            </a:r>
            <a:endParaRPr lang="en-US" sz="1088" dirty="0"/>
          </a:p>
        </p:txBody>
      </p:sp>
      <p:pic>
        <p:nvPicPr>
          <p:cNvPr id="80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43350" y="5543550"/>
            <a:ext cx="38100" cy="38100"/>
          </a:xfrm>
          <a:prstGeom prst="rect">
            <a:avLst/>
          </a:prstGeom>
        </p:spPr>
      </p:pic>
      <p:sp>
        <p:nvSpPr>
          <p:cNvPr id="81" name="Text 48"/>
          <p:cNvSpPr/>
          <p:nvPr/>
        </p:nvSpPr>
        <p:spPr>
          <a:xfrm>
            <a:off x="4133850" y="5248275"/>
            <a:ext cx="2305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5"/>
              </a:lnSpc>
              <a:buNone/>
            </a:pPr>
            <a:r>
              <a:rPr lang="en-US" sz="1101" dirty="0">
                <a:solidFill>
                  <a:srgbClr val="6161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discovery across validations</a:t>
            </a:r>
            <a:endParaRPr lang="en-US" sz="1101" dirty="0"/>
          </a:p>
        </p:txBody>
      </p:sp>
      <p:pic>
        <p:nvPicPr>
          <p:cNvPr id="8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43350" y="5324475"/>
            <a:ext cx="38100" cy="38100"/>
          </a:xfrm>
          <a:prstGeom prst="rect">
            <a:avLst/>
          </a:prstGeom>
        </p:spPr>
      </p:pic>
      <p:sp>
        <p:nvSpPr>
          <p:cNvPr id="83" name="Text 49"/>
          <p:cNvSpPr/>
          <p:nvPr/>
        </p:nvSpPr>
        <p:spPr>
          <a:xfrm>
            <a:off x="3971925" y="4991100"/>
            <a:ext cx="116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3" b="1" dirty="0">
                <a:solidFill>
                  <a:srgbClr val="4DA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33" dirty="0"/>
          </a:p>
        </p:txBody>
      </p:sp>
      <p:sp>
        <p:nvSpPr>
          <p:cNvPr id="84" name="Shape 50"/>
          <p:cNvSpPr/>
          <p:nvPr/>
        </p:nvSpPr>
        <p:spPr>
          <a:xfrm>
            <a:off x="6829425" y="3200400"/>
            <a:ext cx="3438525" cy="1628775"/>
          </a:xfrm>
          <a:prstGeom prst="rect">
            <a:avLst/>
          </a:prstGeom>
          <a:solidFill>
            <a:srgbClr val="F4FAF6"/>
          </a:solidFill>
          <a:ln w="19050">
            <a:solidFill>
              <a:srgbClr val="FEFEFE"/>
            </a:solidFill>
            <a:prstDash val="solid"/>
          </a:ln>
        </p:spPr>
      </p:sp>
      <p:pic>
        <p:nvPicPr>
          <p:cNvPr id="8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010400" y="3638550"/>
            <a:ext cx="762000" cy="819150"/>
          </a:xfrm>
          <a:prstGeom prst="rect">
            <a:avLst/>
          </a:prstGeom>
        </p:spPr>
      </p:pic>
      <p:sp>
        <p:nvSpPr>
          <p:cNvPr id="86" name="Text 51"/>
          <p:cNvSpPr/>
          <p:nvPr/>
        </p:nvSpPr>
        <p:spPr>
          <a:xfrm>
            <a:off x="7934325" y="4000500"/>
            <a:ext cx="171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1"/>
              </a:lnSpc>
              <a:buNone/>
            </a:pPr>
            <a:r>
              <a:rPr lang="en-US" sz="1163" dirty="0">
                <a:solidFill>
                  <a:srgbClr val="60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What are our</a:t>
            </a:r>
            <a:endParaRPr lang="en-US" sz="1163" dirty="0"/>
          </a:p>
          <a:p>
            <a:pPr algn="l" indent="0" marL="0">
              <a:lnSpc>
                <a:spcPts val="1381"/>
              </a:lnSpc>
              <a:buNone/>
            </a:pPr>
            <a:r>
              <a:rPr lang="en-US" sz="1163" dirty="0">
                <a:solidFill>
                  <a:srgbClr val="60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methods for</a:t>
            </a:r>
            <a:endParaRPr lang="en-US" sz="1163" dirty="0"/>
          </a:p>
          <a:p>
            <a:pPr algn="l" indent="0" marL="0">
              <a:lnSpc>
                <a:spcPts val="1381"/>
              </a:lnSpc>
              <a:buNone/>
            </a:pPr>
            <a:r>
              <a:rPr lang="en-US" sz="1163" dirty="0">
                <a:solidFill>
                  <a:srgbClr val="606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 testing?</a:t>
            </a:r>
            <a:endParaRPr lang="en-US" sz="1163" dirty="0"/>
          </a:p>
        </p:txBody>
      </p:sp>
      <p:sp>
        <p:nvSpPr>
          <p:cNvPr id="87" name="Text 52"/>
          <p:cNvSpPr/>
          <p:nvPr/>
        </p:nvSpPr>
        <p:spPr>
          <a:xfrm>
            <a:off x="7924800" y="3695700"/>
            <a:ext cx="15906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327" b="1" dirty="0">
                <a:solidFill>
                  <a:srgbClr val="4449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know?</a:t>
            </a:r>
            <a:endParaRPr lang="en-US" sz="1327" dirty="0"/>
          </a:p>
        </p:txBody>
      </p:sp>
      <p:sp>
        <p:nvSpPr>
          <p:cNvPr id="88" name="Text 53"/>
          <p:cNvSpPr/>
          <p:nvPr/>
        </p:nvSpPr>
        <p:spPr>
          <a:xfrm>
            <a:off x="7934325" y="3362325"/>
            <a:ext cx="1533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1091" b="1" dirty="0">
                <a:solidFill>
                  <a:srgbClr val="50A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091" dirty="0"/>
          </a:p>
        </p:txBody>
      </p:sp>
      <p:sp>
        <p:nvSpPr>
          <p:cNvPr id="89" name="Text 54"/>
          <p:cNvSpPr/>
          <p:nvPr/>
        </p:nvSpPr>
        <p:spPr>
          <a:xfrm>
            <a:off x="4133850" y="4600575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40" dirty="0">
                <a:solidFill>
                  <a:srgbClr val="5D5D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&amp; regulation mapping</a:t>
            </a:r>
            <a:endParaRPr lang="en-US" sz="1140" dirty="0"/>
          </a:p>
        </p:txBody>
      </p:sp>
      <p:pic>
        <p:nvPicPr>
          <p:cNvPr id="9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952875" y="4676775"/>
            <a:ext cx="28575" cy="38100"/>
          </a:xfrm>
          <a:prstGeom prst="rect">
            <a:avLst/>
          </a:prstGeom>
        </p:spPr>
      </p:pic>
      <p:sp>
        <p:nvSpPr>
          <p:cNvPr id="91" name="Text 55"/>
          <p:cNvSpPr/>
          <p:nvPr/>
        </p:nvSpPr>
        <p:spPr>
          <a:xfrm>
            <a:off x="4133850" y="4381500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2"/>
              </a:lnSpc>
              <a:buNone/>
            </a:pPr>
            <a:r>
              <a:rPr lang="en-US" sz="1132" dirty="0">
                <a:solidFill>
                  <a:srgbClr val="6464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&amp; dataset library</a:t>
            </a:r>
            <a:endParaRPr lang="en-US" sz="1132" dirty="0"/>
          </a:p>
        </p:txBody>
      </p:sp>
      <p:pic>
        <p:nvPicPr>
          <p:cNvPr id="92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943350" y="4467225"/>
            <a:ext cx="38100" cy="38100"/>
          </a:xfrm>
          <a:prstGeom prst="rect">
            <a:avLst/>
          </a:prstGeom>
        </p:spPr>
      </p:pic>
      <p:sp>
        <p:nvSpPr>
          <p:cNvPr id="93" name="Text 56"/>
          <p:cNvSpPr/>
          <p:nvPr/>
        </p:nvSpPr>
        <p:spPr>
          <a:xfrm>
            <a:off x="4133850" y="41719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33" dirty="0">
                <a:solidFill>
                  <a:srgbClr val="6463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&amp; tool library</a:t>
            </a:r>
            <a:endParaRPr lang="en-US" sz="1133" dirty="0"/>
          </a:p>
        </p:txBody>
      </p:sp>
      <p:pic>
        <p:nvPicPr>
          <p:cNvPr id="94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943350" y="4248150"/>
            <a:ext cx="38100" cy="38100"/>
          </a:xfrm>
          <a:prstGeom prst="rect">
            <a:avLst/>
          </a:prstGeom>
        </p:spPr>
      </p:pic>
      <p:sp>
        <p:nvSpPr>
          <p:cNvPr id="95" name="Text 57"/>
          <p:cNvSpPr/>
          <p:nvPr/>
        </p:nvSpPr>
        <p:spPr>
          <a:xfrm>
            <a:off x="4133850" y="3962400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10" dirty="0">
                <a:solidFill>
                  <a:srgbClr val="5E5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&amp; prompt library</a:t>
            </a:r>
            <a:endParaRPr lang="en-US" sz="1110" dirty="0"/>
          </a:p>
        </p:txBody>
      </p:sp>
      <p:pic>
        <p:nvPicPr>
          <p:cNvPr id="9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943350" y="4038600"/>
            <a:ext cx="38100" cy="38100"/>
          </a:xfrm>
          <a:prstGeom prst="rect">
            <a:avLst/>
          </a:prstGeom>
        </p:spPr>
      </p:pic>
      <p:sp>
        <p:nvSpPr>
          <p:cNvPr id="97" name="Text 58"/>
          <p:cNvSpPr/>
          <p:nvPr/>
        </p:nvSpPr>
        <p:spPr>
          <a:xfrm>
            <a:off x="4124325" y="3743325"/>
            <a:ext cx="1952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1050" dirty="0">
                <a:solidFill>
                  <a:srgbClr val="6363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methods &amp; metrics</a:t>
            </a:r>
            <a:endParaRPr lang="en-US" sz="1050" dirty="0"/>
          </a:p>
        </p:txBody>
      </p:sp>
      <p:pic>
        <p:nvPicPr>
          <p:cNvPr id="98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943350" y="3829050"/>
            <a:ext cx="38100" cy="38100"/>
          </a:xfrm>
          <a:prstGeom prst="rect">
            <a:avLst/>
          </a:prstGeom>
        </p:spPr>
      </p:pic>
      <p:sp>
        <p:nvSpPr>
          <p:cNvPr id="99" name="Text 59"/>
          <p:cNvSpPr/>
          <p:nvPr/>
        </p:nvSpPr>
        <p:spPr>
          <a:xfrm>
            <a:off x="4133850" y="3533775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6"/>
              </a:lnSpc>
              <a:buNone/>
            </a:pPr>
            <a:r>
              <a:rPr lang="en-US" sz="1156" dirty="0">
                <a:solidFill>
                  <a:srgbClr val="5A5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&amp; control library</a:t>
            </a:r>
            <a:endParaRPr lang="en-US" sz="1156" dirty="0"/>
          </a:p>
        </p:txBody>
      </p:sp>
      <p:pic>
        <p:nvPicPr>
          <p:cNvPr id="10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52875" y="3619500"/>
            <a:ext cx="28575" cy="38100"/>
          </a:xfrm>
          <a:prstGeom prst="rect">
            <a:avLst/>
          </a:prstGeom>
        </p:spPr>
      </p:pic>
      <p:sp>
        <p:nvSpPr>
          <p:cNvPr id="101" name="Text 60"/>
          <p:cNvSpPr/>
          <p:nvPr/>
        </p:nvSpPr>
        <p:spPr>
          <a:xfrm>
            <a:off x="3971925" y="3276600"/>
            <a:ext cx="1181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55" b="1" dirty="0">
                <a:solidFill>
                  <a:srgbClr val="4EA0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55" dirty="0"/>
          </a:p>
        </p:txBody>
      </p:sp>
      <p:sp>
        <p:nvSpPr>
          <p:cNvPr id="102" name="Shape 61"/>
          <p:cNvSpPr/>
          <p:nvPr/>
        </p:nvSpPr>
        <p:spPr>
          <a:xfrm>
            <a:off x="6829425" y="1457325"/>
            <a:ext cx="3438525" cy="1666875"/>
          </a:xfrm>
          <a:prstGeom prst="rect">
            <a:avLst/>
          </a:prstGeom>
          <a:solidFill>
            <a:srgbClr val="F5FAF6"/>
          </a:solidFill>
          <a:ln w="57150">
            <a:solidFill>
              <a:srgbClr val="FDFDFD"/>
            </a:solidFill>
            <a:prstDash val="solid"/>
          </a:ln>
        </p:spPr>
      </p:sp>
      <p:pic>
        <p:nvPicPr>
          <p:cNvPr id="103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019925" y="1885950"/>
            <a:ext cx="762000" cy="800100"/>
          </a:xfrm>
          <a:prstGeom prst="rect">
            <a:avLst/>
          </a:prstGeom>
        </p:spPr>
      </p:pic>
      <p:sp>
        <p:nvSpPr>
          <p:cNvPr id="104" name="Text 62"/>
          <p:cNvSpPr/>
          <p:nvPr/>
        </p:nvSpPr>
        <p:spPr>
          <a:xfrm>
            <a:off x="7934325" y="2266950"/>
            <a:ext cx="1743075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9"/>
              </a:lnSpc>
              <a:buNone/>
            </a:pPr>
            <a:r>
              <a:rPr lang="en-US" sz="1198" dirty="0">
                <a:solidFill>
                  <a:srgbClr val="5B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How do we run</a:t>
            </a:r>
            <a:endParaRPr lang="en-US" sz="1198" dirty="0"/>
          </a:p>
          <a:p>
            <a:pPr algn="l" indent="0" marL="0">
              <a:lnSpc>
                <a:spcPts val="1749"/>
              </a:lnSpc>
              <a:buNone/>
            </a:pPr>
            <a:r>
              <a:rPr lang="en-US" sz="1198" dirty="0">
                <a:solidFill>
                  <a:srgbClr val="5B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hallucination test and</a:t>
            </a:r>
            <a:endParaRPr lang="en-US" sz="1198" dirty="0"/>
          </a:p>
          <a:p>
            <a:pPr algn="l" indent="0" marL="0">
              <a:lnSpc>
                <a:spcPts val="1749"/>
              </a:lnSpc>
              <a:buNone/>
            </a:pPr>
            <a:r>
              <a:rPr lang="en-US" sz="1198" dirty="0">
                <a:solidFill>
                  <a:srgbClr val="5B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report?</a:t>
            </a:r>
            <a:endParaRPr lang="en-US" sz="1198" dirty="0"/>
          </a:p>
        </p:txBody>
      </p:sp>
      <p:sp>
        <p:nvSpPr>
          <p:cNvPr id="105" name="Text 63"/>
          <p:cNvSpPr/>
          <p:nvPr/>
        </p:nvSpPr>
        <p:spPr>
          <a:xfrm>
            <a:off x="7934325" y="1971675"/>
            <a:ext cx="1704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27" b="1" dirty="0">
                <a:solidFill>
                  <a:srgbClr val="404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operate?</a:t>
            </a:r>
            <a:endParaRPr lang="en-US" sz="1327" dirty="0"/>
          </a:p>
        </p:txBody>
      </p:sp>
      <p:sp>
        <p:nvSpPr>
          <p:cNvPr id="106" name="Text 64"/>
          <p:cNvSpPr/>
          <p:nvPr/>
        </p:nvSpPr>
        <p:spPr>
          <a:xfrm>
            <a:off x="7934325" y="1638300"/>
            <a:ext cx="1590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1133" b="1" dirty="0">
                <a:solidFill>
                  <a:srgbClr val="4BA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133" dirty="0"/>
          </a:p>
        </p:txBody>
      </p:sp>
      <p:sp>
        <p:nvSpPr>
          <p:cNvPr id="107" name="Text 65"/>
          <p:cNvSpPr/>
          <p:nvPr/>
        </p:nvSpPr>
        <p:spPr>
          <a:xfrm>
            <a:off x="4133850" y="274320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&amp; follow-up</a:t>
            </a:r>
            <a:endParaRPr lang="en-US" sz="1125" dirty="0"/>
          </a:p>
        </p:txBody>
      </p:sp>
      <p:pic>
        <p:nvPicPr>
          <p:cNvPr id="10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943350" y="2828925"/>
            <a:ext cx="38100" cy="38100"/>
          </a:xfrm>
          <a:prstGeom prst="rect">
            <a:avLst/>
          </a:prstGeom>
        </p:spPr>
      </p:pic>
      <p:sp>
        <p:nvSpPr>
          <p:cNvPr id="109" name="Text 66"/>
          <p:cNvSpPr/>
          <p:nvPr/>
        </p:nvSpPr>
        <p:spPr>
          <a:xfrm>
            <a:off x="4133850" y="2524125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31"/>
              </a:lnSpc>
              <a:buNone/>
            </a:pPr>
            <a:r>
              <a:rPr lang="en-US" sz="1180" dirty="0">
                <a:solidFill>
                  <a:srgbClr val="5757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&amp; dashboards</a:t>
            </a:r>
            <a:endParaRPr lang="en-US" sz="1180" dirty="0"/>
          </a:p>
        </p:txBody>
      </p:sp>
      <p:pic>
        <p:nvPicPr>
          <p:cNvPr id="110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943350" y="2600325"/>
            <a:ext cx="38100" cy="38100"/>
          </a:xfrm>
          <a:prstGeom prst="rect">
            <a:avLst/>
          </a:prstGeom>
        </p:spPr>
      </p:pic>
      <p:sp>
        <p:nvSpPr>
          <p:cNvPr id="111" name="Text 67"/>
          <p:cNvSpPr/>
          <p:nvPr/>
        </p:nvSpPr>
        <p:spPr>
          <a:xfrm>
            <a:off x="4124325" y="229552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48" dirty="0">
                <a:solidFill>
                  <a:srgbClr val="606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execution (Layer 2)</a:t>
            </a:r>
            <a:endParaRPr lang="en-US" sz="1148" dirty="0"/>
          </a:p>
        </p:txBody>
      </p:sp>
      <p:pic>
        <p:nvPicPr>
          <p:cNvPr id="112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943350" y="2371725"/>
            <a:ext cx="38100" cy="38100"/>
          </a:xfrm>
          <a:prstGeom prst="rect">
            <a:avLst/>
          </a:prstGeom>
        </p:spPr>
      </p:pic>
      <p:sp>
        <p:nvSpPr>
          <p:cNvPr id="113" name="Text 68"/>
          <p:cNvSpPr/>
          <p:nvPr/>
        </p:nvSpPr>
        <p:spPr>
          <a:xfrm>
            <a:off x="4124325" y="2066925"/>
            <a:ext cx="1866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33" dirty="0">
                <a:solidFill>
                  <a:srgbClr val="6464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Questionnaires &amp; risk triage</a:t>
            </a:r>
            <a:endParaRPr lang="en-US" sz="1133" dirty="0"/>
          </a:p>
        </p:txBody>
      </p:sp>
      <p:pic>
        <p:nvPicPr>
          <p:cNvPr id="114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943350" y="2152650"/>
            <a:ext cx="38100" cy="28575"/>
          </a:xfrm>
          <a:prstGeom prst="rect">
            <a:avLst/>
          </a:prstGeom>
        </p:spPr>
      </p:pic>
      <p:sp>
        <p:nvSpPr>
          <p:cNvPr id="115" name="Text 69"/>
          <p:cNvSpPr/>
          <p:nvPr/>
        </p:nvSpPr>
        <p:spPr>
          <a:xfrm>
            <a:off x="4133850" y="1838325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33" dirty="0">
                <a:solidFill>
                  <a:srgbClr val="5F5F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&amp; model inventory</a:t>
            </a:r>
            <a:endParaRPr lang="en-US" sz="1133" dirty="0"/>
          </a:p>
        </p:txBody>
      </p:sp>
      <p:pic>
        <p:nvPicPr>
          <p:cNvPr id="11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943350" y="1924050"/>
            <a:ext cx="38100" cy="38100"/>
          </a:xfrm>
          <a:prstGeom prst="rect">
            <a:avLst/>
          </a:prstGeom>
        </p:spPr>
      </p:pic>
      <p:sp>
        <p:nvSpPr>
          <p:cNvPr id="117" name="Text 70"/>
          <p:cNvSpPr/>
          <p:nvPr/>
        </p:nvSpPr>
        <p:spPr>
          <a:xfrm>
            <a:off x="3971925" y="1571625"/>
            <a:ext cx="1181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48" b="1" dirty="0">
                <a:solidFill>
                  <a:srgbClr val="4B6E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48" dirty="0"/>
          </a:p>
        </p:txBody>
      </p:sp>
      <p:pic>
        <p:nvPicPr>
          <p:cNvPr id="118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33350" y="1362075"/>
            <a:ext cx="3743325" cy="6734175"/>
          </a:xfrm>
          <a:prstGeom prst="rect">
            <a:avLst/>
          </a:prstGeom>
        </p:spPr>
      </p:pic>
      <p:sp>
        <p:nvSpPr>
          <p:cNvPr id="119" name="Text 71"/>
          <p:cNvSpPr/>
          <p:nvPr/>
        </p:nvSpPr>
        <p:spPr>
          <a:xfrm>
            <a:off x="1943100" y="7353300"/>
            <a:ext cx="16764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2" dirty="0">
                <a:solidFill>
                  <a:srgbClr val="9AD8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living memory of</a:t>
            </a:r>
            <a:endParaRPr lang="en-US" sz="1102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2" dirty="0">
                <a:solidFill>
                  <a:srgbClr val="9AD8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Al risk experience that</a:t>
            </a:r>
            <a:endParaRPr lang="en-US" sz="1102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02" dirty="0">
                <a:solidFill>
                  <a:srgbClr val="9AD8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compounds over time.</a:t>
            </a:r>
            <a:endParaRPr lang="en-US" sz="1102" dirty="0"/>
          </a:p>
        </p:txBody>
      </p:sp>
      <p:sp>
        <p:nvSpPr>
          <p:cNvPr id="120" name="Text 72"/>
          <p:cNvSpPr/>
          <p:nvPr/>
        </p:nvSpPr>
        <p:spPr>
          <a:xfrm>
            <a:off x="1943100" y="6753225"/>
            <a:ext cx="143827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8"/>
              </a:lnSpc>
              <a:buNone/>
            </a:pPr>
            <a:r>
              <a:rPr lang="en-US" sz="1569" b="1" dirty="0">
                <a:solidFill>
                  <a:srgbClr val="D0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Organisational</a:t>
            </a:r>
            <a:endParaRPr lang="en-US" sz="1569" dirty="0"/>
          </a:p>
          <a:p>
            <a:pPr algn="l" indent="0" marL="0">
              <a:lnSpc>
                <a:spcPts val="2108"/>
              </a:lnSpc>
              <a:buNone/>
            </a:pPr>
            <a:r>
              <a:rPr lang="en-US" sz="1569" b="1" dirty="0">
                <a:solidFill>
                  <a:srgbClr val="D0E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569" dirty="0"/>
          </a:p>
        </p:txBody>
      </p:sp>
      <p:sp>
        <p:nvSpPr>
          <p:cNvPr id="121" name="Text 73"/>
          <p:cNvSpPr/>
          <p:nvPr/>
        </p:nvSpPr>
        <p:spPr>
          <a:xfrm>
            <a:off x="1504950" y="6724650"/>
            <a:ext cx="3429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4170" dirty="0">
                <a:solidFill>
                  <a:srgbClr val="EAF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4170" dirty="0"/>
          </a:p>
        </p:txBody>
      </p:sp>
      <p:pic>
        <p:nvPicPr>
          <p:cNvPr id="122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57225" y="6772275"/>
            <a:ext cx="695325" cy="819150"/>
          </a:xfrm>
          <a:prstGeom prst="rect">
            <a:avLst/>
          </a:prstGeom>
        </p:spPr>
      </p:pic>
      <p:sp>
        <p:nvSpPr>
          <p:cNvPr id="123" name="Text 74"/>
          <p:cNvSpPr/>
          <p:nvPr/>
        </p:nvSpPr>
        <p:spPr>
          <a:xfrm>
            <a:off x="1952625" y="6153150"/>
            <a:ext cx="1228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7"/>
              </a:lnSpc>
              <a:buNone/>
            </a:pPr>
            <a:r>
              <a:rPr lang="en-US" sz="1141" dirty="0">
                <a:solidFill>
                  <a:srgbClr val="9CD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recommendations.</a:t>
            </a:r>
            <a:endParaRPr lang="en-US" sz="1141" dirty="0"/>
          </a:p>
        </p:txBody>
      </p:sp>
      <p:sp>
        <p:nvSpPr>
          <p:cNvPr id="124" name="Text 75"/>
          <p:cNvSpPr/>
          <p:nvPr/>
        </p:nvSpPr>
        <p:spPr>
          <a:xfrm>
            <a:off x="1952625" y="5943600"/>
            <a:ext cx="1390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117" dirty="0">
                <a:solidFill>
                  <a:srgbClr val="9BD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insights, patterns and</a:t>
            </a:r>
            <a:endParaRPr lang="en-US" sz="1117" dirty="0"/>
          </a:p>
        </p:txBody>
      </p:sp>
      <p:sp>
        <p:nvSpPr>
          <p:cNvPr id="125" name="Text 76"/>
          <p:cNvSpPr/>
          <p:nvPr/>
        </p:nvSpPr>
        <p:spPr>
          <a:xfrm>
            <a:off x="1943100" y="57150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139" dirty="0">
                <a:solidFill>
                  <a:srgbClr val="A1D6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knowledge into</a:t>
            </a:r>
            <a:endParaRPr lang="en-US" sz="1139" dirty="0"/>
          </a:p>
        </p:txBody>
      </p:sp>
      <p:sp>
        <p:nvSpPr>
          <p:cNvPr id="126" name="Text 77"/>
          <p:cNvSpPr/>
          <p:nvPr/>
        </p:nvSpPr>
        <p:spPr>
          <a:xfrm>
            <a:off x="1943100" y="5057775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76"/>
              </a:lnSpc>
              <a:buNone/>
            </a:pPr>
            <a:r>
              <a:rPr lang="en-US" sz="1693" b="1" dirty="0">
                <a:solidFill>
                  <a:srgbClr val="CFE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Risk</a:t>
            </a:r>
            <a:endParaRPr lang="en-US" sz="1693" dirty="0"/>
          </a:p>
          <a:p>
            <a:pPr algn="l" indent="0" marL="0">
              <a:lnSpc>
                <a:spcPts val="2076"/>
              </a:lnSpc>
              <a:buNone/>
            </a:pPr>
            <a:r>
              <a:rPr lang="en-US" sz="1693" b="1" dirty="0">
                <a:solidFill>
                  <a:srgbClr val="CFE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693" dirty="0"/>
          </a:p>
        </p:txBody>
      </p:sp>
      <p:sp>
        <p:nvSpPr>
          <p:cNvPr id="127" name="Text 78"/>
          <p:cNvSpPr/>
          <p:nvPr/>
        </p:nvSpPr>
        <p:spPr>
          <a:xfrm>
            <a:off x="1504950" y="5010150"/>
            <a:ext cx="3333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25"/>
              </a:lnSpc>
              <a:buNone/>
            </a:pPr>
            <a:r>
              <a:rPr lang="en-US" sz="4320" b="1" dirty="0">
                <a:solidFill>
                  <a:srgbClr val="E3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4320" dirty="0"/>
          </a:p>
        </p:txBody>
      </p:sp>
      <p:pic>
        <p:nvPicPr>
          <p:cNvPr id="128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04850" y="5200650"/>
            <a:ext cx="638175" cy="647700"/>
          </a:xfrm>
          <a:prstGeom prst="rect">
            <a:avLst/>
          </a:prstGeom>
        </p:spPr>
      </p:pic>
      <p:sp>
        <p:nvSpPr>
          <p:cNvPr id="129" name="Text 79"/>
          <p:cNvSpPr/>
          <p:nvPr/>
        </p:nvSpPr>
        <p:spPr>
          <a:xfrm>
            <a:off x="1952625" y="4257675"/>
            <a:ext cx="14954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62" dirty="0">
                <a:solidFill>
                  <a:srgbClr val="A2D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from every</a:t>
            </a:r>
            <a:endParaRPr lang="en-US" sz="1162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162" dirty="0">
                <a:solidFill>
                  <a:srgbClr val="A2D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validation.</a:t>
            </a:r>
            <a:endParaRPr lang="en-US" sz="1162" dirty="0"/>
          </a:p>
        </p:txBody>
      </p:sp>
      <p:sp>
        <p:nvSpPr>
          <p:cNvPr id="130" name="Text 80"/>
          <p:cNvSpPr/>
          <p:nvPr/>
        </p:nvSpPr>
        <p:spPr>
          <a:xfrm>
            <a:off x="1952625" y="406717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2"/>
              </a:lnSpc>
              <a:buNone/>
            </a:pPr>
            <a:r>
              <a:rPr lang="en-US" sz="1108" dirty="0">
                <a:solidFill>
                  <a:srgbClr val="9DD6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and structure</a:t>
            </a:r>
            <a:endParaRPr lang="en-US" sz="1108" dirty="0"/>
          </a:p>
        </p:txBody>
      </p:sp>
      <p:sp>
        <p:nvSpPr>
          <p:cNvPr id="131" name="Text 81"/>
          <p:cNvSpPr/>
          <p:nvPr/>
        </p:nvSpPr>
        <p:spPr>
          <a:xfrm>
            <a:off x="1943100" y="3724275"/>
            <a:ext cx="7143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7"/>
              </a:lnSpc>
              <a:buNone/>
            </a:pPr>
            <a:r>
              <a:rPr lang="en-US" sz="1645" b="1" dirty="0">
                <a:solidFill>
                  <a:srgbClr val="BCE3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</a:t>
            </a:r>
            <a:endParaRPr lang="en-US" sz="1645" dirty="0"/>
          </a:p>
        </p:txBody>
      </p:sp>
      <p:sp>
        <p:nvSpPr>
          <p:cNvPr id="132" name="Text 82"/>
          <p:cNvSpPr/>
          <p:nvPr/>
        </p:nvSpPr>
        <p:spPr>
          <a:xfrm>
            <a:off x="1962150" y="3429000"/>
            <a:ext cx="1143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7"/>
              </a:lnSpc>
              <a:buNone/>
            </a:pPr>
            <a:r>
              <a:rPr lang="en-US" sz="1637" b="1" dirty="0">
                <a:solidFill>
                  <a:srgbClr val="D3EE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637" dirty="0"/>
          </a:p>
        </p:txBody>
      </p:sp>
      <p:sp>
        <p:nvSpPr>
          <p:cNvPr id="133" name="Text 83"/>
          <p:cNvSpPr/>
          <p:nvPr/>
        </p:nvSpPr>
        <p:spPr>
          <a:xfrm>
            <a:off x="1524000" y="3343275"/>
            <a:ext cx="31432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25"/>
              </a:lnSpc>
              <a:buNone/>
            </a:pPr>
            <a:r>
              <a:rPr lang="en-US" sz="4088" b="1" dirty="0">
                <a:solidFill>
                  <a:srgbClr val="E4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4088" dirty="0"/>
          </a:p>
        </p:txBody>
      </p:sp>
      <p:pic>
        <p:nvPicPr>
          <p:cNvPr id="134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66750" y="3629025"/>
            <a:ext cx="666750" cy="561975"/>
          </a:xfrm>
          <a:prstGeom prst="rect">
            <a:avLst/>
          </a:prstGeom>
        </p:spPr>
      </p:pic>
      <p:pic>
        <p:nvPicPr>
          <p:cNvPr id="135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23850" y="1457325"/>
            <a:ext cx="3390900" cy="1676400"/>
          </a:xfrm>
          <a:prstGeom prst="rect">
            <a:avLst/>
          </a:prstGeom>
        </p:spPr>
      </p:pic>
      <p:pic>
        <p:nvPicPr>
          <p:cNvPr id="136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76275" y="2009775"/>
            <a:ext cx="657225" cy="628650"/>
          </a:xfrm>
          <a:prstGeom prst="rect">
            <a:avLst/>
          </a:prstGeom>
        </p:spPr>
      </p:pic>
      <p:sp>
        <p:nvSpPr>
          <p:cNvPr id="137" name="Text 84"/>
          <p:cNvSpPr/>
          <p:nvPr/>
        </p:nvSpPr>
        <p:spPr>
          <a:xfrm>
            <a:off x="1952625" y="2819400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1200" dirty="0">
                <a:solidFill>
                  <a:srgbClr val="A9C2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end-to-end.</a:t>
            </a:r>
            <a:endParaRPr lang="en-US" sz="1200" dirty="0"/>
          </a:p>
        </p:txBody>
      </p:sp>
      <p:sp>
        <p:nvSpPr>
          <p:cNvPr id="138" name="Text 85"/>
          <p:cNvSpPr/>
          <p:nvPr/>
        </p:nvSpPr>
        <p:spPr>
          <a:xfrm>
            <a:off x="1952625" y="2600325"/>
            <a:ext cx="1143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32"/>
              </a:lnSpc>
              <a:buNone/>
            </a:pPr>
            <a:r>
              <a:rPr lang="en-US" sz="1197" dirty="0">
                <a:solidFill>
                  <a:srgbClr val="A4BE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risk validation</a:t>
            </a:r>
            <a:endParaRPr lang="en-US" sz="1197" dirty="0"/>
          </a:p>
        </p:txBody>
      </p:sp>
      <p:sp>
        <p:nvSpPr>
          <p:cNvPr id="139" name="Text 86"/>
          <p:cNvSpPr/>
          <p:nvPr/>
        </p:nvSpPr>
        <p:spPr>
          <a:xfrm>
            <a:off x="1962150" y="238125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1170" dirty="0">
                <a:solidFill>
                  <a:srgbClr val="A0B8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Digitise and operate</a:t>
            </a:r>
            <a:endParaRPr lang="en-US" sz="1170" dirty="0"/>
          </a:p>
        </p:txBody>
      </p:sp>
      <p:sp>
        <p:nvSpPr>
          <p:cNvPr id="140" name="Text 87"/>
          <p:cNvSpPr/>
          <p:nvPr/>
        </p:nvSpPr>
        <p:spPr>
          <a:xfrm>
            <a:off x="1962150" y="1704975"/>
            <a:ext cx="1238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79"/>
              </a:lnSpc>
              <a:buNone/>
            </a:pPr>
            <a:r>
              <a:rPr lang="en-US" sz="1702" b="1" dirty="0">
                <a:solidFill>
                  <a:srgbClr val="D2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1702" dirty="0"/>
          </a:p>
          <a:p>
            <a:pPr algn="l" indent="0" marL="0">
              <a:lnSpc>
                <a:spcPts val="2079"/>
              </a:lnSpc>
              <a:buNone/>
            </a:pPr>
            <a:r>
              <a:rPr lang="en-US" sz="1702" b="1" dirty="0">
                <a:solidFill>
                  <a:srgbClr val="D2DE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702" dirty="0"/>
          </a:p>
        </p:txBody>
      </p:sp>
      <p:sp>
        <p:nvSpPr>
          <p:cNvPr id="141" name="Text 88"/>
          <p:cNvSpPr/>
          <p:nvPr/>
        </p:nvSpPr>
        <p:spPr>
          <a:xfrm>
            <a:off x="1581150" y="1704975"/>
            <a:ext cx="200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28"/>
              </a:lnSpc>
              <a:buNone/>
            </a:pPr>
            <a:r>
              <a:rPr lang="en-US" sz="2747" dirty="0">
                <a:solidFill>
                  <a:srgbClr val="E0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747" dirty="0"/>
          </a:p>
        </p:txBody>
      </p:sp>
      <p:sp>
        <p:nvSpPr>
          <p:cNvPr id="142" name="Shape 89"/>
          <p:cNvSpPr/>
          <p:nvPr/>
        </p:nvSpPr>
        <p:spPr>
          <a:xfrm>
            <a:off x="10829925" y="180975"/>
            <a:ext cx="3362325" cy="1133475"/>
          </a:xfrm>
          <a:prstGeom prst="roundRect">
            <a:avLst>
              <a:gd name="adj" fmla="val 10084"/>
            </a:avLst>
          </a:prstGeom>
          <a:solidFill>
            <a:srgbClr val="EFF7F3"/>
          </a:solidFill>
          <a:ln/>
        </p:spPr>
      </p:sp>
      <p:pic>
        <p:nvPicPr>
          <p:cNvPr id="14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1020425" y="361950"/>
            <a:ext cx="628650" cy="714375"/>
          </a:xfrm>
          <a:prstGeom prst="rect">
            <a:avLst/>
          </a:prstGeom>
        </p:spPr>
      </p:pic>
      <p:sp>
        <p:nvSpPr>
          <p:cNvPr id="144" name="Text 90"/>
          <p:cNvSpPr/>
          <p:nvPr/>
        </p:nvSpPr>
        <p:spPr>
          <a:xfrm>
            <a:off x="11753850" y="609600"/>
            <a:ext cx="22574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125" dirty="0">
                <a:solidFill>
                  <a:srgbClr val="6467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become the trusted source of</a:t>
            </a:r>
            <a:endParaRPr lang="en-US" sz="1125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125" dirty="0">
                <a:solidFill>
                  <a:srgbClr val="6467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Risk intelligence that empowers</a:t>
            </a:r>
            <a:endParaRPr lang="en-US" sz="1125" dirty="0"/>
          </a:p>
          <a:p>
            <a:pPr algn="l" indent="0" marL="0">
              <a:lnSpc>
                <a:spcPts val="1512"/>
              </a:lnSpc>
              <a:buNone/>
            </a:pPr>
            <a:r>
              <a:rPr lang="en-US" sz="1125" dirty="0">
                <a:solidFill>
                  <a:srgbClr val="6467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decisions across the bank.</a:t>
            </a:r>
            <a:endParaRPr lang="en-US" sz="1125" dirty="0"/>
          </a:p>
        </p:txBody>
      </p:sp>
      <p:sp>
        <p:nvSpPr>
          <p:cNvPr id="145" name="Text 91"/>
          <p:cNvSpPr/>
          <p:nvPr/>
        </p:nvSpPr>
        <p:spPr>
          <a:xfrm>
            <a:off x="11763375" y="352425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2"/>
              </a:lnSpc>
              <a:buNone/>
            </a:pPr>
            <a:r>
              <a:rPr lang="en-US" sz="1374" b="1" dirty="0">
                <a:solidFill>
                  <a:srgbClr val="464B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North Star</a:t>
            </a:r>
            <a:endParaRPr lang="en-US" sz="1374" dirty="0"/>
          </a:p>
        </p:txBody>
      </p:sp>
      <p:sp>
        <p:nvSpPr>
          <p:cNvPr id="146" name="Text 92"/>
          <p:cNvSpPr/>
          <p:nvPr/>
        </p:nvSpPr>
        <p:spPr>
          <a:xfrm>
            <a:off x="428625" y="866775"/>
            <a:ext cx="98202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460" b="1" dirty="0">
                <a:solidFill>
                  <a:srgbClr val="9091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an operational platform to an organisational memory and Al Risk intelligence that no one can replicate</a:t>
            </a:r>
            <a:endParaRPr lang="en-US" sz="1460" dirty="0"/>
          </a:p>
        </p:txBody>
      </p:sp>
      <p:sp>
        <p:nvSpPr>
          <p:cNvPr id="147" name="Text 93"/>
          <p:cNvSpPr/>
          <p:nvPr/>
        </p:nvSpPr>
        <p:spPr>
          <a:xfrm>
            <a:off x="428625" y="285750"/>
            <a:ext cx="92106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5"/>
              </a:lnSpc>
              <a:buNone/>
            </a:pPr>
            <a:r>
              <a:rPr lang="en-US" sz="2886" b="1" dirty="0">
                <a:solidFill>
                  <a:srgbClr val="1E29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Long Term Strategy: Four Layers of Advantage</a:t>
            </a:r>
            <a:endParaRPr lang="en-US" sz="288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2026-07-28T21:05:39Z</dcterms:created>
  <dcterms:modified xsi:type="dcterms:W3CDTF">2026-07-28T21:05:39Z</dcterms:modified>
</cp:coreProperties>
</file>