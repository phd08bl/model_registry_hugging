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jpeg"/><Relationship Id="rId19" Type="http://schemas.openxmlformats.org/officeDocument/2006/relationships/image" Target="../media/image-1-19.png"/><Relationship Id="rId20" Type="http://schemas.openxmlformats.org/officeDocument/2006/relationships/image" Target="../media/image-1-20.jpeg"/><Relationship Id="rId21" Type="http://schemas.openxmlformats.org/officeDocument/2006/relationships/image" Target="../media/image-1-21.png"/><Relationship Id="rId22" Type="http://schemas.openxmlformats.org/officeDocument/2006/relationships/image" Target="../media/image-1-22.jpeg"/><Relationship Id="rId23" Type="http://schemas.openxmlformats.org/officeDocument/2006/relationships/image" Target="../media/image-1-23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pn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image" Target="../media/image-1-31.png"/><Relationship Id="rId32" Type="http://schemas.openxmlformats.org/officeDocument/2006/relationships/image" Target="../media/image-1-32.png"/><Relationship Id="rId33" Type="http://schemas.openxmlformats.org/officeDocument/2006/relationships/image" Target="../media/image-1-33.png"/><Relationship Id="rId34" Type="http://schemas.openxmlformats.org/officeDocument/2006/relationships/image" Target="../media/image-1-34.png"/><Relationship Id="rId35" Type="http://schemas.openxmlformats.org/officeDocument/2006/relationships/image" Target="../media/image-1-35.png"/><Relationship Id="rId36" Type="http://schemas.openxmlformats.org/officeDocument/2006/relationships/image" Target="../media/image-1-36.png"/><Relationship Id="rId37" Type="http://schemas.openxmlformats.org/officeDocument/2006/relationships/image" Target="../media/image-1-37.png"/><Relationship Id="rId38" Type="http://schemas.openxmlformats.org/officeDocument/2006/relationships/image" Target="../media/image-1-38.png"/><Relationship Id="rId39" Type="http://schemas.openxmlformats.org/officeDocument/2006/relationships/image" Target="../media/image-1-39.png"/><Relationship Id="rId40" Type="http://schemas.openxmlformats.org/officeDocument/2006/relationships/image" Target="../media/image-1-40.jpeg"/><Relationship Id="rId41" Type="http://schemas.openxmlformats.org/officeDocument/2006/relationships/image" Target="../media/image-1-41.png"/><Relationship Id="rId42" Type="http://schemas.openxmlformats.org/officeDocument/2006/relationships/image" Target="../media/image-1-42.png"/><Relationship Id="rId43" Type="http://schemas.openxmlformats.org/officeDocument/2006/relationships/image" Target="../media/image-1-43.jpeg"/><Relationship Id="rId44" Type="http://schemas.openxmlformats.org/officeDocument/2006/relationships/image" Target="../media/image-1-44.jpeg"/><Relationship Id="rId45" Type="http://schemas.openxmlformats.org/officeDocument/2006/relationships/image" Target="../media/image-1-45.png"/><Relationship Id="rId46" Type="http://schemas.openxmlformats.org/officeDocument/2006/relationships/image" Target="../media/image-1-46.png"/><Relationship Id="rId47" Type="http://schemas.openxmlformats.org/officeDocument/2006/relationships/image" Target="../media/image-1-47.png"/><Relationship Id="rId48" Type="http://schemas.openxmlformats.org/officeDocument/2006/relationships/image" Target="../media/image-1-48.png"/><Relationship Id="rId49" Type="http://schemas.openxmlformats.org/officeDocument/2006/relationships/image" Target="../media/image-1-49.png"/><Relationship Id="rId50" Type="http://schemas.openxmlformats.org/officeDocument/2006/relationships/image" Target="../media/image-1-50.png"/><Relationship Id="rId51" Type="http://schemas.openxmlformats.org/officeDocument/2006/relationships/image" Target="../media/image-1-51.png"/><Relationship Id="rId52" Type="http://schemas.openxmlformats.org/officeDocument/2006/relationships/image" Target="../media/image-1-52.png"/><Relationship Id="rId53" Type="http://schemas.openxmlformats.org/officeDocument/2006/relationships/image" Target="../media/image-1-53.png"/><Relationship Id="rId54" Type="http://schemas.openxmlformats.org/officeDocument/2006/relationships/image" Target="../media/image-1-54.png"/><Relationship Id="rId55" Type="http://schemas.openxmlformats.org/officeDocument/2006/relationships/image" Target="../media/image-1-55.png"/><Relationship Id="rId56" Type="http://schemas.openxmlformats.org/officeDocument/2006/relationships/image" Target="../media/image-1-56.png"/><Relationship Id="rId57" Type="http://schemas.openxmlformats.org/officeDocument/2006/relationships/image" Target="../media/image-1-57.png"/><Relationship Id="rId58" Type="http://schemas.openxmlformats.org/officeDocument/2006/relationships/image" Target="../media/image-1-58.png"/><Relationship Id="rId59" Type="http://schemas.openxmlformats.org/officeDocument/2006/relationships/image" Target="../media/image-1-59.png"/><Relationship Id="rId60" Type="http://schemas.openxmlformats.org/officeDocument/2006/relationships/image" Target="../media/image-1-60.png"/><Relationship Id="rId61" Type="http://schemas.openxmlformats.org/officeDocument/2006/relationships/image" Target="../media/image-1-61.png"/><Relationship Id="rId62" Type="http://schemas.openxmlformats.org/officeDocument/2006/relationships/image" Target="../media/image-1-62.png"/><Relationship Id="rId63" Type="http://schemas.openxmlformats.org/officeDocument/2006/relationships/image" Target="../media/image-1-63.jpeg"/><Relationship Id="rId64" Type="http://schemas.openxmlformats.org/officeDocument/2006/relationships/image" Target="../media/image-1-64.png"/><Relationship Id="rId65" Type="http://schemas.openxmlformats.org/officeDocument/2006/relationships/image" Target="../media/image-1-65.png"/><Relationship Id="rId66" Type="http://schemas.openxmlformats.org/officeDocument/2006/relationships/image" Target="../media/image-1-66.png"/><Relationship Id="rId67" Type="http://schemas.openxmlformats.org/officeDocument/2006/relationships/image" Target="../media/image-1-67.png"/><Relationship Id="rId68" Type="http://schemas.openxmlformats.org/officeDocument/2006/relationships/image" Target="../media/image-1-68.png"/><Relationship Id="rId69" Type="http://schemas.openxmlformats.org/officeDocument/2006/relationships/image" Target="../media/image-1-69.png"/><Relationship Id="rId70" Type="http://schemas.openxmlformats.org/officeDocument/2006/relationships/image" Target="../media/image-1-70.png"/><Relationship Id="rId71" Type="http://schemas.openxmlformats.org/officeDocument/2006/relationships/image" Target="../media/image-1-71.png"/><Relationship Id="rId72" Type="http://schemas.openxmlformats.org/officeDocument/2006/relationships/image" Target="../media/image-1-72.png"/><Relationship Id="rId73" Type="http://schemas.openxmlformats.org/officeDocument/2006/relationships/image" Target="../media/image-1-73.png"/><Relationship Id="rId74" Type="http://schemas.openxmlformats.org/officeDocument/2006/relationships/image" Target="../media/image-1-74.png"/><Relationship Id="rId75" Type="http://schemas.openxmlformats.org/officeDocument/2006/relationships/image" Target="../media/image-1-75.png"/><Relationship Id="rId76" Type="http://schemas.openxmlformats.org/officeDocument/2006/relationships/image" Target="../media/image-1-76.png"/><Relationship Id="rId77" Type="http://schemas.openxmlformats.org/officeDocument/2006/relationships/image" Target="../media/image-1-77.jpeg"/><Relationship Id="rId78" Type="http://schemas.openxmlformats.org/officeDocument/2006/relationships/image" Target="../media/image-1-78.png"/><Relationship Id="rId79" Type="http://schemas.openxmlformats.org/officeDocument/2006/relationships/image" Target="../media/image-1-79.png"/><Relationship Id="rId80" Type="http://schemas.openxmlformats.org/officeDocument/2006/relationships/image" Target="../media/image-1-80.png"/><Relationship Id="rId81" Type="http://schemas.openxmlformats.org/officeDocument/2006/relationships/image" Target="../media/image-1-81.png"/><Relationship Id="rId82" Type="http://schemas.openxmlformats.org/officeDocument/2006/relationships/image" Target="../media/image-1-82.jpeg"/><Relationship Id="rId83" Type="http://schemas.openxmlformats.org/officeDocument/2006/relationships/image" Target="../media/image-1-83.png"/><Relationship Id="rId84" Type="http://schemas.openxmlformats.org/officeDocument/2006/relationships/image" Target="../media/image-1-84.png"/><Relationship Id="rId85" Type="http://schemas.openxmlformats.org/officeDocument/2006/relationships/image" Target="../media/image-1-85.png"/><Relationship Id="rId86" Type="http://schemas.openxmlformats.org/officeDocument/2006/relationships/image" Target="../media/image-1-86.png"/><Relationship Id="rId87" Type="http://schemas.openxmlformats.org/officeDocument/2006/relationships/image" Target="../media/image-1-87.jpeg"/><Relationship Id="rId88" Type="http://schemas.openxmlformats.org/officeDocument/2006/relationships/image" Target="../media/image-1-88.png"/><Relationship Id="rId89" Type="http://schemas.openxmlformats.org/officeDocument/2006/relationships/image" Target="../media/image-1-89.jpeg"/><Relationship Id="rId90" Type="http://schemas.openxmlformats.org/officeDocument/2006/relationships/image" Target="../media/image-1-90.png"/><Relationship Id="rId91" Type="http://schemas.openxmlformats.org/officeDocument/2006/relationships/image" Target="../media/image-1-91.jpeg"/><Relationship Id="rId92" Type="http://schemas.openxmlformats.org/officeDocument/2006/relationships/image" Target="../media/image-1-92.png"/><Relationship Id="rId93" Type="http://schemas.openxmlformats.org/officeDocument/2006/relationships/image" Target="../media/image-1-93.jpeg"/><Relationship Id="rId94" Type="http://schemas.openxmlformats.org/officeDocument/2006/relationships/image" Target="../media/image-1-94.png"/><Relationship Id="rId95" Type="http://schemas.openxmlformats.org/officeDocument/2006/relationships/image" Target="../media/image-1-95.png"/><Relationship Id="rId96" Type="http://schemas.openxmlformats.org/officeDocument/2006/relationships/image" Target="../media/image-1-96.jpeg"/><Relationship Id="rId97" Type="http://schemas.openxmlformats.org/officeDocument/2006/relationships/image" Target="../media/image-1-97.png"/><Relationship Id="rId98" Type="http://schemas.openxmlformats.org/officeDocument/2006/relationships/image" Target="../media/image-1-98.png"/><Relationship Id="rId99" Type="http://schemas.openxmlformats.org/officeDocument/2006/relationships/image" Target="../media/image-1-99.png"/><Relationship Id="rId100" Type="http://schemas.openxmlformats.org/officeDocument/2006/relationships/image" Target="../media/image-1-100.png"/><Relationship Id="rId101" Type="http://schemas.openxmlformats.org/officeDocument/2006/relationships/image" Target="../media/image-1-101.png"/><Relationship Id="rId102" Type="http://schemas.openxmlformats.org/officeDocument/2006/relationships/image" Target="../media/image-1-102.jpeg"/><Relationship Id="rId103" Type="http://schemas.openxmlformats.org/officeDocument/2006/relationships/image" Target="../media/image-1-103.png"/><Relationship Id="rId104" Type="http://schemas.openxmlformats.org/officeDocument/2006/relationships/image" Target="../media/image-1-104.png"/><Relationship Id="rId105" Type="http://schemas.openxmlformats.org/officeDocument/2006/relationships/image" Target="../media/image-1-105.png"/><Relationship Id="rId106" Type="http://schemas.openxmlformats.org/officeDocument/2006/relationships/image" Target="../media/image-1-106.jpeg"/><Relationship Id="rId107" Type="http://schemas.openxmlformats.org/officeDocument/2006/relationships/image" Target="../media/image-1-107.jpeg"/><Relationship Id="rId108" Type="http://schemas.openxmlformats.org/officeDocument/2006/relationships/image" Target="../media/image-1-108.jpeg"/><Relationship Id="rId109" Type="http://schemas.openxmlformats.org/officeDocument/2006/relationships/image" Target="../media/image-1-109.jpeg"/><Relationship Id="rId110" Type="http://schemas.openxmlformats.org/officeDocument/2006/relationships/slideLayout" Target="../slideLayouts/slideLayout1.xml"/><Relationship Id="rId1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6234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3" name="Shape 1"/>
          <p:cNvSpPr/>
          <p:nvPr/>
        </p:nvSpPr>
        <p:spPr>
          <a:xfrm>
            <a:off x="4692316" y="4046986"/>
            <a:ext cx="4293086" cy="1000809"/>
          </a:xfrm>
          <a:prstGeom prst="rect">
            <a:avLst/>
          </a:prstGeom>
          <a:solidFill>
            <a:srgbClr val="FDFEF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71287" y="4626689"/>
            <a:ext cx="114847" cy="12578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9976" y="4604813"/>
            <a:ext cx="114847" cy="131254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287" y="4396995"/>
            <a:ext cx="120316" cy="131254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9976" y="4380589"/>
            <a:ext cx="120316" cy="131254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287" y="4183708"/>
            <a:ext cx="114847" cy="131254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9976" y="4156364"/>
            <a:ext cx="114847" cy="131254"/>
          </a:xfrm>
          <a:prstGeom prst="rect">
            <a:avLst/>
          </a:prstGeom>
        </p:spPr>
      </p:pic>
      <p:sp>
        <p:nvSpPr>
          <p:cNvPr id="10" name="Text 2"/>
          <p:cNvSpPr/>
          <p:nvPr/>
        </p:nvSpPr>
        <p:spPr>
          <a:xfrm>
            <a:off x="7273636" y="4648565"/>
            <a:ext cx="1275347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dirty="0">
                <a:solidFill>
                  <a:srgbClr val="7C7C7C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Outcome recording and action tracking</a:t>
            </a:r>
            <a:endParaRPr lang="en-US" sz="577" dirty="0"/>
          </a:p>
        </p:txBody>
      </p:sp>
      <p:sp>
        <p:nvSpPr>
          <p:cNvPr id="11" name="Text 3"/>
          <p:cNvSpPr/>
          <p:nvPr/>
        </p:nvSpPr>
        <p:spPr>
          <a:xfrm>
            <a:off x="5080608" y="4626689"/>
            <a:ext cx="1221205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7979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Risk-area mapping and routing logic</a:t>
            </a:r>
            <a:endParaRPr lang="en-US" sz="560" dirty="0"/>
          </a:p>
        </p:txBody>
      </p:sp>
      <p:sp>
        <p:nvSpPr>
          <p:cNvPr id="12" name="Text 4"/>
          <p:cNvSpPr/>
          <p:nvPr/>
        </p:nvSpPr>
        <p:spPr>
          <a:xfrm>
            <a:off x="7273636" y="4418871"/>
            <a:ext cx="1534026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81818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Consolidation, evidence capture, and audit trail</a:t>
            </a:r>
            <a:endParaRPr lang="en-US" sz="560" dirty="0"/>
          </a:p>
        </p:txBody>
      </p:sp>
      <p:sp>
        <p:nvSpPr>
          <p:cNvPr id="13" name="Text 5"/>
          <p:cNvSpPr/>
          <p:nvPr/>
        </p:nvSpPr>
        <p:spPr>
          <a:xfrm>
            <a:off x="5080608" y="4402464"/>
            <a:ext cx="1732547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808081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 case structuring and information quality checks</a:t>
            </a:r>
            <a:endParaRPr lang="en-US" sz="560" dirty="0"/>
          </a:p>
        </p:txBody>
      </p:sp>
      <p:sp>
        <p:nvSpPr>
          <p:cNvPr id="14" name="Text 6"/>
          <p:cNvSpPr/>
          <p:nvPr/>
        </p:nvSpPr>
        <p:spPr>
          <a:xfrm>
            <a:off x="7273636" y="4211053"/>
            <a:ext cx="1293395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7B7B7B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Shared review workflow for 2LoD teams</a:t>
            </a:r>
            <a:endParaRPr lang="en-US" sz="590" dirty="0"/>
          </a:p>
        </p:txBody>
      </p:sp>
      <p:sp>
        <p:nvSpPr>
          <p:cNvPr id="15" name="Text 7"/>
          <p:cNvSpPr/>
          <p:nvPr/>
        </p:nvSpPr>
        <p:spPr>
          <a:xfrm>
            <a:off x="5080608" y="4167301"/>
            <a:ext cx="1215189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dirty="0">
                <a:solidFill>
                  <a:srgbClr val="7D7D7D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Data ingestion from existing sources</a:t>
            </a:r>
            <a:endParaRPr lang="en-US" sz="594" dirty="0"/>
          </a:p>
        </p:txBody>
      </p:sp>
      <p:sp>
        <p:nvSpPr>
          <p:cNvPr id="16" name="Shape 8"/>
          <p:cNvSpPr/>
          <p:nvPr/>
        </p:nvSpPr>
        <p:spPr>
          <a:xfrm>
            <a:off x="4692316" y="3893856"/>
            <a:ext cx="4293086" cy="153129"/>
          </a:xfrm>
          <a:prstGeom prst="rect">
            <a:avLst/>
          </a:prstGeom>
          <a:solidFill>
            <a:srgbClr val="013E18"/>
          </a:solidFill>
          <a:ln/>
        </p:spPr>
      </p:sp>
      <p:sp>
        <p:nvSpPr>
          <p:cNvPr id="17" name="Text 9"/>
          <p:cNvSpPr/>
          <p:nvPr/>
        </p:nvSpPr>
        <p:spPr>
          <a:xfrm>
            <a:off x="5906411" y="3926670"/>
            <a:ext cx="1540042" cy="1148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ADC2B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the tool needs to support</a:t>
            </a:r>
            <a:endParaRPr lang="en-US" sz="792" dirty="0"/>
          </a:p>
        </p:txBody>
      </p:sp>
      <p:sp>
        <p:nvSpPr>
          <p:cNvPr id="18" name="Shape 10"/>
          <p:cNvSpPr/>
          <p:nvPr/>
        </p:nvSpPr>
        <p:spPr>
          <a:xfrm>
            <a:off x="98440" y="4030579"/>
            <a:ext cx="4468091" cy="1017215"/>
          </a:xfrm>
          <a:prstGeom prst="rect">
            <a:avLst/>
          </a:prstGeom>
          <a:solidFill>
            <a:srgbClr val="FDFDFD"/>
          </a:solidFill>
          <a:ln/>
        </p:spPr>
      </p:sp>
      <p:sp>
        <p:nvSpPr>
          <p:cNvPr id="19" name="Shape 11"/>
          <p:cNvSpPr/>
          <p:nvPr/>
        </p:nvSpPr>
        <p:spPr>
          <a:xfrm>
            <a:off x="169536" y="4763411"/>
            <a:ext cx="4325900" cy="229694"/>
          </a:xfrm>
          <a:prstGeom prst="rect">
            <a:avLst/>
          </a:prstGeom>
          <a:solidFill>
            <a:srgbClr val="F2F7F2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225" y="4823569"/>
            <a:ext cx="114847" cy="12031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03139" y="4829038"/>
            <a:ext cx="3338763" cy="1093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3" dirty="0">
                <a:solidFill>
                  <a:srgbClr val="7F817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Examples may include forms, wikipages, workflow tools, document stores, or platform Ul.</a:t>
            </a:r>
            <a:endParaRPr lang="en-US" sz="633" dirty="0"/>
          </a:p>
        </p:txBody>
      </p:sp>
      <p:sp>
        <p:nvSpPr>
          <p:cNvPr id="22" name="Shape 13"/>
          <p:cNvSpPr/>
          <p:nvPr/>
        </p:nvSpPr>
        <p:spPr>
          <a:xfrm>
            <a:off x="3625880" y="4118081"/>
            <a:ext cx="853148" cy="541421"/>
          </a:xfrm>
          <a:prstGeom prst="rect">
            <a:avLst/>
          </a:prstGeom>
          <a:solidFill>
            <a:srgbClr val="FDFEFD"/>
          </a:solidFill>
          <a:ln/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8545" y="4172770"/>
            <a:ext cx="202349" cy="235163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729789" y="4435278"/>
            <a:ext cx="715879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1" b="1" dirty="0">
                <a:solidFill>
                  <a:srgbClr val="6C6C6C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Assessment record /</a:t>
            </a:r>
            <a:endParaRPr lang="en-US" sz="611" dirty="0"/>
          </a:p>
          <a:p>
            <a:pPr algn="l" indent="0" marL="0">
              <a:buNone/>
            </a:pPr>
            <a:r>
              <a:rPr lang="en-US" sz="611" b="1" dirty="0">
                <a:solidFill>
                  <a:srgbClr val="6C6C6C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evidence repository</a:t>
            </a:r>
            <a:endParaRPr lang="en-US" sz="611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96187" y="4314962"/>
            <a:ext cx="202349" cy="71096"/>
          </a:xfrm>
          <a:prstGeom prst="rect">
            <a:avLst/>
          </a:prstGeom>
        </p:spPr>
      </p:pic>
      <p:sp>
        <p:nvSpPr>
          <p:cNvPr id="26" name="Shape 15"/>
          <p:cNvSpPr/>
          <p:nvPr/>
        </p:nvSpPr>
        <p:spPr>
          <a:xfrm>
            <a:off x="2444598" y="4123550"/>
            <a:ext cx="935182" cy="535952"/>
          </a:xfrm>
          <a:prstGeom prst="rect">
            <a:avLst/>
          </a:prstGeom>
          <a:solidFill>
            <a:srgbClr val="FDFEFD"/>
          </a:solidFill>
          <a:ln/>
        </p:spPr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32100" y="4194646"/>
            <a:ext cx="218756" cy="185943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2592258" y="4418871"/>
            <a:ext cx="788068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dirty="0">
                <a:solidFill>
                  <a:srgbClr val="82828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Structured review pack /</a:t>
            </a:r>
            <a:endParaRPr lang="en-US" sz="543" dirty="0"/>
          </a:p>
          <a:p>
            <a:pPr algn="l" indent="0" marL="0">
              <a:buNone/>
            </a:pPr>
            <a:r>
              <a:rPr lang="en-US" sz="543" dirty="0">
                <a:solidFill>
                  <a:srgbClr val="828282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collaboration space</a:t>
            </a:r>
            <a:endParaRPr lang="en-US" sz="543" dirty="0"/>
          </a:p>
        </p:txBody>
      </p:sp>
      <p:sp>
        <p:nvSpPr>
          <p:cNvPr id="29" name="Text 17"/>
          <p:cNvSpPr/>
          <p:nvPr/>
        </p:nvSpPr>
        <p:spPr>
          <a:xfrm>
            <a:off x="2800077" y="4167301"/>
            <a:ext cx="517358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2" b="1" dirty="0">
                <a:solidFill>
                  <a:srgbClr val="687B6D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Shared review</a:t>
            </a:r>
            <a:endParaRPr lang="en-US" sz="642" dirty="0"/>
          </a:p>
          <a:p>
            <a:pPr algn="l" indent="0" marL="0">
              <a:buNone/>
            </a:pPr>
            <a:r>
              <a:rPr lang="en-US" sz="642" b="1" dirty="0">
                <a:solidFill>
                  <a:srgbClr val="687B6D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workspace</a:t>
            </a:r>
            <a:endParaRPr lang="en-US" sz="642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20373" y="4314962"/>
            <a:ext cx="202349" cy="71096"/>
          </a:xfrm>
          <a:prstGeom prst="rect">
            <a:avLst/>
          </a:prstGeom>
        </p:spPr>
      </p:pic>
      <p:sp>
        <p:nvSpPr>
          <p:cNvPr id="31" name="Shape 18"/>
          <p:cNvSpPr/>
          <p:nvPr/>
        </p:nvSpPr>
        <p:spPr>
          <a:xfrm>
            <a:off x="1389100" y="4123550"/>
            <a:ext cx="814866" cy="535952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40670" y="4172770"/>
            <a:ext cx="295321" cy="262507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536761" y="4473560"/>
            <a:ext cx="583532" cy="10390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6F6F6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Risk Triaging Tool</a:t>
            </a:r>
            <a:endParaRPr lang="en-US" sz="56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70344" y="4314962"/>
            <a:ext cx="196880" cy="71096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185943" y="4118081"/>
            <a:ext cx="962526" cy="541421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46100" y="4211053"/>
            <a:ext cx="191411" cy="284383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514077" y="4260273"/>
            <a:ext cx="691816" cy="3718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61" dirty="0">
                <a:solidFill>
                  <a:srgbClr val="7E7E7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Intake forms, governance</a:t>
            </a:r>
            <a:endParaRPr lang="en-US" sz="461" dirty="0"/>
          </a:p>
          <a:p>
            <a:pPr algn="l" indent="0" marL="0">
              <a:buNone/>
            </a:pPr>
            <a:r>
              <a:rPr lang="en-US" sz="461" dirty="0">
                <a:solidFill>
                  <a:srgbClr val="7E7E7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trackers, existing</a:t>
            </a:r>
            <a:endParaRPr lang="en-US" sz="461" dirty="0"/>
          </a:p>
          <a:p>
            <a:pPr algn="l" indent="0" marL="0">
              <a:buNone/>
            </a:pPr>
            <a:r>
              <a:rPr lang="en-US" sz="461" dirty="0">
                <a:solidFill>
                  <a:srgbClr val="7E7E7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documentation,</a:t>
            </a:r>
            <a:endParaRPr lang="en-US" sz="461" dirty="0"/>
          </a:p>
          <a:p>
            <a:pPr algn="l" indent="0" marL="0">
              <a:buNone/>
            </a:pPr>
            <a:r>
              <a:rPr lang="en-US" sz="461" dirty="0">
                <a:solidFill>
                  <a:srgbClr val="7E7E7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supporting evidence</a:t>
            </a:r>
            <a:endParaRPr lang="en-US" sz="461" dirty="0"/>
          </a:p>
        </p:txBody>
      </p:sp>
      <p:sp>
        <p:nvSpPr>
          <p:cNvPr id="38" name="Text 22"/>
          <p:cNvSpPr/>
          <p:nvPr/>
        </p:nvSpPr>
        <p:spPr>
          <a:xfrm>
            <a:off x="519545" y="4161833"/>
            <a:ext cx="475247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2" b="1" dirty="0">
                <a:solidFill>
                  <a:srgbClr val="6B7F7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Input sources</a:t>
            </a:r>
            <a:endParaRPr lang="en-US" sz="642" dirty="0"/>
          </a:p>
        </p:txBody>
      </p:sp>
      <p:sp>
        <p:nvSpPr>
          <p:cNvPr id="39" name="Shape 23"/>
          <p:cNvSpPr/>
          <p:nvPr/>
        </p:nvSpPr>
        <p:spPr>
          <a:xfrm>
            <a:off x="109378" y="3893856"/>
            <a:ext cx="4451684" cy="147660"/>
          </a:xfrm>
          <a:prstGeom prst="rect">
            <a:avLst/>
          </a:prstGeom>
          <a:solidFill>
            <a:srgbClr val="013E18"/>
          </a:solidFill>
          <a:ln/>
        </p:spPr>
      </p:sp>
      <p:sp>
        <p:nvSpPr>
          <p:cNvPr id="40" name="Text 24"/>
          <p:cNvSpPr/>
          <p:nvPr/>
        </p:nvSpPr>
        <p:spPr>
          <a:xfrm>
            <a:off x="1208627" y="3915732"/>
            <a:ext cx="2123574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1" b="1" dirty="0">
                <a:solidFill>
                  <a:srgbClr val="ACC2B3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Where data comes from and where it goes</a:t>
            </a:r>
            <a:endParaRPr lang="en-US" sz="801" dirty="0"/>
          </a:p>
        </p:txBody>
      </p:sp>
      <p:sp>
        <p:nvSpPr>
          <p:cNvPr id="41" name="Shape 25"/>
          <p:cNvSpPr/>
          <p:nvPr/>
        </p:nvSpPr>
        <p:spPr>
          <a:xfrm>
            <a:off x="8176005" y="946120"/>
            <a:ext cx="885962" cy="2586789"/>
          </a:xfrm>
          <a:prstGeom prst="rect">
            <a:avLst/>
          </a:prstGeom>
          <a:solidFill>
            <a:srgbClr val="FDFDFD"/>
          </a:solidFill>
          <a:ln/>
        </p:spPr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5225" y="3051646"/>
            <a:ext cx="229694" cy="267976"/>
          </a:xfrm>
          <a:prstGeom prst="rect">
            <a:avLst/>
          </a:prstGeom>
        </p:spPr>
      </p:pic>
      <p:pic>
        <p:nvPicPr>
          <p:cNvPr id="4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30694" y="2936799"/>
            <a:ext cx="771115" cy="10938"/>
          </a:xfrm>
          <a:prstGeom prst="rect">
            <a:avLst/>
          </a:prstGeom>
        </p:spPr>
      </p:pic>
      <p:sp>
        <p:nvSpPr>
          <p:cNvPr id="44" name="Text 26"/>
          <p:cNvSpPr/>
          <p:nvPr/>
        </p:nvSpPr>
        <p:spPr>
          <a:xfrm>
            <a:off x="8531483" y="2575852"/>
            <a:ext cx="523374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5" b="1" dirty="0">
                <a:solidFill>
                  <a:srgbClr val="768F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Open actions/</a:t>
            </a:r>
            <a:endParaRPr lang="en-US" sz="655" dirty="0"/>
          </a:p>
          <a:p>
            <a:pPr algn="l" indent="0" marL="0">
              <a:buNone/>
            </a:pPr>
            <a:r>
              <a:rPr lang="en-US" sz="655" b="1" dirty="0">
                <a:solidFill>
                  <a:srgbClr val="768F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conditions</a:t>
            </a:r>
            <a:endParaRPr lang="en-US" sz="655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2569" y="2548507"/>
            <a:ext cx="180474" cy="273445"/>
          </a:xfrm>
          <a:prstGeom prst="rect">
            <a:avLst/>
          </a:prstGeom>
        </p:spPr>
      </p:pic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19756" y="2433660"/>
            <a:ext cx="787522" cy="27344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8531483" y="2094589"/>
            <a:ext cx="487279" cy="22969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dirty="0">
                <a:solidFill>
                  <a:srgbClr val="748B7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Rationale and</a:t>
            </a:r>
            <a:endParaRPr lang="en-US" sz="624" dirty="0"/>
          </a:p>
          <a:p>
            <a:pPr algn="l" indent="0" marL="0">
              <a:buNone/>
            </a:pPr>
            <a:r>
              <a:rPr lang="en-US" sz="624" dirty="0">
                <a:solidFill>
                  <a:srgbClr val="748B7A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evidence trail</a:t>
            </a:r>
            <a:endParaRPr lang="en-US" sz="624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258038" y="2072713"/>
            <a:ext cx="169536" cy="257038"/>
          </a:xfrm>
          <a:prstGeom prst="rect">
            <a:avLst/>
          </a:prstGeom>
        </p:spPr>
      </p:pic>
      <p:pic>
        <p:nvPicPr>
          <p:cNvPr id="49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236163" y="1968804"/>
            <a:ext cx="765646" cy="10938"/>
          </a:xfrm>
          <a:prstGeom prst="rect">
            <a:avLst/>
          </a:prstGeom>
        </p:spPr>
      </p:pic>
      <p:sp>
        <p:nvSpPr>
          <p:cNvPr id="50" name="Text 28"/>
          <p:cNvSpPr/>
          <p:nvPr/>
        </p:nvSpPr>
        <p:spPr>
          <a:xfrm>
            <a:off x="8536952" y="1596919"/>
            <a:ext cx="553453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dirty="0">
                <a:solidFill>
                  <a:srgbClr val="66826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Risk area-specific</a:t>
            </a:r>
            <a:endParaRPr lang="en-US" sz="581" dirty="0"/>
          </a:p>
          <a:p>
            <a:pPr algn="l" indent="0" marL="0">
              <a:buNone/>
            </a:pPr>
            <a:r>
              <a:rPr lang="en-US" sz="581" dirty="0">
                <a:solidFill>
                  <a:srgbClr val="66826E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views</a:t>
            </a:r>
            <a:endParaRPr lang="en-US" sz="581" dirty="0"/>
          </a:p>
        </p:txBody>
      </p:sp>
      <p:pic>
        <p:nvPicPr>
          <p:cNvPr id="51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47100" y="1591450"/>
            <a:ext cx="218756" cy="235163"/>
          </a:xfrm>
          <a:prstGeom prst="rect">
            <a:avLst/>
          </a:prstGeom>
        </p:spPr>
      </p:pic>
      <p:pic>
        <p:nvPicPr>
          <p:cNvPr id="52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219756" y="1471134"/>
            <a:ext cx="787522" cy="27344"/>
          </a:xfrm>
          <a:prstGeom prst="rect">
            <a:avLst/>
          </a:prstGeom>
        </p:spPr>
      </p:pic>
      <p:sp>
        <p:nvSpPr>
          <p:cNvPr id="53" name="Text 29"/>
          <p:cNvSpPr/>
          <p:nvPr/>
        </p:nvSpPr>
        <p:spPr>
          <a:xfrm>
            <a:off x="8542421" y="1137531"/>
            <a:ext cx="433137" cy="21875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6" b="1" dirty="0">
                <a:solidFill>
                  <a:srgbClr val="667D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Overall risk</a:t>
            </a:r>
            <a:endParaRPr lang="en-US" sz="706" dirty="0"/>
          </a:p>
          <a:p>
            <a:pPr algn="l" indent="0" marL="0">
              <a:buNone/>
            </a:pPr>
            <a:r>
              <a:rPr lang="en-US" sz="706" b="1" dirty="0">
                <a:solidFill>
                  <a:srgbClr val="667D6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outcome</a:t>
            </a:r>
            <a:endParaRPr lang="en-US" sz="706" dirty="0"/>
          </a:p>
        </p:txBody>
      </p:sp>
      <p:pic>
        <p:nvPicPr>
          <p:cNvPr id="5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258038" y="1077373"/>
            <a:ext cx="207818" cy="284383"/>
          </a:xfrm>
          <a:prstGeom prst="rect">
            <a:avLst/>
          </a:prstGeom>
        </p:spPr>
      </p:pic>
      <p:sp>
        <p:nvSpPr>
          <p:cNvPr id="55" name="Text 30"/>
          <p:cNvSpPr/>
          <p:nvPr/>
        </p:nvSpPr>
        <p:spPr>
          <a:xfrm>
            <a:off x="8515077" y="3292278"/>
            <a:ext cx="55345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b="1" dirty="0">
                <a:solidFill>
                  <a:srgbClr val="778E7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to use case owner</a:t>
            </a:r>
            <a:endParaRPr lang="en-US" sz="525" dirty="0"/>
          </a:p>
        </p:txBody>
      </p:sp>
      <p:sp>
        <p:nvSpPr>
          <p:cNvPr id="56" name="Text 31"/>
          <p:cNvSpPr/>
          <p:nvPr/>
        </p:nvSpPr>
        <p:spPr>
          <a:xfrm>
            <a:off x="8509608" y="3057115"/>
            <a:ext cx="493295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6D867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Confirmed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6D867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communication</a:t>
            </a:r>
            <a:endParaRPr lang="en-US" sz="564" dirty="0"/>
          </a:p>
        </p:txBody>
      </p:sp>
      <p:pic>
        <p:nvPicPr>
          <p:cNvPr id="57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876" y="1050029"/>
            <a:ext cx="8093971" cy="2772732"/>
          </a:xfrm>
          <a:prstGeom prst="rect">
            <a:avLst/>
          </a:prstGeom>
        </p:spPr>
      </p:pic>
      <p:sp>
        <p:nvSpPr>
          <p:cNvPr id="58" name="Shape 32"/>
          <p:cNvSpPr/>
          <p:nvPr/>
        </p:nvSpPr>
        <p:spPr>
          <a:xfrm>
            <a:off x="7131445" y="3412593"/>
            <a:ext cx="820335" cy="350010"/>
          </a:xfrm>
          <a:prstGeom prst="rect">
            <a:avLst/>
          </a:prstGeom>
          <a:solidFill>
            <a:srgbClr val="F9FAFA"/>
          </a:solidFill>
          <a:ln/>
        </p:spPr>
      </p:sp>
      <p:pic>
        <p:nvPicPr>
          <p:cNvPr id="59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7180665" y="3472751"/>
            <a:ext cx="218756" cy="207818"/>
          </a:xfrm>
          <a:prstGeom prst="rect">
            <a:avLst/>
          </a:prstGeom>
        </p:spPr>
      </p:pic>
      <p:sp>
        <p:nvSpPr>
          <p:cNvPr id="60" name="Text 33"/>
          <p:cNvSpPr/>
          <p:nvPr/>
        </p:nvSpPr>
        <p:spPr>
          <a:xfrm>
            <a:off x="7465048" y="3439938"/>
            <a:ext cx="360947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dirty="0">
                <a:solidFill>
                  <a:srgbClr val="69696A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Output:</a:t>
            </a:r>
            <a:endParaRPr lang="en-US" sz="538" dirty="0"/>
          </a:p>
          <a:p>
            <a:pPr algn="l" indent="0" marL="0">
              <a:buNone/>
            </a:pPr>
            <a:r>
              <a:rPr lang="en-US" sz="538" dirty="0">
                <a:solidFill>
                  <a:srgbClr val="69696A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Final triage</a:t>
            </a:r>
            <a:endParaRPr lang="en-US" sz="538" dirty="0"/>
          </a:p>
          <a:p>
            <a:pPr algn="l" indent="0" marL="0">
              <a:buNone/>
            </a:pPr>
            <a:r>
              <a:rPr lang="en-US" sz="538" dirty="0">
                <a:solidFill>
                  <a:srgbClr val="69696A"/>
                </a:solidFill>
                <a:latin typeface="Signika" pitchFamily="34" charset="0"/>
                <a:ea typeface="Signika" pitchFamily="34" charset="-122"/>
                <a:cs typeface="Signika" pitchFamily="34" charset="-120"/>
              </a:rPr>
              <a:t>outcome</a:t>
            </a:r>
            <a:endParaRPr lang="en-US" sz="538" dirty="0"/>
          </a:p>
        </p:txBody>
      </p:sp>
      <p:sp>
        <p:nvSpPr>
          <p:cNvPr id="61" name="Shape 34"/>
          <p:cNvSpPr/>
          <p:nvPr/>
        </p:nvSpPr>
        <p:spPr>
          <a:xfrm>
            <a:off x="7120507" y="2739919"/>
            <a:ext cx="864086" cy="246100"/>
          </a:xfrm>
          <a:prstGeom prst="rect">
            <a:avLst/>
          </a:prstGeom>
          <a:solidFill>
            <a:srgbClr val="F3F7F2"/>
          </a:solidFill>
          <a:ln/>
        </p:spPr>
      </p:sp>
      <p:sp>
        <p:nvSpPr>
          <p:cNvPr id="62" name="Text 35"/>
          <p:cNvSpPr/>
          <p:nvPr/>
        </p:nvSpPr>
        <p:spPr>
          <a:xfrm>
            <a:off x="7222502" y="2756325"/>
            <a:ext cx="643689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8" b="1" dirty="0">
                <a:solidFill>
                  <a:srgbClr val="717873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Input: Consolidated</a:t>
            </a:r>
            <a:endParaRPr lang="en-US" sz="568" dirty="0"/>
          </a:p>
          <a:p>
            <a:pPr algn="ctr" indent="0" marL="0">
              <a:buNone/>
            </a:pPr>
            <a:r>
              <a:rPr lang="en-US" sz="568" b="1" dirty="0">
                <a:solidFill>
                  <a:srgbClr val="717873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assessment</a:t>
            </a:r>
            <a:endParaRPr lang="en-US" sz="568" dirty="0"/>
          </a:p>
        </p:txBody>
      </p:sp>
      <p:sp>
        <p:nvSpPr>
          <p:cNvPr id="63" name="Shape 36"/>
          <p:cNvSpPr/>
          <p:nvPr/>
        </p:nvSpPr>
        <p:spPr>
          <a:xfrm>
            <a:off x="6065010" y="2734450"/>
            <a:ext cx="907837" cy="213287"/>
          </a:xfrm>
          <a:prstGeom prst="rect">
            <a:avLst/>
          </a:prstGeom>
          <a:solidFill>
            <a:srgbClr val="F3F7F2"/>
          </a:solidFill>
          <a:ln/>
        </p:spPr>
      </p:sp>
      <p:sp>
        <p:nvSpPr>
          <p:cNvPr id="64" name="Text 37"/>
          <p:cNvSpPr/>
          <p:nvPr/>
        </p:nvSpPr>
        <p:spPr>
          <a:xfrm>
            <a:off x="6354861" y="2789139"/>
            <a:ext cx="535405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dirty="0">
                <a:solidFill>
                  <a:srgbClr val="757776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Risk team inputs</a:t>
            </a:r>
            <a:endParaRPr lang="en-US" sz="547" dirty="0"/>
          </a:p>
        </p:txBody>
      </p:sp>
      <p:sp>
        <p:nvSpPr>
          <p:cNvPr id="65" name="Text 38"/>
          <p:cNvSpPr/>
          <p:nvPr/>
        </p:nvSpPr>
        <p:spPr>
          <a:xfrm>
            <a:off x="6168919" y="2789139"/>
            <a:ext cx="202349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3" dirty="0">
                <a:solidFill>
                  <a:srgbClr val="66786A"/>
                </a:solidFill>
                <a:latin typeface="Ubuntu Sans Mono" pitchFamily="34" charset="0"/>
                <a:ea typeface="Ubuntu Sans Mono" pitchFamily="34" charset="-122"/>
                <a:cs typeface="Ubuntu Sans Mono" pitchFamily="34" charset="-120"/>
              </a:rPr>
              <a:t>Input:</a:t>
            </a:r>
            <a:endParaRPr lang="en-US" sz="383" dirty="0"/>
          </a:p>
        </p:txBody>
      </p:sp>
      <p:pic>
        <p:nvPicPr>
          <p:cNvPr id="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943885" y="1241440"/>
            <a:ext cx="10938" cy="2570383"/>
          </a:xfrm>
          <a:prstGeom prst="rect">
            <a:avLst/>
          </a:prstGeom>
        </p:spPr>
      </p:pic>
      <p:sp>
        <p:nvSpPr>
          <p:cNvPr id="67" name="Shape 39"/>
          <p:cNvSpPr/>
          <p:nvPr/>
        </p:nvSpPr>
        <p:spPr>
          <a:xfrm>
            <a:off x="2723512" y="3401656"/>
            <a:ext cx="847679" cy="344541"/>
          </a:xfrm>
          <a:prstGeom prst="rect">
            <a:avLst/>
          </a:prstGeom>
          <a:solidFill>
            <a:srgbClr val="F9FAFA"/>
          </a:solidFill>
          <a:ln/>
        </p:spPr>
      </p:sp>
      <p:pic>
        <p:nvPicPr>
          <p:cNvPr id="6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83670" y="3456344"/>
            <a:ext cx="142191" cy="218756"/>
          </a:xfrm>
          <a:prstGeom prst="rect">
            <a:avLst/>
          </a:prstGeom>
        </p:spPr>
      </p:pic>
      <p:sp>
        <p:nvSpPr>
          <p:cNvPr id="69" name="Text 40"/>
          <p:cNvSpPr/>
          <p:nvPr/>
        </p:nvSpPr>
        <p:spPr>
          <a:xfrm>
            <a:off x="2991488" y="3538378"/>
            <a:ext cx="481263" cy="1859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dirty="0">
                <a:solidFill>
                  <a:srgbClr val="777777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Validated triage</a:t>
            </a:r>
            <a:endParaRPr lang="en-US" sz="577" dirty="0"/>
          </a:p>
          <a:p>
            <a:pPr algn="l" indent="0" marL="0">
              <a:buNone/>
            </a:pPr>
            <a:r>
              <a:rPr lang="en-US" sz="577" dirty="0">
                <a:solidFill>
                  <a:srgbClr val="777777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profile</a:t>
            </a:r>
            <a:endParaRPr lang="en-US" sz="577" dirty="0"/>
          </a:p>
        </p:txBody>
      </p:sp>
      <p:sp>
        <p:nvSpPr>
          <p:cNvPr id="70" name="Text 41"/>
          <p:cNvSpPr/>
          <p:nvPr/>
        </p:nvSpPr>
        <p:spPr>
          <a:xfrm>
            <a:off x="2996957" y="3445407"/>
            <a:ext cx="262507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3" b="1" dirty="0">
                <a:solidFill>
                  <a:srgbClr val="6D6D6D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Output:</a:t>
            </a:r>
            <a:endParaRPr lang="en-US" sz="603" dirty="0"/>
          </a:p>
        </p:txBody>
      </p:sp>
      <p:pic>
        <p:nvPicPr>
          <p:cNvPr id="71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095397" y="3346967"/>
            <a:ext cx="76565" cy="60158"/>
          </a:xfrm>
          <a:prstGeom prst="rect">
            <a:avLst/>
          </a:prstGeom>
        </p:spPr>
      </p:pic>
      <p:sp>
        <p:nvSpPr>
          <p:cNvPr id="72" name="Shape 42"/>
          <p:cNvSpPr/>
          <p:nvPr/>
        </p:nvSpPr>
        <p:spPr>
          <a:xfrm>
            <a:off x="6065010" y="1930522"/>
            <a:ext cx="907837" cy="803928"/>
          </a:xfrm>
          <a:prstGeom prst="rect">
            <a:avLst/>
          </a:prstGeom>
          <a:solidFill>
            <a:srgbClr val="023F19"/>
          </a:solidFill>
          <a:ln/>
        </p:spPr>
      </p:sp>
      <p:pic>
        <p:nvPicPr>
          <p:cNvPr id="73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6114230" y="2510225"/>
            <a:ext cx="32813" cy="38282"/>
          </a:xfrm>
          <a:prstGeom prst="rect">
            <a:avLst/>
          </a:prstGeom>
        </p:spPr>
      </p:pic>
      <p:pic>
        <p:nvPicPr>
          <p:cNvPr id="74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6114230" y="2313344"/>
            <a:ext cx="32813" cy="38282"/>
          </a:xfrm>
          <a:prstGeom prst="rect">
            <a:avLst/>
          </a:prstGeom>
        </p:spPr>
      </p:pic>
      <p:pic>
        <p:nvPicPr>
          <p:cNvPr id="75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6114230" y="2121933"/>
            <a:ext cx="32813" cy="27344"/>
          </a:xfrm>
          <a:prstGeom prst="rect">
            <a:avLst/>
          </a:prstGeom>
        </p:spPr>
      </p:pic>
      <p:pic>
        <p:nvPicPr>
          <p:cNvPr id="76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6114230" y="2018024"/>
            <a:ext cx="32813" cy="27344"/>
          </a:xfrm>
          <a:prstGeom prst="rect">
            <a:avLst/>
          </a:prstGeom>
        </p:spPr>
      </p:pic>
      <p:sp>
        <p:nvSpPr>
          <p:cNvPr id="77" name="Text 43"/>
          <p:cNvSpPr/>
          <p:nvPr/>
        </p:nvSpPr>
        <p:spPr>
          <a:xfrm>
            <a:off x="6174388" y="2493818"/>
            <a:ext cx="842211" cy="1859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8EA79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Confirm engagement path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8EA79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or next action</a:t>
            </a:r>
            <a:endParaRPr lang="en-US" sz="594" dirty="0"/>
          </a:p>
        </p:txBody>
      </p:sp>
      <p:sp>
        <p:nvSpPr>
          <p:cNvPr id="78" name="Text 44"/>
          <p:cNvSpPr/>
          <p:nvPr/>
        </p:nvSpPr>
        <p:spPr>
          <a:xfrm>
            <a:off x="6174388" y="2291469"/>
            <a:ext cx="751974" cy="17500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37" b="1" dirty="0">
                <a:solidFill>
                  <a:srgbClr val="90AB98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Determine overall risk</a:t>
            </a:r>
            <a:endParaRPr lang="en-US" sz="637" dirty="0"/>
          </a:p>
          <a:p>
            <a:pPr algn="l" indent="0" marL="0">
              <a:buNone/>
            </a:pPr>
            <a:r>
              <a:rPr lang="en-US" sz="637" b="1" dirty="0">
                <a:solidFill>
                  <a:srgbClr val="90AB98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outcome and rationale</a:t>
            </a:r>
            <a:endParaRPr lang="en-US" sz="637" dirty="0"/>
          </a:p>
        </p:txBody>
      </p:sp>
      <p:sp>
        <p:nvSpPr>
          <p:cNvPr id="79" name="Text 45"/>
          <p:cNvSpPr/>
          <p:nvPr/>
        </p:nvSpPr>
        <p:spPr>
          <a:xfrm>
            <a:off x="6174388" y="2078182"/>
            <a:ext cx="739942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11" dirty="0">
                <a:solidFill>
                  <a:srgbClr val="89A390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Resolve open items or</a:t>
            </a:r>
            <a:endParaRPr lang="en-US" sz="711" dirty="0"/>
          </a:p>
          <a:p>
            <a:pPr algn="l" indent="0" marL="0">
              <a:buNone/>
            </a:pPr>
            <a:r>
              <a:rPr lang="en-US" sz="711" dirty="0">
                <a:solidFill>
                  <a:srgbClr val="89A390"/>
                </a:solidFill>
                <a:latin typeface="Beiruti" pitchFamily="34" charset="0"/>
                <a:ea typeface="Beiruti" pitchFamily="34" charset="-122"/>
                <a:cs typeface="Beiruti" pitchFamily="34" charset="-120"/>
              </a:rPr>
              <a:t>conflicting views</a:t>
            </a:r>
            <a:endParaRPr lang="en-US" sz="711" dirty="0"/>
          </a:p>
        </p:txBody>
      </p:sp>
      <p:sp>
        <p:nvSpPr>
          <p:cNvPr id="80" name="Text 46"/>
          <p:cNvSpPr/>
          <p:nvPr/>
        </p:nvSpPr>
        <p:spPr>
          <a:xfrm>
            <a:off x="6174388" y="1979742"/>
            <a:ext cx="782053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3" b="1" dirty="0">
                <a:solidFill>
                  <a:srgbClr val="8BA792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Consolidate 2LoD inputs</a:t>
            </a:r>
            <a:endParaRPr lang="en-US" sz="573" dirty="0"/>
          </a:p>
        </p:txBody>
      </p:sp>
      <p:sp>
        <p:nvSpPr>
          <p:cNvPr id="81" name="Shape 47"/>
          <p:cNvSpPr/>
          <p:nvPr/>
        </p:nvSpPr>
        <p:spPr>
          <a:xfrm>
            <a:off x="4998574" y="3418062"/>
            <a:ext cx="858617" cy="339072"/>
          </a:xfrm>
          <a:prstGeom prst="rect">
            <a:avLst/>
          </a:prstGeom>
          <a:solidFill>
            <a:srgbClr val="F9FAFA"/>
          </a:solidFill>
          <a:ln/>
        </p:spPr>
      </p:sp>
      <p:pic>
        <p:nvPicPr>
          <p:cNvPr id="82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042325" y="3483689"/>
            <a:ext cx="218756" cy="175005"/>
          </a:xfrm>
          <a:prstGeom prst="rect">
            <a:avLst/>
          </a:prstGeom>
        </p:spPr>
      </p:pic>
      <p:sp>
        <p:nvSpPr>
          <p:cNvPr id="83" name="Text 48"/>
          <p:cNvSpPr/>
          <p:nvPr/>
        </p:nvSpPr>
        <p:spPr>
          <a:xfrm>
            <a:off x="5304833" y="3461813"/>
            <a:ext cx="505326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dirty="0">
                <a:solidFill>
                  <a:srgbClr val="636364"/>
                </a:solidFill>
                <a:latin typeface="Stylish" pitchFamily="34" charset="0"/>
                <a:ea typeface="Stylish" pitchFamily="34" charset="-122"/>
                <a:cs typeface="Stylish" pitchFamily="34" charset="-120"/>
              </a:rPr>
              <a:t>Output:</a:t>
            </a:r>
            <a:endParaRPr lang="en-US" sz="581" dirty="0"/>
          </a:p>
          <a:p>
            <a:pPr algn="l" indent="0" marL="0">
              <a:buNone/>
            </a:pPr>
            <a:r>
              <a:rPr lang="en-US" sz="581" dirty="0">
                <a:solidFill>
                  <a:srgbClr val="636364"/>
                </a:solidFill>
                <a:latin typeface="Stylish" pitchFamily="34" charset="0"/>
                <a:ea typeface="Stylish" pitchFamily="34" charset="-122"/>
                <a:cs typeface="Stylish" pitchFamily="34" charset="-120"/>
              </a:rPr>
              <a:t>Risk team inputs</a:t>
            </a:r>
            <a:endParaRPr lang="en-US" sz="581" dirty="0"/>
          </a:p>
        </p:txBody>
      </p:sp>
      <p:sp>
        <p:nvSpPr>
          <p:cNvPr id="84" name="Shape 49"/>
          <p:cNvSpPr/>
          <p:nvPr/>
        </p:nvSpPr>
        <p:spPr>
          <a:xfrm>
            <a:off x="6081416" y="3396187"/>
            <a:ext cx="803928" cy="360947"/>
          </a:xfrm>
          <a:prstGeom prst="rect">
            <a:avLst/>
          </a:prstGeom>
          <a:solidFill>
            <a:srgbClr val="F9FAF9"/>
          </a:solidFill>
          <a:ln/>
        </p:spPr>
      </p:sp>
      <p:pic>
        <p:nvPicPr>
          <p:cNvPr id="8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6152512" y="3439938"/>
            <a:ext cx="169536" cy="257038"/>
          </a:xfrm>
          <a:prstGeom prst="rect">
            <a:avLst/>
          </a:prstGeom>
        </p:spPr>
      </p:pic>
      <p:sp>
        <p:nvSpPr>
          <p:cNvPr id="86" name="Text 50"/>
          <p:cNvSpPr/>
          <p:nvPr/>
        </p:nvSpPr>
        <p:spPr>
          <a:xfrm>
            <a:off x="6404081" y="3429000"/>
            <a:ext cx="415089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8" dirty="0">
                <a:solidFill>
                  <a:srgbClr val="69696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Output:</a:t>
            </a:r>
            <a:endParaRPr lang="en-US" sz="538" dirty="0"/>
          </a:p>
          <a:p>
            <a:pPr algn="l" indent="0" marL="0">
              <a:buNone/>
            </a:pPr>
            <a:r>
              <a:rPr lang="en-US" sz="538" dirty="0">
                <a:solidFill>
                  <a:srgbClr val="69696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Consolidated</a:t>
            </a:r>
            <a:endParaRPr lang="en-US" sz="538" dirty="0"/>
          </a:p>
          <a:p>
            <a:pPr algn="l" indent="0" marL="0">
              <a:buNone/>
            </a:pPr>
            <a:r>
              <a:rPr lang="en-US" sz="538" dirty="0">
                <a:solidFill>
                  <a:srgbClr val="69696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assessment</a:t>
            </a:r>
            <a:endParaRPr lang="en-US" sz="538" dirty="0"/>
          </a:p>
        </p:txBody>
      </p:sp>
      <p:sp>
        <p:nvSpPr>
          <p:cNvPr id="87" name="Shape 51"/>
          <p:cNvSpPr/>
          <p:nvPr/>
        </p:nvSpPr>
        <p:spPr>
          <a:xfrm>
            <a:off x="4993105" y="2433660"/>
            <a:ext cx="880493" cy="907837"/>
          </a:xfrm>
          <a:prstGeom prst="rect">
            <a:avLst/>
          </a:prstGeom>
          <a:solidFill>
            <a:srgbClr val="F2F7F2"/>
          </a:solidFill>
          <a:ln/>
        </p:spPr>
      </p:sp>
      <p:pic>
        <p:nvPicPr>
          <p:cNvPr id="88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025919" y="3013364"/>
            <a:ext cx="27344" cy="27344"/>
          </a:xfrm>
          <a:prstGeom prst="rect">
            <a:avLst/>
          </a:prstGeom>
        </p:spPr>
      </p:pic>
      <p:pic>
        <p:nvPicPr>
          <p:cNvPr id="89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025919" y="2821952"/>
            <a:ext cx="27344" cy="27344"/>
          </a:xfrm>
          <a:prstGeom prst="rect">
            <a:avLst/>
          </a:prstGeom>
        </p:spPr>
      </p:pic>
      <p:pic>
        <p:nvPicPr>
          <p:cNvPr id="90" name="Image 36" descr="preencoded.png">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025919" y="2630541"/>
            <a:ext cx="27344" cy="27344"/>
          </a:xfrm>
          <a:prstGeom prst="rect">
            <a:avLst/>
          </a:prstGeom>
        </p:spPr>
      </p:pic>
      <p:pic>
        <p:nvPicPr>
          <p:cNvPr id="91" name="Image 37" descr="preencoded.png">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025919" y="2532100"/>
            <a:ext cx="27344" cy="27344"/>
          </a:xfrm>
          <a:prstGeom prst="rect">
            <a:avLst/>
          </a:prstGeom>
        </p:spPr>
      </p:pic>
      <p:sp>
        <p:nvSpPr>
          <p:cNvPr id="92" name="Text 52"/>
          <p:cNvSpPr/>
          <p:nvPr/>
        </p:nvSpPr>
        <p:spPr>
          <a:xfrm>
            <a:off x="5025919" y="3204775"/>
            <a:ext cx="860258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777C78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Input: Targeted review pack</a:t>
            </a:r>
            <a:endParaRPr lang="en-US" sz="564" dirty="0"/>
          </a:p>
        </p:txBody>
      </p:sp>
      <p:sp>
        <p:nvSpPr>
          <p:cNvPr id="93" name="Text 53"/>
          <p:cNvSpPr/>
          <p:nvPr/>
        </p:nvSpPr>
        <p:spPr>
          <a:xfrm>
            <a:off x="5086077" y="2969612"/>
            <a:ext cx="818147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dirty="0">
                <a:solidFill>
                  <a:srgbClr val="797A7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Add conditions, concerns,</a:t>
            </a:r>
            <a:endParaRPr lang="en-US" sz="547" dirty="0"/>
          </a:p>
          <a:p>
            <a:pPr algn="l" indent="0" marL="0">
              <a:buNone/>
            </a:pPr>
            <a:r>
              <a:rPr lang="en-US" sz="547" dirty="0">
                <a:solidFill>
                  <a:srgbClr val="797A79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 questions</a:t>
            </a:r>
            <a:endParaRPr lang="en-US" sz="547" dirty="0"/>
          </a:p>
        </p:txBody>
      </p:sp>
      <p:sp>
        <p:nvSpPr>
          <p:cNvPr id="94" name="Text 54"/>
          <p:cNvSpPr/>
          <p:nvPr/>
        </p:nvSpPr>
        <p:spPr>
          <a:xfrm>
            <a:off x="5086077" y="2887579"/>
            <a:ext cx="824163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1" dirty="0">
                <a:solidFill>
                  <a:srgbClr val="818381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assessment and comments</a:t>
            </a:r>
            <a:endParaRPr lang="en-US" sz="551" dirty="0"/>
          </a:p>
        </p:txBody>
      </p:sp>
      <p:sp>
        <p:nvSpPr>
          <p:cNvPr id="95" name="Text 55"/>
          <p:cNvSpPr/>
          <p:nvPr/>
        </p:nvSpPr>
        <p:spPr>
          <a:xfrm>
            <a:off x="5091545" y="2789139"/>
            <a:ext cx="547437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7B7D7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Provide risk-area</a:t>
            </a:r>
            <a:endParaRPr lang="en-US" sz="568" dirty="0"/>
          </a:p>
        </p:txBody>
      </p:sp>
      <p:sp>
        <p:nvSpPr>
          <p:cNvPr id="96" name="Text 56"/>
          <p:cNvSpPr/>
          <p:nvPr/>
        </p:nvSpPr>
        <p:spPr>
          <a:xfrm>
            <a:off x="5091545" y="2592258"/>
            <a:ext cx="830179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1" dirty="0">
                <a:solidFill>
                  <a:srgbClr val="7C7E7C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Request more information</a:t>
            </a:r>
            <a:endParaRPr lang="en-US" sz="611" dirty="0"/>
          </a:p>
          <a:p>
            <a:pPr algn="l" indent="0" marL="0">
              <a:buNone/>
            </a:pPr>
            <a:r>
              <a:rPr lang="en-US" sz="611" dirty="0">
                <a:solidFill>
                  <a:srgbClr val="7C7E7C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if needed</a:t>
            </a:r>
            <a:endParaRPr lang="en-US" sz="611" dirty="0"/>
          </a:p>
        </p:txBody>
      </p:sp>
      <p:sp>
        <p:nvSpPr>
          <p:cNvPr id="97" name="Text 57"/>
          <p:cNvSpPr/>
          <p:nvPr/>
        </p:nvSpPr>
        <p:spPr>
          <a:xfrm>
            <a:off x="5091545" y="2499287"/>
            <a:ext cx="818147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dirty="0">
                <a:solidFill>
                  <a:srgbClr val="7E807E"/>
                </a:solidFill>
                <a:latin typeface="Voltaire" pitchFamily="34" charset="0"/>
                <a:ea typeface="Voltaire" pitchFamily="34" charset="-122"/>
                <a:cs typeface="Voltaire" pitchFamily="34" charset="-120"/>
              </a:rPr>
              <a:t>Review relevant information</a:t>
            </a:r>
            <a:endParaRPr lang="en-US" sz="568" dirty="0"/>
          </a:p>
        </p:txBody>
      </p:sp>
      <p:pic>
        <p:nvPicPr>
          <p:cNvPr id="98" name="Image 38" descr="preencoded.png">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5884536" y="1039091"/>
            <a:ext cx="180474" cy="2767263"/>
          </a:xfrm>
          <a:prstGeom prst="rect">
            <a:avLst/>
          </a:prstGeom>
        </p:spPr>
      </p:pic>
      <p:pic>
        <p:nvPicPr>
          <p:cNvPr id="99" name="Image 39" descr="preencoded.png">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5966569" y="1039091"/>
            <a:ext cx="87502" cy="2772732"/>
          </a:xfrm>
          <a:prstGeom prst="rect">
            <a:avLst/>
          </a:prstGeom>
        </p:spPr>
      </p:pic>
      <p:pic>
        <p:nvPicPr>
          <p:cNvPr id="100" name="Image 40" descr="preencoded.png">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5851722" y="3554785"/>
            <a:ext cx="224225" cy="60158"/>
          </a:xfrm>
          <a:prstGeom prst="rect">
            <a:avLst/>
          </a:prstGeom>
        </p:spPr>
      </p:pic>
      <p:pic>
        <p:nvPicPr>
          <p:cNvPr id="101" name="Image 41" descr="preencoded.png">    </p:cNvPr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868129" y="2756325"/>
            <a:ext cx="158598" cy="71096"/>
          </a:xfrm>
          <a:prstGeom prst="rect">
            <a:avLst/>
          </a:prstGeom>
        </p:spPr>
      </p:pic>
      <p:pic>
        <p:nvPicPr>
          <p:cNvPr id="102" name="Image 42" descr="preencoded.png">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4976699" y="3325091"/>
            <a:ext cx="3095397" cy="32813"/>
          </a:xfrm>
          <a:prstGeom prst="rect">
            <a:avLst/>
          </a:prstGeom>
        </p:spPr>
      </p:pic>
      <p:pic>
        <p:nvPicPr>
          <p:cNvPr id="103" name="Image 43" descr="preencoded.png">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7060349" y="1050029"/>
            <a:ext cx="32813" cy="2575852"/>
          </a:xfrm>
          <a:prstGeom prst="rect">
            <a:avLst/>
          </a:prstGeom>
        </p:spPr>
      </p:pic>
      <p:pic>
        <p:nvPicPr>
          <p:cNvPr id="104" name="Image 44" descr="preencoded.png">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6874407" y="3549316"/>
            <a:ext cx="240632" cy="65627"/>
          </a:xfrm>
          <a:prstGeom prst="rect">
            <a:avLst/>
          </a:prstGeom>
        </p:spPr>
      </p:pic>
      <p:pic>
        <p:nvPicPr>
          <p:cNvPr id="105" name="Image 45" descr="preencoded.png">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967378" y="2247718"/>
            <a:ext cx="142191" cy="71096"/>
          </a:xfrm>
          <a:prstGeom prst="rect">
            <a:avLst/>
          </a:prstGeom>
        </p:spPr>
      </p:pic>
      <p:sp>
        <p:nvSpPr>
          <p:cNvPr id="106" name="Shape 58"/>
          <p:cNvSpPr/>
          <p:nvPr/>
        </p:nvSpPr>
        <p:spPr>
          <a:xfrm>
            <a:off x="1859426" y="3407124"/>
            <a:ext cx="738301" cy="339072"/>
          </a:xfrm>
          <a:prstGeom prst="rect">
            <a:avLst/>
          </a:prstGeom>
          <a:solidFill>
            <a:srgbClr val="F8FAF9"/>
          </a:solidFill>
          <a:ln/>
        </p:spPr>
      </p:sp>
      <p:pic>
        <p:nvPicPr>
          <p:cNvPr id="107" name="Image 46" descr="preencoded.png">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1908646" y="3456344"/>
            <a:ext cx="142191" cy="218756"/>
          </a:xfrm>
          <a:prstGeom prst="rect">
            <a:avLst/>
          </a:prstGeom>
        </p:spPr>
      </p:pic>
      <p:sp>
        <p:nvSpPr>
          <p:cNvPr id="108" name="Text 59"/>
          <p:cNvSpPr/>
          <p:nvPr/>
        </p:nvSpPr>
        <p:spPr>
          <a:xfrm>
            <a:off x="2110995" y="3429000"/>
            <a:ext cx="511342" cy="2953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1" dirty="0">
                <a:solidFill>
                  <a:srgbClr val="6A6B6B"/>
                </a:solidFill>
                <a:latin typeface="Lekton" pitchFamily="34" charset="0"/>
                <a:ea typeface="Lekton" pitchFamily="34" charset="-122"/>
                <a:cs typeface="Lekton" pitchFamily="34" charset="-120"/>
              </a:rPr>
              <a:t>Output:</a:t>
            </a:r>
            <a:endParaRPr lang="en-US" sz="431" dirty="0"/>
          </a:p>
          <a:p>
            <a:pPr algn="l" indent="0" marL="0">
              <a:buNone/>
            </a:pPr>
            <a:r>
              <a:rPr lang="en-US" sz="431" dirty="0">
                <a:solidFill>
                  <a:srgbClr val="6A6B6B"/>
                </a:solidFill>
                <a:latin typeface="Lekton" pitchFamily="34" charset="0"/>
                <a:ea typeface="Lekton" pitchFamily="34" charset="-122"/>
                <a:cs typeface="Lekton" pitchFamily="34" charset="-120"/>
              </a:rPr>
              <a:t>Structured triage</a:t>
            </a:r>
            <a:endParaRPr lang="en-US" sz="431" dirty="0"/>
          </a:p>
          <a:p>
            <a:pPr algn="l" indent="0" marL="0">
              <a:buNone/>
            </a:pPr>
            <a:r>
              <a:rPr lang="en-US" sz="431" dirty="0">
                <a:solidFill>
                  <a:srgbClr val="6A6B6B"/>
                </a:solidFill>
                <a:latin typeface="Lekton" pitchFamily="34" charset="0"/>
                <a:ea typeface="Lekton" pitchFamily="34" charset="-122"/>
                <a:cs typeface="Lekton" pitchFamily="34" charset="-120"/>
              </a:rPr>
              <a:t>profile</a:t>
            </a:r>
            <a:endParaRPr lang="en-US" sz="431" dirty="0"/>
          </a:p>
        </p:txBody>
      </p:sp>
      <p:pic>
        <p:nvPicPr>
          <p:cNvPr id="109" name="Image 47" descr="preencoded.png">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3111804" y="2898517"/>
            <a:ext cx="49220" cy="71096"/>
          </a:xfrm>
          <a:prstGeom prst="rect">
            <a:avLst/>
          </a:prstGeom>
        </p:spPr>
      </p:pic>
      <p:sp>
        <p:nvSpPr>
          <p:cNvPr id="110" name="Shape 60"/>
          <p:cNvSpPr/>
          <p:nvPr/>
        </p:nvSpPr>
        <p:spPr>
          <a:xfrm>
            <a:off x="3811823" y="2586789"/>
            <a:ext cx="918775" cy="721895"/>
          </a:xfrm>
          <a:prstGeom prst="rect">
            <a:avLst/>
          </a:prstGeom>
          <a:solidFill>
            <a:srgbClr val="F2F7F2"/>
          </a:solidFill>
          <a:ln/>
        </p:spPr>
      </p:sp>
      <p:pic>
        <p:nvPicPr>
          <p:cNvPr id="111" name="Image 48" descr="preencoded.png">    </p:cNvPr>
          <p:cNvPicPr>
            <a:picLocks noChangeAspect="1"/>
          </p:cNvPicPr>
          <p:nvPr/>
        </p:nvPicPr>
        <p:blipFill>
          <a:blip r:embed="rId49"/>
          <a:stretch>
            <a:fillRect/>
          </a:stretch>
        </p:blipFill>
        <p:spPr>
          <a:xfrm>
            <a:off x="4708722" y="2761794"/>
            <a:ext cx="82033" cy="820335"/>
          </a:xfrm>
          <a:prstGeom prst="rect">
            <a:avLst/>
          </a:prstGeom>
        </p:spPr>
      </p:pic>
      <p:sp>
        <p:nvSpPr>
          <p:cNvPr id="112" name="Shape 61"/>
          <p:cNvSpPr/>
          <p:nvPr/>
        </p:nvSpPr>
        <p:spPr>
          <a:xfrm>
            <a:off x="4282148" y="3128211"/>
            <a:ext cx="432043" cy="142191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113" name="Text 62"/>
          <p:cNvSpPr/>
          <p:nvPr/>
        </p:nvSpPr>
        <p:spPr>
          <a:xfrm>
            <a:off x="4320431" y="3155555"/>
            <a:ext cx="391026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17" b="1" dirty="0">
                <a:solidFill>
                  <a:srgbClr val="747675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Change/BCM</a:t>
            </a:r>
            <a:endParaRPr lang="en-US" sz="517" dirty="0"/>
          </a:p>
        </p:txBody>
      </p:sp>
      <p:sp>
        <p:nvSpPr>
          <p:cNvPr id="114" name="Shape 63"/>
          <p:cNvSpPr/>
          <p:nvPr/>
        </p:nvSpPr>
        <p:spPr>
          <a:xfrm>
            <a:off x="4282148" y="2964144"/>
            <a:ext cx="432043" cy="142191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115" name="Text 64"/>
          <p:cNvSpPr/>
          <p:nvPr/>
        </p:nvSpPr>
        <p:spPr>
          <a:xfrm>
            <a:off x="4391526" y="2996957"/>
            <a:ext cx="246100" cy="710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31" dirty="0">
                <a:solidFill>
                  <a:srgbClr val="777878"/>
                </a:solidFill>
                <a:latin typeface="Margarine" pitchFamily="34" charset="0"/>
                <a:ea typeface="Margarine" pitchFamily="34" charset="-122"/>
                <a:cs typeface="Margarine" pitchFamily="34" charset="-120"/>
              </a:rPr>
              <a:t>Conduct</a:t>
            </a:r>
            <a:endParaRPr lang="en-US" sz="431" dirty="0"/>
          </a:p>
        </p:txBody>
      </p:sp>
      <p:sp>
        <p:nvSpPr>
          <p:cNvPr id="116" name="Shape 65"/>
          <p:cNvSpPr/>
          <p:nvPr/>
        </p:nvSpPr>
        <p:spPr>
          <a:xfrm>
            <a:off x="4282148" y="2805545"/>
            <a:ext cx="432043" cy="136722"/>
          </a:xfrm>
          <a:prstGeom prst="rect">
            <a:avLst/>
          </a:prstGeom>
          <a:solidFill>
            <a:srgbClr val="FFFEFE"/>
          </a:solidFill>
          <a:ln/>
        </p:spPr>
      </p:sp>
      <p:sp>
        <p:nvSpPr>
          <p:cNvPr id="117" name="Text 66"/>
          <p:cNvSpPr/>
          <p:nvPr/>
        </p:nvSpPr>
        <p:spPr>
          <a:xfrm>
            <a:off x="4336837" y="2832890"/>
            <a:ext cx="385011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08" dirty="0">
                <a:solidFill>
                  <a:srgbClr val="7C7F7D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Data/Privacy</a:t>
            </a:r>
            <a:endParaRPr lang="en-US" sz="508" dirty="0"/>
          </a:p>
        </p:txBody>
      </p:sp>
      <p:sp>
        <p:nvSpPr>
          <p:cNvPr id="118" name="Shape 67"/>
          <p:cNvSpPr/>
          <p:nvPr/>
        </p:nvSpPr>
        <p:spPr>
          <a:xfrm>
            <a:off x="3833699" y="3128211"/>
            <a:ext cx="432043" cy="142191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119" name="Text 68"/>
          <p:cNvSpPr/>
          <p:nvPr/>
        </p:nvSpPr>
        <p:spPr>
          <a:xfrm>
            <a:off x="3932139" y="3155555"/>
            <a:ext cx="246100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4" dirty="0">
                <a:solidFill>
                  <a:srgbClr val="797B7A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Supplier</a:t>
            </a:r>
            <a:endParaRPr lang="en-US" sz="534" dirty="0"/>
          </a:p>
        </p:txBody>
      </p:sp>
      <p:sp>
        <p:nvSpPr>
          <p:cNvPr id="120" name="Shape 69"/>
          <p:cNvSpPr/>
          <p:nvPr/>
        </p:nvSpPr>
        <p:spPr>
          <a:xfrm>
            <a:off x="3833699" y="2964144"/>
            <a:ext cx="432043" cy="142191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121" name="Text 70"/>
          <p:cNvSpPr/>
          <p:nvPr/>
        </p:nvSpPr>
        <p:spPr>
          <a:xfrm>
            <a:off x="3871981" y="2996957"/>
            <a:ext cx="397042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98" dirty="0">
                <a:solidFill>
                  <a:srgbClr val="848585"/>
                </a:solidFill>
                <a:latin typeface="Road Rage" pitchFamily="34" charset="0"/>
                <a:ea typeface="Road Rage" pitchFamily="34" charset="-122"/>
                <a:cs typeface="Road Rage" pitchFamily="34" charset="-120"/>
              </a:rPr>
              <a:t>Technology/IT</a:t>
            </a:r>
            <a:endParaRPr lang="en-US" sz="698" dirty="0"/>
          </a:p>
        </p:txBody>
      </p:sp>
      <p:sp>
        <p:nvSpPr>
          <p:cNvPr id="122" name="Shape 71"/>
          <p:cNvSpPr/>
          <p:nvPr/>
        </p:nvSpPr>
        <p:spPr>
          <a:xfrm>
            <a:off x="3833699" y="2805545"/>
            <a:ext cx="432043" cy="136722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123" name="Text 72"/>
          <p:cNvSpPr/>
          <p:nvPr/>
        </p:nvSpPr>
        <p:spPr>
          <a:xfrm>
            <a:off x="3910263" y="2832890"/>
            <a:ext cx="311727" cy="710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25" dirty="0">
                <a:solidFill>
                  <a:srgbClr val="7F8180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Model Risk</a:t>
            </a:r>
            <a:endParaRPr lang="en-US" sz="525" dirty="0"/>
          </a:p>
        </p:txBody>
      </p:sp>
      <p:sp>
        <p:nvSpPr>
          <p:cNvPr id="124" name="Text 73"/>
          <p:cNvSpPr/>
          <p:nvPr/>
        </p:nvSpPr>
        <p:spPr>
          <a:xfrm>
            <a:off x="3886473" y="2608665"/>
            <a:ext cx="764005" cy="18047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9" dirty="0">
                <a:solidFill>
                  <a:srgbClr val="757B76"/>
                </a:solidFill>
                <a:latin typeface="Stylish" pitchFamily="34" charset="0"/>
                <a:ea typeface="Stylish" pitchFamily="34" charset="-122"/>
                <a:cs typeface="Stylish" pitchFamily="34" charset="-120"/>
              </a:rPr>
              <a:t>Input: Validated triage</a:t>
            </a:r>
            <a:endParaRPr lang="en-US" sz="629" dirty="0"/>
          </a:p>
          <a:p>
            <a:pPr algn="ctr" indent="0" marL="0">
              <a:buNone/>
            </a:pPr>
            <a:r>
              <a:rPr lang="en-US" sz="629" dirty="0">
                <a:solidFill>
                  <a:srgbClr val="757B76"/>
                </a:solidFill>
                <a:latin typeface="Stylish" pitchFamily="34" charset="0"/>
                <a:ea typeface="Stylish" pitchFamily="34" charset="-122"/>
                <a:cs typeface="Stylish" pitchFamily="34" charset="-120"/>
              </a:rPr>
              <a:t>profile</a:t>
            </a:r>
            <a:endParaRPr lang="en-US" sz="629" dirty="0"/>
          </a:p>
        </p:txBody>
      </p:sp>
      <p:sp>
        <p:nvSpPr>
          <p:cNvPr id="125" name="Shape 74"/>
          <p:cNvSpPr/>
          <p:nvPr/>
        </p:nvSpPr>
        <p:spPr>
          <a:xfrm>
            <a:off x="3828230" y="3407124"/>
            <a:ext cx="896900" cy="339072"/>
          </a:xfrm>
          <a:prstGeom prst="rect">
            <a:avLst/>
          </a:prstGeom>
          <a:solidFill>
            <a:srgbClr val="F9FAFA"/>
          </a:solidFill>
          <a:ln/>
        </p:spPr>
      </p:sp>
      <p:pic>
        <p:nvPicPr>
          <p:cNvPr id="126" name="Image 49" descr="preencoded.png">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3871981" y="3483689"/>
            <a:ext cx="207818" cy="185943"/>
          </a:xfrm>
          <a:prstGeom prst="rect">
            <a:avLst/>
          </a:prstGeom>
        </p:spPr>
      </p:pic>
      <p:sp>
        <p:nvSpPr>
          <p:cNvPr id="127" name="Text 75"/>
          <p:cNvSpPr/>
          <p:nvPr/>
        </p:nvSpPr>
        <p:spPr>
          <a:xfrm>
            <a:off x="4123550" y="3565722"/>
            <a:ext cx="625642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0" dirty="0">
                <a:solidFill>
                  <a:srgbClr val="7D7D7E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Targeted review pack</a:t>
            </a:r>
            <a:endParaRPr lang="en-US" sz="530" dirty="0"/>
          </a:p>
        </p:txBody>
      </p:sp>
      <p:sp>
        <p:nvSpPr>
          <p:cNvPr id="128" name="Text 76"/>
          <p:cNvSpPr/>
          <p:nvPr/>
        </p:nvSpPr>
        <p:spPr>
          <a:xfrm>
            <a:off x="4129019" y="3467282"/>
            <a:ext cx="262507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9" b="1" dirty="0">
                <a:solidFill>
                  <a:srgbClr val="6A6A6A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Output:</a:t>
            </a:r>
            <a:endParaRPr lang="en-US" sz="599" dirty="0"/>
          </a:p>
        </p:txBody>
      </p:sp>
      <p:pic>
        <p:nvPicPr>
          <p:cNvPr id="129" name="Image 50" descr="preencoded.png">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4779818" y="2761794"/>
            <a:ext cx="164067" cy="65627"/>
          </a:xfrm>
          <a:prstGeom prst="rect">
            <a:avLst/>
          </a:prstGeom>
        </p:spPr>
      </p:pic>
      <p:sp>
        <p:nvSpPr>
          <p:cNvPr id="130" name="Shape 77"/>
          <p:cNvSpPr/>
          <p:nvPr/>
        </p:nvSpPr>
        <p:spPr>
          <a:xfrm>
            <a:off x="3811823" y="1919584"/>
            <a:ext cx="918775" cy="672675"/>
          </a:xfrm>
          <a:prstGeom prst="rect">
            <a:avLst/>
          </a:prstGeom>
          <a:solidFill>
            <a:srgbClr val="013F18"/>
          </a:solidFill>
          <a:ln/>
        </p:spPr>
      </p:sp>
      <p:pic>
        <p:nvPicPr>
          <p:cNvPr id="131" name="Image 51" descr="preencoded.png">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3866512" y="2395378"/>
            <a:ext cx="32813" cy="43751"/>
          </a:xfrm>
          <a:prstGeom prst="rect">
            <a:avLst/>
          </a:prstGeom>
        </p:spPr>
      </p:pic>
      <p:pic>
        <p:nvPicPr>
          <p:cNvPr id="132" name="Image 52" descr="preencoded.png">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3866512" y="2193029"/>
            <a:ext cx="32813" cy="38282"/>
          </a:xfrm>
          <a:prstGeom prst="rect">
            <a:avLst/>
          </a:prstGeom>
        </p:spPr>
      </p:pic>
      <p:pic>
        <p:nvPicPr>
          <p:cNvPr id="133" name="Image 53" descr="preencoded.png">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3866512" y="1996148"/>
            <a:ext cx="32813" cy="32813"/>
          </a:xfrm>
          <a:prstGeom prst="rect">
            <a:avLst/>
          </a:prstGeom>
        </p:spPr>
      </p:pic>
      <p:sp>
        <p:nvSpPr>
          <p:cNvPr id="134" name="Text 78"/>
          <p:cNvSpPr/>
          <p:nvPr/>
        </p:nvSpPr>
        <p:spPr>
          <a:xfrm>
            <a:off x="3932139" y="2362565"/>
            <a:ext cx="751974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92AD9B"/>
                </a:solidFill>
                <a:latin typeface="Kreon" pitchFamily="34" charset="0"/>
                <a:ea typeface="Kreon" pitchFamily="34" charset="-122"/>
                <a:cs typeface="Kreon" pitchFamily="34" charset="-120"/>
              </a:rPr>
              <a:t>Route the use case to</a:t>
            </a:r>
            <a:endParaRPr lang="en-US" sz="607" dirty="0"/>
          </a:p>
          <a:p>
            <a:pPr algn="l" indent="0" marL="0">
              <a:buNone/>
            </a:pPr>
            <a:r>
              <a:rPr lang="en-US" sz="607" b="1" dirty="0">
                <a:solidFill>
                  <a:srgbClr val="92AD9B"/>
                </a:solidFill>
                <a:latin typeface="Kreon" pitchFamily="34" charset="0"/>
                <a:ea typeface="Kreon" pitchFamily="34" charset="-122"/>
                <a:cs typeface="Kreon" pitchFamily="34" charset="-120"/>
              </a:rPr>
              <a:t>the right reviewers</a:t>
            </a:r>
            <a:endParaRPr lang="en-US" sz="607" dirty="0"/>
          </a:p>
        </p:txBody>
      </p:sp>
      <p:sp>
        <p:nvSpPr>
          <p:cNvPr id="135" name="Text 79"/>
          <p:cNvSpPr/>
          <p:nvPr/>
        </p:nvSpPr>
        <p:spPr>
          <a:xfrm>
            <a:off x="3932139" y="2269593"/>
            <a:ext cx="667753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8FAC98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information by area</a:t>
            </a:r>
            <a:endParaRPr lang="en-US" sz="624" dirty="0"/>
          </a:p>
        </p:txBody>
      </p:sp>
      <p:sp>
        <p:nvSpPr>
          <p:cNvPr id="136" name="Text 80"/>
          <p:cNvSpPr/>
          <p:nvPr/>
        </p:nvSpPr>
        <p:spPr>
          <a:xfrm>
            <a:off x="3932139" y="2165684"/>
            <a:ext cx="776037" cy="9844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2" b="1" dirty="0">
                <a:solidFill>
                  <a:srgbClr val="8BA693"/>
                </a:solidFill>
                <a:latin typeface="ZCOOL QingKe HuangYou" pitchFamily="34" charset="0"/>
                <a:ea typeface="ZCOOL QingKe HuangYou" pitchFamily="34" charset="-122"/>
                <a:cs typeface="ZCOOL QingKe HuangYou" pitchFamily="34" charset="-120"/>
              </a:rPr>
              <a:t>Highlight risk-relevant</a:t>
            </a:r>
            <a:endParaRPr lang="en-US" sz="702" dirty="0"/>
          </a:p>
        </p:txBody>
      </p:sp>
      <p:sp>
        <p:nvSpPr>
          <p:cNvPr id="137" name="Text 81"/>
          <p:cNvSpPr/>
          <p:nvPr/>
        </p:nvSpPr>
        <p:spPr>
          <a:xfrm>
            <a:off x="3932139" y="1952397"/>
            <a:ext cx="745958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dirty="0">
                <a:solidFill>
                  <a:srgbClr val="91AC97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Identify relevant 2LoD</a:t>
            </a:r>
            <a:endParaRPr lang="en-US" sz="607" dirty="0"/>
          </a:p>
          <a:p>
            <a:pPr algn="l" indent="0" marL="0">
              <a:buNone/>
            </a:pPr>
            <a:r>
              <a:rPr lang="en-US" sz="607" dirty="0">
                <a:solidFill>
                  <a:srgbClr val="91AC97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teams</a:t>
            </a:r>
            <a:endParaRPr lang="en-US" sz="607" dirty="0"/>
          </a:p>
        </p:txBody>
      </p:sp>
      <p:sp>
        <p:nvSpPr>
          <p:cNvPr id="138" name="Text 82"/>
          <p:cNvSpPr/>
          <p:nvPr/>
        </p:nvSpPr>
        <p:spPr>
          <a:xfrm>
            <a:off x="388292" y="3390718"/>
            <a:ext cx="493295" cy="3390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656565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4.Shared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656565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Review /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656565"/>
                </a:solidFill>
                <a:latin typeface="Dosis" pitchFamily="34" charset="0"/>
                <a:ea typeface="Dosis" pitchFamily="34" charset="-122"/>
                <a:cs typeface="Dosis" pitchFamily="34" charset="-120"/>
              </a:rPr>
              <a:t>Evidence Space</a:t>
            </a:r>
            <a:endParaRPr lang="en-US" sz="564" dirty="0"/>
          </a:p>
        </p:txBody>
      </p:sp>
      <p:pic>
        <p:nvPicPr>
          <p:cNvPr id="139" name="Image 54" descr="preencoded.png">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92971" y="3390718"/>
            <a:ext cx="240632" cy="273445"/>
          </a:xfrm>
          <a:prstGeom prst="rect">
            <a:avLst/>
          </a:prstGeom>
        </p:spPr>
      </p:pic>
      <p:pic>
        <p:nvPicPr>
          <p:cNvPr id="140" name="Image 55" descr="preencoded.png">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2696167" y="2969612"/>
            <a:ext cx="831273" cy="377354"/>
          </a:xfrm>
          <a:prstGeom prst="rect">
            <a:avLst/>
          </a:prstGeom>
        </p:spPr>
      </p:pic>
      <p:sp>
        <p:nvSpPr>
          <p:cNvPr id="141" name="Text 83"/>
          <p:cNvSpPr/>
          <p:nvPr/>
        </p:nvSpPr>
        <p:spPr>
          <a:xfrm>
            <a:off x="2912189" y="3057115"/>
            <a:ext cx="421105" cy="16406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33" dirty="0">
                <a:solidFill>
                  <a:srgbClr val="777778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Enough</a:t>
            </a:r>
            <a:endParaRPr lang="en-US" sz="633" dirty="0"/>
          </a:p>
          <a:p>
            <a:pPr algn="ctr" indent="0" marL="0">
              <a:buNone/>
            </a:pPr>
            <a:r>
              <a:rPr lang="en-US" sz="633" dirty="0">
                <a:solidFill>
                  <a:srgbClr val="777778"/>
                </a:solidFill>
                <a:latin typeface="Black And White Picture" pitchFamily="34" charset="0"/>
                <a:ea typeface="Black And White Picture" pitchFamily="34" charset="-122"/>
                <a:cs typeface="Black And White Picture" pitchFamily="34" charset="-120"/>
              </a:rPr>
              <a:t>information?</a:t>
            </a:r>
            <a:endParaRPr lang="en-US" sz="633" dirty="0"/>
          </a:p>
        </p:txBody>
      </p:sp>
      <p:sp>
        <p:nvSpPr>
          <p:cNvPr id="142" name="Shape 84"/>
          <p:cNvSpPr/>
          <p:nvPr/>
        </p:nvSpPr>
        <p:spPr>
          <a:xfrm>
            <a:off x="7120507" y="1930522"/>
            <a:ext cx="864086" cy="809397"/>
          </a:xfrm>
          <a:prstGeom prst="rect">
            <a:avLst/>
          </a:prstGeom>
          <a:solidFill>
            <a:srgbClr val="023E18"/>
          </a:solidFill>
          <a:ln/>
        </p:spPr>
      </p:sp>
      <p:pic>
        <p:nvPicPr>
          <p:cNvPr id="143" name="Image 56" descr="preencoded.png">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7169727" y="2630541"/>
            <a:ext cx="32813" cy="27344"/>
          </a:xfrm>
          <a:prstGeom prst="rect">
            <a:avLst/>
          </a:prstGeom>
        </p:spPr>
      </p:pic>
      <p:pic>
        <p:nvPicPr>
          <p:cNvPr id="144" name="Image 57" descr="preencoded.png">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7169727" y="2417254"/>
            <a:ext cx="32813" cy="38282"/>
          </a:xfrm>
          <a:prstGeom prst="rect">
            <a:avLst/>
          </a:prstGeom>
        </p:spPr>
      </p:pic>
      <p:pic>
        <p:nvPicPr>
          <p:cNvPr id="145" name="Image 58" descr="preencoded.png">    </p:cNvPr>
          <p:cNvPicPr>
            <a:picLocks noChangeAspect="1"/>
          </p:cNvPicPr>
          <p:nvPr/>
        </p:nvPicPr>
        <p:blipFill>
          <a:blip r:embed="rId59"/>
          <a:stretch>
            <a:fillRect/>
          </a:stretch>
        </p:blipFill>
        <p:spPr>
          <a:xfrm>
            <a:off x="7169727" y="2214904"/>
            <a:ext cx="32813" cy="38282"/>
          </a:xfrm>
          <a:prstGeom prst="rect">
            <a:avLst/>
          </a:prstGeom>
        </p:spPr>
      </p:pic>
      <p:pic>
        <p:nvPicPr>
          <p:cNvPr id="146" name="Image 59" descr="preencoded.png">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7169727" y="2007086"/>
            <a:ext cx="32813" cy="38282"/>
          </a:xfrm>
          <a:prstGeom prst="rect">
            <a:avLst/>
          </a:prstGeom>
        </p:spPr>
      </p:pic>
      <p:sp>
        <p:nvSpPr>
          <p:cNvPr id="147" name="Text 85"/>
          <p:cNvSpPr/>
          <p:nvPr/>
        </p:nvSpPr>
        <p:spPr>
          <a:xfrm>
            <a:off x="7235354" y="2597727"/>
            <a:ext cx="721895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34" dirty="0">
                <a:solidFill>
                  <a:srgbClr val="86A18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Maintain evidence trail</a:t>
            </a:r>
            <a:endParaRPr lang="en-US" sz="534" dirty="0"/>
          </a:p>
        </p:txBody>
      </p:sp>
      <p:sp>
        <p:nvSpPr>
          <p:cNvPr id="148" name="Text 86"/>
          <p:cNvSpPr/>
          <p:nvPr/>
        </p:nvSpPr>
        <p:spPr>
          <a:xfrm>
            <a:off x="7229885" y="2499287"/>
            <a:ext cx="481263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dirty="0">
                <a:solidFill>
                  <a:srgbClr val="8AA490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and next steps</a:t>
            </a:r>
            <a:endParaRPr lang="en-US" sz="547" dirty="0"/>
          </a:p>
        </p:txBody>
      </p:sp>
      <p:sp>
        <p:nvSpPr>
          <p:cNvPr id="149" name="Text 87"/>
          <p:cNvSpPr/>
          <p:nvPr/>
        </p:nvSpPr>
        <p:spPr>
          <a:xfrm>
            <a:off x="7235354" y="2395378"/>
            <a:ext cx="788068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56" b="1" dirty="0">
                <a:solidFill>
                  <a:srgbClr val="8EA894"/>
                </a:solidFill>
                <a:latin typeface="Advent Pro" pitchFamily="34" charset="0"/>
                <a:ea typeface="Advent Pro" pitchFamily="34" charset="-122"/>
                <a:cs typeface="Advent Pro" pitchFamily="34" charset="-120"/>
              </a:rPr>
              <a:t>Record actions, conditions,</a:t>
            </a:r>
            <a:endParaRPr lang="en-US" sz="556" dirty="0"/>
          </a:p>
        </p:txBody>
      </p:sp>
      <p:sp>
        <p:nvSpPr>
          <p:cNvPr id="150" name="Text 88"/>
          <p:cNvSpPr/>
          <p:nvPr/>
        </p:nvSpPr>
        <p:spPr>
          <a:xfrm>
            <a:off x="7229885" y="2182091"/>
            <a:ext cx="764005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88A28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Communicate outcome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88A28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to use case owner</a:t>
            </a:r>
            <a:endParaRPr lang="en-US" sz="594" dirty="0"/>
          </a:p>
        </p:txBody>
      </p:sp>
      <p:sp>
        <p:nvSpPr>
          <p:cNvPr id="151" name="Text 89"/>
          <p:cNvSpPr/>
          <p:nvPr/>
        </p:nvSpPr>
        <p:spPr>
          <a:xfrm>
            <a:off x="7229885" y="1968804"/>
            <a:ext cx="697832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4" b="1" dirty="0">
                <a:solidFill>
                  <a:srgbClr val="92AD9A"/>
                </a:solidFill>
                <a:latin typeface="ZCOOL QingKe HuangYou" pitchFamily="34" charset="0"/>
                <a:ea typeface="ZCOOL QingKe HuangYou" pitchFamily="34" charset="-122"/>
                <a:cs typeface="ZCOOL QingKe HuangYou" pitchFamily="34" charset="-120"/>
              </a:rPr>
              <a:t>Save final assessment</a:t>
            </a:r>
            <a:endParaRPr lang="en-US" sz="594" dirty="0"/>
          </a:p>
          <a:p>
            <a:pPr algn="l" indent="0" marL="0">
              <a:buNone/>
            </a:pPr>
            <a:r>
              <a:rPr lang="en-US" sz="594" b="1" dirty="0">
                <a:solidFill>
                  <a:srgbClr val="92AD9A"/>
                </a:solidFill>
                <a:latin typeface="ZCOOL QingKe HuangYou" pitchFamily="34" charset="0"/>
                <a:ea typeface="ZCOOL QingKe HuangYou" pitchFamily="34" charset="-122"/>
                <a:cs typeface="ZCOOL QingKe HuangYou" pitchFamily="34" charset="-120"/>
              </a:rPr>
              <a:t>and rationale</a:t>
            </a:r>
            <a:endParaRPr lang="en-US" sz="594" dirty="0"/>
          </a:p>
        </p:txBody>
      </p:sp>
      <p:sp>
        <p:nvSpPr>
          <p:cNvPr id="152" name="Shape 90"/>
          <p:cNvSpPr/>
          <p:nvPr/>
        </p:nvSpPr>
        <p:spPr>
          <a:xfrm>
            <a:off x="2707105" y="2690699"/>
            <a:ext cx="913306" cy="207818"/>
          </a:xfrm>
          <a:prstGeom prst="rect">
            <a:avLst/>
          </a:prstGeom>
          <a:solidFill>
            <a:srgbClr val="F2F8F2"/>
          </a:solidFill>
          <a:ln/>
        </p:spPr>
      </p:sp>
      <p:sp>
        <p:nvSpPr>
          <p:cNvPr id="153" name="Text 91"/>
          <p:cNvSpPr/>
          <p:nvPr/>
        </p:nvSpPr>
        <p:spPr>
          <a:xfrm>
            <a:off x="2760700" y="2707105"/>
            <a:ext cx="745958" cy="1695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31" dirty="0">
                <a:solidFill>
                  <a:srgbClr val="6B726C"/>
                </a:solidFill>
                <a:latin typeface="Lekton" pitchFamily="34" charset="0"/>
                <a:ea typeface="Lekton" pitchFamily="34" charset="-122"/>
                <a:cs typeface="Lekton" pitchFamily="34" charset="-120"/>
              </a:rPr>
              <a:t>Input: Structured triage</a:t>
            </a:r>
            <a:endParaRPr lang="en-US" sz="431" dirty="0"/>
          </a:p>
          <a:p>
            <a:pPr algn="ctr" indent="0" marL="0">
              <a:buNone/>
            </a:pPr>
            <a:r>
              <a:rPr lang="en-US" sz="431" dirty="0">
                <a:solidFill>
                  <a:srgbClr val="6B726C"/>
                </a:solidFill>
                <a:latin typeface="Lekton" pitchFamily="34" charset="0"/>
                <a:ea typeface="Lekton" pitchFamily="34" charset="-122"/>
                <a:cs typeface="Lekton" pitchFamily="34" charset="-120"/>
              </a:rPr>
              <a:t>profile</a:t>
            </a:r>
            <a:endParaRPr lang="en-US" sz="431" dirty="0"/>
          </a:p>
        </p:txBody>
      </p:sp>
      <p:pic>
        <p:nvPicPr>
          <p:cNvPr id="154" name="Image 60" descr="preencoded.png">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1296129" y="1914115"/>
            <a:ext cx="54689" cy="1427383"/>
          </a:xfrm>
          <a:prstGeom prst="rect">
            <a:avLst/>
          </a:prstGeom>
        </p:spPr>
      </p:pic>
      <p:pic>
        <p:nvPicPr>
          <p:cNvPr id="155" name="Image 61" descr="preencoded.png">    </p:cNvPr>
          <p:cNvPicPr>
            <a:picLocks noChangeAspect="1"/>
          </p:cNvPicPr>
          <p:nvPr/>
        </p:nvPicPr>
        <p:blipFill>
          <a:blip r:embed="rId62"/>
          <a:stretch>
            <a:fillRect/>
          </a:stretch>
        </p:blipFill>
        <p:spPr>
          <a:xfrm>
            <a:off x="3636818" y="1225033"/>
            <a:ext cx="71096" cy="54689"/>
          </a:xfrm>
          <a:prstGeom prst="rect">
            <a:avLst/>
          </a:prstGeom>
        </p:spPr>
      </p:pic>
      <p:pic>
        <p:nvPicPr>
          <p:cNvPr id="156" name="Image 62" descr="preencoded.png">    </p:cNvPr>
          <p:cNvPicPr>
            <a:picLocks noChangeAspect="1"/>
          </p:cNvPicPr>
          <p:nvPr/>
        </p:nvPicPr>
        <p:blipFill>
          <a:blip r:embed="rId63"/>
          <a:stretch>
            <a:fillRect/>
          </a:stretch>
        </p:blipFill>
        <p:spPr>
          <a:xfrm>
            <a:off x="3746196" y="1050029"/>
            <a:ext cx="38282" cy="2767263"/>
          </a:xfrm>
          <a:prstGeom prst="rect">
            <a:avLst/>
          </a:prstGeom>
        </p:spPr>
      </p:pic>
      <p:pic>
        <p:nvPicPr>
          <p:cNvPr id="157" name="Image 63" descr="preencoded.png">    </p:cNvPr>
          <p:cNvPicPr>
            <a:picLocks noChangeAspect="1"/>
          </p:cNvPicPr>
          <p:nvPr/>
        </p:nvPicPr>
        <p:blipFill>
          <a:blip r:embed="rId64"/>
          <a:stretch>
            <a:fillRect/>
          </a:stretch>
        </p:blipFill>
        <p:spPr>
          <a:xfrm>
            <a:off x="2471943" y="1864895"/>
            <a:ext cx="224225" cy="962526"/>
          </a:xfrm>
          <a:prstGeom prst="rect">
            <a:avLst/>
          </a:prstGeom>
        </p:spPr>
      </p:pic>
      <p:sp>
        <p:nvSpPr>
          <p:cNvPr id="158" name="Shape 92"/>
          <p:cNvSpPr/>
          <p:nvPr/>
        </p:nvSpPr>
        <p:spPr>
          <a:xfrm>
            <a:off x="2701636" y="1930522"/>
            <a:ext cx="918775" cy="760177"/>
          </a:xfrm>
          <a:prstGeom prst="rect">
            <a:avLst/>
          </a:prstGeom>
          <a:solidFill>
            <a:srgbClr val="013E18"/>
          </a:solidFill>
          <a:ln/>
        </p:spPr>
      </p:sp>
      <p:pic>
        <p:nvPicPr>
          <p:cNvPr id="159" name="Image 64" descr="preencoded.png">    </p:cNvPr>
          <p:cNvPicPr>
            <a:picLocks noChangeAspect="1"/>
          </p:cNvPicPr>
          <p:nvPr/>
        </p:nvPicPr>
        <p:blipFill>
          <a:blip r:embed="rId65"/>
          <a:stretch>
            <a:fillRect/>
          </a:stretch>
        </p:blipFill>
        <p:spPr>
          <a:xfrm>
            <a:off x="2750856" y="2499287"/>
            <a:ext cx="32813" cy="38282"/>
          </a:xfrm>
          <a:prstGeom prst="rect">
            <a:avLst/>
          </a:prstGeom>
        </p:spPr>
      </p:pic>
      <p:pic>
        <p:nvPicPr>
          <p:cNvPr id="160" name="Image 65" descr="preencoded.png">    </p:cNvPr>
          <p:cNvPicPr>
            <a:picLocks noChangeAspect="1"/>
          </p:cNvPicPr>
          <p:nvPr/>
        </p:nvPicPr>
        <p:blipFill>
          <a:blip r:embed="rId66"/>
          <a:stretch>
            <a:fillRect/>
          </a:stretch>
        </p:blipFill>
        <p:spPr>
          <a:xfrm>
            <a:off x="2750856" y="2296938"/>
            <a:ext cx="32813" cy="32813"/>
          </a:xfrm>
          <a:prstGeom prst="rect">
            <a:avLst/>
          </a:prstGeom>
        </p:spPr>
      </p:pic>
      <p:pic>
        <p:nvPicPr>
          <p:cNvPr id="161" name="Image 66" descr="preencoded.png">    </p:cNvPr>
          <p:cNvPicPr>
            <a:picLocks noChangeAspect="1"/>
          </p:cNvPicPr>
          <p:nvPr/>
        </p:nvPicPr>
        <p:blipFill>
          <a:blip r:embed="rId67"/>
          <a:stretch>
            <a:fillRect/>
          </a:stretch>
        </p:blipFill>
        <p:spPr>
          <a:xfrm>
            <a:off x="2477411" y="1246909"/>
            <a:ext cx="317196" cy="924244"/>
          </a:xfrm>
          <a:prstGeom prst="rect">
            <a:avLst/>
          </a:prstGeom>
        </p:spPr>
      </p:pic>
      <p:pic>
        <p:nvPicPr>
          <p:cNvPr id="162" name="Image 67" descr="preencoded.png">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2756325" y="2001617"/>
            <a:ext cx="27344" cy="32813"/>
          </a:xfrm>
          <a:prstGeom prst="rect">
            <a:avLst/>
          </a:prstGeom>
        </p:spPr>
      </p:pic>
      <p:sp>
        <p:nvSpPr>
          <p:cNvPr id="163" name="Text 93"/>
          <p:cNvSpPr/>
          <p:nvPr/>
        </p:nvSpPr>
        <p:spPr>
          <a:xfrm>
            <a:off x="2816483" y="2570383"/>
            <a:ext cx="67978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92AC9A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sufficient for review</a:t>
            </a:r>
            <a:endParaRPr lang="en-US" sz="607" dirty="0"/>
          </a:p>
        </p:txBody>
      </p:sp>
      <p:sp>
        <p:nvSpPr>
          <p:cNvPr id="164" name="Text 94"/>
          <p:cNvSpPr/>
          <p:nvPr/>
        </p:nvSpPr>
        <p:spPr>
          <a:xfrm>
            <a:off x="2816483" y="2471943"/>
            <a:ext cx="751974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8BA793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Check if information is</a:t>
            </a:r>
            <a:endParaRPr lang="en-US" sz="607" dirty="0"/>
          </a:p>
        </p:txBody>
      </p:sp>
      <p:sp>
        <p:nvSpPr>
          <p:cNvPr id="165" name="Text 95"/>
          <p:cNvSpPr/>
          <p:nvPr/>
        </p:nvSpPr>
        <p:spPr>
          <a:xfrm>
            <a:off x="2811014" y="2373502"/>
            <a:ext cx="333603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6" b="1" dirty="0">
                <a:solidFill>
                  <a:srgbClr val="8DA796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questions</a:t>
            </a:r>
            <a:endParaRPr lang="en-US" sz="616" dirty="0"/>
          </a:p>
        </p:txBody>
      </p:sp>
      <p:sp>
        <p:nvSpPr>
          <p:cNvPr id="166" name="Text 96"/>
          <p:cNvSpPr/>
          <p:nvPr/>
        </p:nvSpPr>
        <p:spPr>
          <a:xfrm>
            <a:off x="2816483" y="2269593"/>
            <a:ext cx="643689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96B09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Generate follow-up</a:t>
            </a:r>
            <a:endParaRPr lang="en-US" sz="624" dirty="0"/>
          </a:p>
        </p:txBody>
      </p:sp>
      <p:sp>
        <p:nvSpPr>
          <p:cNvPr id="167" name="Text 97"/>
          <p:cNvSpPr/>
          <p:nvPr/>
        </p:nvSpPr>
        <p:spPr>
          <a:xfrm>
            <a:off x="2811014" y="1957866"/>
            <a:ext cx="806116" cy="30625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b="1" dirty="0">
                <a:solidFill>
                  <a:srgbClr val="89A69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Identify missing, unclear,</a:t>
            </a:r>
            <a:endParaRPr lang="en-US" sz="577" dirty="0"/>
          </a:p>
          <a:p>
            <a:pPr algn="l" indent="0" marL="0">
              <a:buNone/>
            </a:pPr>
            <a:r>
              <a:rPr lang="en-US" sz="577" b="1" dirty="0">
                <a:solidFill>
                  <a:srgbClr val="89A69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or inconsistent</a:t>
            </a:r>
            <a:endParaRPr lang="en-US" sz="577" dirty="0"/>
          </a:p>
          <a:p>
            <a:pPr algn="l" indent="0" marL="0">
              <a:buNone/>
            </a:pPr>
            <a:r>
              <a:rPr lang="en-US" sz="577" b="1" dirty="0">
                <a:solidFill>
                  <a:srgbClr val="89A691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information</a:t>
            </a:r>
            <a:endParaRPr lang="en-US" sz="577" dirty="0"/>
          </a:p>
        </p:txBody>
      </p:sp>
      <p:pic>
        <p:nvPicPr>
          <p:cNvPr id="168" name="Image 68" descr="preencoded.png">    </p:cNvPr>
          <p:cNvPicPr>
            <a:picLocks noChangeAspect="1"/>
          </p:cNvPicPr>
          <p:nvPr/>
        </p:nvPicPr>
        <p:blipFill>
          <a:blip r:embed="rId69"/>
          <a:stretch>
            <a:fillRect/>
          </a:stretch>
        </p:blipFill>
        <p:spPr>
          <a:xfrm>
            <a:off x="3614943" y="2236780"/>
            <a:ext cx="158598" cy="76565"/>
          </a:xfrm>
          <a:prstGeom prst="rect">
            <a:avLst/>
          </a:prstGeom>
        </p:spPr>
      </p:pic>
      <p:sp>
        <p:nvSpPr>
          <p:cNvPr id="169" name="Shape 98"/>
          <p:cNvSpPr/>
          <p:nvPr/>
        </p:nvSpPr>
        <p:spPr>
          <a:xfrm>
            <a:off x="1853957" y="1935990"/>
            <a:ext cx="749239" cy="803928"/>
          </a:xfrm>
          <a:prstGeom prst="rect">
            <a:avLst/>
          </a:prstGeom>
          <a:solidFill>
            <a:srgbClr val="023F18"/>
          </a:solidFill>
          <a:ln/>
        </p:spPr>
      </p:sp>
      <p:pic>
        <p:nvPicPr>
          <p:cNvPr id="170" name="Image 69" descr="preencoded.png">    </p:cNvPr>
          <p:cNvPicPr>
            <a:picLocks noChangeAspect="1"/>
          </p:cNvPicPr>
          <p:nvPr/>
        </p:nvPicPr>
        <p:blipFill>
          <a:blip r:embed="rId70"/>
          <a:stretch>
            <a:fillRect/>
          </a:stretch>
        </p:blipFill>
        <p:spPr>
          <a:xfrm>
            <a:off x="1903177" y="2515694"/>
            <a:ext cx="32813" cy="32813"/>
          </a:xfrm>
          <a:prstGeom prst="rect">
            <a:avLst/>
          </a:prstGeom>
        </p:spPr>
      </p:pic>
      <p:pic>
        <p:nvPicPr>
          <p:cNvPr id="171" name="Image 70" descr="preencoded.png">    </p:cNvPr>
          <p:cNvPicPr>
            <a:picLocks noChangeAspect="1"/>
          </p:cNvPicPr>
          <p:nvPr/>
        </p:nvPicPr>
        <p:blipFill>
          <a:blip r:embed="rId71"/>
          <a:stretch>
            <a:fillRect/>
          </a:stretch>
        </p:blipFill>
        <p:spPr>
          <a:xfrm>
            <a:off x="1903177" y="2209435"/>
            <a:ext cx="32813" cy="32813"/>
          </a:xfrm>
          <a:prstGeom prst="rect">
            <a:avLst/>
          </a:prstGeom>
        </p:spPr>
      </p:pic>
      <p:pic>
        <p:nvPicPr>
          <p:cNvPr id="172" name="Image 71" descr="preencoded.png">    </p:cNvPr>
          <p:cNvPicPr>
            <a:picLocks noChangeAspect="1"/>
          </p:cNvPicPr>
          <p:nvPr/>
        </p:nvPicPr>
        <p:blipFill>
          <a:blip r:embed="rId72"/>
          <a:stretch>
            <a:fillRect/>
          </a:stretch>
        </p:blipFill>
        <p:spPr>
          <a:xfrm>
            <a:off x="1903177" y="2007086"/>
            <a:ext cx="32813" cy="32813"/>
          </a:xfrm>
          <a:prstGeom prst="rect">
            <a:avLst/>
          </a:prstGeom>
        </p:spPr>
      </p:pic>
      <p:sp>
        <p:nvSpPr>
          <p:cNvPr id="173" name="Text 99"/>
          <p:cNvSpPr/>
          <p:nvPr/>
        </p:nvSpPr>
        <p:spPr>
          <a:xfrm>
            <a:off x="1963335" y="2477411"/>
            <a:ext cx="649705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77" b="1" dirty="0">
                <a:solidFill>
                  <a:srgbClr val="8FA997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Summarise key facts</a:t>
            </a:r>
            <a:endParaRPr lang="en-US" sz="577" dirty="0"/>
          </a:p>
          <a:p>
            <a:pPr algn="l" indent="0" marL="0">
              <a:buNone/>
            </a:pPr>
            <a:r>
              <a:rPr lang="en-US" sz="577" b="1" dirty="0">
                <a:solidFill>
                  <a:srgbClr val="8FA997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for review</a:t>
            </a:r>
            <a:endParaRPr lang="en-US" sz="577" dirty="0"/>
          </a:p>
        </p:txBody>
      </p:sp>
      <p:sp>
        <p:nvSpPr>
          <p:cNvPr id="174" name="Text 100"/>
          <p:cNvSpPr/>
          <p:nvPr/>
        </p:nvSpPr>
        <p:spPr>
          <a:xfrm>
            <a:off x="1963335" y="2269593"/>
            <a:ext cx="667753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91AB98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purpose, Al capability,</a:t>
            </a:r>
            <a:endParaRPr lang="en-US" sz="564" dirty="0"/>
          </a:p>
          <a:p>
            <a:pPr algn="l" indent="0" marL="0">
              <a:buNone/>
            </a:pPr>
            <a:r>
              <a:rPr lang="en-US" sz="564" b="1" dirty="0">
                <a:solidFill>
                  <a:srgbClr val="91AB98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data, users, controls</a:t>
            </a:r>
            <a:endParaRPr lang="en-US" sz="564" dirty="0"/>
          </a:p>
        </p:txBody>
      </p:sp>
      <p:sp>
        <p:nvSpPr>
          <p:cNvPr id="175" name="Text 101"/>
          <p:cNvSpPr/>
          <p:nvPr/>
        </p:nvSpPr>
        <p:spPr>
          <a:xfrm>
            <a:off x="1963335" y="2187560"/>
            <a:ext cx="547437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b="1" dirty="0">
                <a:solidFill>
                  <a:srgbClr val="8CA793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Capture business</a:t>
            </a:r>
            <a:endParaRPr lang="en-US" sz="564" dirty="0"/>
          </a:p>
        </p:txBody>
      </p:sp>
      <p:sp>
        <p:nvSpPr>
          <p:cNvPr id="176" name="Text 102"/>
          <p:cNvSpPr/>
          <p:nvPr/>
        </p:nvSpPr>
        <p:spPr>
          <a:xfrm>
            <a:off x="1963335" y="1963335"/>
            <a:ext cx="631658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1" b="1" dirty="0">
                <a:solidFill>
                  <a:srgbClr val="94AE9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Create standard use</a:t>
            </a:r>
            <a:endParaRPr lang="en-US" sz="581" dirty="0"/>
          </a:p>
          <a:p>
            <a:pPr algn="l" indent="0" marL="0">
              <a:buNone/>
            </a:pPr>
            <a:r>
              <a:rPr lang="en-US" sz="581" b="1" dirty="0">
                <a:solidFill>
                  <a:srgbClr val="94AE9B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case profile</a:t>
            </a:r>
            <a:endParaRPr lang="en-US" sz="581" dirty="0"/>
          </a:p>
        </p:txBody>
      </p:sp>
      <p:sp>
        <p:nvSpPr>
          <p:cNvPr id="177" name="Shape 103"/>
          <p:cNvSpPr/>
          <p:nvPr/>
        </p:nvSpPr>
        <p:spPr>
          <a:xfrm>
            <a:off x="1848488" y="2734450"/>
            <a:ext cx="760177" cy="169536"/>
          </a:xfrm>
          <a:prstGeom prst="rect">
            <a:avLst/>
          </a:prstGeom>
          <a:solidFill>
            <a:srgbClr val="F3F8F2"/>
          </a:solidFill>
          <a:ln/>
        </p:spPr>
      </p:sp>
      <p:sp>
        <p:nvSpPr>
          <p:cNvPr id="178" name="Text 104"/>
          <p:cNvSpPr/>
          <p:nvPr/>
        </p:nvSpPr>
        <p:spPr>
          <a:xfrm>
            <a:off x="1897708" y="2772732"/>
            <a:ext cx="715879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48" b="1" dirty="0">
                <a:solidFill>
                  <a:srgbClr val="6F7670"/>
                </a:solidFill>
                <a:latin typeface="Lekton" pitchFamily="34" charset="0"/>
                <a:ea typeface="Lekton" pitchFamily="34" charset="-122"/>
                <a:cs typeface="Lekton" pitchFamily="34" charset="-120"/>
              </a:rPr>
              <a:t>Input: Raw intake pack</a:t>
            </a:r>
            <a:endParaRPr lang="en-US" sz="448" dirty="0"/>
          </a:p>
        </p:txBody>
      </p:sp>
      <p:pic>
        <p:nvPicPr>
          <p:cNvPr id="179" name="Image 72" descr="preencoded.png">    </p:cNvPr>
          <p:cNvPicPr>
            <a:picLocks noChangeAspect="1"/>
          </p:cNvPicPr>
          <p:nvPr/>
        </p:nvPicPr>
        <p:blipFill>
          <a:blip r:embed="rId73"/>
          <a:stretch>
            <a:fillRect/>
          </a:stretch>
        </p:blipFill>
        <p:spPr>
          <a:xfrm>
            <a:off x="3215713" y="1493010"/>
            <a:ext cx="10938" cy="432043"/>
          </a:xfrm>
          <a:prstGeom prst="rect">
            <a:avLst/>
          </a:prstGeom>
        </p:spPr>
      </p:pic>
      <p:pic>
        <p:nvPicPr>
          <p:cNvPr id="180" name="Image 73" descr="preencoded.png">    </p:cNvPr>
          <p:cNvPicPr>
            <a:picLocks noChangeAspect="1"/>
          </p:cNvPicPr>
          <p:nvPr/>
        </p:nvPicPr>
        <p:blipFill>
          <a:blip r:embed="rId74"/>
          <a:stretch>
            <a:fillRect/>
          </a:stretch>
        </p:blipFill>
        <p:spPr>
          <a:xfrm>
            <a:off x="3193837" y="1416445"/>
            <a:ext cx="54689" cy="60158"/>
          </a:xfrm>
          <a:prstGeom prst="rect">
            <a:avLst/>
          </a:prstGeom>
        </p:spPr>
      </p:pic>
      <p:sp>
        <p:nvSpPr>
          <p:cNvPr id="181" name="Shape 105"/>
          <p:cNvSpPr/>
          <p:nvPr/>
        </p:nvSpPr>
        <p:spPr>
          <a:xfrm>
            <a:off x="2800077" y="1115656"/>
            <a:ext cx="831273" cy="284383"/>
          </a:xfrm>
          <a:prstGeom prst="rect">
            <a:avLst/>
          </a:prstGeom>
          <a:solidFill>
            <a:srgbClr val="F9FAFA"/>
          </a:solidFill>
          <a:ln/>
        </p:spPr>
      </p:sp>
      <p:pic>
        <p:nvPicPr>
          <p:cNvPr id="182" name="Image 74" descr="preencoded.png">    </p:cNvPr>
          <p:cNvPicPr>
            <a:picLocks noChangeAspect="1"/>
          </p:cNvPicPr>
          <p:nvPr/>
        </p:nvPicPr>
        <p:blipFill>
          <a:blip r:embed="rId75"/>
          <a:stretch>
            <a:fillRect/>
          </a:stretch>
        </p:blipFill>
        <p:spPr>
          <a:xfrm>
            <a:off x="2871172" y="1170344"/>
            <a:ext cx="158598" cy="169536"/>
          </a:xfrm>
          <a:prstGeom prst="rect">
            <a:avLst/>
          </a:prstGeom>
        </p:spPr>
      </p:pic>
      <p:sp>
        <p:nvSpPr>
          <p:cNvPr id="183" name="Text 106"/>
          <p:cNvSpPr/>
          <p:nvPr/>
        </p:nvSpPr>
        <p:spPr>
          <a:xfrm>
            <a:off x="3089928" y="1148469"/>
            <a:ext cx="469232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6" dirty="0">
                <a:solidFill>
                  <a:srgbClr val="6E6E6F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Request more</a:t>
            </a:r>
            <a:endParaRPr lang="en-US" sz="646" dirty="0"/>
          </a:p>
          <a:p>
            <a:pPr algn="l" indent="0" marL="0">
              <a:buNone/>
            </a:pPr>
            <a:r>
              <a:rPr lang="en-US" sz="646" dirty="0">
                <a:solidFill>
                  <a:srgbClr val="6E6E6F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information</a:t>
            </a:r>
            <a:endParaRPr lang="en-US" sz="646" dirty="0"/>
          </a:p>
        </p:txBody>
      </p:sp>
      <p:sp>
        <p:nvSpPr>
          <p:cNvPr id="184" name="Text 107"/>
          <p:cNvSpPr/>
          <p:nvPr/>
        </p:nvSpPr>
        <p:spPr>
          <a:xfrm>
            <a:off x="393761" y="2832890"/>
            <a:ext cx="409074" cy="34454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2" b="1" dirty="0">
                <a:solidFill>
                  <a:srgbClr val="647D69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3.Other</a:t>
            </a:r>
            <a:endParaRPr lang="en-US" sz="732" dirty="0"/>
          </a:p>
          <a:p>
            <a:pPr algn="l" indent="0" marL="0">
              <a:buNone/>
            </a:pPr>
            <a:r>
              <a:rPr lang="en-US" sz="732" b="1" dirty="0">
                <a:solidFill>
                  <a:srgbClr val="647D69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2LoD Risk</a:t>
            </a:r>
            <a:endParaRPr lang="en-US" sz="732" dirty="0"/>
          </a:p>
          <a:p>
            <a:pPr algn="l" indent="0" marL="0">
              <a:buNone/>
            </a:pPr>
            <a:r>
              <a:rPr lang="en-US" sz="732" b="1" dirty="0">
                <a:solidFill>
                  <a:srgbClr val="647D69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Teams</a:t>
            </a:r>
            <a:endParaRPr lang="en-US" sz="732" dirty="0"/>
          </a:p>
        </p:txBody>
      </p:sp>
      <p:pic>
        <p:nvPicPr>
          <p:cNvPr id="185" name="Image 75" descr="preencoded.png">    </p:cNvPr>
          <p:cNvPicPr>
            <a:picLocks noChangeAspect="1"/>
          </p:cNvPicPr>
          <p:nvPr/>
        </p:nvPicPr>
        <p:blipFill>
          <a:blip r:embed="rId76"/>
          <a:stretch>
            <a:fillRect/>
          </a:stretch>
        </p:blipFill>
        <p:spPr>
          <a:xfrm>
            <a:off x="92971" y="2805545"/>
            <a:ext cx="240632" cy="267976"/>
          </a:xfrm>
          <a:prstGeom prst="rect">
            <a:avLst/>
          </a:prstGeom>
        </p:spPr>
      </p:pic>
      <p:pic>
        <p:nvPicPr>
          <p:cNvPr id="186" name="Image 76" descr="preencoded.png">    </p:cNvPr>
          <p:cNvPicPr>
            <a:picLocks noChangeAspect="1"/>
          </p:cNvPicPr>
          <p:nvPr/>
        </p:nvPicPr>
        <p:blipFill>
          <a:blip r:embed="rId77"/>
          <a:stretch>
            <a:fillRect/>
          </a:stretch>
        </p:blipFill>
        <p:spPr>
          <a:xfrm>
            <a:off x="54689" y="2750856"/>
            <a:ext cx="771115" cy="10938"/>
          </a:xfrm>
          <a:prstGeom prst="rect">
            <a:avLst/>
          </a:prstGeom>
        </p:spPr>
      </p:pic>
      <p:pic>
        <p:nvPicPr>
          <p:cNvPr id="187" name="Image 77" descr="preencoded.png">    </p:cNvPr>
          <p:cNvPicPr>
            <a:picLocks noChangeAspect="1"/>
          </p:cNvPicPr>
          <p:nvPr/>
        </p:nvPicPr>
        <p:blipFill>
          <a:blip r:embed="rId78"/>
          <a:stretch>
            <a:fillRect/>
          </a:stretch>
        </p:blipFill>
        <p:spPr>
          <a:xfrm>
            <a:off x="98440" y="1952397"/>
            <a:ext cx="235163" cy="262507"/>
          </a:xfrm>
          <a:prstGeom prst="rect">
            <a:avLst/>
          </a:prstGeom>
        </p:spPr>
      </p:pic>
      <p:sp>
        <p:nvSpPr>
          <p:cNvPr id="188" name="Shape 108"/>
          <p:cNvSpPr/>
          <p:nvPr/>
        </p:nvSpPr>
        <p:spPr>
          <a:xfrm>
            <a:off x="913306" y="1115656"/>
            <a:ext cx="847679" cy="792990"/>
          </a:xfrm>
          <a:prstGeom prst="rect">
            <a:avLst/>
          </a:prstGeom>
          <a:solidFill>
            <a:srgbClr val="F6F7F7"/>
          </a:solidFill>
          <a:ln/>
        </p:spPr>
      </p:sp>
      <p:pic>
        <p:nvPicPr>
          <p:cNvPr id="189" name="Image 78" descr="preencoded.png">    </p:cNvPr>
          <p:cNvPicPr>
            <a:picLocks noChangeAspect="1"/>
          </p:cNvPicPr>
          <p:nvPr/>
        </p:nvPicPr>
        <p:blipFill>
          <a:blip r:embed="rId79"/>
          <a:stretch>
            <a:fillRect/>
          </a:stretch>
        </p:blipFill>
        <p:spPr>
          <a:xfrm>
            <a:off x="957057" y="1575043"/>
            <a:ext cx="27344" cy="27344"/>
          </a:xfrm>
          <a:prstGeom prst="rect">
            <a:avLst/>
          </a:prstGeom>
        </p:spPr>
      </p:pic>
      <p:pic>
        <p:nvPicPr>
          <p:cNvPr id="190" name="Image 79" descr="preencoded.png">    </p:cNvPr>
          <p:cNvPicPr>
            <a:picLocks noChangeAspect="1"/>
          </p:cNvPicPr>
          <p:nvPr/>
        </p:nvPicPr>
        <p:blipFill>
          <a:blip r:embed="rId80"/>
          <a:stretch>
            <a:fillRect/>
          </a:stretch>
        </p:blipFill>
        <p:spPr>
          <a:xfrm>
            <a:off x="957057" y="1383632"/>
            <a:ext cx="27344" cy="27344"/>
          </a:xfrm>
          <a:prstGeom prst="rect">
            <a:avLst/>
          </a:prstGeom>
        </p:spPr>
      </p:pic>
      <p:pic>
        <p:nvPicPr>
          <p:cNvPr id="191" name="Image 80" descr="preencoded.png">    </p:cNvPr>
          <p:cNvPicPr>
            <a:picLocks noChangeAspect="1"/>
          </p:cNvPicPr>
          <p:nvPr/>
        </p:nvPicPr>
        <p:blipFill>
          <a:blip r:embed="rId81"/>
          <a:stretch>
            <a:fillRect/>
          </a:stretch>
        </p:blipFill>
        <p:spPr>
          <a:xfrm>
            <a:off x="957057" y="1285191"/>
            <a:ext cx="27344" cy="27344"/>
          </a:xfrm>
          <a:prstGeom prst="rect">
            <a:avLst/>
          </a:prstGeom>
        </p:spPr>
      </p:pic>
      <p:pic>
        <p:nvPicPr>
          <p:cNvPr id="192" name="Image 81" descr="preencoded.png">    </p:cNvPr>
          <p:cNvPicPr>
            <a:picLocks noChangeAspect="1"/>
          </p:cNvPicPr>
          <p:nvPr/>
        </p:nvPicPr>
        <p:blipFill>
          <a:blip r:embed="rId82"/>
          <a:stretch>
            <a:fillRect/>
          </a:stretch>
        </p:blipFill>
        <p:spPr>
          <a:xfrm>
            <a:off x="957057" y="1192220"/>
            <a:ext cx="21876" cy="21876"/>
          </a:xfrm>
          <a:prstGeom prst="rect">
            <a:avLst/>
          </a:prstGeom>
        </p:spPr>
      </p:pic>
      <p:sp>
        <p:nvSpPr>
          <p:cNvPr id="193" name="Text 109"/>
          <p:cNvSpPr/>
          <p:nvPr/>
        </p:nvSpPr>
        <p:spPr>
          <a:xfrm>
            <a:off x="951589" y="1771923"/>
            <a:ext cx="848226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7" dirty="0">
                <a:solidFill>
                  <a:srgbClr val="757676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Input: Use case information</a:t>
            </a:r>
            <a:endParaRPr lang="en-US" sz="547" dirty="0"/>
          </a:p>
        </p:txBody>
      </p:sp>
      <p:sp>
        <p:nvSpPr>
          <p:cNvPr id="194" name="Text 110"/>
          <p:cNvSpPr/>
          <p:nvPr/>
        </p:nvSpPr>
        <p:spPr>
          <a:xfrm>
            <a:off x="1017215" y="1553167"/>
            <a:ext cx="721895" cy="1914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6D6E6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Supporting evidence/</a:t>
            </a:r>
            <a:endParaRPr lang="en-US" sz="607" dirty="0"/>
          </a:p>
          <a:p>
            <a:pPr algn="l" indent="0" marL="0">
              <a:buNone/>
            </a:pPr>
            <a:r>
              <a:rPr lang="en-US" sz="607" b="1" dirty="0">
                <a:solidFill>
                  <a:srgbClr val="6D6E6E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documents</a:t>
            </a:r>
            <a:endParaRPr lang="en-US" sz="607" dirty="0"/>
          </a:p>
        </p:txBody>
      </p:sp>
      <p:sp>
        <p:nvSpPr>
          <p:cNvPr id="195" name="Text 111"/>
          <p:cNvSpPr/>
          <p:nvPr/>
        </p:nvSpPr>
        <p:spPr>
          <a:xfrm>
            <a:off x="1017215" y="1345349"/>
            <a:ext cx="577516" cy="1914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dirty="0">
                <a:solidFill>
                  <a:srgbClr val="777778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Existing use case</a:t>
            </a:r>
            <a:endParaRPr lang="en-US" sz="564" dirty="0"/>
          </a:p>
          <a:p>
            <a:pPr algn="l" indent="0" marL="0">
              <a:buNone/>
            </a:pPr>
            <a:r>
              <a:rPr lang="en-US" sz="564" dirty="0">
                <a:solidFill>
                  <a:srgbClr val="777778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documentation</a:t>
            </a:r>
            <a:endParaRPr lang="en-US" sz="564" dirty="0"/>
          </a:p>
        </p:txBody>
      </p:sp>
      <p:sp>
        <p:nvSpPr>
          <p:cNvPr id="196" name="Text 112"/>
          <p:cNvSpPr/>
          <p:nvPr/>
        </p:nvSpPr>
        <p:spPr>
          <a:xfrm>
            <a:off x="1017215" y="1257847"/>
            <a:ext cx="631658" cy="8203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8" b="1" dirty="0">
                <a:solidFill>
                  <a:srgbClr val="7C7C7D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Governance tracker</a:t>
            </a:r>
            <a:endParaRPr lang="en-US" sz="568" dirty="0"/>
          </a:p>
        </p:txBody>
      </p:sp>
      <p:sp>
        <p:nvSpPr>
          <p:cNvPr id="197" name="Text 113"/>
          <p:cNvSpPr/>
          <p:nvPr/>
        </p:nvSpPr>
        <p:spPr>
          <a:xfrm>
            <a:off x="1022684" y="1153938"/>
            <a:ext cx="770021" cy="9297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43" dirty="0">
                <a:solidFill>
                  <a:srgbClr val="747475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Intake form / submission</a:t>
            </a:r>
            <a:endParaRPr lang="en-US" sz="543" dirty="0"/>
          </a:p>
        </p:txBody>
      </p:sp>
      <p:pic>
        <p:nvPicPr>
          <p:cNvPr id="198" name="Image 82" descr="preencoded.png">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1711766" y="2269593"/>
            <a:ext cx="109378" cy="1514885"/>
          </a:xfrm>
          <a:prstGeom prst="rect">
            <a:avLst/>
          </a:prstGeom>
        </p:spPr>
      </p:pic>
      <p:sp>
        <p:nvSpPr>
          <p:cNvPr id="199" name="Shape 114"/>
          <p:cNvSpPr/>
          <p:nvPr/>
        </p:nvSpPr>
        <p:spPr>
          <a:xfrm>
            <a:off x="924244" y="3407124"/>
            <a:ext cx="814866" cy="333603"/>
          </a:xfrm>
          <a:prstGeom prst="rect">
            <a:avLst/>
          </a:prstGeom>
          <a:solidFill>
            <a:srgbClr val="F9FAF9"/>
          </a:solidFill>
          <a:ln/>
        </p:spPr>
      </p:sp>
      <p:pic>
        <p:nvPicPr>
          <p:cNvPr id="200" name="Image 83" descr="preencoded.png">    </p:cNvPr>
          <p:cNvPicPr>
            <a:picLocks noChangeAspect="1"/>
          </p:cNvPicPr>
          <p:nvPr/>
        </p:nvPicPr>
        <p:blipFill>
          <a:blip r:embed="rId84"/>
          <a:stretch>
            <a:fillRect/>
          </a:stretch>
        </p:blipFill>
        <p:spPr>
          <a:xfrm>
            <a:off x="973464" y="3456344"/>
            <a:ext cx="142191" cy="218756"/>
          </a:xfrm>
          <a:prstGeom prst="rect">
            <a:avLst/>
          </a:prstGeom>
        </p:spPr>
      </p:pic>
      <p:sp>
        <p:nvSpPr>
          <p:cNvPr id="201" name="Text 115"/>
          <p:cNvSpPr/>
          <p:nvPr/>
        </p:nvSpPr>
        <p:spPr>
          <a:xfrm>
            <a:off x="1175813" y="3450876"/>
            <a:ext cx="499311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4" dirty="0">
                <a:solidFill>
                  <a:srgbClr val="6A6B6B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Output:</a:t>
            </a:r>
            <a:endParaRPr lang="en-US" sz="564" dirty="0"/>
          </a:p>
          <a:p>
            <a:pPr algn="l" indent="0" marL="0">
              <a:buNone/>
            </a:pPr>
            <a:r>
              <a:rPr lang="en-US" sz="564" dirty="0">
                <a:solidFill>
                  <a:srgbClr val="6A6B6B"/>
                </a:solidFill>
                <a:latin typeface="Fresca" pitchFamily="34" charset="0"/>
                <a:ea typeface="Fresca" pitchFamily="34" charset="-122"/>
                <a:cs typeface="Fresca" pitchFamily="34" charset="-120"/>
              </a:rPr>
              <a:t>Raw intake pack</a:t>
            </a:r>
            <a:endParaRPr lang="en-US" sz="564" dirty="0"/>
          </a:p>
        </p:txBody>
      </p:sp>
      <p:pic>
        <p:nvPicPr>
          <p:cNvPr id="202" name="Image 84" descr="preencoded.png">    </p:cNvPr>
          <p:cNvPicPr>
            <a:picLocks noChangeAspect="1"/>
          </p:cNvPicPr>
          <p:nvPr/>
        </p:nvPicPr>
        <p:blipFill>
          <a:blip r:embed="rId85"/>
          <a:stretch>
            <a:fillRect/>
          </a:stretch>
        </p:blipFill>
        <p:spPr>
          <a:xfrm>
            <a:off x="1799268" y="1077373"/>
            <a:ext cx="27344" cy="2745388"/>
          </a:xfrm>
          <a:prstGeom prst="rect">
            <a:avLst/>
          </a:prstGeom>
        </p:spPr>
      </p:pic>
      <p:sp>
        <p:nvSpPr>
          <p:cNvPr id="203" name="Text 116"/>
          <p:cNvSpPr/>
          <p:nvPr/>
        </p:nvSpPr>
        <p:spPr>
          <a:xfrm>
            <a:off x="393761" y="1175813"/>
            <a:ext cx="487279" cy="35547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2" b="1" dirty="0">
                <a:solidFill>
                  <a:srgbClr val="64646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1.Use Case</a:t>
            </a:r>
            <a:endParaRPr lang="en-US" sz="642" dirty="0"/>
          </a:p>
          <a:p>
            <a:pPr algn="l" indent="0" marL="0">
              <a:buNone/>
            </a:pPr>
            <a:r>
              <a:rPr lang="en-US" sz="642" b="1" dirty="0">
                <a:solidFill>
                  <a:srgbClr val="64646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Owner/</a:t>
            </a:r>
            <a:endParaRPr lang="en-US" sz="642" dirty="0"/>
          </a:p>
          <a:p>
            <a:pPr algn="l" indent="0" marL="0">
              <a:buNone/>
            </a:pPr>
            <a:r>
              <a:rPr lang="en-US" sz="642" b="1" dirty="0">
                <a:solidFill>
                  <a:srgbClr val="646464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Source Inputs</a:t>
            </a:r>
            <a:endParaRPr lang="en-US" sz="642" dirty="0"/>
          </a:p>
        </p:txBody>
      </p:sp>
      <p:pic>
        <p:nvPicPr>
          <p:cNvPr id="204" name="Image 85" descr="preencoded.png">    </p:cNvPr>
          <p:cNvPicPr>
            <a:picLocks noChangeAspect="1"/>
          </p:cNvPicPr>
          <p:nvPr/>
        </p:nvPicPr>
        <p:blipFill>
          <a:blip r:embed="rId86"/>
          <a:stretch>
            <a:fillRect/>
          </a:stretch>
        </p:blipFill>
        <p:spPr>
          <a:xfrm>
            <a:off x="98440" y="1170344"/>
            <a:ext cx="235163" cy="267976"/>
          </a:xfrm>
          <a:prstGeom prst="rect">
            <a:avLst/>
          </a:prstGeom>
        </p:spPr>
      </p:pic>
      <p:pic>
        <p:nvPicPr>
          <p:cNvPr id="205" name="Image 86" descr="preencoded.png">    </p:cNvPr>
          <p:cNvPicPr>
            <a:picLocks noChangeAspect="1"/>
          </p:cNvPicPr>
          <p:nvPr/>
        </p:nvPicPr>
        <p:blipFill>
          <a:blip r:embed="rId87"/>
          <a:stretch>
            <a:fillRect/>
          </a:stretch>
        </p:blipFill>
        <p:spPr>
          <a:xfrm>
            <a:off x="842211" y="1044560"/>
            <a:ext cx="32813" cy="2772732"/>
          </a:xfrm>
          <a:prstGeom prst="rect">
            <a:avLst/>
          </a:prstGeom>
        </p:spPr>
      </p:pic>
      <p:pic>
        <p:nvPicPr>
          <p:cNvPr id="206" name="Image 87" descr="preencoded.png">    </p:cNvPr>
          <p:cNvPicPr>
            <a:picLocks noChangeAspect="1"/>
          </p:cNvPicPr>
          <p:nvPr/>
        </p:nvPicPr>
        <p:blipFill>
          <a:blip r:embed="rId88"/>
          <a:stretch>
            <a:fillRect/>
          </a:stretch>
        </p:blipFill>
        <p:spPr>
          <a:xfrm>
            <a:off x="847679" y="1564105"/>
            <a:ext cx="16407" cy="1908646"/>
          </a:xfrm>
          <a:prstGeom prst="rect">
            <a:avLst/>
          </a:prstGeom>
        </p:spPr>
      </p:pic>
      <p:pic>
        <p:nvPicPr>
          <p:cNvPr id="207" name="Image 88" descr="preencoded.png">    </p:cNvPr>
          <p:cNvPicPr>
            <a:picLocks noChangeAspect="1"/>
          </p:cNvPicPr>
          <p:nvPr/>
        </p:nvPicPr>
        <p:blipFill>
          <a:blip r:embed="rId89"/>
          <a:stretch>
            <a:fillRect/>
          </a:stretch>
        </p:blipFill>
        <p:spPr>
          <a:xfrm>
            <a:off x="54689" y="1853957"/>
            <a:ext cx="842211" cy="32813"/>
          </a:xfrm>
          <a:prstGeom prst="rect">
            <a:avLst/>
          </a:prstGeom>
        </p:spPr>
      </p:pic>
      <p:sp>
        <p:nvSpPr>
          <p:cNvPr id="208" name="Text 117"/>
          <p:cNvSpPr/>
          <p:nvPr/>
        </p:nvSpPr>
        <p:spPr>
          <a:xfrm>
            <a:off x="3270402" y="3314153"/>
            <a:ext cx="153129" cy="6562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68" b="1" dirty="0">
                <a:solidFill>
                  <a:srgbClr val="605F60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Yes</a:t>
            </a:r>
            <a:endParaRPr lang="en-US" sz="568" dirty="0"/>
          </a:p>
        </p:txBody>
      </p:sp>
      <p:sp>
        <p:nvSpPr>
          <p:cNvPr id="209" name="Text 118"/>
          <p:cNvSpPr/>
          <p:nvPr/>
        </p:nvSpPr>
        <p:spPr>
          <a:xfrm>
            <a:off x="3259464" y="1514885"/>
            <a:ext cx="131254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7" dirty="0">
                <a:solidFill>
                  <a:srgbClr val="5A5A5B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No</a:t>
            </a:r>
            <a:endParaRPr lang="en-US" sz="607" dirty="0"/>
          </a:p>
        </p:txBody>
      </p:sp>
      <p:sp>
        <p:nvSpPr>
          <p:cNvPr id="210" name="Text 119"/>
          <p:cNvSpPr/>
          <p:nvPr/>
        </p:nvSpPr>
        <p:spPr>
          <a:xfrm>
            <a:off x="393761" y="1963335"/>
            <a:ext cx="421105" cy="36094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7" b="1" dirty="0">
                <a:solidFill>
                  <a:srgbClr val="5B735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2. AI Risk</a:t>
            </a:r>
            <a:endParaRPr lang="en-US" sz="797" dirty="0"/>
          </a:p>
          <a:p>
            <a:pPr algn="l" indent="0" marL="0">
              <a:buNone/>
            </a:pPr>
            <a:r>
              <a:rPr lang="en-US" sz="797" b="1" dirty="0">
                <a:solidFill>
                  <a:srgbClr val="5B735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Oversight</a:t>
            </a:r>
            <a:endParaRPr lang="en-US" sz="797" dirty="0"/>
          </a:p>
          <a:p>
            <a:pPr algn="l" indent="0" marL="0">
              <a:buNone/>
            </a:pPr>
            <a:r>
              <a:rPr lang="en-US" sz="797" b="1" dirty="0">
                <a:solidFill>
                  <a:srgbClr val="5B735F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Team</a:t>
            </a:r>
            <a:endParaRPr lang="en-US" sz="797" dirty="0"/>
          </a:p>
        </p:txBody>
      </p:sp>
      <p:sp>
        <p:nvSpPr>
          <p:cNvPr id="211" name="Shape 120"/>
          <p:cNvSpPr/>
          <p:nvPr/>
        </p:nvSpPr>
        <p:spPr>
          <a:xfrm>
            <a:off x="8181474" y="689081"/>
            <a:ext cx="880493" cy="251569"/>
          </a:xfrm>
          <a:prstGeom prst="rect">
            <a:avLst/>
          </a:prstGeom>
          <a:solidFill>
            <a:srgbClr val="013F19"/>
          </a:solidFill>
          <a:ln/>
        </p:spPr>
      </p:sp>
      <p:sp>
        <p:nvSpPr>
          <p:cNvPr id="212" name="Text 121"/>
          <p:cNvSpPr/>
          <p:nvPr/>
        </p:nvSpPr>
        <p:spPr>
          <a:xfrm>
            <a:off x="8367416" y="754708"/>
            <a:ext cx="637674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8" b="1" dirty="0">
                <a:solidFill>
                  <a:srgbClr val="AABFAF"/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Final Outputs</a:t>
            </a:r>
            <a:endParaRPr lang="en-US" sz="848" dirty="0"/>
          </a:p>
        </p:txBody>
      </p:sp>
      <p:sp>
        <p:nvSpPr>
          <p:cNvPr id="213" name="Text 122"/>
          <p:cNvSpPr/>
          <p:nvPr/>
        </p:nvSpPr>
        <p:spPr>
          <a:xfrm>
            <a:off x="7133086" y="798459"/>
            <a:ext cx="926432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9" b="1" dirty="0">
                <a:solidFill>
                  <a:srgbClr val="60606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Record, Communicate &amp;</a:t>
            </a:r>
            <a:endParaRPr lang="en-US" sz="599" dirty="0"/>
          </a:p>
          <a:p>
            <a:pPr algn="ctr" indent="0" marL="0">
              <a:buNone/>
            </a:pPr>
            <a:r>
              <a:rPr lang="en-US" sz="599" b="1" dirty="0">
                <a:solidFill>
                  <a:srgbClr val="606060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Trigger Next Actions</a:t>
            </a:r>
            <a:endParaRPr lang="en-US" sz="599" dirty="0"/>
          </a:p>
        </p:txBody>
      </p:sp>
      <p:sp>
        <p:nvSpPr>
          <p:cNvPr id="214" name="Text 123"/>
          <p:cNvSpPr/>
          <p:nvPr/>
        </p:nvSpPr>
        <p:spPr>
          <a:xfrm>
            <a:off x="6187239" y="809397"/>
            <a:ext cx="800100" cy="20234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94" b="1" dirty="0">
                <a:solidFill>
                  <a:srgbClr val="5A5A5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Consolidate &amp;</a:t>
            </a:r>
            <a:endParaRPr lang="en-US" sz="594" dirty="0"/>
          </a:p>
          <a:p>
            <a:pPr algn="ctr" indent="0" marL="0">
              <a:buNone/>
            </a:pPr>
            <a:r>
              <a:rPr lang="en-US" sz="594" b="1" dirty="0">
                <a:solidFill>
                  <a:srgbClr val="5A5A5B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Determine Outcome</a:t>
            </a:r>
            <a:endParaRPr lang="en-US" sz="594" dirty="0"/>
          </a:p>
        </p:txBody>
      </p:sp>
      <p:sp>
        <p:nvSpPr>
          <p:cNvPr id="215" name="Text 124"/>
          <p:cNvSpPr/>
          <p:nvPr/>
        </p:nvSpPr>
        <p:spPr>
          <a:xfrm>
            <a:off x="5206392" y="798459"/>
            <a:ext cx="601579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7" b="1" dirty="0">
                <a:solidFill>
                  <a:srgbClr val="5F5F5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2LoD Review &amp;</a:t>
            </a:r>
            <a:endParaRPr lang="en-US" sz="607" dirty="0"/>
          </a:p>
          <a:p>
            <a:pPr algn="ctr" indent="0" marL="0">
              <a:buNone/>
            </a:pPr>
            <a:r>
              <a:rPr lang="en-US" sz="607" b="1" dirty="0">
                <a:solidFill>
                  <a:srgbClr val="5F5F5F"/>
                </a:solidFill>
                <a:latin typeface="Karla" pitchFamily="34" charset="0"/>
                <a:ea typeface="Karla" pitchFamily="34" charset="-122"/>
                <a:cs typeface="Karla" pitchFamily="34" charset="-120"/>
              </a:rPr>
              <a:t>Input</a:t>
            </a:r>
            <a:endParaRPr lang="en-US" sz="607" dirty="0"/>
          </a:p>
        </p:txBody>
      </p:sp>
      <p:sp>
        <p:nvSpPr>
          <p:cNvPr id="216" name="Text 125"/>
          <p:cNvSpPr/>
          <p:nvPr/>
        </p:nvSpPr>
        <p:spPr>
          <a:xfrm>
            <a:off x="3919834" y="809397"/>
            <a:ext cx="751974" cy="196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6" b="1" dirty="0">
                <a:solidFill>
                  <a:srgbClr val="5A5A5A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Risk-area Mapping</a:t>
            </a:r>
            <a:endParaRPr lang="en-US" sz="706" dirty="0"/>
          </a:p>
          <a:p>
            <a:pPr algn="ctr" indent="0" marL="0">
              <a:buNone/>
            </a:pPr>
            <a:r>
              <a:rPr lang="en-US" sz="706" b="1" dirty="0">
                <a:solidFill>
                  <a:srgbClr val="5A5A5A"/>
                </a:solidFill>
                <a:latin typeface="Puritan" pitchFamily="34" charset="0"/>
                <a:ea typeface="Puritan" pitchFamily="34" charset="-122"/>
                <a:cs typeface="Puritan" pitchFamily="34" charset="-120"/>
              </a:rPr>
              <a:t>&amp; Routing</a:t>
            </a:r>
            <a:endParaRPr lang="en-US" sz="706" dirty="0"/>
          </a:p>
        </p:txBody>
      </p:sp>
      <p:sp>
        <p:nvSpPr>
          <p:cNvPr id="217" name="Text 126"/>
          <p:cNvSpPr/>
          <p:nvPr/>
        </p:nvSpPr>
        <p:spPr>
          <a:xfrm>
            <a:off x="2901798" y="798459"/>
            <a:ext cx="649705" cy="20781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6263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Completeness &amp;</a:t>
            </a:r>
            <a:endParaRPr lang="en-US" sz="624" dirty="0"/>
          </a:p>
          <a:p>
            <a:pPr algn="ctr" indent="0" marL="0">
              <a:buNone/>
            </a:pPr>
            <a:r>
              <a:rPr lang="en-US" sz="624" b="1" dirty="0">
                <a:solidFill>
                  <a:srgbClr val="62636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Quality Check</a:t>
            </a:r>
            <a:endParaRPr lang="en-US" sz="624" dirty="0"/>
          </a:p>
        </p:txBody>
      </p:sp>
      <p:pic>
        <p:nvPicPr>
          <p:cNvPr id="218" name="Image 89" descr="preencoded.png">    </p:cNvPr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7481455" y="568766"/>
            <a:ext cx="207818" cy="213287"/>
          </a:xfrm>
          <a:prstGeom prst="rect">
            <a:avLst/>
          </a:prstGeom>
        </p:spPr>
      </p:pic>
      <p:sp>
        <p:nvSpPr>
          <p:cNvPr id="219" name="Text 127"/>
          <p:cNvSpPr/>
          <p:nvPr/>
        </p:nvSpPr>
        <p:spPr>
          <a:xfrm>
            <a:off x="7536144" y="607048"/>
            <a:ext cx="10937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2" dirty="0">
                <a:solidFill>
                  <a:srgbClr val="B4C8B9"/>
                </a:solidFill>
                <a:latin typeface="Red Rose" pitchFamily="34" charset="0"/>
                <a:ea typeface="Red Rose" pitchFamily="34" charset="-122"/>
                <a:cs typeface="Red Rose" pitchFamily="34" charset="-120"/>
              </a:rPr>
              <a:t>7</a:t>
            </a:r>
            <a:endParaRPr lang="en-US" sz="1042" dirty="0"/>
          </a:p>
        </p:txBody>
      </p:sp>
      <p:pic>
        <p:nvPicPr>
          <p:cNvPr id="220" name="Image 90" descr="preencoded.png">    </p:cNvPr>
          <p:cNvPicPr>
            <a:picLocks noChangeAspect="1"/>
          </p:cNvPicPr>
          <p:nvPr/>
        </p:nvPicPr>
        <p:blipFill>
          <a:blip r:embed="rId91"/>
          <a:stretch>
            <a:fillRect/>
          </a:stretch>
        </p:blipFill>
        <p:spPr>
          <a:xfrm>
            <a:off x="7142383" y="683612"/>
            <a:ext cx="289852" cy="10938"/>
          </a:xfrm>
          <a:prstGeom prst="rect">
            <a:avLst/>
          </a:prstGeom>
        </p:spPr>
      </p:pic>
      <p:pic>
        <p:nvPicPr>
          <p:cNvPr id="221" name="Image 91" descr="preencoded.png">    </p:cNvPr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6721278" y="661737"/>
            <a:ext cx="377354" cy="54689"/>
          </a:xfrm>
          <a:prstGeom prst="rect">
            <a:avLst/>
          </a:prstGeom>
        </p:spPr>
      </p:pic>
      <p:sp>
        <p:nvSpPr>
          <p:cNvPr id="222" name="Shape 128"/>
          <p:cNvSpPr/>
          <p:nvPr/>
        </p:nvSpPr>
        <p:spPr>
          <a:xfrm>
            <a:off x="6469708" y="574234"/>
            <a:ext cx="202349" cy="202349"/>
          </a:xfrm>
          <a:prstGeom prst="rect">
            <a:avLst/>
          </a:prstGeom>
          <a:solidFill>
            <a:srgbClr val="00421D"/>
          </a:solidFill>
          <a:ln/>
        </p:spPr>
      </p:sp>
      <p:sp>
        <p:nvSpPr>
          <p:cNvPr id="223" name="Text 129"/>
          <p:cNvSpPr/>
          <p:nvPr/>
        </p:nvSpPr>
        <p:spPr>
          <a:xfrm>
            <a:off x="6524397" y="612517"/>
            <a:ext cx="103909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2" dirty="0">
                <a:solidFill>
                  <a:srgbClr val="BACDBF"/>
                </a:solidFill>
                <a:latin typeface="Archivo Narrow" pitchFamily="34" charset="0"/>
                <a:ea typeface="Archivo Narrow" pitchFamily="34" charset="-122"/>
                <a:cs typeface="Archivo Narrow" pitchFamily="34" charset="-120"/>
              </a:rPr>
              <a:t>6</a:t>
            </a:r>
            <a:endParaRPr lang="en-US" sz="1042" dirty="0"/>
          </a:p>
        </p:txBody>
      </p:sp>
      <p:pic>
        <p:nvPicPr>
          <p:cNvPr id="224" name="Image 92" descr="preencoded.png">    </p:cNvPr>
          <p:cNvPicPr>
            <a:picLocks noChangeAspect="1"/>
          </p:cNvPicPr>
          <p:nvPr/>
        </p:nvPicPr>
        <p:blipFill>
          <a:blip r:embed="rId93"/>
          <a:stretch>
            <a:fillRect/>
          </a:stretch>
        </p:blipFill>
        <p:spPr>
          <a:xfrm>
            <a:off x="6070478" y="683612"/>
            <a:ext cx="350010" cy="10938"/>
          </a:xfrm>
          <a:prstGeom prst="rect">
            <a:avLst/>
          </a:prstGeom>
        </p:spPr>
      </p:pic>
      <p:pic>
        <p:nvPicPr>
          <p:cNvPr id="225" name="Image 93" descr="preencoded.png">    </p:cNvPr>
          <p:cNvPicPr>
            <a:picLocks noChangeAspect="1"/>
          </p:cNvPicPr>
          <p:nvPr/>
        </p:nvPicPr>
        <p:blipFill>
          <a:blip r:embed="rId94"/>
          <a:stretch>
            <a:fillRect/>
          </a:stretch>
        </p:blipFill>
        <p:spPr>
          <a:xfrm>
            <a:off x="5638435" y="661737"/>
            <a:ext cx="404699" cy="54689"/>
          </a:xfrm>
          <a:prstGeom prst="rect">
            <a:avLst/>
          </a:prstGeom>
        </p:spPr>
      </p:pic>
      <p:pic>
        <p:nvPicPr>
          <p:cNvPr id="226" name="Image 94" descr="preencoded.png">    </p:cNvPr>
          <p:cNvPicPr>
            <a:picLocks noChangeAspect="1"/>
          </p:cNvPicPr>
          <p:nvPr/>
        </p:nvPicPr>
        <p:blipFill>
          <a:blip r:embed="rId95"/>
          <a:stretch>
            <a:fillRect/>
          </a:stretch>
        </p:blipFill>
        <p:spPr>
          <a:xfrm>
            <a:off x="5386866" y="568766"/>
            <a:ext cx="207818" cy="213287"/>
          </a:xfrm>
          <a:prstGeom prst="rect">
            <a:avLst/>
          </a:prstGeom>
        </p:spPr>
      </p:pic>
      <p:sp>
        <p:nvSpPr>
          <p:cNvPr id="227" name="Text 130"/>
          <p:cNvSpPr/>
          <p:nvPr/>
        </p:nvSpPr>
        <p:spPr>
          <a:xfrm>
            <a:off x="5441555" y="607048"/>
            <a:ext cx="103909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4" dirty="0">
                <a:solidFill>
                  <a:srgbClr val="BDCFC2"/>
                </a:solidFill>
                <a:latin typeface="Smooch Sans" pitchFamily="34" charset="0"/>
                <a:ea typeface="Smooch Sans" pitchFamily="34" charset="-122"/>
                <a:cs typeface="Smooch Sans" pitchFamily="34" charset="-120"/>
              </a:rPr>
              <a:t>5</a:t>
            </a:r>
            <a:endParaRPr lang="en-US" sz="1154" dirty="0"/>
          </a:p>
        </p:txBody>
      </p:sp>
      <p:pic>
        <p:nvPicPr>
          <p:cNvPr id="228" name="Image 95" descr="preencoded.png">    </p:cNvPr>
          <p:cNvPicPr>
            <a:picLocks noChangeAspect="1"/>
          </p:cNvPicPr>
          <p:nvPr/>
        </p:nvPicPr>
        <p:blipFill>
          <a:blip r:embed="rId96"/>
          <a:stretch>
            <a:fillRect/>
          </a:stretch>
        </p:blipFill>
        <p:spPr>
          <a:xfrm>
            <a:off x="4965761" y="683612"/>
            <a:ext cx="377354" cy="10938"/>
          </a:xfrm>
          <a:prstGeom prst="rect">
            <a:avLst/>
          </a:prstGeom>
        </p:spPr>
      </p:pic>
      <p:pic>
        <p:nvPicPr>
          <p:cNvPr id="229" name="Image 96" descr="preencoded.png">    </p:cNvPr>
          <p:cNvPicPr>
            <a:picLocks noChangeAspect="1"/>
          </p:cNvPicPr>
          <p:nvPr/>
        </p:nvPicPr>
        <p:blipFill>
          <a:blip r:embed="rId97"/>
          <a:stretch>
            <a:fillRect/>
          </a:stretch>
        </p:blipFill>
        <p:spPr>
          <a:xfrm>
            <a:off x="4429809" y="661737"/>
            <a:ext cx="492201" cy="54689"/>
          </a:xfrm>
          <a:prstGeom prst="rect">
            <a:avLst/>
          </a:prstGeom>
        </p:spPr>
      </p:pic>
      <p:sp>
        <p:nvSpPr>
          <p:cNvPr id="230" name="Shape 131"/>
          <p:cNvSpPr/>
          <p:nvPr/>
        </p:nvSpPr>
        <p:spPr>
          <a:xfrm>
            <a:off x="4178239" y="574234"/>
            <a:ext cx="202349" cy="207818"/>
          </a:xfrm>
          <a:prstGeom prst="rect">
            <a:avLst/>
          </a:prstGeom>
          <a:solidFill>
            <a:srgbClr val="00411D"/>
          </a:solidFill>
          <a:ln/>
        </p:spPr>
      </p:sp>
      <p:sp>
        <p:nvSpPr>
          <p:cNvPr id="231" name="Text 132"/>
          <p:cNvSpPr/>
          <p:nvPr/>
        </p:nvSpPr>
        <p:spPr>
          <a:xfrm>
            <a:off x="4221990" y="612517"/>
            <a:ext cx="114847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7" dirty="0">
                <a:solidFill>
                  <a:srgbClr val="B8C9BC"/>
                </a:solidFill>
                <a:latin typeface="Cabin Condensed" pitchFamily="34" charset="0"/>
                <a:ea typeface="Cabin Condensed" pitchFamily="34" charset="-122"/>
                <a:cs typeface="Cabin Condensed" pitchFamily="34" charset="-120"/>
              </a:rPr>
              <a:t>4</a:t>
            </a:r>
            <a:endParaRPr lang="en-US" sz="1137" dirty="0"/>
          </a:p>
        </p:txBody>
      </p:sp>
      <p:pic>
        <p:nvPicPr>
          <p:cNvPr id="232" name="Image 97" descr="preencoded.png">    </p:cNvPr>
          <p:cNvPicPr>
            <a:picLocks noChangeAspect="1"/>
          </p:cNvPicPr>
          <p:nvPr/>
        </p:nvPicPr>
        <p:blipFill>
          <a:blip r:embed="rId98"/>
          <a:stretch>
            <a:fillRect/>
          </a:stretch>
        </p:blipFill>
        <p:spPr>
          <a:xfrm>
            <a:off x="3319622" y="667206"/>
            <a:ext cx="809397" cy="49220"/>
          </a:xfrm>
          <a:prstGeom prst="rect">
            <a:avLst/>
          </a:prstGeom>
        </p:spPr>
      </p:pic>
      <p:pic>
        <p:nvPicPr>
          <p:cNvPr id="233" name="Image 98" descr="preencoded.png">    </p:cNvPr>
          <p:cNvPicPr>
            <a:picLocks noChangeAspect="1"/>
          </p:cNvPicPr>
          <p:nvPr/>
        </p:nvPicPr>
        <p:blipFill>
          <a:blip r:embed="rId99"/>
          <a:stretch>
            <a:fillRect/>
          </a:stretch>
        </p:blipFill>
        <p:spPr>
          <a:xfrm>
            <a:off x="3729789" y="678144"/>
            <a:ext cx="382823" cy="16407"/>
          </a:xfrm>
          <a:prstGeom prst="rect">
            <a:avLst/>
          </a:prstGeom>
        </p:spPr>
      </p:pic>
      <p:pic>
        <p:nvPicPr>
          <p:cNvPr id="234" name="Image 99" descr="preencoded.png">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330560" y="661737"/>
            <a:ext cx="360947" cy="54689"/>
          </a:xfrm>
          <a:prstGeom prst="rect">
            <a:avLst/>
          </a:prstGeom>
        </p:spPr>
      </p:pic>
      <p:sp>
        <p:nvSpPr>
          <p:cNvPr id="235" name="Shape 133"/>
          <p:cNvSpPr/>
          <p:nvPr/>
        </p:nvSpPr>
        <p:spPr>
          <a:xfrm>
            <a:off x="3084459" y="574234"/>
            <a:ext cx="202349" cy="207818"/>
          </a:xfrm>
          <a:prstGeom prst="rect">
            <a:avLst/>
          </a:prstGeom>
          <a:solidFill>
            <a:srgbClr val="003F1B"/>
          </a:solidFill>
          <a:ln/>
        </p:spPr>
      </p:sp>
      <p:sp>
        <p:nvSpPr>
          <p:cNvPr id="236" name="Text 134"/>
          <p:cNvSpPr/>
          <p:nvPr/>
        </p:nvSpPr>
        <p:spPr>
          <a:xfrm>
            <a:off x="3139148" y="612517"/>
            <a:ext cx="103909" cy="12031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96" dirty="0">
                <a:solidFill>
                  <a:srgbClr val="B9CCBE"/>
                </a:solidFill>
                <a:latin typeface="Overpass Mono" pitchFamily="34" charset="0"/>
                <a:ea typeface="Overpass Mono" pitchFamily="34" charset="-122"/>
                <a:cs typeface="Overpass Mono" pitchFamily="34" charset="-120"/>
              </a:rPr>
              <a:t>3</a:t>
            </a:r>
            <a:endParaRPr lang="en-US" sz="896" dirty="0"/>
          </a:p>
        </p:txBody>
      </p:sp>
      <p:pic>
        <p:nvPicPr>
          <p:cNvPr id="237" name="Image 100" descr="preencoded.png">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772732" y="678144"/>
            <a:ext cx="257038" cy="16407"/>
          </a:xfrm>
          <a:prstGeom prst="rect">
            <a:avLst/>
          </a:prstGeom>
        </p:spPr>
      </p:pic>
      <p:sp>
        <p:nvSpPr>
          <p:cNvPr id="238" name="Text 135"/>
          <p:cNvSpPr/>
          <p:nvPr/>
        </p:nvSpPr>
        <p:spPr>
          <a:xfrm>
            <a:off x="1993140" y="798459"/>
            <a:ext cx="547437" cy="21328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7" b="1" dirty="0">
                <a:solidFill>
                  <a:srgbClr val="67676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Structure Use</a:t>
            </a:r>
            <a:endParaRPr lang="en-US" sz="607" dirty="0"/>
          </a:p>
          <a:p>
            <a:pPr algn="ctr" indent="0" marL="0">
              <a:buNone/>
            </a:pPr>
            <a:r>
              <a:rPr lang="en-US" sz="607" b="1" dirty="0">
                <a:solidFill>
                  <a:srgbClr val="676767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Case Profile</a:t>
            </a:r>
            <a:endParaRPr lang="en-US" sz="607" dirty="0"/>
          </a:p>
        </p:txBody>
      </p:sp>
      <p:sp>
        <p:nvSpPr>
          <p:cNvPr id="239" name="Shape 136"/>
          <p:cNvSpPr/>
          <p:nvPr/>
        </p:nvSpPr>
        <p:spPr>
          <a:xfrm>
            <a:off x="2373502" y="656268"/>
            <a:ext cx="382823" cy="54689"/>
          </a:xfrm>
          <a:prstGeom prst="rect">
            <a:avLst/>
          </a:prstGeom>
          <a:solidFill>
            <a:srgbClr val="FEFEFE"/>
          </a:solidFill>
          <a:ln/>
        </p:spPr>
      </p:sp>
      <p:sp>
        <p:nvSpPr>
          <p:cNvPr id="240" name="Shape 137"/>
          <p:cNvSpPr/>
          <p:nvPr/>
        </p:nvSpPr>
        <p:spPr>
          <a:xfrm>
            <a:off x="2138340" y="574234"/>
            <a:ext cx="202349" cy="207818"/>
          </a:xfrm>
          <a:prstGeom prst="rect">
            <a:avLst/>
          </a:prstGeom>
          <a:solidFill>
            <a:srgbClr val="003E1C"/>
          </a:solidFill>
          <a:ln/>
        </p:spPr>
      </p:sp>
      <p:sp>
        <p:nvSpPr>
          <p:cNvPr id="241" name="Text 138"/>
          <p:cNvSpPr/>
          <p:nvPr/>
        </p:nvSpPr>
        <p:spPr>
          <a:xfrm>
            <a:off x="2187560" y="612517"/>
            <a:ext cx="109378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1" dirty="0">
                <a:solidFill>
                  <a:srgbClr val="C1D0C5"/>
                </a:solidFill>
                <a:latin typeface="Overlock" pitchFamily="34" charset="0"/>
                <a:ea typeface="Overlock" pitchFamily="34" charset="-122"/>
                <a:cs typeface="Overlock" pitchFamily="34" charset="-120"/>
              </a:rPr>
              <a:t>2</a:t>
            </a:r>
            <a:endParaRPr lang="en-US" sz="1081" dirty="0"/>
          </a:p>
        </p:txBody>
      </p:sp>
      <p:pic>
        <p:nvPicPr>
          <p:cNvPr id="242" name="Image 101" descr="preencoded.png">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1875833" y="683612"/>
            <a:ext cx="213287" cy="10938"/>
          </a:xfrm>
          <a:prstGeom prst="rect">
            <a:avLst/>
          </a:prstGeom>
        </p:spPr>
      </p:pic>
      <p:pic>
        <p:nvPicPr>
          <p:cNvPr id="243" name="Image 102" descr="preencoded.png">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2373502" y="667206"/>
            <a:ext cx="366416" cy="38282"/>
          </a:xfrm>
          <a:prstGeom prst="rect">
            <a:avLst/>
          </a:prstGeom>
        </p:spPr>
      </p:pic>
      <p:sp>
        <p:nvSpPr>
          <p:cNvPr id="244" name="Text 139"/>
          <p:cNvSpPr/>
          <p:nvPr/>
        </p:nvSpPr>
        <p:spPr>
          <a:xfrm>
            <a:off x="946120" y="918775"/>
            <a:ext cx="806116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7" b="1" dirty="0">
                <a:solidFill>
                  <a:srgbClr val="626263"/>
                </a:solidFill>
                <a:latin typeface="News Cycle" pitchFamily="34" charset="0"/>
                <a:ea typeface="News Cycle" pitchFamily="34" charset="-122"/>
                <a:cs typeface="News Cycle" pitchFamily="34" charset="-120"/>
              </a:rPr>
              <a:t>Information Collection</a:t>
            </a:r>
            <a:endParaRPr lang="en-US" sz="607" dirty="0"/>
          </a:p>
        </p:txBody>
      </p:sp>
      <p:sp>
        <p:nvSpPr>
          <p:cNvPr id="245" name="Text 140"/>
          <p:cNvSpPr/>
          <p:nvPr/>
        </p:nvSpPr>
        <p:spPr>
          <a:xfrm>
            <a:off x="1153938" y="814866"/>
            <a:ext cx="333603" cy="8750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65656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Intake &amp;</a:t>
            </a:r>
            <a:endParaRPr lang="en-US" sz="650" dirty="0"/>
          </a:p>
        </p:txBody>
      </p:sp>
      <p:sp>
        <p:nvSpPr>
          <p:cNvPr id="246" name="Shape 141"/>
          <p:cNvSpPr/>
          <p:nvPr/>
        </p:nvSpPr>
        <p:spPr>
          <a:xfrm>
            <a:off x="1203158" y="574234"/>
            <a:ext cx="202349" cy="207818"/>
          </a:xfrm>
          <a:prstGeom prst="rect">
            <a:avLst/>
          </a:prstGeom>
          <a:solidFill>
            <a:srgbClr val="003F1C"/>
          </a:solidFill>
          <a:ln/>
        </p:spPr>
      </p:sp>
      <p:sp>
        <p:nvSpPr>
          <p:cNvPr id="247" name="Text 142"/>
          <p:cNvSpPr/>
          <p:nvPr/>
        </p:nvSpPr>
        <p:spPr>
          <a:xfrm>
            <a:off x="1263316" y="612517"/>
            <a:ext cx="98440" cy="12578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3" dirty="0">
                <a:solidFill>
                  <a:srgbClr val="BCCCC0"/>
                </a:solidFill>
                <a:latin typeface="Sen" pitchFamily="34" charset="0"/>
                <a:ea typeface="Sen" pitchFamily="34" charset="-122"/>
                <a:cs typeface="Sen" pitchFamily="34" charset="-120"/>
              </a:rPr>
              <a:t>1</a:t>
            </a:r>
            <a:endParaRPr lang="en-US" sz="913" dirty="0"/>
          </a:p>
        </p:txBody>
      </p:sp>
      <p:pic>
        <p:nvPicPr>
          <p:cNvPr id="248" name="Image 103" descr="preencoded.png">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1460196" y="661737"/>
            <a:ext cx="388292" cy="54689"/>
          </a:xfrm>
          <a:prstGeom prst="rect">
            <a:avLst/>
          </a:prstGeom>
        </p:spPr>
      </p:pic>
      <p:sp>
        <p:nvSpPr>
          <p:cNvPr id="249" name="Text 143"/>
          <p:cNvSpPr/>
          <p:nvPr/>
        </p:nvSpPr>
        <p:spPr>
          <a:xfrm>
            <a:off x="158598" y="355478"/>
            <a:ext cx="5053263" cy="13125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8E8E8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High-level workflow and tooling capabilities for Al Risk Oversight coordination with other 2LoD teams</a:t>
            </a:r>
            <a:endParaRPr lang="en-US" sz="810" dirty="0"/>
          </a:p>
        </p:txBody>
      </p:sp>
      <p:sp>
        <p:nvSpPr>
          <p:cNvPr id="250" name="Text 144"/>
          <p:cNvSpPr/>
          <p:nvPr/>
        </p:nvSpPr>
        <p:spPr>
          <a:xfrm>
            <a:off x="7093163" y="98440"/>
            <a:ext cx="2117558" cy="2242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90" dirty="0">
                <a:solidFill>
                  <a:srgbClr val="84848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Technology-agnostic workflow - implementation can use</a:t>
            </a:r>
            <a:endParaRPr lang="en-US" sz="590" dirty="0"/>
          </a:p>
          <a:p>
            <a:pPr algn="l" indent="0" marL="0">
              <a:buNone/>
            </a:pPr>
            <a:r>
              <a:rPr lang="en-US" sz="590" dirty="0">
                <a:solidFill>
                  <a:srgbClr val="848485"/>
                </a:solidFill>
                <a:latin typeface="Overpass" pitchFamily="34" charset="0"/>
                <a:ea typeface="Overpass" pitchFamily="34" charset="-122"/>
                <a:cs typeface="Overpass" pitchFamily="34" charset="-120"/>
              </a:rPr>
              <a:t>existing workflow tools or a dedicated platform.</a:t>
            </a:r>
            <a:endParaRPr lang="en-US" sz="590" dirty="0"/>
          </a:p>
        </p:txBody>
      </p:sp>
      <p:pic>
        <p:nvPicPr>
          <p:cNvPr id="251" name="Image 104" descr="preencoded.png">    </p:cNvPr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6907220" y="114847"/>
            <a:ext cx="125785" cy="136722"/>
          </a:xfrm>
          <a:prstGeom prst="rect">
            <a:avLst/>
          </a:prstGeom>
        </p:spPr>
      </p:pic>
      <p:sp>
        <p:nvSpPr>
          <p:cNvPr id="252" name="Text 145"/>
          <p:cNvSpPr/>
          <p:nvPr/>
        </p:nvSpPr>
        <p:spPr>
          <a:xfrm>
            <a:off x="147660" y="60158"/>
            <a:ext cx="4866774" cy="27344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56" b="1" dirty="0">
                <a:solidFill>
                  <a:srgbClr val="255333"/>
                </a:solidFill>
                <a:latin typeface="Reddit Sans Condensed" pitchFamily="34" charset="0"/>
                <a:ea typeface="Reddit Sans Condensed" pitchFamily="34" charset="-122"/>
                <a:cs typeface="Reddit Sans Condensed" pitchFamily="34" charset="-120"/>
              </a:rPr>
              <a:t>Al Risk Triaging Tool - Capability Workflow</a:t>
            </a:r>
            <a:endParaRPr lang="en-US" sz="1856" dirty="0"/>
          </a:p>
        </p:txBody>
      </p:sp>
      <p:pic>
        <p:nvPicPr>
          <p:cNvPr id="253" name="Image 105" descr="preencoded.png">    </p:cNvPr>
          <p:cNvPicPr>
            <a:picLocks noChangeAspect="1"/>
          </p:cNvPicPr>
          <p:nvPr/>
        </p:nvPicPr>
        <p:blipFill>
          <a:blip r:embed="rId106"/>
          <a:stretch>
            <a:fillRect/>
          </a:stretch>
        </p:blipFill>
        <p:spPr>
          <a:xfrm>
            <a:off x="0" y="5140766"/>
            <a:ext cx="9144000" cy="5469"/>
          </a:xfrm>
          <a:prstGeom prst="rect">
            <a:avLst/>
          </a:prstGeom>
        </p:spPr>
      </p:pic>
      <p:pic>
        <p:nvPicPr>
          <p:cNvPr id="254" name="Image 106" descr="preencoded.png">    </p:cNvPr>
          <p:cNvPicPr>
            <a:picLocks noChangeAspect="1"/>
          </p:cNvPicPr>
          <p:nvPr/>
        </p:nvPicPr>
        <p:blipFill>
          <a:blip r:embed="rId107"/>
          <a:stretch>
            <a:fillRect/>
          </a:stretch>
        </p:blipFill>
        <p:spPr>
          <a:xfrm>
            <a:off x="0" y="0"/>
            <a:ext cx="9144000" cy="5469"/>
          </a:xfrm>
          <a:prstGeom prst="rect">
            <a:avLst/>
          </a:prstGeom>
        </p:spPr>
      </p:pic>
      <p:pic>
        <p:nvPicPr>
          <p:cNvPr id="255" name="Image 107" descr="preencoded.png">    </p:cNvPr>
          <p:cNvPicPr>
            <a:picLocks noChangeAspect="1"/>
          </p:cNvPicPr>
          <p:nvPr/>
        </p:nvPicPr>
        <p:blipFill>
          <a:blip r:embed="rId108"/>
          <a:stretch>
            <a:fillRect/>
          </a:stretch>
        </p:blipFill>
        <p:spPr>
          <a:xfrm>
            <a:off x="9138531" y="0"/>
            <a:ext cx="5469" cy="5146234"/>
          </a:xfrm>
          <a:prstGeom prst="rect">
            <a:avLst/>
          </a:prstGeom>
        </p:spPr>
      </p:pic>
      <p:pic>
        <p:nvPicPr>
          <p:cNvPr id="256" name="Image 108" descr="preencoded.png">    </p:cNvPr>
          <p:cNvPicPr>
            <a:picLocks noChangeAspect="1"/>
          </p:cNvPicPr>
          <p:nvPr/>
        </p:nvPicPr>
        <p:blipFill>
          <a:blip r:embed="rId109"/>
          <a:stretch>
            <a:fillRect/>
          </a:stretch>
        </p:blipFill>
        <p:spPr>
          <a:xfrm>
            <a:off x="0" y="0"/>
            <a:ext cx="5469" cy="51462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2026-06-29T18:23:13Z</dcterms:created>
  <dcterms:modified xsi:type="dcterms:W3CDTF">2026-06-29T18:23:13Z</dcterms:modified>
</cp:coreProperties>
</file>