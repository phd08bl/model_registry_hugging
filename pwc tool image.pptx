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jpe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jpeg"/><Relationship Id="rId55" Type="http://schemas.openxmlformats.org/officeDocument/2006/relationships/image" Target="../media/image-1-55.png"/><Relationship Id="rId56" Type="http://schemas.openxmlformats.org/officeDocument/2006/relationships/slideLayout" Target="../slideLayouts/slideLayout1.xml"/><Relationship Id="rId5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23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107144"/>
            <a:ext cx="2171153" cy="16407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08722"/>
            <a:ext cx="9144000" cy="43751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85172" y="4927478"/>
            <a:ext cx="6202279" cy="1421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dirty="0">
                <a:solidFill>
                  <a:srgbClr val="B7CAC0"/>
                </a:solidFill>
                <a:latin typeface="Hammersmith One" pitchFamily="34" charset="0"/>
                <a:ea typeface="Hammersmith One" pitchFamily="34" charset="-122"/>
                <a:cs typeface="Hammersmith One" pitchFamily="34" charset="-120"/>
              </a:rPr>
              <a:t>risk-based triage, proportionate engagement, structured escalation, and clear re-assessment of changes.</a:t>
            </a:r>
            <a:endParaRPr lang="en-US" sz="543" dirty="0"/>
          </a:p>
        </p:txBody>
      </p:sp>
      <p:sp>
        <p:nvSpPr>
          <p:cNvPr id="7" name="Text 2"/>
          <p:cNvSpPr/>
          <p:nvPr/>
        </p:nvSpPr>
        <p:spPr>
          <a:xfrm>
            <a:off x="579703" y="4779818"/>
            <a:ext cx="5378116" cy="147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5" b="1" dirty="0">
                <a:solidFill>
                  <a:srgbClr val="B1C7B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operating model turns the single 2LoD front door into a practical governance journey:</a:t>
            </a:r>
            <a:endParaRPr lang="en-US" sz="77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98" y="4763411"/>
            <a:ext cx="328134" cy="32813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24225" y="4134488"/>
            <a:ext cx="8865086" cy="552359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10" name="Shape 4"/>
          <p:cNvSpPr/>
          <p:nvPr/>
        </p:nvSpPr>
        <p:spPr>
          <a:xfrm>
            <a:off x="251569" y="4178239"/>
            <a:ext cx="5261081" cy="464856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99" y="4238397"/>
            <a:ext cx="339072" cy="33360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07837" y="4413402"/>
            <a:ext cx="4782553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3" dirty="0">
                <a:solidFill>
                  <a:srgbClr val="666666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end-to-end review, engagement, assessment, evidence, and reassessment workflow.</a:t>
            </a:r>
            <a:endParaRPr lang="en-US" sz="853" dirty="0"/>
          </a:p>
        </p:txBody>
      </p:sp>
      <p:sp>
        <p:nvSpPr>
          <p:cNvPr id="13" name="Text 6"/>
          <p:cNvSpPr/>
          <p:nvPr/>
        </p:nvSpPr>
        <p:spPr>
          <a:xfrm>
            <a:off x="1706297" y="4271211"/>
            <a:ext cx="3543300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3" dirty="0">
                <a:solidFill>
                  <a:srgbClr val="5F5F5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PwC focuses on front-door triage; Al Risk Oversight needs the</a:t>
            </a:r>
            <a:endParaRPr lang="en-US" sz="913" dirty="0"/>
          </a:p>
        </p:txBody>
      </p:sp>
      <p:sp>
        <p:nvSpPr>
          <p:cNvPr id="14" name="Text 7"/>
          <p:cNvSpPr/>
          <p:nvPr/>
        </p:nvSpPr>
        <p:spPr>
          <a:xfrm>
            <a:off x="913306" y="4276679"/>
            <a:ext cx="812132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1" b="1" dirty="0">
                <a:solidFill>
                  <a:srgbClr val="446C5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Key message:</a:t>
            </a:r>
            <a:endParaRPr lang="en-US" sz="891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780" y="1279722"/>
            <a:ext cx="6737684" cy="2816483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584" y="3724321"/>
            <a:ext cx="317196" cy="32266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6411" y="3871981"/>
            <a:ext cx="541421" cy="60158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6431" y="3412593"/>
            <a:ext cx="60158" cy="262507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1971" y="3461813"/>
            <a:ext cx="300789" cy="65627"/>
          </a:xfrm>
          <a:prstGeom prst="rect">
            <a:avLst/>
          </a:prstGeom>
        </p:spPr>
      </p:pic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4100" y="3363373"/>
            <a:ext cx="1356287" cy="21876"/>
          </a:xfrm>
          <a:prstGeom prst="rect">
            <a:avLst/>
          </a:prstGeom>
        </p:spPr>
      </p:pic>
      <p:sp>
        <p:nvSpPr>
          <p:cNvPr id="21" name="Shape 8"/>
          <p:cNvSpPr/>
          <p:nvPr/>
        </p:nvSpPr>
        <p:spPr>
          <a:xfrm>
            <a:off x="8033813" y="2450067"/>
            <a:ext cx="831273" cy="470325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0378" y="2559445"/>
            <a:ext cx="251569" cy="257038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8416636" y="2564914"/>
            <a:ext cx="409074" cy="26250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4" b="1" dirty="0">
                <a:solidFill>
                  <a:srgbClr val="4B5851"/>
                </a:solidFill>
                <a:latin typeface="Anaheim" pitchFamily="34" charset="0"/>
                <a:ea typeface="Anaheim" pitchFamily="34" charset="-122"/>
                <a:cs typeface="Anaheim" pitchFamily="34" charset="-120"/>
              </a:rPr>
              <a:t>Change</a:t>
            </a:r>
            <a:endParaRPr lang="en-US" sz="814" dirty="0"/>
          </a:p>
          <a:p>
            <a:pPr algn="l" indent="0" marL="0">
              <a:buNone/>
            </a:pPr>
            <a:r>
              <a:rPr lang="en-US" sz="814" b="1" dirty="0">
                <a:solidFill>
                  <a:srgbClr val="4B5851"/>
                </a:solidFill>
                <a:latin typeface="Anaheim" pitchFamily="34" charset="0"/>
                <a:ea typeface="Anaheim" pitchFamily="34" charset="-122"/>
                <a:cs typeface="Anaheim" pitchFamily="34" charset="-120"/>
              </a:rPr>
              <a:t>triaging</a:t>
            </a:r>
            <a:endParaRPr lang="en-US" sz="814" dirty="0"/>
          </a:p>
        </p:txBody>
      </p:sp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2919" y="2893048"/>
            <a:ext cx="1941459" cy="1137531"/>
          </a:xfrm>
          <a:prstGeom prst="rect">
            <a:avLst/>
          </a:prstGeom>
        </p:spPr>
      </p:pic>
      <p:sp>
        <p:nvSpPr>
          <p:cNvPr id="25" name="Shape 10"/>
          <p:cNvSpPr/>
          <p:nvPr/>
        </p:nvSpPr>
        <p:spPr>
          <a:xfrm>
            <a:off x="5168110" y="3746196"/>
            <a:ext cx="656268" cy="284383"/>
          </a:xfrm>
          <a:prstGeom prst="rect">
            <a:avLst/>
          </a:prstGeom>
          <a:solidFill>
            <a:srgbClr val="EBF5ED"/>
          </a:solidFill>
          <a:ln/>
        </p:spPr>
      </p:sp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44675" y="3811823"/>
            <a:ext cx="120316" cy="153129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5408742" y="3789947"/>
            <a:ext cx="378995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636D67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Business</a:t>
            </a:r>
            <a:endParaRPr lang="en-US" sz="672" dirty="0"/>
          </a:p>
          <a:p>
            <a:pPr algn="l" indent="0" marL="0">
              <a:buNone/>
            </a:pPr>
            <a:r>
              <a:rPr lang="en-US" sz="672" b="1" dirty="0">
                <a:solidFill>
                  <a:srgbClr val="636D67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Continuity</a:t>
            </a:r>
            <a:endParaRPr lang="en-US" sz="672" dirty="0"/>
          </a:p>
        </p:txBody>
      </p:sp>
      <p:sp>
        <p:nvSpPr>
          <p:cNvPr id="28" name="Shape 12"/>
          <p:cNvSpPr/>
          <p:nvPr/>
        </p:nvSpPr>
        <p:spPr>
          <a:xfrm>
            <a:off x="4522780" y="3751665"/>
            <a:ext cx="639861" cy="273445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2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4813" y="3811823"/>
            <a:ext cx="109378" cy="147660"/>
          </a:xfrm>
          <a:prstGeom prst="rect">
            <a:avLst/>
          </a:prstGeom>
        </p:spPr>
      </p:pic>
      <p:sp>
        <p:nvSpPr>
          <p:cNvPr id="30" name="Text 13"/>
          <p:cNvSpPr/>
          <p:nvPr/>
        </p:nvSpPr>
        <p:spPr>
          <a:xfrm>
            <a:off x="4747005" y="3800885"/>
            <a:ext cx="415089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626C6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Customer &amp;</a:t>
            </a:r>
            <a:endParaRPr lang="en-US" sz="538" dirty="0"/>
          </a:p>
          <a:p>
            <a:pPr algn="l" indent="0" marL="0">
              <a:buNone/>
            </a:pPr>
            <a:r>
              <a:rPr lang="en-US" sz="538" b="1" dirty="0">
                <a:solidFill>
                  <a:srgbClr val="626C6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Product</a:t>
            </a:r>
            <a:endParaRPr lang="en-US" sz="538" dirty="0"/>
          </a:p>
        </p:txBody>
      </p:sp>
      <p:sp>
        <p:nvSpPr>
          <p:cNvPr id="31" name="Shape 14"/>
          <p:cNvSpPr/>
          <p:nvPr/>
        </p:nvSpPr>
        <p:spPr>
          <a:xfrm>
            <a:off x="3893856" y="3751665"/>
            <a:ext cx="612517" cy="273445"/>
          </a:xfrm>
          <a:prstGeom prst="rect">
            <a:avLst/>
          </a:prstGeom>
          <a:solidFill>
            <a:srgbClr val="ECF5ED"/>
          </a:solidFill>
          <a:ln/>
        </p:spPr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9483" y="3817292"/>
            <a:ext cx="191411" cy="142191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4205584" y="3833699"/>
            <a:ext cx="246100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2" b="1" dirty="0">
                <a:solidFill>
                  <a:srgbClr val="59625D"/>
                </a:solidFill>
                <a:latin typeface="Playpen Sans" pitchFamily="34" charset="0"/>
                <a:ea typeface="Playpen Sans" pitchFamily="34" charset="-122"/>
                <a:cs typeface="Playpen Sans" pitchFamily="34" charset="-120"/>
              </a:rPr>
              <a:t>DAIEC</a:t>
            </a:r>
            <a:endParaRPr lang="en-US" sz="482" dirty="0"/>
          </a:p>
        </p:txBody>
      </p:sp>
      <p:sp>
        <p:nvSpPr>
          <p:cNvPr id="34" name="Shape 16"/>
          <p:cNvSpPr/>
          <p:nvPr/>
        </p:nvSpPr>
        <p:spPr>
          <a:xfrm>
            <a:off x="5173579" y="3461813"/>
            <a:ext cx="650799" cy="278914"/>
          </a:xfrm>
          <a:prstGeom prst="rect">
            <a:avLst/>
          </a:prstGeom>
          <a:solidFill>
            <a:srgbClr val="EBF4EC"/>
          </a:solidFill>
          <a:ln/>
        </p:spPr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61081" y="3527440"/>
            <a:ext cx="158598" cy="153129"/>
          </a:xfrm>
          <a:prstGeom prst="rect">
            <a:avLst/>
          </a:prstGeom>
        </p:spPr>
      </p:pic>
      <p:sp>
        <p:nvSpPr>
          <p:cNvPr id="36" name="Text 17"/>
          <p:cNvSpPr/>
          <p:nvPr/>
        </p:nvSpPr>
        <p:spPr>
          <a:xfrm>
            <a:off x="5463431" y="3554785"/>
            <a:ext cx="273445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505B55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Change</a:t>
            </a:r>
            <a:endParaRPr lang="en-US" sz="590" dirty="0"/>
          </a:p>
        </p:txBody>
      </p:sp>
      <p:sp>
        <p:nvSpPr>
          <p:cNvPr id="37" name="Shape 18"/>
          <p:cNvSpPr/>
          <p:nvPr/>
        </p:nvSpPr>
        <p:spPr>
          <a:xfrm>
            <a:off x="4522780" y="3467282"/>
            <a:ext cx="639861" cy="267976"/>
          </a:xfrm>
          <a:prstGeom prst="rect">
            <a:avLst/>
          </a:prstGeom>
          <a:solidFill>
            <a:srgbClr val="ECF5EC"/>
          </a:solidFill>
          <a:ln/>
        </p:spPr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82938" y="3527440"/>
            <a:ext cx="169536" cy="147660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4790756" y="3554785"/>
            <a:ext cx="306258" cy="76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b="1" dirty="0">
                <a:solidFill>
                  <a:srgbClr val="57615A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Conduct</a:t>
            </a:r>
            <a:endParaRPr lang="en-US" sz="551" dirty="0"/>
          </a:p>
        </p:txBody>
      </p:sp>
      <p:sp>
        <p:nvSpPr>
          <p:cNvPr id="40" name="Shape 20"/>
          <p:cNvSpPr/>
          <p:nvPr/>
        </p:nvSpPr>
        <p:spPr>
          <a:xfrm>
            <a:off x="3882919" y="3461813"/>
            <a:ext cx="628923" cy="273445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4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70421" y="3538378"/>
            <a:ext cx="180474" cy="131254"/>
          </a:xfrm>
          <a:prstGeom prst="rect">
            <a:avLst/>
          </a:prstGeom>
        </p:spPr>
      </p:pic>
      <p:sp>
        <p:nvSpPr>
          <p:cNvPr id="42" name="Text 21"/>
          <p:cNvSpPr/>
          <p:nvPr/>
        </p:nvSpPr>
        <p:spPr>
          <a:xfrm>
            <a:off x="4200115" y="3554785"/>
            <a:ext cx="300789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b="1" dirty="0">
                <a:solidFill>
                  <a:srgbClr val="5761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</a:t>
            </a:r>
            <a:endParaRPr lang="en-US" sz="556" dirty="0"/>
          </a:p>
        </p:txBody>
      </p:sp>
      <p:sp>
        <p:nvSpPr>
          <p:cNvPr id="43" name="Shape 22"/>
          <p:cNvSpPr/>
          <p:nvPr/>
        </p:nvSpPr>
        <p:spPr>
          <a:xfrm>
            <a:off x="5173579" y="3177431"/>
            <a:ext cx="645330" cy="273445"/>
          </a:xfrm>
          <a:prstGeom prst="rect">
            <a:avLst/>
          </a:prstGeom>
          <a:solidFill>
            <a:srgbClr val="ECF5EC"/>
          </a:solidFill>
          <a:ln/>
        </p:spPr>
      </p:sp>
      <p:pic>
        <p:nvPicPr>
          <p:cNvPr id="4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61081" y="3264933"/>
            <a:ext cx="147660" cy="103909"/>
          </a:xfrm>
          <a:prstGeom prst="rect">
            <a:avLst/>
          </a:prstGeom>
        </p:spPr>
      </p:pic>
      <p:sp>
        <p:nvSpPr>
          <p:cNvPr id="45" name="Text 23"/>
          <p:cNvSpPr/>
          <p:nvPr/>
        </p:nvSpPr>
        <p:spPr>
          <a:xfrm>
            <a:off x="5447024" y="3270402"/>
            <a:ext cx="339072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b="1" dirty="0">
                <a:solidFill>
                  <a:srgbClr val="59655E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Payments</a:t>
            </a:r>
            <a:endParaRPr lang="en-US" sz="543" dirty="0"/>
          </a:p>
        </p:txBody>
      </p:sp>
      <p:sp>
        <p:nvSpPr>
          <p:cNvPr id="46" name="Shape 24"/>
          <p:cNvSpPr/>
          <p:nvPr/>
        </p:nvSpPr>
        <p:spPr>
          <a:xfrm>
            <a:off x="4511842" y="3171962"/>
            <a:ext cx="661737" cy="284383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4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88407" y="3248526"/>
            <a:ext cx="169536" cy="131254"/>
          </a:xfrm>
          <a:prstGeom prst="rect">
            <a:avLst/>
          </a:prstGeom>
        </p:spPr>
      </p:pic>
      <p:sp>
        <p:nvSpPr>
          <p:cNvPr id="48" name="Text 25"/>
          <p:cNvSpPr/>
          <p:nvPr/>
        </p:nvSpPr>
        <p:spPr>
          <a:xfrm>
            <a:off x="4790756" y="3232120"/>
            <a:ext cx="311727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5F6962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Market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5F6962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Conduct</a:t>
            </a:r>
            <a:endParaRPr lang="en-US" sz="685" dirty="0"/>
          </a:p>
        </p:txBody>
      </p:sp>
      <p:sp>
        <p:nvSpPr>
          <p:cNvPr id="49" name="Shape 26"/>
          <p:cNvSpPr/>
          <p:nvPr/>
        </p:nvSpPr>
        <p:spPr>
          <a:xfrm>
            <a:off x="3882919" y="3171962"/>
            <a:ext cx="628923" cy="278914"/>
          </a:xfrm>
          <a:prstGeom prst="rect">
            <a:avLst/>
          </a:prstGeom>
          <a:solidFill>
            <a:srgbClr val="ECF5EC"/>
          </a:solidFill>
          <a:ln/>
        </p:spPr>
      </p:sp>
      <p:pic>
        <p:nvPicPr>
          <p:cNvPr id="5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86828" y="3226651"/>
            <a:ext cx="142191" cy="169536"/>
          </a:xfrm>
          <a:prstGeom prst="rect">
            <a:avLst/>
          </a:prstGeom>
        </p:spPr>
      </p:pic>
      <p:sp>
        <p:nvSpPr>
          <p:cNvPr id="51" name="Text 27"/>
          <p:cNvSpPr/>
          <p:nvPr/>
        </p:nvSpPr>
        <p:spPr>
          <a:xfrm>
            <a:off x="4205584" y="3264933"/>
            <a:ext cx="169536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b="1" dirty="0">
                <a:solidFill>
                  <a:srgbClr val="5C6660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ECP</a:t>
            </a:r>
            <a:endParaRPr lang="en-US" sz="551" dirty="0"/>
          </a:p>
        </p:txBody>
      </p:sp>
      <p:sp>
        <p:nvSpPr>
          <p:cNvPr id="52" name="Shape 28"/>
          <p:cNvSpPr/>
          <p:nvPr/>
        </p:nvSpPr>
        <p:spPr>
          <a:xfrm>
            <a:off x="5173579" y="2893048"/>
            <a:ext cx="645330" cy="267976"/>
          </a:xfrm>
          <a:prstGeom prst="rect">
            <a:avLst/>
          </a:prstGeom>
          <a:solidFill>
            <a:srgbClr val="ECF5EC"/>
          </a:solidFill>
          <a:ln/>
        </p:spPr>
      </p:sp>
      <p:pic>
        <p:nvPicPr>
          <p:cNvPr id="5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99364" y="2958675"/>
            <a:ext cx="103909" cy="136722"/>
          </a:xfrm>
          <a:prstGeom prst="rect">
            <a:avLst/>
          </a:prstGeom>
        </p:spPr>
      </p:pic>
      <p:sp>
        <p:nvSpPr>
          <p:cNvPr id="54" name="Text 29"/>
          <p:cNvSpPr/>
          <p:nvPr/>
        </p:nvSpPr>
        <p:spPr>
          <a:xfrm>
            <a:off x="5463431" y="2980550"/>
            <a:ext cx="191411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b="1" dirty="0">
                <a:solidFill>
                  <a:srgbClr val="58635C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Data</a:t>
            </a:r>
            <a:endParaRPr lang="en-US" sz="568" dirty="0"/>
          </a:p>
        </p:txBody>
      </p:sp>
      <p:sp>
        <p:nvSpPr>
          <p:cNvPr id="55" name="Shape 30"/>
          <p:cNvSpPr/>
          <p:nvPr/>
        </p:nvSpPr>
        <p:spPr>
          <a:xfrm>
            <a:off x="4522780" y="2893048"/>
            <a:ext cx="639861" cy="267976"/>
          </a:xfrm>
          <a:prstGeom prst="rect">
            <a:avLst/>
          </a:prstGeom>
          <a:solidFill>
            <a:srgbClr val="ECF5EC"/>
          </a:solidFill>
          <a:ln/>
        </p:spPr>
      </p:sp>
      <p:pic>
        <p:nvPicPr>
          <p:cNvPr id="5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04813" y="2958675"/>
            <a:ext cx="153129" cy="136722"/>
          </a:xfrm>
          <a:prstGeom prst="rect">
            <a:avLst/>
          </a:prstGeom>
        </p:spPr>
      </p:pic>
      <p:sp>
        <p:nvSpPr>
          <p:cNvPr id="57" name="Text 31"/>
          <p:cNvSpPr/>
          <p:nvPr/>
        </p:nvSpPr>
        <p:spPr>
          <a:xfrm>
            <a:off x="4823569" y="2975081"/>
            <a:ext cx="240632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7" b="1" dirty="0">
                <a:solidFill>
                  <a:srgbClr val="5C655F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IT/ICP</a:t>
            </a:r>
            <a:endParaRPr lang="en-US" sz="637" dirty="0"/>
          </a:p>
        </p:txBody>
      </p:sp>
      <p:sp>
        <p:nvSpPr>
          <p:cNvPr id="58" name="Shape 32"/>
          <p:cNvSpPr/>
          <p:nvPr/>
        </p:nvSpPr>
        <p:spPr>
          <a:xfrm>
            <a:off x="3882919" y="2882110"/>
            <a:ext cx="628923" cy="278914"/>
          </a:xfrm>
          <a:prstGeom prst="rect">
            <a:avLst/>
          </a:prstGeom>
          <a:solidFill>
            <a:srgbClr val="ECF5ED"/>
          </a:solidFill>
          <a:ln/>
        </p:spPr>
      </p:sp>
      <p:pic>
        <p:nvPicPr>
          <p:cNvPr id="5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86828" y="2947737"/>
            <a:ext cx="142191" cy="153129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4205584" y="2980550"/>
            <a:ext cx="23516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b="1" dirty="0">
                <a:solidFill>
                  <a:srgbClr val="59645D"/>
                </a:solidFill>
                <a:latin typeface="Albert Sans" pitchFamily="34" charset="0"/>
                <a:ea typeface="Albert Sans" pitchFamily="34" charset="-122"/>
                <a:cs typeface="Albert Sans" pitchFamily="34" charset="-120"/>
              </a:rPr>
              <a:t>Model</a:t>
            </a:r>
            <a:endParaRPr lang="en-US" sz="538" dirty="0"/>
          </a:p>
        </p:txBody>
      </p:sp>
      <p:pic>
        <p:nvPicPr>
          <p:cNvPr id="6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20507" y="2723512"/>
            <a:ext cx="864086" cy="32813"/>
          </a:xfrm>
          <a:prstGeom prst="rect">
            <a:avLst/>
          </a:prstGeom>
        </p:spPr>
      </p:pic>
      <p:pic>
        <p:nvPicPr>
          <p:cNvPr id="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422105" y="1985211"/>
            <a:ext cx="65627" cy="459388"/>
          </a:xfrm>
          <a:prstGeom prst="rect">
            <a:avLst/>
          </a:prstGeom>
        </p:spPr>
      </p:pic>
      <p:sp>
        <p:nvSpPr>
          <p:cNvPr id="63" name="Shape 34"/>
          <p:cNvSpPr/>
          <p:nvPr/>
        </p:nvSpPr>
        <p:spPr>
          <a:xfrm>
            <a:off x="6229077" y="2231311"/>
            <a:ext cx="869555" cy="1181282"/>
          </a:xfrm>
          <a:prstGeom prst="rect">
            <a:avLst/>
          </a:prstGeom>
          <a:solidFill>
            <a:srgbClr val="EBF4EC"/>
          </a:solidFill>
          <a:ln/>
        </p:spPr>
      </p:sp>
      <p:pic>
        <p:nvPicPr>
          <p:cNvPr id="64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47833" y="2286000"/>
            <a:ext cx="453919" cy="464856"/>
          </a:xfrm>
          <a:prstGeom prst="rect">
            <a:avLst/>
          </a:prstGeom>
        </p:spPr>
      </p:pic>
      <p:sp>
        <p:nvSpPr>
          <p:cNvPr id="65" name="Text 35"/>
          <p:cNvSpPr/>
          <p:nvPr/>
        </p:nvSpPr>
        <p:spPr>
          <a:xfrm>
            <a:off x="6286500" y="2964144"/>
            <a:ext cx="782053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2" b="1" dirty="0">
                <a:solidFill>
                  <a:srgbClr val="5F6662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Approvals for Tier 3</a:t>
            </a:r>
            <a:endParaRPr lang="en-US" sz="642" dirty="0"/>
          </a:p>
          <a:p>
            <a:pPr algn="ctr" indent="0" marL="0">
              <a:buNone/>
            </a:pPr>
            <a:r>
              <a:rPr lang="en-US" sz="642" b="1" dirty="0">
                <a:solidFill>
                  <a:srgbClr val="5F6662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and below granted</a:t>
            </a:r>
            <a:endParaRPr lang="en-US" sz="642" dirty="0"/>
          </a:p>
          <a:p>
            <a:pPr algn="ctr" indent="0" marL="0">
              <a:buNone/>
            </a:pPr>
            <a:r>
              <a:rPr lang="en-US" sz="642" b="1" dirty="0">
                <a:solidFill>
                  <a:srgbClr val="5F6662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by MRO</a:t>
            </a:r>
            <a:endParaRPr lang="en-US" sz="642" dirty="0"/>
          </a:p>
        </p:txBody>
      </p:sp>
      <p:sp>
        <p:nvSpPr>
          <p:cNvPr id="66" name="Text 36"/>
          <p:cNvSpPr/>
          <p:nvPr/>
        </p:nvSpPr>
        <p:spPr>
          <a:xfrm>
            <a:off x="6562679" y="2778201"/>
            <a:ext cx="257038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2" b="1" dirty="0">
                <a:solidFill>
                  <a:srgbClr val="3F49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</a:t>
            </a:r>
            <a:endParaRPr lang="en-US" sz="952" dirty="0"/>
          </a:p>
        </p:txBody>
      </p:sp>
      <p:pic>
        <p:nvPicPr>
          <p:cNvPr id="67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44713" y="1990679"/>
            <a:ext cx="60158" cy="246100"/>
          </a:xfrm>
          <a:prstGeom prst="rect">
            <a:avLst/>
          </a:prstGeom>
        </p:spPr>
      </p:pic>
      <p:pic>
        <p:nvPicPr>
          <p:cNvPr id="6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37569" y="3314153"/>
            <a:ext cx="355478" cy="377354"/>
          </a:xfrm>
          <a:prstGeom prst="rect">
            <a:avLst/>
          </a:prstGeom>
        </p:spPr>
      </p:pic>
      <p:pic>
        <p:nvPicPr>
          <p:cNvPr id="6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829038" y="2592258"/>
            <a:ext cx="612517" cy="262507"/>
          </a:xfrm>
          <a:prstGeom prst="rect">
            <a:avLst/>
          </a:prstGeom>
        </p:spPr>
      </p:pic>
      <p:pic>
        <p:nvPicPr>
          <p:cNvPr id="70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51722" y="2351627"/>
            <a:ext cx="328134" cy="158598"/>
          </a:xfrm>
          <a:prstGeom prst="rect">
            <a:avLst/>
          </a:prstGeom>
        </p:spPr>
      </p:pic>
      <p:pic>
        <p:nvPicPr>
          <p:cNvPr id="7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90756" y="2329751"/>
            <a:ext cx="169536" cy="60158"/>
          </a:xfrm>
          <a:prstGeom prst="rect">
            <a:avLst/>
          </a:prstGeom>
        </p:spPr>
      </p:pic>
      <p:sp>
        <p:nvSpPr>
          <p:cNvPr id="72" name="Shape 37"/>
          <p:cNvSpPr/>
          <p:nvPr/>
        </p:nvSpPr>
        <p:spPr>
          <a:xfrm>
            <a:off x="4965761" y="2089120"/>
            <a:ext cx="885962" cy="503139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73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20450" y="2182091"/>
            <a:ext cx="311727" cy="311727"/>
          </a:xfrm>
          <a:prstGeom prst="rect">
            <a:avLst/>
          </a:prstGeom>
        </p:spPr>
      </p:pic>
      <p:sp>
        <p:nvSpPr>
          <p:cNvPr id="74" name="Text 38"/>
          <p:cNvSpPr/>
          <p:nvPr/>
        </p:nvSpPr>
        <p:spPr>
          <a:xfrm>
            <a:off x="5354053" y="2236780"/>
            <a:ext cx="511342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5C66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Async</a:t>
            </a:r>
            <a:endParaRPr lang="en-US" sz="599" dirty="0"/>
          </a:p>
          <a:p>
            <a:pPr algn="l" indent="0" marL="0">
              <a:buNone/>
            </a:pPr>
            <a:r>
              <a:rPr lang="en-US" sz="599" b="1" dirty="0">
                <a:solidFill>
                  <a:srgbClr val="5C66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</a:t>
            </a:r>
            <a:endParaRPr lang="en-US" sz="599" dirty="0"/>
          </a:p>
        </p:txBody>
      </p:sp>
      <p:sp>
        <p:nvSpPr>
          <p:cNvPr id="75" name="Shape 39"/>
          <p:cNvSpPr/>
          <p:nvPr/>
        </p:nvSpPr>
        <p:spPr>
          <a:xfrm>
            <a:off x="3904794" y="2094589"/>
            <a:ext cx="875024" cy="497670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7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937608" y="2182091"/>
            <a:ext cx="289852" cy="306258"/>
          </a:xfrm>
          <a:prstGeom prst="rect">
            <a:avLst/>
          </a:prstGeom>
        </p:spPr>
      </p:pic>
      <p:sp>
        <p:nvSpPr>
          <p:cNvPr id="77" name="Text 40"/>
          <p:cNvSpPr/>
          <p:nvPr/>
        </p:nvSpPr>
        <p:spPr>
          <a:xfrm>
            <a:off x="4254804" y="2182091"/>
            <a:ext cx="499311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7" b="1" dirty="0">
                <a:solidFill>
                  <a:srgbClr val="555E59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Use case</a:t>
            </a:r>
            <a:endParaRPr lang="en-US" sz="637" dirty="0"/>
          </a:p>
          <a:p>
            <a:pPr algn="l" indent="0" marL="0">
              <a:buNone/>
            </a:pPr>
            <a:r>
              <a:rPr lang="en-US" sz="637" b="1" dirty="0">
                <a:solidFill>
                  <a:srgbClr val="555E59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materiality</a:t>
            </a:r>
            <a:endParaRPr lang="en-US" sz="637" dirty="0"/>
          </a:p>
          <a:p>
            <a:pPr algn="l" indent="0" marL="0">
              <a:buNone/>
            </a:pPr>
            <a:r>
              <a:rPr lang="en-US" sz="637" b="1" dirty="0">
                <a:solidFill>
                  <a:srgbClr val="555E59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assessment</a:t>
            </a:r>
            <a:endParaRPr lang="en-US" sz="637" dirty="0"/>
          </a:p>
        </p:txBody>
      </p:sp>
      <p:pic>
        <p:nvPicPr>
          <p:cNvPr id="7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532909" y="2340689"/>
            <a:ext cx="289852" cy="65627"/>
          </a:xfrm>
          <a:prstGeom prst="rect">
            <a:avLst/>
          </a:prstGeom>
        </p:spPr>
      </p:pic>
      <p:pic>
        <p:nvPicPr>
          <p:cNvPr id="7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548507" y="2313344"/>
            <a:ext cx="360947" cy="382823"/>
          </a:xfrm>
          <a:prstGeom prst="rect">
            <a:avLst/>
          </a:prstGeom>
        </p:spPr>
      </p:pic>
      <p:pic>
        <p:nvPicPr>
          <p:cNvPr id="8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929904" y="1717234"/>
            <a:ext cx="76565" cy="65627"/>
          </a:xfrm>
          <a:prstGeom prst="rect">
            <a:avLst/>
          </a:prstGeom>
        </p:spPr>
      </p:pic>
      <p:sp>
        <p:nvSpPr>
          <p:cNvPr id="81" name="Shape 41"/>
          <p:cNvSpPr/>
          <p:nvPr/>
        </p:nvSpPr>
        <p:spPr>
          <a:xfrm>
            <a:off x="8033813" y="1514885"/>
            <a:ext cx="831273" cy="470325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8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26785" y="1635201"/>
            <a:ext cx="229694" cy="224225"/>
          </a:xfrm>
          <a:prstGeom prst="rect">
            <a:avLst/>
          </a:prstGeom>
        </p:spPr>
      </p:pic>
      <p:sp>
        <p:nvSpPr>
          <p:cNvPr id="83" name="Text 42"/>
          <p:cNvSpPr/>
          <p:nvPr/>
        </p:nvSpPr>
        <p:spPr>
          <a:xfrm>
            <a:off x="8386831" y="1624263"/>
            <a:ext cx="415089" cy="2406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8" b="1" dirty="0">
                <a:solidFill>
                  <a:srgbClr val="4D5852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Resolve</a:t>
            </a:r>
            <a:endParaRPr lang="en-US" sz="848" dirty="0"/>
          </a:p>
          <a:p>
            <a:pPr algn="ctr" indent="0" marL="0">
              <a:buNone/>
            </a:pPr>
            <a:r>
              <a:rPr lang="en-US" sz="848" b="1" dirty="0">
                <a:solidFill>
                  <a:srgbClr val="4D5852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issue</a:t>
            </a:r>
            <a:endParaRPr lang="en-US" sz="848" dirty="0"/>
          </a:p>
        </p:txBody>
      </p:sp>
      <p:sp>
        <p:nvSpPr>
          <p:cNvPr id="84" name="Shape 43"/>
          <p:cNvSpPr/>
          <p:nvPr/>
        </p:nvSpPr>
        <p:spPr>
          <a:xfrm>
            <a:off x="6278297" y="1498478"/>
            <a:ext cx="831273" cy="453919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8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349392" y="1629732"/>
            <a:ext cx="191411" cy="185943"/>
          </a:xfrm>
          <a:prstGeom prst="rect">
            <a:avLst/>
          </a:prstGeom>
        </p:spPr>
      </p:pic>
      <p:sp>
        <p:nvSpPr>
          <p:cNvPr id="86" name="Text 44"/>
          <p:cNvSpPr/>
          <p:nvPr/>
        </p:nvSpPr>
        <p:spPr>
          <a:xfrm>
            <a:off x="6584555" y="1602388"/>
            <a:ext cx="577516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5" b="1" dirty="0">
                <a:solidFill>
                  <a:srgbClr val="565E59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Incident</a:t>
            </a:r>
            <a:endParaRPr lang="en-US" sz="685" dirty="0"/>
          </a:p>
          <a:p>
            <a:pPr algn="l" indent="0" marL="0">
              <a:buNone/>
            </a:pPr>
            <a:r>
              <a:rPr lang="en-US" sz="685" b="1" dirty="0">
                <a:solidFill>
                  <a:srgbClr val="565E59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identification</a:t>
            </a:r>
            <a:endParaRPr lang="en-US" sz="685" dirty="0"/>
          </a:p>
        </p:txBody>
      </p:sp>
      <p:sp>
        <p:nvSpPr>
          <p:cNvPr id="87" name="Shape 45"/>
          <p:cNvSpPr/>
          <p:nvPr/>
        </p:nvSpPr>
        <p:spPr>
          <a:xfrm>
            <a:off x="3899325" y="1629732"/>
            <a:ext cx="1957866" cy="289852"/>
          </a:xfrm>
          <a:prstGeom prst="rect">
            <a:avLst/>
          </a:prstGeom>
          <a:solidFill>
            <a:srgbClr val="012A1A"/>
          </a:solidFill>
          <a:ln/>
        </p:spPr>
      </p:sp>
      <p:pic>
        <p:nvPicPr>
          <p:cNvPr id="8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932139" y="1629732"/>
            <a:ext cx="306258" cy="284383"/>
          </a:xfrm>
          <a:prstGeom prst="rect">
            <a:avLst/>
          </a:prstGeom>
        </p:spPr>
      </p:pic>
      <p:sp>
        <p:nvSpPr>
          <p:cNvPr id="89" name="Text 46"/>
          <p:cNvSpPr/>
          <p:nvPr/>
        </p:nvSpPr>
        <p:spPr>
          <a:xfrm>
            <a:off x="4440746" y="1706297"/>
            <a:ext cx="1094874" cy="1367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ABB8B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 Oversight Forum</a:t>
            </a:r>
            <a:endParaRPr lang="en-US" sz="870" dirty="0"/>
          </a:p>
        </p:txBody>
      </p:sp>
      <p:pic>
        <p:nvPicPr>
          <p:cNvPr id="90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381397" y="1914115"/>
            <a:ext cx="60158" cy="164067"/>
          </a:xfrm>
          <a:prstGeom prst="rect">
            <a:avLst/>
          </a:prstGeom>
        </p:spPr>
      </p:pic>
      <p:pic>
        <p:nvPicPr>
          <p:cNvPr id="9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04024" y="1914115"/>
            <a:ext cx="60158" cy="169536"/>
          </a:xfrm>
          <a:prstGeom prst="rect">
            <a:avLst/>
          </a:prstGeom>
        </p:spPr>
      </p:pic>
      <p:pic>
        <p:nvPicPr>
          <p:cNvPr id="9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532909" y="1711766"/>
            <a:ext cx="289852" cy="65627"/>
          </a:xfrm>
          <a:prstGeom prst="rect">
            <a:avLst/>
          </a:prstGeom>
        </p:spPr>
      </p:pic>
      <p:pic>
        <p:nvPicPr>
          <p:cNvPr id="9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340689" y="1651608"/>
            <a:ext cx="191411" cy="1919584"/>
          </a:xfrm>
          <a:prstGeom prst="rect">
            <a:avLst/>
          </a:prstGeom>
        </p:spPr>
      </p:pic>
      <p:pic>
        <p:nvPicPr>
          <p:cNvPr id="94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943885" y="1471134"/>
            <a:ext cx="60158" cy="131254"/>
          </a:xfrm>
          <a:prstGeom prst="rect">
            <a:avLst/>
          </a:prstGeom>
        </p:spPr>
      </p:pic>
      <p:pic>
        <p:nvPicPr>
          <p:cNvPr id="9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570383" y="1547699"/>
            <a:ext cx="344541" cy="350010"/>
          </a:xfrm>
          <a:prstGeom prst="rect">
            <a:avLst/>
          </a:prstGeom>
        </p:spPr>
      </p:pic>
      <p:sp>
        <p:nvSpPr>
          <p:cNvPr id="96" name="Text 47"/>
          <p:cNvSpPr/>
          <p:nvPr/>
        </p:nvSpPr>
        <p:spPr>
          <a:xfrm>
            <a:off x="6950971" y="3669632"/>
            <a:ext cx="1708484" cy="3500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9" dirty="0">
                <a:solidFill>
                  <a:srgbClr val="616161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Minor or material changes will be</a:t>
            </a:r>
            <a:endParaRPr lang="en-US" sz="659" dirty="0"/>
          </a:p>
          <a:p>
            <a:pPr algn="l" indent="0" marL="0">
              <a:buNone/>
            </a:pPr>
            <a:r>
              <a:rPr lang="en-US" sz="659" dirty="0">
                <a:solidFill>
                  <a:srgbClr val="616161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reviewed by relevant 2LoD teams</a:t>
            </a:r>
            <a:endParaRPr lang="en-US" sz="659" dirty="0"/>
          </a:p>
          <a:p>
            <a:pPr algn="l" indent="0" marL="0">
              <a:buNone/>
            </a:pPr>
            <a:r>
              <a:rPr lang="en-US" sz="659" dirty="0">
                <a:solidFill>
                  <a:srgbClr val="616161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to determine the level of re-engagement.</a:t>
            </a:r>
            <a:endParaRPr lang="en-US" sz="659" dirty="0"/>
          </a:p>
        </p:txBody>
      </p:sp>
      <p:sp>
        <p:nvSpPr>
          <p:cNvPr id="97" name="Text 48"/>
          <p:cNvSpPr/>
          <p:nvPr/>
        </p:nvSpPr>
        <p:spPr>
          <a:xfrm>
            <a:off x="7653725" y="3029770"/>
            <a:ext cx="661737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5F5F6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Log non-material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5F5F6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changes and</a:t>
            </a:r>
            <a:endParaRPr lang="en-US" sz="620" dirty="0"/>
          </a:p>
          <a:p>
            <a:pPr algn="ctr" indent="0" marL="0">
              <a:buNone/>
            </a:pPr>
            <a:r>
              <a:rPr lang="en-US" sz="620" b="1" dirty="0">
                <a:solidFill>
                  <a:srgbClr val="5F5F60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notify 2LoD</a:t>
            </a:r>
            <a:endParaRPr lang="en-US" sz="620" dirty="0"/>
          </a:p>
        </p:txBody>
      </p:sp>
      <p:sp>
        <p:nvSpPr>
          <p:cNvPr id="98" name="Text 49"/>
          <p:cNvSpPr/>
          <p:nvPr/>
        </p:nvSpPr>
        <p:spPr>
          <a:xfrm>
            <a:off x="7273636" y="2389909"/>
            <a:ext cx="547437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9" b="1" dirty="0">
                <a:solidFill>
                  <a:srgbClr val="65656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Change is</a:t>
            </a:r>
            <a:endParaRPr lang="en-US" sz="629" dirty="0"/>
          </a:p>
          <a:p>
            <a:pPr algn="l" indent="0" marL="0">
              <a:buNone/>
            </a:pPr>
            <a:r>
              <a:rPr lang="en-US" sz="629" b="1" dirty="0">
                <a:solidFill>
                  <a:srgbClr val="65656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identified and</a:t>
            </a:r>
            <a:endParaRPr lang="en-US" sz="629" dirty="0"/>
          </a:p>
          <a:p>
            <a:pPr algn="l" indent="0" marL="0">
              <a:buNone/>
            </a:pPr>
            <a:r>
              <a:rPr lang="en-US" sz="629" b="1" dirty="0">
                <a:solidFill>
                  <a:srgbClr val="65656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logged</a:t>
            </a:r>
            <a:endParaRPr lang="en-US" sz="629" dirty="0"/>
          </a:p>
        </p:txBody>
      </p:sp>
      <p:sp>
        <p:nvSpPr>
          <p:cNvPr id="99" name="Text 50"/>
          <p:cNvSpPr/>
          <p:nvPr/>
        </p:nvSpPr>
        <p:spPr>
          <a:xfrm>
            <a:off x="2931330" y="3357904"/>
            <a:ext cx="571500" cy="470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1" dirty="0">
                <a:solidFill>
                  <a:srgbClr val="6A6A6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Very low risk</a:t>
            </a:r>
            <a:endParaRPr lang="en-US" sz="611" dirty="0"/>
          </a:p>
          <a:p>
            <a:pPr algn="l" indent="0" marL="0">
              <a:buNone/>
            </a:pPr>
            <a:r>
              <a:rPr lang="en-US" sz="611" dirty="0">
                <a:solidFill>
                  <a:srgbClr val="6A6A6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use cases may</a:t>
            </a:r>
            <a:endParaRPr lang="en-US" sz="611" dirty="0"/>
          </a:p>
          <a:p>
            <a:pPr algn="l" indent="0" marL="0">
              <a:buNone/>
            </a:pPr>
            <a:r>
              <a:rPr lang="en-US" sz="611" dirty="0">
                <a:solidFill>
                  <a:srgbClr val="6A6A6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proceed at MÓ</a:t>
            </a:r>
            <a:endParaRPr lang="en-US" sz="611" dirty="0"/>
          </a:p>
          <a:p>
            <a:pPr algn="l" indent="0" marL="0">
              <a:buNone/>
            </a:pPr>
            <a:r>
              <a:rPr lang="en-US" sz="611" dirty="0">
                <a:solidFill>
                  <a:srgbClr val="6A6A6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approval/</a:t>
            </a:r>
            <a:endParaRPr lang="en-US" sz="611" dirty="0"/>
          </a:p>
          <a:p>
            <a:pPr algn="l" indent="0" marL="0">
              <a:buNone/>
            </a:pPr>
            <a:r>
              <a:rPr lang="en-US" sz="611" dirty="0">
                <a:solidFill>
                  <a:srgbClr val="6A6A6B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attestation.</a:t>
            </a:r>
            <a:endParaRPr lang="en-US" sz="611" dirty="0"/>
          </a:p>
        </p:txBody>
      </p:sp>
      <p:sp>
        <p:nvSpPr>
          <p:cNvPr id="100" name="Text 51"/>
          <p:cNvSpPr/>
          <p:nvPr/>
        </p:nvSpPr>
        <p:spPr>
          <a:xfrm>
            <a:off x="2953206" y="3232120"/>
            <a:ext cx="240632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dirty="0">
                <a:solidFill>
                  <a:srgbClr val="5B5B5C"/>
                </a:solidFill>
                <a:latin typeface="Sunflower" pitchFamily="34" charset="0"/>
                <a:ea typeface="Sunflower" pitchFamily="34" charset="-122"/>
                <a:cs typeface="Sunflower" pitchFamily="34" charset="-120"/>
              </a:rPr>
              <a:t>Light</a:t>
            </a:r>
            <a:endParaRPr lang="en-US" sz="745" dirty="0"/>
          </a:p>
        </p:txBody>
      </p:sp>
      <p:sp>
        <p:nvSpPr>
          <p:cNvPr id="101" name="Text 52"/>
          <p:cNvSpPr/>
          <p:nvPr/>
        </p:nvSpPr>
        <p:spPr>
          <a:xfrm>
            <a:off x="2958675" y="2625072"/>
            <a:ext cx="673768" cy="4046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666767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governance route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666767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identify which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666767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2LoD teams need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666767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 be engaged.</a:t>
            </a:r>
            <a:endParaRPr lang="en-US" sz="581" dirty="0"/>
          </a:p>
        </p:txBody>
      </p:sp>
      <p:sp>
        <p:nvSpPr>
          <p:cNvPr id="102" name="Text 53"/>
          <p:cNvSpPr/>
          <p:nvPr/>
        </p:nvSpPr>
        <p:spPr>
          <a:xfrm>
            <a:off x="2958675" y="2242249"/>
            <a:ext cx="559468" cy="3828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75757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Typical risk use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75757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cases proceed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75757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through the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75757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</a:t>
            </a:r>
            <a:endParaRPr lang="en-US" sz="594" dirty="0"/>
          </a:p>
        </p:txBody>
      </p:sp>
      <p:sp>
        <p:nvSpPr>
          <p:cNvPr id="103" name="Text 54"/>
          <p:cNvSpPr/>
          <p:nvPr/>
        </p:nvSpPr>
        <p:spPr>
          <a:xfrm>
            <a:off x="2964144" y="2127402"/>
            <a:ext cx="415089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5A5A5B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Standard</a:t>
            </a:r>
            <a:endParaRPr lang="en-US" sz="698" dirty="0"/>
          </a:p>
        </p:txBody>
      </p:sp>
      <p:sp>
        <p:nvSpPr>
          <p:cNvPr id="104" name="Text 55"/>
          <p:cNvSpPr/>
          <p:nvPr/>
        </p:nvSpPr>
        <p:spPr>
          <a:xfrm>
            <a:off x="7235354" y="1558636"/>
            <a:ext cx="733926" cy="2898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5C5C5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Root cause analysis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5C5C5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and solution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5C5C5D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identification</a:t>
            </a:r>
            <a:endParaRPr lang="en-US" sz="581" dirty="0"/>
          </a:p>
        </p:txBody>
      </p:sp>
      <p:sp>
        <p:nvSpPr>
          <p:cNvPr id="105" name="Text 56"/>
          <p:cNvSpPr/>
          <p:nvPr/>
        </p:nvSpPr>
        <p:spPr>
          <a:xfrm>
            <a:off x="2969612" y="1651608"/>
            <a:ext cx="601579" cy="2843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7172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High-risk</a:t>
            </a:r>
            <a:endParaRPr lang="en-US" sz="590" dirty="0"/>
          </a:p>
          <a:p>
            <a:pPr algn="l" indent="0" marL="0">
              <a:buNone/>
            </a:pPr>
            <a:r>
              <a:rPr lang="en-US" sz="590" b="1" dirty="0">
                <a:solidFill>
                  <a:srgbClr val="7172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indicators trigger</a:t>
            </a:r>
            <a:endParaRPr lang="en-US" sz="590" dirty="0"/>
          </a:p>
          <a:p>
            <a:pPr algn="l" indent="0" marL="0">
              <a:buNone/>
            </a:pPr>
            <a:r>
              <a:rPr lang="en-US" sz="590" b="1" dirty="0">
                <a:solidFill>
                  <a:srgbClr val="71727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initial review.</a:t>
            </a:r>
            <a:endParaRPr lang="en-US" sz="590" dirty="0"/>
          </a:p>
        </p:txBody>
      </p:sp>
      <p:sp>
        <p:nvSpPr>
          <p:cNvPr id="106" name="Text 57"/>
          <p:cNvSpPr/>
          <p:nvPr/>
        </p:nvSpPr>
        <p:spPr>
          <a:xfrm>
            <a:off x="2980550" y="1520354"/>
            <a:ext cx="445168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535353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Enhanced</a:t>
            </a:r>
            <a:endParaRPr lang="en-US" sz="698" dirty="0"/>
          </a:p>
        </p:txBody>
      </p:sp>
      <p:sp>
        <p:nvSpPr>
          <p:cNvPr id="107" name="Text 58"/>
          <p:cNvSpPr/>
          <p:nvPr/>
        </p:nvSpPr>
        <p:spPr>
          <a:xfrm>
            <a:off x="4260273" y="1334411"/>
            <a:ext cx="1564105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9" b="1" dirty="0">
                <a:solidFill>
                  <a:srgbClr val="61626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Block /No Go/Direction of change</a:t>
            </a:r>
            <a:endParaRPr lang="en-US" sz="689" dirty="0"/>
          </a:p>
        </p:txBody>
      </p:sp>
      <p:pic>
        <p:nvPicPr>
          <p:cNvPr id="108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13287" y="1487541"/>
            <a:ext cx="1832081" cy="2280531"/>
          </a:xfrm>
          <a:prstGeom prst="rect">
            <a:avLst/>
          </a:prstGeom>
        </p:spPr>
      </p:pic>
      <p:pic>
        <p:nvPicPr>
          <p:cNvPr id="10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44560" y="2586789"/>
            <a:ext cx="202349" cy="65627"/>
          </a:xfrm>
          <a:prstGeom prst="rect">
            <a:avLst/>
          </a:prstGeom>
        </p:spPr>
      </p:pic>
      <p:sp>
        <p:nvSpPr>
          <p:cNvPr id="110" name="Shape 59"/>
          <p:cNvSpPr/>
          <p:nvPr/>
        </p:nvSpPr>
        <p:spPr>
          <a:xfrm>
            <a:off x="1257847" y="2045368"/>
            <a:ext cx="661737" cy="1093780"/>
          </a:xfrm>
          <a:prstGeom prst="rect">
            <a:avLst/>
          </a:prstGeom>
          <a:solidFill>
            <a:srgbClr val="EBF5EC"/>
          </a:solidFill>
          <a:ln/>
        </p:spPr>
      </p:sp>
      <p:pic>
        <p:nvPicPr>
          <p:cNvPr id="11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339880" y="2187560"/>
            <a:ext cx="486732" cy="503139"/>
          </a:xfrm>
          <a:prstGeom prst="rect">
            <a:avLst/>
          </a:prstGeom>
        </p:spPr>
      </p:pic>
      <p:sp>
        <p:nvSpPr>
          <p:cNvPr id="112" name="Text 60"/>
          <p:cNvSpPr/>
          <p:nvPr/>
        </p:nvSpPr>
        <p:spPr>
          <a:xfrm>
            <a:off x="1405507" y="2772732"/>
            <a:ext cx="403058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8" b="1" dirty="0">
                <a:solidFill>
                  <a:srgbClr val="535C57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Triaging</a:t>
            </a:r>
            <a:endParaRPr lang="en-US" sz="728" dirty="0"/>
          </a:p>
        </p:txBody>
      </p:sp>
      <p:sp>
        <p:nvSpPr>
          <p:cNvPr id="113" name="Shape 61"/>
          <p:cNvSpPr/>
          <p:nvPr/>
        </p:nvSpPr>
        <p:spPr>
          <a:xfrm>
            <a:off x="300789" y="1919584"/>
            <a:ext cx="721895" cy="1602388"/>
          </a:xfrm>
          <a:prstGeom prst="rect">
            <a:avLst/>
          </a:prstGeom>
          <a:solidFill>
            <a:srgbClr val="EAF5EC"/>
          </a:solidFill>
          <a:ln/>
        </p:spPr>
      </p:sp>
      <p:pic>
        <p:nvPicPr>
          <p:cNvPr id="114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21105" y="1957866"/>
            <a:ext cx="470325" cy="475794"/>
          </a:xfrm>
          <a:prstGeom prst="rect">
            <a:avLst/>
          </a:prstGeom>
        </p:spPr>
      </p:pic>
      <p:sp>
        <p:nvSpPr>
          <p:cNvPr id="115" name="Text 62"/>
          <p:cNvSpPr/>
          <p:nvPr/>
        </p:nvSpPr>
        <p:spPr>
          <a:xfrm>
            <a:off x="331142" y="2772732"/>
            <a:ext cx="655721" cy="6890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6" b="1" dirty="0">
                <a:solidFill>
                  <a:srgbClr val="5B6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 owner</a:t>
            </a:r>
            <a:endParaRPr lang="en-US" sz="646" dirty="0"/>
          </a:p>
          <a:p>
            <a:pPr algn="ctr" indent="0" marL="0">
              <a:buNone/>
            </a:pPr>
            <a:r>
              <a:rPr lang="en-US" sz="646" b="1" dirty="0">
                <a:solidFill>
                  <a:srgbClr val="5B6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completes triage</a:t>
            </a:r>
            <a:endParaRPr lang="en-US" sz="646" dirty="0"/>
          </a:p>
          <a:p>
            <a:pPr algn="ctr" indent="0" marL="0">
              <a:buNone/>
            </a:pPr>
            <a:r>
              <a:rPr lang="en-US" sz="646" b="1" dirty="0">
                <a:solidFill>
                  <a:srgbClr val="5B6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after the</a:t>
            </a:r>
            <a:endParaRPr lang="en-US" sz="646" dirty="0"/>
          </a:p>
          <a:p>
            <a:pPr algn="ctr" indent="0" marL="0">
              <a:buNone/>
            </a:pPr>
            <a:r>
              <a:rPr lang="en-US" sz="646" b="1" dirty="0">
                <a:solidFill>
                  <a:srgbClr val="5B6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consequence</a:t>
            </a:r>
            <a:endParaRPr lang="en-US" sz="646" dirty="0"/>
          </a:p>
          <a:p>
            <a:pPr algn="ctr" indent="0" marL="0">
              <a:buNone/>
            </a:pPr>
            <a:r>
              <a:rPr lang="en-US" sz="646" b="1" dirty="0">
                <a:solidFill>
                  <a:srgbClr val="5B6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scanning</a:t>
            </a:r>
            <a:endParaRPr lang="en-US" sz="646" dirty="0"/>
          </a:p>
          <a:p>
            <a:pPr algn="ctr" indent="0" marL="0">
              <a:buNone/>
            </a:pPr>
            <a:r>
              <a:rPr lang="en-US" sz="646" b="1" dirty="0">
                <a:solidFill>
                  <a:srgbClr val="5B6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workshop in the</a:t>
            </a:r>
            <a:endParaRPr lang="en-US" sz="646" dirty="0"/>
          </a:p>
          <a:p>
            <a:pPr algn="ctr" indent="0" marL="0">
              <a:buNone/>
            </a:pPr>
            <a:r>
              <a:rPr lang="en-US" sz="646" b="1" dirty="0">
                <a:solidFill>
                  <a:srgbClr val="5B615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RAI journey.</a:t>
            </a:r>
            <a:endParaRPr lang="en-US" sz="646" dirty="0"/>
          </a:p>
        </p:txBody>
      </p:sp>
      <p:sp>
        <p:nvSpPr>
          <p:cNvPr id="116" name="Text 63"/>
          <p:cNvSpPr/>
          <p:nvPr/>
        </p:nvSpPr>
        <p:spPr>
          <a:xfrm>
            <a:off x="382823" y="2482880"/>
            <a:ext cx="619626" cy="2461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7" b="1" dirty="0">
                <a:solidFill>
                  <a:srgbClr val="535C57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Responsible</a:t>
            </a:r>
            <a:endParaRPr lang="en-US" sz="857" dirty="0"/>
          </a:p>
          <a:p>
            <a:pPr algn="l" indent="0" marL="0">
              <a:buNone/>
            </a:pPr>
            <a:r>
              <a:rPr lang="en-US" sz="857" b="1" dirty="0">
                <a:solidFill>
                  <a:srgbClr val="535C57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Al Journey</a:t>
            </a:r>
            <a:endParaRPr lang="en-US" sz="857" dirty="0"/>
          </a:p>
        </p:txBody>
      </p:sp>
      <p:pic>
        <p:nvPicPr>
          <p:cNvPr id="11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06258" y="1126593"/>
            <a:ext cx="1684421" cy="371885"/>
          </a:xfrm>
          <a:prstGeom prst="rect">
            <a:avLst/>
          </a:prstGeom>
        </p:spPr>
      </p:pic>
      <p:sp>
        <p:nvSpPr>
          <p:cNvPr id="118" name="Text 64"/>
          <p:cNvSpPr/>
          <p:nvPr/>
        </p:nvSpPr>
        <p:spPr>
          <a:xfrm>
            <a:off x="376807" y="1159407"/>
            <a:ext cx="1576137" cy="3171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5" dirty="0">
                <a:solidFill>
                  <a:srgbClr val="FADBC3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PwC triaging tool focus</a:t>
            </a:r>
            <a:endParaRPr lang="en-US" sz="995" dirty="0"/>
          </a:p>
          <a:p>
            <a:pPr algn="ctr" indent="0" marL="0">
              <a:buNone/>
            </a:pPr>
            <a:r>
              <a:rPr lang="en-US" sz="995" dirty="0">
                <a:solidFill>
                  <a:srgbClr val="FADBC3"/>
                </a:solidFill>
                <a:latin typeface="Reddit Sans" pitchFamily="34" charset="0"/>
                <a:ea typeface="Reddit Sans" pitchFamily="34" charset="-122"/>
                <a:cs typeface="Reddit Sans" pitchFamily="34" charset="-120"/>
              </a:rPr>
              <a:t>Initial triage only</a:t>
            </a:r>
            <a:endParaRPr lang="en-US" sz="995" dirty="0"/>
          </a:p>
        </p:txBody>
      </p:sp>
      <p:pic>
        <p:nvPicPr>
          <p:cNvPr id="119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941459" y="2450067"/>
            <a:ext cx="421105" cy="360947"/>
          </a:xfrm>
          <a:prstGeom prst="rect">
            <a:avLst/>
          </a:prstGeom>
        </p:spPr>
      </p:pic>
      <p:sp>
        <p:nvSpPr>
          <p:cNvPr id="120" name="Shape 65"/>
          <p:cNvSpPr/>
          <p:nvPr/>
        </p:nvSpPr>
        <p:spPr>
          <a:xfrm>
            <a:off x="3729789" y="946120"/>
            <a:ext cx="3111804" cy="355478"/>
          </a:xfrm>
          <a:prstGeom prst="rect">
            <a:avLst/>
          </a:prstGeom>
          <a:solidFill>
            <a:srgbClr val="00326F"/>
          </a:solidFill>
          <a:ln/>
        </p:spPr>
      </p:sp>
      <p:sp>
        <p:nvSpPr>
          <p:cNvPr id="121" name="Text 66"/>
          <p:cNvSpPr/>
          <p:nvPr/>
        </p:nvSpPr>
        <p:spPr>
          <a:xfrm>
            <a:off x="4101675" y="978933"/>
            <a:ext cx="2490537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1" b="1" dirty="0">
                <a:solidFill>
                  <a:srgbClr val="C6D1DF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Desired Al Risk Oversight workflow</a:t>
            </a:r>
            <a:endParaRPr lang="en-US" sz="1051" dirty="0"/>
          </a:p>
          <a:p>
            <a:pPr algn="l" indent="0" marL="0">
              <a:buNone/>
            </a:pPr>
            <a:r>
              <a:rPr lang="en-US" sz="1051" b="1" dirty="0">
                <a:solidFill>
                  <a:srgbClr val="C6D1DF"/>
                </a:solidFill>
                <a:latin typeface="Catamaran" pitchFamily="34" charset="0"/>
                <a:ea typeface="Catamaran" pitchFamily="34" charset="-122"/>
                <a:cs typeface="Catamaran" pitchFamily="34" charset="-120"/>
              </a:rPr>
              <a:t>Broader triage and assessment process</a:t>
            </a:r>
            <a:endParaRPr lang="en-US" sz="1051" dirty="0"/>
          </a:p>
        </p:txBody>
      </p:sp>
      <p:pic>
        <p:nvPicPr>
          <p:cNvPr id="122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426574"/>
            <a:ext cx="9144000" cy="503139"/>
          </a:xfrm>
          <a:prstGeom prst="rect">
            <a:avLst/>
          </a:prstGeom>
        </p:spPr>
      </p:pic>
      <p:pic>
        <p:nvPicPr>
          <p:cNvPr id="123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257038" y="453919"/>
            <a:ext cx="486732" cy="481263"/>
          </a:xfrm>
          <a:prstGeom prst="rect">
            <a:avLst/>
          </a:prstGeom>
        </p:spPr>
      </p:pic>
      <p:sp>
        <p:nvSpPr>
          <p:cNvPr id="124" name="Text 67"/>
          <p:cNvSpPr/>
          <p:nvPr/>
        </p:nvSpPr>
        <p:spPr>
          <a:xfrm>
            <a:off x="918775" y="519545"/>
            <a:ext cx="6563226" cy="3336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1" b="1" dirty="0">
                <a:solidFill>
                  <a:srgbClr val="474E4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This process view shows how the single 2LoD front door works in practice - from triage and early engagement</a:t>
            </a:r>
            <a:endParaRPr lang="en-US" sz="831" dirty="0"/>
          </a:p>
          <a:p>
            <a:pPr algn="l" indent="0" marL="0">
              <a:buNone/>
            </a:pPr>
            <a:r>
              <a:rPr lang="en-US" sz="831" b="1" dirty="0">
                <a:solidFill>
                  <a:srgbClr val="474E49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through live operation, incident handling and change re-assessment.</a:t>
            </a:r>
            <a:endParaRPr lang="en-US" sz="831" dirty="0"/>
          </a:p>
        </p:txBody>
      </p:sp>
      <p:sp>
        <p:nvSpPr>
          <p:cNvPr id="125" name="Text 68"/>
          <p:cNvSpPr/>
          <p:nvPr/>
        </p:nvSpPr>
        <p:spPr>
          <a:xfrm>
            <a:off x="207818" y="65627"/>
            <a:ext cx="6605337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80" b="1" dirty="0">
                <a:solidFill>
                  <a:srgbClr val="22352E"/>
                </a:solidFill>
                <a:latin typeface="Platypi" pitchFamily="34" charset="0"/>
                <a:ea typeface="Platypi" pitchFamily="34" charset="-122"/>
                <a:cs typeface="Platypi" pitchFamily="34" charset="-120"/>
              </a:rPr>
              <a:t>How the Operating Model Works in Practice</a:t>
            </a:r>
            <a:endParaRPr lang="en-US" sz="2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2026-06-29T18:21:33Z</dcterms:created>
  <dcterms:modified xsi:type="dcterms:W3CDTF">2026-06-29T18:21:33Z</dcterms:modified>
</cp:coreProperties>
</file>