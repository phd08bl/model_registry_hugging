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jpe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20100"/>
            <a:ext cx="15925800" cy="5429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775" y="8524875"/>
            <a:ext cx="19050" cy="3429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8524875"/>
            <a:ext cx="19050" cy="33337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8486775"/>
            <a:ext cx="285750" cy="409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5449550" y="8562975"/>
            <a:ext cx="142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1343" dirty="0">
                <a:solidFill>
                  <a:srgbClr val="A3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43" dirty="0"/>
          </a:p>
        </p:txBody>
      </p:sp>
      <p:sp>
        <p:nvSpPr>
          <p:cNvPr id="8" name="Text 2"/>
          <p:cNvSpPr/>
          <p:nvPr/>
        </p:nvSpPr>
        <p:spPr>
          <a:xfrm>
            <a:off x="1876425" y="8553450"/>
            <a:ext cx="6724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682" dirty="0">
                <a:solidFill>
                  <a:srgbClr val="B2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Stage 2 decision needs an outcome, an owner and a decision route.</a:t>
            </a:r>
            <a:endParaRPr lang="en-US" sz="682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953500"/>
            <a:ext cx="15925800" cy="952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5925800" cy="842010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447675" y="7858125"/>
            <a:ext cx="15059025" cy="476250"/>
          </a:xfrm>
          <a:prstGeom prst="roundRect">
            <a:avLst>
              <a:gd name="adj" fmla="val 14000"/>
            </a:avLst>
          </a:prstGeom>
          <a:solidFill>
            <a:srgbClr val="C8EAD5"/>
          </a:solidFill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4475" y="7934325"/>
            <a:ext cx="19050" cy="3238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7915275"/>
            <a:ext cx="352425" cy="35242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828800" y="7972425"/>
            <a:ext cx="7429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98" b="1" dirty="0">
                <a:solidFill>
                  <a:srgbClr val="366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is prioritising the business/process outcome — not approving the proposed tool.</a:t>
            </a:r>
            <a:endParaRPr lang="en-US" sz="1398" dirty="0"/>
          </a:p>
        </p:txBody>
      </p:sp>
      <p:sp>
        <p:nvSpPr>
          <p:cNvPr id="15" name="Shape 5"/>
          <p:cNvSpPr/>
          <p:nvPr/>
        </p:nvSpPr>
        <p:spPr>
          <a:xfrm>
            <a:off x="8096250" y="1962150"/>
            <a:ext cx="7429500" cy="5781675"/>
          </a:xfrm>
          <a:prstGeom prst="roundRect">
            <a:avLst>
              <a:gd name="adj" fmla="val 2965"/>
            </a:avLst>
          </a:prstGeom>
          <a:solidFill>
            <a:srgbClr val="FDFDFD"/>
          </a:solidFill>
          <a:ln/>
        </p:spPr>
      </p:sp>
      <p:sp>
        <p:nvSpPr>
          <p:cNvPr id="16" name="Shape 6"/>
          <p:cNvSpPr/>
          <p:nvPr/>
        </p:nvSpPr>
        <p:spPr>
          <a:xfrm>
            <a:off x="8191500" y="4876800"/>
            <a:ext cx="7229475" cy="2838450"/>
          </a:xfrm>
          <a:prstGeom prst="rect">
            <a:avLst/>
          </a:prstGeom>
          <a:solidFill>
            <a:srgbClr val="F4F8F6"/>
          </a:solidFill>
          <a:ln w="28575">
            <a:solidFill>
              <a:srgbClr val="FEFEFE"/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11039475" y="7000875"/>
            <a:ext cx="4133850" cy="552450"/>
          </a:xfrm>
          <a:prstGeom prst="roundRect">
            <a:avLst>
              <a:gd name="adj" fmla="val 6897"/>
            </a:avLst>
          </a:prstGeom>
          <a:solidFill>
            <a:srgbClr val="EDF3F0"/>
          </a:solidFill>
          <a:ln w="9525">
            <a:solidFill>
              <a:srgbClr val="DFE8E6"/>
            </a:solidFill>
            <a:prstDash val="solid"/>
          </a:ln>
        </p:spPr>
      </p:sp>
      <p:sp>
        <p:nvSpPr>
          <p:cNvPr id="18" name="Shape 8"/>
          <p:cNvSpPr/>
          <p:nvPr/>
        </p:nvSpPr>
        <p:spPr>
          <a:xfrm>
            <a:off x="11029950" y="6505575"/>
            <a:ext cx="4143375" cy="371475"/>
          </a:xfrm>
          <a:prstGeom prst="roundRect">
            <a:avLst>
              <a:gd name="adj" fmla="val 15385"/>
            </a:avLst>
          </a:prstGeom>
          <a:solidFill>
            <a:srgbClr val="EDF3F1"/>
          </a:solidFill>
          <a:ln w="19050">
            <a:solidFill>
              <a:srgbClr val="DFE8E5"/>
            </a:solidFill>
            <a:prstDash val="solid"/>
          </a:ln>
        </p:spPr>
      </p:sp>
      <p:sp>
        <p:nvSpPr>
          <p:cNvPr id="19" name="Shape 9"/>
          <p:cNvSpPr/>
          <p:nvPr/>
        </p:nvSpPr>
        <p:spPr>
          <a:xfrm>
            <a:off x="11029950" y="6010275"/>
            <a:ext cx="4143375" cy="361950"/>
          </a:xfrm>
          <a:prstGeom prst="roundRect">
            <a:avLst>
              <a:gd name="adj" fmla="val 9868"/>
            </a:avLst>
          </a:prstGeom>
          <a:solidFill>
            <a:srgbClr val="EDF4F1"/>
          </a:solidFill>
          <a:ln w="9525">
            <a:solidFill>
              <a:srgbClr val="DEE7E4"/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11029950" y="5505450"/>
            <a:ext cx="4143375" cy="371475"/>
          </a:xfrm>
          <a:prstGeom prst="roundRect">
            <a:avLst>
              <a:gd name="adj" fmla="val 17949"/>
            </a:avLst>
          </a:prstGeom>
          <a:solidFill>
            <a:srgbClr val="EEF4F1"/>
          </a:solidFill>
          <a:ln w="19050">
            <a:solidFill>
              <a:srgbClr val="DEE8E4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11029950" y="5010150"/>
            <a:ext cx="4152900" cy="371475"/>
          </a:xfrm>
          <a:prstGeom prst="roundRect">
            <a:avLst>
              <a:gd name="adj" fmla="val 17949"/>
            </a:avLst>
          </a:prstGeom>
          <a:solidFill>
            <a:srgbClr val="F0F6F4"/>
          </a:solidFill>
          <a:ln w="9525">
            <a:solidFill>
              <a:srgbClr val="E2EBE8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9163050" y="7143750"/>
            <a:ext cx="1600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433" dirty="0">
                <a:solidFill>
                  <a:srgbClr val="5E6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 / Notes:</a:t>
            </a:r>
            <a:endParaRPr lang="en-US" sz="1433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5" y="7029450"/>
            <a:ext cx="495300" cy="495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9163050" y="6591300"/>
            <a:ext cx="14287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75" dirty="0">
                <a:solidFill>
                  <a:srgbClr val="586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Timing:</a:t>
            </a:r>
            <a:endParaRPr lang="en-US" sz="1275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150" y="6457950"/>
            <a:ext cx="485775" cy="46672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172575" y="6086475"/>
            <a:ext cx="1323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68" dirty="0">
                <a:solidFill>
                  <a:srgbClr val="59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Priority:</a:t>
            </a:r>
            <a:endParaRPr lang="en-US" sz="968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150" y="5953125"/>
            <a:ext cx="476250" cy="4572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9163050" y="55816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41"/>
              </a:lnSpc>
              <a:buNone/>
            </a:pPr>
            <a:r>
              <a:rPr lang="en-US" sz="1360" dirty="0">
                <a:solidFill>
                  <a:srgbClr val="5A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Owner:</a:t>
            </a:r>
            <a:endParaRPr lang="en-US" sz="136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9150" y="5448300"/>
            <a:ext cx="476250" cy="4572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9163050" y="5067300"/>
            <a:ext cx="1657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5" dirty="0">
                <a:solidFill>
                  <a:srgbClr val="5D6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Sponsor:</a:t>
            </a:r>
            <a:endParaRPr lang="en-US" sz="1305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9150" y="4953000"/>
            <a:ext cx="476250" cy="447675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8267700" y="2809875"/>
            <a:ext cx="7086600" cy="2009775"/>
          </a:xfrm>
          <a:prstGeom prst="roundRect">
            <a:avLst>
              <a:gd name="adj" fmla="val 7820"/>
            </a:avLst>
          </a:prstGeom>
          <a:solidFill>
            <a:srgbClr val="F6F9F8"/>
          </a:solidFill>
          <a:ln w="19050">
            <a:solidFill>
              <a:srgbClr val="F2F6F5"/>
            </a:solidFill>
            <a:prstDash val="solid"/>
          </a:ln>
        </p:spPr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29950" y="4533900"/>
            <a:ext cx="209550" cy="219075"/>
          </a:xfrm>
          <a:prstGeom prst="rect">
            <a:avLst/>
          </a:prstGeom>
        </p:spPr>
      </p:pic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9950" y="4238625"/>
            <a:ext cx="209550" cy="219075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11029950" y="3933825"/>
            <a:ext cx="209550" cy="219075"/>
          </a:xfrm>
          <a:prstGeom prst="roundRect">
            <a:avLst>
              <a:gd name="adj" fmla="val 17045"/>
            </a:avLst>
          </a:prstGeom>
          <a:solidFill>
            <a:srgbClr val="F9FCFA"/>
          </a:solidFill>
          <a:ln w="19050">
            <a:solidFill>
              <a:srgbClr val="32A668"/>
            </a:solidFill>
            <a:prstDash val="solid"/>
          </a:ln>
        </p:spPr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29950" y="3619500"/>
            <a:ext cx="209550" cy="228600"/>
          </a:xfrm>
          <a:prstGeom prst="rect">
            <a:avLst/>
          </a:prstGeom>
        </p:spPr>
      </p:pic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29950" y="3314700"/>
            <a:ext cx="209550" cy="219075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29950" y="3000375"/>
            <a:ext cx="209550" cy="219075"/>
          </a:xfrm>
          <a:prstGeom prst="rect">
            <a:avLst/>
          </a:prstGeom>
        </p:spPr>
      </p:pic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53550" y="2990850"/>
            <a:ext cx="19050" cy="628650"/>
          </a:xfrm>
          <a:prstGeom prst="rect">
            <a:avLst/>
          </a:prstGeom>
        </p:spPr>
      </p:pic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8675" y="2981325"/>
            <a:ext cx="647700" cy="647700"/>
          </a:xfrm>
          <a:prstGeom prst="rect">
            <a:avLst/>
          </a:prstGeom>
        </p:spPr>
      </p:pic>
      <p:sp>
        <p:nvSpPr>
          <p:cNvPr id="41" name="Shape 19"/>
          <p:cNvSpPr/>
          <p:nvPr/>
        </p:nvSpPr>
        <p:spPr>
          <a:xfrm>
            <a:off x="8153400" y="1962150"/>
            <a:ext cx="7305675" cy="762000"/>
          </a:xfrm>
          <a:prstGeom prst="roundRect">
            <a:avLst>
              <a:gd name="adj" fmla="val 9375"/>
            </a:avLst>
          </a:prstGeom>
          <a:solidFill>
            <a:srgbClr val="F3F9F5"/>
          </a:solidFill>
          <a:ln w="47625">
            <a:solidFill>
              <a:srgbClr val="FCFDFC"/>
            </a:solidFill>
            <a:prstDash val="solid"/>
          </a:ln>
        </p:spPr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1050" y="2066925"/>
            <a:ext cx="600075" cy="600075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9258300" y="2171700"/>
            <a:ext cx="31337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2398" b="1" dirty="0">
                <a:solidFill>
                  <a:srgbClr val="2835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Decision Record</a:t>
            </a:r>
            <a:endParaRPr lang="en-US" sz="2398" dirty="0"/>
          </a:p>
        </p:txBody>
      </p:sp>
      <p:sp>
        <p:nvSpPr>
          <p:cNvPr id="44" name="Text 21"/>
          <p:cNvSpPr/>
          <p:nvPr/>
        </p:nvSpPr>
        <p:spPr>
          <a:xfrm>
            <a:off x="11477625" y="4524375"/>
            <a:ext cx="657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320" dirty="0">
                <a:solidFill>
                  <a:srgbClr val="7982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</a:t>
            </a:r>
            <a:endParaRPr lang="en-US" sz="1320" dirty="0"/>
          </a:p>
        </p:txBody>
      </p:sp>
      <p:sp>
        <p:nvSpPr>
          <p:cNvPr id="45" name="Text 22"/>
          <p:cNvSpPr/>
          <p:nvPr/>
        </p:nvSpPr>
        <p:spPr>
          <a:xfrm>
            <a:off x="11477625" y="4229100"/>
            <a:ext cx="1409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75" dirty="0">
                <a:solidFill>
                  <a:srgbClr val="7C8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Elsewhere</a:t>
            </a:r>
            <a:endParaRPr lang="en-US" sz="1275" dirty="0"/>
          </a:p>
        </p:txBody>
      </p:sp>
      <p:sp>
        <p:nvSpPr>
          <p:cNvPr id="46" name="Text 23"/>
          <p:cNvSpPr/>
          <p:nvPr/>
        </p:nvSpPr>
        <p:spPr>
          <a:xfrm>
            <a:off x="11477625" y="3924300"/>
            <a:ext cx="2171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33" dirty="0">
                <a:solidFill>
                  <a:srgbClr val="7E8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Existing Initiative</a:t>
            </a:r>
            <a:endParaRPr lang="en-US" sz="1433" dirty="0"/>
          </a:p>
        </p:txBody>
      </p:sp>
      <p:sp>
        <p:nvSpPr>
          <p:cNvPr id="47" name="Text 24"/>
          <p:cNvSpPr/>
          <p:nvPr/>
        </p:nvSpPr>
        <p:spPr>
          <a:xfrm>
            <a:off x="11468100" y="3629025"/>
            <a:ext cx="781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77" dirty="0">
                <a:solidFill>
                  <a:srgbClr val="777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477" dirty="0"/>
          </a:p>
        </p:txBody>
      </p:sp>
      <p:sp>
        <p:nvSpPr>
          <p:cNvPr id="48" name="Text 25"/>
          <p:cNvSpPr/>
          <p:nvPr/>
        </p:nvSpPr>
        <p:spPr>
          <a:xfrm>
            <a:off x="11477625" y="33147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373" dirty="0">
                <a:solidFill>
                  <a:srgbClr val="7078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373" dirty="0"/>
          </a:p>
        </p:txBody>
      </p:sp>
      <p:sp>
        <p:nvSpPr>
          <p:cNvPr id="49" name="Text 26"/>
          <p:cNvSpPr/>
          <p:nvPr/>
        </p:nvSpPr>
        <p:spPr>
          <a:xfrm>
            <a:off x="11477625" y="2990850"/>
            <a:ext cx="752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30" dirty="0">
                <a:solidFill>
                  <a:srgbClr val="76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</a:t>
            </a:r>
            <a:endParaRPr lang="en-US" sz="1230" dirty="0"/>
          </a:p>
        </p:txBody>
      </p:sp>
      <p:sp>
        <p:nvSpPr>
          <p:cNvPr id="50" name="Text 27"/>
          <p:cNvSpPr/>
          <p:nvPr/>
        </p:nvSpPr>
        <p:spPr>
          <a:xfrm>
            <a:off x="9639300" y="2962275"/>
            <a:ext cx="942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688" b="1" dirty="0">
                <a:solidFill>
                  <a:srgbClr val="2A35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688" dirty="0"/>
          </a:p>
        </p:txBody>
      </p:sp>
      <p:pic>
        <p:nvPicPr>
          <p:cNvPr id="5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2724150"/>
            <a:ext cx="7610475" cy="5019675"/>
          </a:xfrm>
          <a:prstGeom prst="rect">
            <a:avLst/>
          </a:prstGeom>
        </p:spPr>
      </p:pic>
      <p:sp>
        <p:nvSpPr>
          <p:cNvPr id="52" name="Shape 28"/>
          <p:cNvSpPr/>
          <p:nvPr/>
        </p:nvSpPr>
        <p:spPr>
          <a:xfrm>
            <a:off x="609600" y="6810375"/>
            <a:ext cx="7172325" cy="809625"/>
          </a:xfrm>
          <a:prstGeom prst="roundRect">
            <a:avLst>
              <a:gd name="adj" fmla="val 18824"/>
            </a:avLst>
          </a:prstGeom>
          <a:solidFill>
            <a:srgbClr val="F4F8F7"/>
          </a:solidFill>
          <a:ln w="57150">
            <a:solidFill>
              <a:srgbClr val="F1F6F5"/>
            </a:solidFill>
            <a:prstDash val="solid"/>
          </a:ln>
        </p:spPr>
      </p:sp>
      <p:pic>
        <p:nvPicPr>
          <p:cNvPr id="5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38300" y="6943725"/>
            <a:ext cx="19050" cy="561975"/>
          </a:xfrm>
          <a:prstGeom prst="rect">
            <a:avLst/>
          </a:prstGeom>
        </p:spPr>
      </p:pic>
      <p:pic>
        <p:nvPicPr>
          <p:cNvPr id="5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6915150"/>
            <a:ext cx="609600" cy="619125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1914525" y="7267575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33" dirty="0">
                <a:solidFill>
                  <a:srgbClr val="7D86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the process stays as it is?</a:t>
            </a:r>
            <a:endParaRPr lang="en-US" sz="1433" dirty="0"/>
          </a:p>
        </p:txBody>
      </p:sp>
      <p:sp>
        <p:nvSpPr>
          <p:cNvPr id="56" name="Text 30"/>
          <p:cNvSpPr/>
          <p:nvPr/>
        </p:nvSpPr>
        <p:spPr>
          <a:xfrm>
            <a:off x="1924050" y="6953250"/>
            <a:ext cx="2724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845" b="1" dirty="0">
                <a:solidFill>
                  <a:srgbClr val="2A33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No-action consequence</a:t>
            </a:r>
            <a:endParaRPr lang="en-US" sz="1845" dirty="0"/>
          </a:p>
        </p:txBody>
      </p:sp>
      <p:sp>
        <p:nvSpPr>
          <p:cNvPr id="57" name="Shape 31"/>
          <p:cNvSpPr/>
          <p:nvPr/>
        </p:nvSpPr>
        <p:spPr>
          <a:xfrm>
            <a:off x="581025" y="5619750"/>
            <a:ext cx="7200900" cy="1095375"/>
          </a:xfrm>
          <a:prstGeom prst="roundRect">
            <a:avLst>
              <a:gd name="adj" fmla="val 13913"/>
            </a:avLst>
          </a:prstGeom>
          <a:solidFill>
            <a:srgbClr val="F5F9F7"/>
          </a:solidFill>
          <a:ln/>
        </p:spPr>
      </p:sp>
      <p:pic>
        <p:nvPicPr>
          <p:cNvPr id="5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38300" y="5800725"/>
            <a:ext cx="19050" cy="733425"/>
          </a:xfrm>
          <a:prstGeom prst="rect">
            <a:avLst/>
          </a:prstGeom>
        </p:spPr>
      </p:pic>
      <p:pic>
        <p:nvPicPr>
          <p:cNvPr id="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5791200"/>
            <a:ext cx="609600" cy="609600"/>
          </a:xfrm>
          <a:prstGeom prst="rect">
            <a:avLst/>
          </a:prstGeom>
        </p:spPr>
      </p:pic>
      <p:sp>
        <p:nvSpPr>
          <p:cNvPr id="60" name="Text 32"/>
          <p:cNvSpPr/>
          <p:nvPr/>
        </p:nvSpPr>
        <p:spPr>
          <a:xfrm>
            <a:off x="1924050" y="6067425"/>
            <a:ext cx="49815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477" dirty="0">
                <a:solidFill>
                  <a:srgbClr val="7D8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another initiative or capability already address all or</a:t>
            </a:r>
            <a:endParaRPr lang="en-US" sz="1477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477" dirty="0">
                <a:solidFill>
                  <a:srgbClr val="7D8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problem?</a:t>
            </a:r>
            <a:endParaRPr lang="en-US" sz="1477" dirty="0"/>
          </a:p>
        </p:txBody>
      </p:sp>
      <p:sp>
        <p:nvSpPr>
          <p:cNvPr id="61" name="Text 33"/>
          <p:cNvSpPr/>
          <p:nvPr/>
        </p:nvSpPr>
        <p:spPr>
          <a:xfrm>
            <a:off x="1924050" y="5781675"/>
            <a:ext cx="1609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7"/>
              </a:lnSpc>
              <a:buNone/>
            </a:pPr>
            <a:r>
              <a:rPr lang="en-US" sz="1891" b="1" dirty="0">
                <a:solidFill>
                  <a:srgbClr val="2A33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work</a:t>
            </a:r>
            <a:endParaRPr lang="en-US" sz="1891" dirty="0"/>
          </a:p>
        </p:txBody>
      </p:sp>
      <p:sp>
        <p:nvSpPr>
          <p:cNvPr id="62" name="Shape 34"/>
          <p:cNvSpPr/>
          <p:nvPr/>
        </p:nvSpPr>
        <p:spPr>
          <a:xfrm>
            <a:off x="581025" y="3848100"/>
            <a:ext cx="7210425" cy="1666875"/>
          </a:xfrm>
          <a:prstGeom prst="roundRect">
            <a:avLst>
              <a:gd name="adj" fmla="val 10857"/>
            </a:avLst>
          </a:prstGeom>
          <a:solidFill>
            <a:srgbClr val="F5F9F8"/>
          </a:solidFill>
          <a:ln w="9525">
            <a:solidFill>
              <a:srgbClr val="F3F7F6"/>
            </a:solidFill>
            <a:prstDash val="solid"/>
          </a:ln>
        </p:spPr>
      </p:sp>
      <p:pic>
        <p:nvPicPr>
          <p:cNvPr id="6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52625" y="5219700"/>
            <a:ext cx="95250" cy="85725"/>
          </a:xfrm>
          <a:prstGeom prst="rect">
            <a:avLst/>
          </a:prstGeom>
        </p:spPr>
      </p:pic>
      <p:pic>
        <p:nvPicPr>
          <p:cNvPr id="6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52625" y="4953000"/>
            <a:ext cx="95250" cy="85725"/>
          </a:xfrm>
          <a:prstGeom prst="rect">
            <a:avLst/>
          </a:prstGeom>
        </p:spPr>
      </p:pic>
      <p:pic>
        <p:nvPicPr>
          <p:cNvPr id="6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52625" y="4686300"/>
            <a:ext cx="95250" cy="85725"/>
          </a:xfrm>
          <a:prstGeom prst="rect">
            <a:avLst/>
          </a:prstGeom>
        </p:spPr>
      </p:pic>
      <p:pic>
        <p:nvPicPr>
          <p:cNvPr id="6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52625" y="4410075"/>
            <a:ext cx="95250" cy="95250"/>
          </a:xfrm>
          <a:prstGeom prst="rect">
            <a:avLst/>
          </a:prstGeom>
        </p:spPr>
      </p:pic>
      <p:pic>
        <p:nvPicPr>
          <p:cNvPr id="6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38300" y="4038600"/>
            <a:ext cx="19050" cy="1304925"/>
          </a:xfrm>
          <a:prstGeom prst="rect">
            <a:avLst/>
          </a:prstGeom>
        </p:spPr>
      </p:pic>
      <p:pic>
        <p:nvPicPr>
          <p:cNvPr id="6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2000" y="4038600"/>
            <a:ext cx="600075" cy="600075"/>
          </a:xfrm>
          <a:prstGeom prst="rect">
            <a:avLst/>
          </a:prstGeom>
        </p:spPr>
      </p:pic>
      <p:sp>
        <p:nvSpPr>
          <p:cNvPr id="69" name="Text 35"/>
          <p:cNvSpPr/>
          <p:nvPr/>
        </p:nvSpPr>
        <p:spPr>
          <a:xfrm>
            <a:off x="2257425" y="5153025"/>
            <a:ext cx="2686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1423" dirty="0">
                <a:solidFill>
                  <a:srgbClr val="7F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and cross-MRO relevance</a:t>
            </a:r>
            <a:endParaRPr lang="en-US" sz="1423" dirty="0"/>
          </a:p>
        </p:txBody>
      </p:sp>
      <p:sp>
        <p:nvSpPr>
          <p:cNvPr id="70" name="Text 36"/>
          <p:cNvSpPr/>
          <p:nvPr/>
        </p:nvSpPr>
        <p:spPr>
          <a:xfrm>
            <a:off x="2257425" y="4886325"/>
            <a:ext cx="876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30" dirty="0">
                <a:solidFill>
                  <a:srgbClr val="7D8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530" dirty="0"/>
          </a:p>
        </p:txBody>
      </p:sp>
      <p:sp>
        <p:nvSpPr>
          <p:cNvPr id="71" name="Text 37"/>
          <p:cNvSpPr/>
          <p:nvPr/>
        </p:nvSpPr>
        <p:spPr>
          <a:xfrm>
            <a:off x="2257425" y="4610100"/>
            <a:ext cx="1895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08" dirty="0">
                <a:solidFill>
                  <a:srgbClr val="78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control / quality</a:t>
            </a:r>
            <a:endParaRPr lang="en-US" sz="1508" dirty="0"/>
          </a:p>
        </p:txBody>
      </p:sp>
      <p:sp>
        <p:nvSpPr>
          <p:cNvPr id="72" name="Text 38"/>
          <p:cNvSpPr/>
          <p:nvPr/>
        </p:nvSpPr>
        <p:spPr>
          <a:xfrm>
            <a:off x="2257425" y="4343400"/>
            <a:ext cx="1704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93" dirty="0">
                <a:solidFill>
                  <a:srgbClr val="7D8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alignment</a:t>
            </a:r>
            <a:endParaRPr lang="en-US" sz="1493" dirty="0"/>
          </a:p>
        </p:txBody>
      </p:sp>
      <p:sp>
        <p:nvSpPr>
          <p:cNvPr id="73" name="Text 39"/>
          <p:cNvSpPr/>
          <p:nvPr/>
        </p:nvSpPr>
        <p:spPr>
          <a:xfrm>
            <a:off x="1914525" y="4010025"/>
            <a:ext cx="1695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867" b="1" dirty="0">
                <a:solidFill>
                  <a:srgbClr val="26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867" dirty="0"/>
          </a:p>
        </p:txBody>
      </p:sp>
      <p:sp>
        <p:nvSpPr>
          <p:cNvPr id="74" name="Shape 40"/>
          <p:cNvSpPr/>
          <p:nvPr/>
        </p:nvSpPr>
        <p:spPr>
          <a:xfrm>
            <a:off x="628650" y="2800350"/>
            <a:ext cx="7153275" cy="952500"/>
          </a:xfrm>
          <a:prstGeom prst="roundRect">
            <a:avLst>
              <a:gd name="adj" fmla="val 13000"/>
            </a:avLst>
          </a:prstGeom>
          <a:solidFill>
            <a:srgbClr val="F6F9F8"/>
          </a:solidFill>
          <a:ln/>
        </p:spPr>
      </p:sp>
      <p:pic>
        <p:nvPicPr>
          <p:cNvPr id="7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638300" y="2981325"/>
            <a:ext cx="19050" cy="600075"/>
          </a:xfrm>
          <a:prstGeom prst="rect">
            <a:avLst/>
          </a:prstGeom>
        </p:spPr>
      </p:pic>
      <p:pic>
        <p:nvPicPr>
          <p:cNvPr id="7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2000" y="2971800"/>
            <a:ext cx="609600" cy="609600"/>
          </a:xfrm>
          <a:prstGeom prst="rect">
            <a:avLst/>
          </a:prstGeom>
        </p:spPr>
      </p:pic>
      <p:sp>
        <p:nvSpPr>
          <p:cNvPr id="77" name="Text 41"/>
          <p:cNvSpPr/>
          <p:nvPr/>
        </p:nvSpPr>
        <p:spPr>
          <a:xfrm>
            <a:off x="1914525" y="3276600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70" dirty="0">
                <a:solidFill>
                  <a:srgbClr val="6069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MRO process outcome are we trying to improve?</a:t>
            </a:r>
            <a:endParaRPr lang="en-US" sz="1470" dirty="0"/>
          </a:p>
        </p:txBody>
      </p:sp>
      <p:sp>
        <p:nvSpPr>
          <p:cNvPr id="78" name="Text 42"/>
          <p:cNvSpPr/>
          <p:nvPr/>
        </p:nvSpPr>
        <p:spPr>
          <a:xfrm>
            <a:off x="1914525" y="2962275"/>
            <a:ext cx="1038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1830" b="1" dirty="0">
                <a:solidFill>
                  <a:srgbClr val="3B46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830" dirty="0"/>
          </a:p>
        </p:txBody>
      </p:sp>
      <p:sp>
        <p:nvSpPr>
          <p:cNvPr id="79" name="Shape 43"/>
          <p:cNvSpPr/>
          <p:nvPr/>
        </p:nvSpPr>
        <p:spPr>
          <a:xfrm>
            <a:off x="428625" y="1962150"/>
            <a:ext cx="7486650" cy="762000"/>
          </a:xfrm>
          <a:prstGeom prst="roundRect">
            <a:avLst>
              <a:gd name="adj" fmla="val 20625"/>
            </a:avLst>
          </a:prstGeom>
          <a:solidFill>
            <a:srgbClr val="F3F9F5"/>
          </a:solidFill>
          <a:ln w="38100">
            <a:solidFill>
              <a:srgbClr val="FDFDFD"/>
            </a:solidFill>
            <a:prstDash val="solid"/>
          </a:ln>
        </p:spPr>
      </p:sp>
      <p:pic>
        <p:nvPicPr>
          <p:cNvPr id="8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4375" y="2057400"/>
            <a:ext cx="609600" cy="600075"/>
          </a:xfrm>
          <a:prstGeom prst="rect">
            <a:avLst/>
          </a:prstGeom>
        </p:spPr>
      </p:pic>
      <p:sp>
        <p:nvSpPr>
          <p:cNvPr id="81" name="Text 44"/>
          <p:cNvSpPr/>
          <p:nvPr/>
        </p:nvSpPr>
        <p:spPr>
          <a:xfrm>
            <a:off x="1590675" y="2171700"/>
            <a:ext cx="365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6"/>
              </a:lnSpc>
              <a:buNone/>
            </a:pPr>
            <a:r>
              <a:rPr lang="en-US" sz="2428" b="1" dirty="0">
                <a:solidFill>
                  <a:srgbClr val="2B4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Assessment</a:t>
            </a:r>
            <a:endParaRPr lang="en-US" sz="2428" dirty="0"/>
          </a:p>
        </p:txBody>
      </p:sp>
      <p:pic>
        <p:nvPicPr>
          <p:cNvPr id="8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6305550"/>
            <a:ext cx="390525" cy="1676400"/>
          </a:xfrm>
          <a:prstGeom prst="rect">
            <a:avLst/>
          </a:prstGeom>
        </p:spPr>
      </p:pic>
      <p:sp>
        <p:nvSpPr>
          <p:cNvPr id="83" name="Shape 45"/>
          <p:cNvSpPr/>
          <p:nvPr/>
        </p:nvSpPr>
        <p:spPr>
          <a:xfrm>
            <a:off x="428625" y="1171575"/>
            <a:ext cx="15068550" cy="638175"/>
          </a:xfrm>
          <a:prstGeom prst="roundRect">
            <a:avLst>
              <a:gd name="adj" fmla="val 10448"/>
            </a:avLst>
          </a:prstGeom>
          <a:solidFill>
            <a:srgbClr val="CEEDDA"/>
          </a:solidFill>
          <a:ln w="9525">
            <a:solidFill>
              <a:srgbClr val="D6F0E0"/>
            </a:solidFill>
            <a:prstDash val="solid"/>
          </a:ln>
        </p:spPr>
      </p:sp>
      <p:pic>
        <p:nvPicPr>
          <p:cNvPr id="8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638300" y="1266825"/>
            <a:ext cx="28575" cy="447675"/>
          </a:xfrm>
          <a:prstGeom prst="rect">
            <a:avLst/>
          </a:prstGeom>
        </p:spPr>
      </p:pic>
      <p:pic>
        <p:nvPicPr>
          <p:cNvPr id="8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7725" y="1266825"/>
            <a:ext cx="447675" cy="438150"/>
          </a:xfrm>
          <a:prstGeom prst="rect">
            <a:avLst/>
          </a:prstGeom>
        </p:spPr>
      </p:pic>
      <p:sp>
        <p:nvSpPr>
          <p:cNvPr id="86" name="Text 46"/>
          <p:cNvSpPr/>
          <p:nvPr/>
        </p:nvSpPr>
        <p:spPr>
          <a:xfrm>
            <a:off x="1981200" y="1285875"/>
            <a:ext cx="9486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420" b="1" dirty="0">
                <a:solidFill>
                  <a:srgbClr val="25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outcome important enough for MRO to investigate now?</a:t>
            </a:r>
            <a:endParaRPr lang="en-US" sz="2420" dirty="0"/>
          </a:p>
        </p:txBody>
      </p:sp>
      <p:sp>
        <p:nvSpPr>
          <p:cNvPr id="87" name="Shape 47"/>
          <p:cNvSpPr/>
          <p:nvPr/>
        </p:nvSpPr>
        <p:spPr>
          <a:xfrm>
            <a:off x="12925425" y="314325"/>
            <a:ext cx="2647950" cy="466725"/>
          </a:xfrm>
          <a:prstGeom prst="roundRect">
            <a:avLst>
              <a:gd name="adj" fmla="val 30612"/>
            </a:avLst>
          </a:prstGeom>
          <a:solidFill>
            <a:srgbClr val="C1E9D2"/>
          </a:solidFill>
          <a:ln w="9525">
            <a:solidFill>
              <a:srgbClr val="C9E9D6"/>
            </a:solidFill>
            <a:prstDash val="solid"/>
          </a:ln>
        </p:spPr>
      </p:sp>
      <p:sp>
        <p:nvSpPr>
          <p:cNvPr id="88" name="Text 48"/>
          <p:cNvSpPr/>
          <p:nvPr/>
        </p:nvSpPr>
        <p:spPr>
          <a:xfrm>
            <a:off x="13163550" y="419100"/>
            <a:ext cx="22193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45" b="1" dirty="0">
                <a:solidFill>
                  <a:srgbClr val="366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 | Monthly Steer</a:t>
            </a:r>
            <a:endParaRPr lang="en-US" sz="1545" dirty="0"/>
          </a:p>
        </p:txBody>
      </p:sp>
      <p:sp>
        <p:nvSpPr>
          <p:cNvPr id="89" name="Text 49"/>
          <p:cNvSpPr/>
          <p:nvPr/>
        </p:nvSpPr>
        <p:spPr>
          <a:xfrm>
            <a:off x="942975" y="409575"/>
            <a:ext cx="1096327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sz="3713" b="1" dirty="0">
                <a:solidFill>
                  <a:srgbClr val="163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 — Leadership Priority &amp; Ownership</a:t>
            </a:r>
            <a:endParaRPr lang="en-US" sz="3713" dirty="0"/>
          </a:p>
        </p:txBody>
      </p:sp>
      <p:pic>
        <p:nvPicPr>
          <p:cNvPr id="9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544800" y="1647825"/>
            <a:ext cx="381000" cy="203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2026-10-06T16:18:16Z</dcterms:created>
  <dcterms:modified xsi:type="dcterms:W3CDTF">2026-10-06T16:18:16Z</dcterms:modified>
</cp:coreProperties>
</file>