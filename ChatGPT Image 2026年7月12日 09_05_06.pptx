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5925800" cy="8963025"/>
  <p:notesSz cx="8963025" cy="159258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image" Target="../media/image-1-14.png"/><Relationship Id="rId15" Type="http://schemas.openxmlformats.org/officeDocument/2006/relationships/image" Target="../media/image-1-15.png"/><Relationship Id="rId16" Type="http://schemas.openxmlformats.org/officeDocument/2006/relationships/image" Target="../media/image-1-16.png"/><Relationship Id="rId17" Type="http://schemas.openxmlformats.org/officeDocument/2006/relationships/image" Target="../media/image-1-17.png"/><Relationship Id="rId18" Type="http://schemas.openxmlformats.org/officeDocument/2006/relationships/image" Target="../media/image-1-18.png"/><Relationship Id="rId19" Type="http://schemas.openxmlformats.org/officeDocument/2006/relationships/image" Target="../media/image-1-19.png"/><Relationship Id="rId20" Type="http://schemas.openxmlformats.org/officeDocument/2006/relationships/image" Target="../media/image-1-20.png"/><Relationship Id="rId21" Type="http://schemas.openxmlformats.org/officeDocument/2006/relationships/image" Target="../media/image-1-21.png"/><Relationship Id="rId22" Type="http://schemas.openxmlformats.org/officeDocument/2006/relationships/image" Target="../media/image-1-22.png"/><Relationship Id="rId23" Type="http://schemas.openxmlformats.org/officeDocument/2006/relationships/image" Target="../media/image-1-23.jpeg"/><Relationship Id="rId24" Type="http://schemas.openxmlformats.org/officeDocument/2006/relationships/image" Target="../media/image-1-24.png"/><Relationship Id="rId25" Type="http://schemas.openxmlformats.org/officeDocument/2006/relationships/image" Target="../media/image-1-25.png"/><Relationship Id="rId26" Type="http://schemas.openxmlformats.org/officeDocument/2006/relationships/image" Target="../media/image-1-26.png"/><Relationship Id="rId27" Type="http://schemas.openxmlformats.org/officeDocument/2006/relationships/image" Target="../media/image-1-27.png"/><Relationship Id="rId28" Type="http://schemas.openxmlformats.org/officeDocument/2006/relationships/image" Target="../media/image-1-28.jpeg"/><Relationship Id="rId29" Type="http://schemas.openxmlformats.org/officeDocument/2006/relationships/image" Target="../media/image-1-29.png"/><Relationship Id="rId30" Type="http://schemas.openxmlformats.org/officeDocument/2006/relationships/image" Target="../media/image-1-30.png"/><Relationship Id="rId31" Type="http://schemas.openxmlformats.org/officeDocument/2006/relationships/slideLayout" Target="../slideLayouts/slideLayout1.xml"/><Relationship Id="rId3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925800" cy="8963025"/>
          </a:xfrm>
          <a:prstGeom prst="rect">
            <a:avLst/>
          </a:prstGeom>
          <a:solidFill>
            <a:srgbClr val="FCFDF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7650" y="8867775"/>
            <a:ext cx="15420975" cy="28575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875" y="7905750"/>
            <a:ext cx="15601950" cy="95250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150" y="8048625"/>
            <a:ext cx="714375" cy="70485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514475" y="8105775"/>
            <a:ext cx="1141095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148"/>
              </a:lnSpc>
              <a:buNone/>
            </a:pPr>
            <a:r>
              <a:rPr lang="en-US" sz="1735" b="1" dirty="0">
                <a:solidFill>
                  <a:srgbClr val="BDC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audit message is not that more governance is needed; it is that the existing route needs to be clearer,</a:t>
            </a:r>
            <a:endParaRPr lang="en-US" sz="1735" dirty="0"/>
          </a:p>
          <a:p>
            <a:pPr algn="l" indent="0" marL="0">
              <a:lnSpc>
                <a:spcPts val="2148"/>
              </a:lnSpc>
              <a:buNone/>
            </a:pPr>
            <a:r>
              <a:rPr lang="en-US" sz="1735" b="1" dirty="0">
                <a:solidFill>
                  <a:srgbClr val="BDCF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risk-based, better evidenced and supported by scalable independent validation capability.</a:t>
            </a:r>
            <a:endParaRPr lang="en-US" sz="1735" dirty="0"/>
          </a:p>
        </p:txBody>
      </p:sp>
      <p:sp>
        <p:nvSpPr>
          <p:cNvPr id="7" name="Shape 2"/>
          <p:cNvSpPr/>
          <p:nvPr/>
        </p:nvSpPr>
        <p:spPr>
          <a:xfrm>
            <a:off x="180975" y="2543175"/>
            <a:ext cx="15582900" cy="5334000"/>
          </a:xfrm>
          <a:prstGeom prst="rect">
            <a:avLst/>
          </a:prstGeom>
          <a:solidFill>
            <a:srgbClr val="FCFCFC"/>
          </a:solidFill>
          <a:ln/>
        </p:spPr>
      </p:sp>
      <p:sp>
        <p:nvSpPr>
          <p:cNvPr id="8" name="Shape 3"/>
          <p:cNvSpPr/>
          <p:nvPr/>
        </p:nvSpPr>
        <p:spPr>
          <a:xfrm>
            <a:off x="8239125" y="6648450"/>
            <a:ext cx="7400925" cy="1143000"/>
          </a:xfrm>
          <a:prstGeom prst="roundRect">
            <a:avLst>
              <a:gd name="adj" fmla="val 5000"/>
            </a:avLst>
          </a:prstGeom>
          <a:solidFill>
            <a:srgbClr val="FDFEFE"/>
          </a:solidFill>
          <a:ln w="19050">
            <a:solidFill>
              <a:srgbClr val="EAEAEB"/>
            </a:solidFill>
            <a:prstDash val="solid"/>
          </a:ln>
        </p:spPr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67725" y="6667500"/>
            <a:ext cx="1000125" cy="9239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9839325" y="7058025"/>
            <a:ext cx="4733925" cy="676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1"/>
              </a:lnSpc>
              <a:buNone/>
            </a:pPr>
            <a:r>
              <a:rPr lang="en-US" sz="1275" dirty="0">
                <a:solidFill>
                  <a:srgbClr val="696A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repeatable GenAl and agentic Al validation standards,</a:t>
            </a:r>
            <a:endParaRPr lang="en-US" sz="127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1275" dirty="0">
                <a:solidFill>
                  <a:srgbClr val="696A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test approaches, evidence capture and scalable</a:t>
            </a:r>
            <a:endParaRPr lang="en-US" sz="1275" dirty="0"/>
          </a:p>
          <a:p>
            <a:pPr algn="l" indent="0" marL="0">
              <a:lnSpc>
                <a:spcPts val="1511"/>
              </a:lnSpc>
              <a:buNone/>
            </a:pPr>
            <a:r>
              <a:rPr lang="en-US" sz="1275" dirty="0">
                <a:solidFill>
                  <a:srgbClr val="696A7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second-line challenge.</a:t>
            </a:r>
            <a:endParaRPr lang="en-US" sz="1275" dirty="0"/>
          </a:p>
        </p:txBody>
      </p:sp>
      <p:sp>
        <p:nvSpPr>
          <p:cNvPr id="11" name="Text 5"/>
          <p:cNvSpPr/>
          <p:nvPr/>
        </p:nvSpPr>
        <p:spPr>
          <a:xfrm>
            <a:off x="9848850" y="6781800"/>
            <a:ext cx="391477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320" b="1" dirty="0">
                <a:solidFill>
                  <a:srgbClr val="484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 blueprint and tooling</a:t>
            </a:r>
            <a:endParaRPr lang="en-US" sz="1320" dirty="0"/>
          </a:p>
        </p:txBody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96200" y="6867525"/>
            <a:ext cx="371475" cy="37147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266700" y="6648450"/>
            <a:ext cx="7239000" cy="1143000"/>
          </a:xfrm>
          <a:prstGeom prst="roundRect">
            <a:avLst>
              <a:gd name="adj" fmla="val 2292"/>
            </a:avLst>
          </a:prstGeom>
          <a:solidFill>
            <a:srgbClr val="FDFEFE"/>
          </a:solidFill>
          <a:ln w="19050">
            <a:solidFill>
              <a:srgbClr val="EAEAEA"/>
            </a:solidFill>
            <a:prstDash val="solid"/>
          </a:ln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925" y="6686550"/>
            <a:ext cx="981075" cy="914400"/>
          </a:xfrm>
          <a:prstGeom prst="rect">
            <a:avLst/>
          </a:prstGeom>
        </p:spPr>
      </p:pic>
      <p:pic>
        <p:nvPicPr>
          <p:cNvPr id="1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9100" y="6858000"/>
            <a:ext cx="304800" cy="304800"/>
          </a:xfrm>
          <a:prstGeom prst="rect">
            <a:avLst/>
          </a:prstGeom>
        </p:spPr>
      </p:pic>
      <p:sp>
        <p:nvSpPr>
          <p:cNvPr id="16" name="Text 7"/>
          <p:cNvSpPr/>
          <p:nvPr/>
        </p:nvSpPr>
        <p:spPr>
          <a:xfrm>
            <a:off x="2152650" y="7058025"/>
            <a:ext cx="4724400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54"/>
              </a:lnSpc>
              <a:buNone/>
            </a:pPr>
            <a:r>
              <a:rPr lang="en-US" sz="1140" dirty="0">
                <a:solidFill>
                  <a:srgbClr val="6D6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GenAl and agentic Al use cases need proportionate validation</a:t>
            </a:r>
            <a:endParaRPr lang="en-US" sz="1140" dirty="0"/>
          </a:p>
          <a:p>
            <a:pPr algn="l" indent="0" marL="0">
              <a:lnSpc>
                <a:spcPts val="1654"/>
              </a:lnSpc>
              <a:buNone/>
            </a:pPr>
            <a:r>
              <a:rPr lang="en-US" sz="1140" dirty="0">
                <a:solidFill>
                  <a:srgbClr val="6D6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standards, reusable testing approaches and sufficient evidence</a:t>
            </a:r>
            <a:endParaRPr lang="en-US" sz="1140" dirty="0"/>
          </a:p>
          <a:p>
            <a:pPr algn="l" indent="0" marL="0">
              <a:lnSpc>
                <a:spcPts val="1654"/>
              </a:lnSpc>
              <a:buNone/>
            </a:pPr>
            <a:r>
              <a:rPr lang="en-US" sz="1140" dirty="0">
                <a:solidFill>
                  <a:srgbClr val="6D6E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 support independent challenge.</a:t>
            </a:r>
            <a:endParaRPr lang="en-US" sz="1140" dirty="0"/>
          </a:p>
        </p:txBody>
      </p:sp>
      <p:sp>
        <p:nvSpPr>
          <p:cNvPr id="17" name="Text 8"/>
          <p:cNvSpPr/>
          <p:nvPr/>
        </p:nvSpPr>
        <p:spPr>
          <a:xfrm>
            <a:off x="2171700" y="6800850"/>
            <a:ext cx="52673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5"/>
              </a:lnSpc>
              <a:buNone/>
            </a:pPr>
            <a:r>
              <a:rPr lang="en-US" sz="1268" b="1" dirty="0">
                <a:solidFill>
                  <a:srgbClr val="5053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Independent validation expectations need to be clear and scalable</a:t>
            </a:r>
            <a:endParaRPr lang="en-US" sz="1268" dirty="0"/>
          </a:p>
        </p:txBody>
      </p:sp>
      <p:sp>
        <p:nvSpPr>
          <p:cNvPr id="18" name="Text 9"/>
          <p:cNvSpPr/>
          <p:nvPr/>
        </p:nvSpPr>
        <p:spPr>
          <a:xfrm>
            <a:off x="514350" y="6905625"/>
            <a:ext cx="114300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1275" dirty="0">
                <a:solidFill>
                  <a:srgbClr val="BECDC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75" dirty="0"/>
          </a:p>
        </p:txBody>
      </p:sp>
      <p:sp>
        <p:nvSpPr>
          <p:cNvPr id="19" name="Shape 10"/>
          <p:cNvSpPr/>
          <p:nvPr/>
        </p:nvSpPr>
        <p:spPr>
          <a:xfrm>
            <a:off x="8239125" y="5648325"/>
            <a:ext cx="7400925" cy="962025"/>
          </a:xfrm>
          <a:prstGeom prst="roundRect">
            <a:avLst>
              <a:gd name="adj" fmla="val 5941"/>
            </a:avLst>
          </a:prstGeom>
          <a:solidFill>
            <a:srgbClr val="FDFEFE"/>
          </a:solidFill>
          <a:ln w="9525">
            <a:solidFill>
              <a:srgbClr val="ECECEC"/>
            </a:solidFill>
            <a:prstDash val="solid"/>
          </a:ln>
        </p:spPr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50" y="5676900"/>
            <a:ext cx="990600" cy="895350"/>
          </a:xfrm>
          <a:prstGeom prst="rect">
            <a:avLst/>
          </a:prstGeom>
        </p:spPr>
      </p:pic>
      <p:sp>
        <p:nvSpPr>
          <p:cNvPr id="21" name="Text 11"/>
          <p:cNvSpPr/>
          <p:nvPr/>
        </p:nvSpPr>
        <p:spPr>
          <a:xfrm>
            <a:off x="9829800" y="6105525"/>
            <a:ext cx="443865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2"/>
              </a:lnSpc>
              <a:buNone/>
            </a:pPr>
            <a:r>
              <a:rPr lang="en-US" sz="1323" dirty="0">
                <a:solidFill>
                  <a:srgbClr val="69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consistent records, review outcomes, approvals,</a:t>
            </a:r>
            <a:endParaRPr lang="en-US" sz="1323" dirty="0"/>
          </a:p>
          <a:p>
            <a:pPr algn="l" indent="0" marL="0">
              <a:lnSpc>
                <a:spcPts val="1562"/>
              </a:lnSpc>
              <a:buNone/>
            </a:pPr>
            <a:r>
              <a:rPr lang="en-US" sz="1323" dirty="0">
                <a:solidFill>
                  <a:srgbClr val="696B7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 evidence and post-go-live oversight.</a:t>
            </a:r>
            <a:endParaRPr lang="en-US" sz="1323" dirty="0"/>
          </a:p>
        </p:txBody>
      </p:sp>
      <p:sp>
        <p:nvSpPr>
          <p:cNvPr id="22" name="Text 12"/>
          <p:cNvSpPr/>
          <p:nvPr/>
        </p:nvSpPr>
        <p:spPr>
          <a:xfrm>
            <a:off x="9839325" y="5838825"/>
            <a:ext cx="31623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81"/>
              </a:lnSpc>
              <a:buNone/>
            </a:pPr>
            <a:r>
              <a:rPr lang="en-US" sz="1385" b="1" dirty="0">
                <a:solidFill>
                  <a:srgbClr val="52555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Common evidence spine and tooling</a:t>
            </a:r>
            <a:endParaRPr lang="en-US" sz="1385" dirty="0"/>
          </a:p>
        </p:txBody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696200" y="5857875"/>
            <a:ext cx="371475" cy="381000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266700" y="5648325"/>
            <a:ext cx="7248525" cy="962025"/>
          </a:xfrm>
          <a:prstGeom prst="roundRect">
            <a:avLst>
              <a:gd name="adj" fmla="val 5941"/>
            </a:avLst>
          </a:prstGeom>
          <a:solidFill>
            <a:srgbClr val="FDFDFD"/>
          </a:solidFill>
          <a:ln w="9525">
            <a:solidFill>
              <a:srgbClr val="EAEAEB"/>
            </a:solidFill>
            <a:prstDash val="solid"/>
          </a:ln>
        </p:spPr>
      </p:sp>
      <p:pic>
        <p:nvPicPr>
          <p:cNvPr id="25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23925" y="5676900"/>
            <a:ext cx="981075" cy="885825"/>
          </a:xfrm>
          <a:prstGeom prst="rect">
            <a:avLst/>
          </a:prstGeom>
        </p:spPr>
      </p:pic>
      <p:pic>
        <p:nvPicPr>
          <p:cNvPr id="2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19100" y="5848350"/>
            <a:ext cx="304800" cy="304800"/>
          </a:xfrm>
          <a:prstGeom prst="rect">
            <a:avLst/>
          </a:prstGeom>
        </p:spPr>
      </p:pic>
      <p:sp>
        <p:nvSpPr>
          <p:cNvPr id="27" name="Text 14"/>
          <p:cNvSpPr/>
          <p:nvPr/>
        </p:nvSpPr>
        <p:spPr>
          <a:xfrm>
            <a:off x="504825" y="5886450"/>
            <a:ext cx="123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9"/>
              </a:lnSpc>
              <a:buNone/>
            </a:pPr>
            <a:r>
              <a:rPr lang="en-US" sz="1701" dirty="0">
                <a:solidFill>
                  <a:srgbClr val="B7C6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1" dirty="0"/>
          </a:p>
        </p:txBody>
      </p:sp>
      <p:sp>
        <p:nvSpPr>
          <p:cNvPr id="28" name="Text 15"/>
          <p:cNvSpPr/>
          <p:nvPr/>
        </p:nvSpPr>
        <p:spPr>
          <a:xfrm>
            <a:off x="2162175" y="5953125"/>
            <a:ext cx="4562475" cy="619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193" b="1" dirty="0">
                <a:solidFill>
                  <a:srgbClr val="70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Responsible Al records, model inventory records, decisions,</a:t>
            </a:r>
            <a:endParaRPr lang="en-US" sz="1193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193" b="1" dirty="0">
                <a:solidFill>
                  <a:srgbClr val="70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 and validation evidence need to be complete and</a:t>
            </a:r>
            <a:endParaRPr lang="en-US" sz="1193" dirty="0"/>
          </a:p>
          <a:p>
            <a:pPr algn="l" indent="0" marL="0">
              <a:lnSpc>
                <a:spcPts val="1560"/>
              </a:lnSpc>
              <a:buNone/>
            </a:pPr>
            <a:r>
              <a:rPr lang="en-US" sz="1193" b="1" dirty="0">
                <a:solidFill>
                  <a:srgbClr val="7071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consistently maintained.</a:t>
            </a:r>
            <a:endParaRPr lang="en-US" sz="1193" dirty="0"/>
          </a:p>
        </p:txBody>
      </p:sp>
      <p:sp>
        <p:nvSpPr>
          <p:cNvPr id="29" name="Text 16"/>
          <p:cNvSpPr/>
          <p:nvPr/>
        </p:nvSpPr>
        <p:spPr>
          <a:xfrm>
            <a:off x="2162175" y="5724525"/>
            <a:ext cx="42195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63"/>
              </a:lnSpc>
              <a:buNone/>
            </a:pPr>
            <a:r>
              <a:rPr lang="en-US" sz="1368" b="1" dirty="0">
                <a:solidFill>
                  <a:srgbClr val="5558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 records and evidence need consistency</a:t>
            </a:r>
            <a:endParaRPr lang="en-US" sz="1368" dirty="0"/>
          </a:p>
        </p:txBody>
      </p:sp>
      <p:sp>
        <p:nvSpPr>
          <p:cNvPr id="30" name="Shape 17"/>
          <p:cNvSpPr/>
          <p:nvPr/>
        </p:nvSpPr>
        <p:spPr>
          <a:xfrm>
            <a:off x="8239125" y="4648200"/>
            <a:ext cx="7400925" cy="962025"/>
          </a:xfrm>
          <a:prstGeom prst="roundRect">
            <a:avLst>
              <a:gd name="adj" fmla="val 5941"/>
            </a:avLst>
          </a:prstGeom>
          <a:solidFill>
            <a:srgbClr val="FDFEFE"/>
          </a:solidFill>
          <a:ln w="9525">
            <a:solidFill>
              <a:srgbClr val="EAEAEA"/>
            </a:solidFill>
            <a:prstDash val="solid"/>
          </a:ln>
        </p:spPr>
      </p:sp>
      <p:pic>
        <p:nvPicPr>
          <p:cNvPr id="31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725" y="4667250"/>
            <a:ext cx="1000125" cy="914400"/>
          </a:xfrm>
          <a:prstGeom prst="rect">
            <a:avLst/>
          </a:prstGeom>
        </p:spPr>
      </p:pic>
      <p:sp>
        <p:nvSpPr>
          <p:cNvPr id="32" name="Text 18"/>
          <p:cNvSpPr/>
          <p:nvPr/>
        </p:nvSpPr>
        <p:spPr>
          <a:xfrm>
            <a:off x="9829800" y="5076825"/>
            <a:ext cx="47720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32"/>
              </a:lnSpc>
              <a:buNone/>
            </a:pPr>
            <a:r>
              <a:rPr lang="en-US" sz="1290" dirty="0">
                <a:solidFill>
                  <a:srgbClr val="70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Defines expectations for new models, version changes,</a:t>
            </a:r>
            <a:endParaRPr lang="en-US" sz="1290" dirty="0"/>
          </a:p>
          <a:p>
            <a:pPr algn="l" indent="0" marL="0">
              <a:lnSpc>
                <a:spcPts val="1732"/>
              </a:lnSpc>
              <a:buNone/>
            </a:pPr>
            <a:r>
              <a:rPr lang="en-US" sz="1290" dirty="0">
                <a:solidFill>
                  <a:srgbClr val="707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model use, inventory linkage and validation triggers.</a:t>
            </a:r>
            <a:endParaRPr lang="en-US" sz="1290" dirty="0"/>
          </a:p>
        </p:txBody>
      </p:sp>
      <p:sp>
        <p:nvSpPr>
          <p:cNvPr id="33" name="Text 19"/>
          <p:cNvSpPr/>
          <p:nvPr/>
        </p:nvSpPr>
        <p:spPr>
          <a:xfrm>
            <a:off x="9848850" y="4838700"/>
            <a:ext cx="3810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290" b="1" dirty="0">
                <a:solidFill>
                  <a:srgbClr val="515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 and change expectations</a:t>
            </a:r>
            <a:endParaRPr lang="en-US" sz="1290" dirty="0"/>
          </a:p>
        </p:txBody>
      </p:sp>
      <p:pic>
        <p:nvPicPr>
          <p:cNvPr id="34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696200" y="4857750"/>
            <a:ext cx="371475" cy="381000"/>
          </a:xfrm>
          <a:prstGeom prst="rect">
            <a:avLst/>
          </a:prstGeom>
        </p:spPr>
      </p:pic>
      <p:sp>
        <p:nvSpPr>
          <p:cNvPr id="35" name="Shape 20"/>
          <p:cNvSpPr/>
          <p:nvPr/>
        </p:nvSpPr>
        <p:spPr>
          <a:xfrm>
            <a:off x="266700" y="4648200"/>
            <a:ext cx="7239000" cy="962025"/>
          </a:xfrm>
          <a:prstGeom prst="roundRect">
            <a:avLst>
              <a:gd name="adj" fmla="val 3960"/>
            </a:avLst>
          </a:prstGeom>
          <a:solidFill>
            <a:srgbClr val="FDFDFD"/>
          </a:solidFill>
          <a:ln w="9525">
            <a:solidFill>
              <a:srgbClr val="E8E9E9"/>
            </a:solidFill>
            <a:prstDash val="solid"/>
          </a:ln>
        </p:spPr>
      </p:sp>
      <p:pic>
        <p:nvPicPr>
          <p:cNvPr id="36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23925" y="4667250"/>
            <a:ext cx="981075" cy="895350"/>
          </a:xfrm>
          <a:prstGeom prst="rect">
            <a:avLst/>
          </a:prstGeom>
        </p:spPr>
      </p:pic>
      <p:pic>
        <p:nvPicPr>
          <p:cNvPr id="37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19100" y="4848225"/>
            <a:ext cx="304800" cy="304800"/>
          </a:xfrm>
          <a:prstGeom prst="rect">
            <a:avLst/>
          </a:prstGeom>
        </p:spPr>
      </p:pic>
      <p:sp>
        <p:nvSpPr>
          <p:cNvPr id="38" name="Text 21"/>
          <p:cNvSpPr/>
          <p:nvPr/>
        </p:nvSpPr>
        <p:spPr>
          <a:xfrm>
            <a:off x="514350" y="4895850"/>
            <a:ext cx="123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1470" dirty="0">
                <a:solidFill>
                  <a:srgbClr val="BBCC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70" dirty="0"/>
          </a:p>
        </p:txBody>
      </p:sp>
      <p:sp>
        <p:nvSpPr>
          <p:cNvPr id="39" name="Text 22"/>
          <p:cNvSpPr/>
          <p:nvPr/>
        </p:nvSpPr>
        <p:spPr>
          <a:xfrm>
            <a:off x="2152650" y="4953000"/>
            <a:ext cx="47625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37"/>
              </a:lnSpc>
              <a:buNone/>
            </a:pPr>
            <a:r>
              <a:rPr lang="en-US" sz="1298" dirty="0">
                <a:solidFill>
                  <a:srgbClr val="727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Introduction of new foundation models, third-party model use,</a:t>
            </a:r>
            <a:endParaRPr lang="en-US" sz="1298" dirty="0"/>
          </a:p>
          <a:p>
            <a:pPr algn="l" indent="0" marL="0">
              <a:lnSpc>
                <a:spcPts val="1537"/>
              </a:lnSpc>
              <a:buNone/>
            </a:pPr>
            <a:r>
              <a:rPr lang="en-US" sz="1298" dirty="0">
                <a:solidFill>
                  <a:srgbClr val="727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changes and material Al changes need clearer</a:t>
            </a:r>
            <a:endParaRPr lang="en-US" sz="1298" dirty="0"/>
          </a:p>
          <a:p>
            <a:pPr algn="l" indent="0" marL="0">
              <a:lnSpc>
                <a:spcPts val="1537"/>
              </a:lnSpc>
              <a:buNone/>
            </a:pPr>
            <a:r>
              <a:rPr lang="en-US" sz="1298" dirty="0">
                <a:solidFill>
                  <a:srgbClr val="7273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assessment and change triggers.</a:t>
            </a:r>
            <a:endParaRPr lang="en-US" sz="1298" dirty="0"/>
          </a:p>
        </p:txBody>
      </p:sp>
      <p:sp>
        <p:nvSpPr>
          <p:cNvPr id="40" name="Text 23"/>
          <p:cNvSpPr/>
          <p:nvPr/>
        </p:nvSpPr>
        <p:spPr>
          <a:xfrm>
            <a:off x="2171700" y="4724400"/>
            <a:ext cx="45529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05" b="1" dirty="0">
                <a:solidFill>
                  <a:srgbClr val="4F53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 model lifecycle needs clearer treatment</a:t>
            </a:r>
            <a:endParaRPr lang="en-US" sz="1305" dirty="0"/>
          </a:p>
        </p:txBody>
      </p:sp>
      <p:sp>
        <p:nvSpPr>
          <p:cNvPr id="41" name="Shape 24"/>
          <p:cNvSpPr/>
          <p:nvPr/>
        </p:nvSpPr>
        <p:spPr>
          <a:xfrm>
            <a:off x="8239125" y="3648075"/>
            <a:ext cx="7400925" cy="962025"/>
          </a:xfrm>
          <a:prstGeom prst="roundRect">
            <a:avLst>
              <a:gd name="adj" fmla="val 6931"/>
            </a:avLst>
          </a:prstGeom>
          <a:solidFill>
            <a:srgbClr val="FDFEFE"/>
          </a:solidFill>
          <a:ln w="9525">
            <a:solidFill>
              <a:srgbClr val="E9E9EA"/>
            </a:solidFill>
            <a:prstDash val="solid"/>
          </a:ln>
        </p:spPr>
      </p:sp>
      <p:pic>
        <p:nvPicPr>
          <p:cNvPr id="42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477250" y="3676650"/>
            <a:ext cx="990600" cy="895350"/>
          </a:xfrm>
          <a:prstGeom prst="rect">
            <a:avLst/>
          </a:prstGeom>
        </p:spPr>
      </p:pic>
      <p:sp>
        <p:nvSpPr>
          <p:cNvPr id="43" name="Text 25"/>
          <p:cNvSpPr/>
          <p:nvPr/>
        </p:nvSpPr>
        <p:spPr>
          <a:xfrm>
            <a:off x="9839325" y="4057650"/>
            <a:ext cx="4610100" cy="4476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694"/>
              </a:lnSpc>
              <a:buNone/>
            </a:pPr>
            <a:r>
              <a:rPr lang="en-US" sz="1252" dirty="0">
                <a:solidFill>
                  <a:srgbClr val="6A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Clarifies triage, routing, documentation, review responsibilities</a:t>
            </a:r>
            <a:endParaRPr lang="en-US" sz="1252" dirty="0"/>
          </a:p>
          <a:p>
            <a:pPr algn="l" indent="0" marL="0">
              <a:lnSpc>
                <a:spcPts val="1694"/>
              </a:lnSpc>
              <a:buNone/>
            </a:pPr>
            <a:r>
              <a:rPr lang="en-US" sz="1252" dirty="0">
                <a:solidFill>
                  <a:srgbClr val="6A6C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and approval paths across 1LoD and 2LoD.</a:t>
            </a:r>
            <a:endParaRPr lang="en-US" sz="1252" dirty="0"/>
          </a:p>
        </p:txBody>
      </p:sp>
      <p:sp>
        <p:nvSpPr>
          <p:cNvPr id="44" name="Text 26"/>
          <p:cNvSpPr/>
          <p:nvPr/>
        </p:nvSpPr>
        <p:spPr>
          <a:xfrm>
            <a:off x="9829800" y="3810000"/>
            <a:ext cx="28098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96"/>
              </a:lnSpc>
              <a:buNone/>
            </a:pPr>
            <a:r>
              <a:rPr lang="en-US" sz="1406" b="1" dirty="0">
                <a:solidFill>
                  <a:srgbClr val="4B4F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Governance Operating Model</a:t>
            </a:r>
            <a:endParaRPr lang="en-US" sz="1406" dirty="0"/>
          </a:p>
        </p:txBody>
      </p:sp>
      <p:pic>
        <p:nvPicPr>
          <p:cNvPr id="45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696200" y="3867150"/>
            <a:ext cx="371475" cy="371475"/>
          </a:xfrm>
          <a:prstGeom prst="rect">
            <a:avLst/>
          </a:prstGeom>
        </p:spPr>
      </p:pic>
      <p:sp>
        <p:nvSpPr>
          <p:cNvPr id="46" name="Shape 27"/>
          <p:cNvSpPr/>
          <p:nvPr/>
        </p:nvSpPr>
        <p:spPr>
          <a:xfrm>
            <a:off x="266700" y="3648075"/>
            <a:ext cx="7248525" cy="962025"/>
          </a:xfrm>
          <a:prstGeom prst="roundRect">
            <a:avLst>
              <a:gd name="adj" fmla="val 5941"/>
            </a:avLst>
          </a:prstGeom>
          <a:solidFill>
            <a:srgbClr val="FDFEFE"/>
          </a:solidFill>
          <a:ln w="9525">
            <a:solidFill>
              <a:srgbClr val="E6E7E7"/>
            </a:solidFill>
            <a:prstDash val="solid"/>
          </a:ln>
        </p:spPr>
      </p:sp>
      <p:pic>
        <p:nvPicPr>
          <p:cNvPr id="47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23925" y="3657600"/>
            <a:ext cx="981075" cy="933450"/>
          </a:xfrm>
          <a:prstGeom prst="rect">
            <a:avLst/>
          </a:prstGeom>
        </p:spPr>
      </p:pic>
      <p:pic>
        <p:nvPicPr>
          <p:cNvPr id="48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419100" y="3848100"/>
            <a:ext cx="304800" cy="304800"/>
          </a:xfrm>
          <a:prstGeom prst="rect">
            <a:avLst/>
          </a:prstGeom>
        </p:spPr>
      </p:pic>
      <p:sp>
        <p:nvSpPr>
          <p:cNvPr id="49" name="Text 28"/>
          <p:cNvSpPr/>
          <p:nvPr/>
        </p:nvSpPr>
        <p:spPr>
          <a:xfrm>
            <a:off x="514350" y="3895725"/>
            <a:ext cx="123825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072"/>
              </a:lnSpc>
              <a:buNone/>
            </a:pPr>
            <a:r>
              <a:rPr lang="en-US" sz="1701" dirty="0">
                <a:solidFill>
                  <a:srgbClr val="BCCBC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1" dirty="0"/>
          </a:p>
        </p:txBody>
      </p:sp>
      <p:sp>
        <p:nvSpPr>
          <p:cNvPr id="50" name="Text 29"/>
          <p:cNvSpPr/>
          <p:nvPr/>
        </p:nvSpPr>
        <p:spPr>
          <a:xfrm>
            <a:off x="2162175" y="4095750"/>
            <a:ext cx="438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18"/>
              </a:lnSpc>
              <a:buNone/>
            </a:pPr>
            <a:r>
              <a:rPr lang="en-US" sz="1287" dirty="0">
                <a:solidFill>
                  <a:srgbClr val="67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cases need clearer expectations for documentation,</a:t>
            </a:r>
            <a:endParaRPr lang="en-US" sz="1287" dirty="0"/>
          </a:p>
          <a:p>
            <a:pPr algn="l" indent="0" marL="0">
              <a:lnSpc>
                <a:spcPts val="1518"/>
              </a:lnSpc>
              <a:buNone/>
            </a:pPr>
            <a:r>
              <a:rPr lang="en-US" sz="1287" dirty="0">
                <a:solidFill>
                  <a:srgbClr val="67687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assessment, independent review and approval criteria.</a:t>
            </a:r>
            <a:endParaRPr lang="en-US" sz="1287" dirty="0"/>
          </a:p>
        </p:txBody>
      </p:sp>
      <p:sp>
        <p:nvSpPr>
          <p:cNvPr id="51" name="Text 30"/>
          <p:cNvSpPr/>
          <p:nvPr/>
        </p:nvSpPr>
        <p:spPr>
          <a:xfrm>
            <a:off x="2152650" y="3829050"/>
            <a:ext cx="497205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394"/>
              </a:lnSpc>
              <a:buNone/>
            </a:pPr>
            <a:r>
              <a:rPr lang="en-US" sz="1373" b="1" dirty="0">
                <a:solidFill>
                  <a:srgbClr val="50545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assurance and model risk expectations need alignment</a:t>
            </a:r>
            <a:endParaRPr lang="en-US" sz="1373" dirty="0"/>
          </a:p>
        </p:txBody>
      </p:sp>
      <p:sp>
        <p:nvSpPr>
          <p:cNvPr id="52" name="Shape 31"/>
          <p:cNvSpPr/>
          <p:nvPr/>
        </p:nvSpPr>
        <p:spPr>
          <a:xfrm>
            <a:off x="8239125" y="2571750"/>
            <a:ext cx="7400925" cy="1028700"/>
          </a:xfrm>
          <a:prstGeom prst="roundRect">
            <a:avLst>
              <a:gd name="adj" fmla="val 3704"/>
            </a:avLst>
          </a:prstGeom>
          <a:solidFill>
            <a:srgbClr val="FDFEFE"/>
          </a:solidFill>
          <a:ln w="19050">
            <a:solidFill>
              <a:srgbClr val="E8E8E8"/>
            </a:solidFill>
            <a:prstDash val="solid"/>
          </a:ln>
        </p:spPr>
      </p:sp>
      <p:pic>
        <p:nvPicPr>
          <p:cNvPr id="53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477250" y="2657475"/>
            <a:ext cx="990600" cy="904875"/>
          </a:xfrm>
          <a:prstGeom prst="rect">
            <a:avLst/>
          </a:prstGeom>
        </p:spPr>
      </p:pic>
      <p:sp>
        <p:nvSpPr>
          <p:cNvPr id="54" name="Text 32"/>
          <p:cNvSpPr/>
          <p:nvPr/>
        </p:nvSpPr>
        <p:spPr>
          <a:xfrm>
            <a:off x="9839325" y="3028950"/>
            <a:ext cx="4610100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155" b="1" dirty="0">
                <a:solidFill>
                  <a:srgbClr val="707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Clarifies how Al-specific risk impacts map to existing Group</a:t>
            </a:r>
            <a:endParaRPr lang="en-US" sz="1155" dirty="0"/>
          </a:p>
          <a:p>
            <a:pPr algn="l" indent="0" marL="0">
              <a:lnSpc>
                <a:spcPts val="1740"/>
              </a:lnSpc>
              <a:buNone/>
            </a:pPr>
            <a:r>
              <a:rPr lang="en-US" sz="1155" b="1" dirty="0">
                <a:solidFill>
                  <a:srgbClr val="70717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policies, risk types and accountable owners.</a:t>
            </a:r>
            <a:endParaRPr lang="en-US" sz="1155" dirty="0"/>
          </a:p>
        </p:txBody>
      </p:sp>
      <p:sp>
        <p:nvSpPr>
          <p:cNvPr id="55" name="Text 33"/>
          <p:cNvSpPr/>
          <p:nvPr/>
        </p:nvSpPr>
        <p:spPr>
          <a:xfrm>
            <a:off x="9829800" y="2781300"/>
            <a:ext cx="3200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21"/>
              </a:lnSpc>
              <a:buNone/>
            </a:pPr>
            <a:r>
              <a:rPr lang="en-US" sz="1364" b="1" dirty="0">
                <a:solidFill>
                  <a:srgbClr val="51565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Risk Taxonomy and Policy Enabler</a:t>
            </a:r>
            <a:endParaRPr lang="en-US" sz="1364" dirty="0"/>
          </a:p>
        </p:txBody>
      </p:sp>
      <p:pic>
        <p:nvPicPr>
          <p:cNvPr id="56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7696200" y="2867025"/>
            <a:ext cx="371475" cy="381000"/>
          </a:xfrm>
          <a:prstGeom prst="rect">
            <a:avLst/>
          </a:prstGeom>
        </p:spPr>
      </p:pic>
      <p:sp>
        <p:nvSpPr>
          <p:cNvPr id="57" name="Shape 34"/>
          <p:cNvSpPr/>
          <p:nvPr/>
        </p:nvSpPr>
        <p:spPr>
          <a:xfrm>
            <a:off x="266700" y="2571750"/>
            <a:ext cx="7248525" cy="1028700"/>
          </a:xfrm>
          <a:prstGeom prst="roundRect">
            <a:avLst>
              <a:gd name="adj" fmla="val 3009"/>
            </a:avLst>
          </a:prstGeom>
          <a:solidFill>
            <a:srgbClr val="FDFEFD"/>
          </a:solidFill>
          <a:ln w="19050">
            <a:solidFill>
              <a:srgbClr val="E9E9EA"/>
            </a:solidFill>
            <a:prstDash val="solid"/>
          </a:ln>
        </p:spPr>
      </p:sp>
      <p:pic>
        <p:nvPicPr>
          <p:cNvPr id="58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23925" y="2638425"/>
            <a:ext cx="981075" cy="904875"/>
          </a:xfrm>
          <a:prstGeom prst="rect">
            <a:avLst/>
          </a:prstGeom>
        </p:spPr>
      </p:pic>
      <p:sp>
        <p:nvSpPr>
          <p:cNvPr id="59" name="Shape 35"/>
          <p:cNvSpPr/>
          <p:nvPr/>
        </p:nvSpPr>
        <p:spPr>
          <a:xfrm>
            <a:off x="419100" y="2838450"/>
            <a:ext cx="304800" cy="295275"/>
          </a:xfrm>
          <a:prstGeom prst="roundRect">
            <a:avLst>
              <a:gd name="adj" fmla="val 50000"/>
            </a:avLst>
          </a:prstGeom>
          <a:solidFill>
            <a:srgbClr val="013725"/>
          </a:solidFill>
          <a:ln w="9525">
            <a:solidFill>
              <a:srgbClr val="243E33"/>
            </a:solidFill>
            <a:prstDash val="solid"/>
          </a:ln>
        </p:spPr>
      </p:sp>
      <p:pic>
        <p:nvPicPr>
          <p:cNvPr id="60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523875" y="2876550"/>
            <a:ext cx="95250" cy="190500"/>
          </a:xfrm>
          <a:prstGeom prst="rect">
            <a:avLst/>
          </a:prstGeom>
        </p:spPr>
      </p:pic>
      <p:sp>
        <p:nvSpPr>
          <p:cNvPr id="61" name="Text 36"/>
          <p:cNvSpPr/>
          <p:nvPr/>
        </p:nvSpPr>
        <p:spPr>
          <a:xfrm>
            <a:off x="2152650" y="2914650"/>
            <a:ext cx="4505325" cy="657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472"/>
              </a:lnSpc>
              <a:buNone/>
            </a:pPr>
            <a:r>
              <a:rPr lang="en-US" sz="1197" b="1" dirty="0">
                <a:solidFill>
                  <a:srgbClr val="7375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Al-related risks cut across existing Group risk types and</a:t>
            </a:r>
            <a:endParaRPr lang="en-US" sz="1197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1197" b="1" dirty="0">
                <a:solidFill>
                  <a:srgbClr val="7375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areas, including model risk, data, privacy, technology,</a:t>
            </a:r>
            <a:endParaRPr lang="en-US" sz="1197" dirty="0"/>
          </a:p>
          <a:p>
            <a:pPr algn="l" indent="0" marL="0">
              <a:lnSpc>
                <a:spcPts val="1472"/>
              </a:lnSpc>
              <a:buNone/>
            </a:pPr>
            <a:r>
              <a:rPr lang="en-US" sz="1197" b="1" dirty="0">
                <a:solidFill>
                  <a:srgbClr val="73757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security, customer and people risks</a:t>
            </a:r>
            <a:endParaRPr lang="en-US" sz="1197" dirty="0"/>
          </a:p>
        </p:txBody>
      </p:sp>
      <p:sp>
        <p:nvSpPr>
          <p:cNvPr id="62" name="Text 37"/>
          <p:cNvSpPr/>
          <p:nvPr/>
        </p:nvSpPr>
        <p:spPr>
          <a:xfrm>
            <a:off x="2152650" y="2686050"/>
            <a:ext cx="31337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335" b="1" dirty="0">
                <a:solidFill>
                  <a:srgbClr val="4F53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risk mapping needs to be clearer</a:t>
            </a:r>
            <a:endParaRPr lang="en-US" sz="1335" dirty="0"/>
          </a:p>
        </p:txBody>
      </p:sp>
      <p:pic>
        <p:nvPicPr>
          <p:cNvPr id="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8239125" y="2019300"/>
            <a:ext cx="7400925" cy="504825"/>
          </a:xfrm>
          <a:prstGeom prst="rect">
            <a:avLst/>
          </a:prstGeom>
        </p:spPr>
      </p:pic>
      <p:pic>
        <p:nvPicPr>
          <p:cNvPr id="64" name="Image 24" descr="preencoded.png">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8924925" y="2038350"/>
            <a:ext cx="495300" cy="476250"/>
          </a:xfrm>
          <a:prstGeom prst="rect">
            <a:avLst/>
          </a:prstGeom>
        </p:spPr>
      </p:pic>
      <p:sp>
        <p:nvSpPr>
          <p:cNvPr id="65" name="Text 38"/>
          <p:cNvSpPr/>
          <p:nvPr/>
        </p:nvSpPr>
        <p:spPr>
          <a:xfrm>
            <a:off x="9963150" y="2124075"/>
            <a:ext cx="349567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87"/>
              </a:lnSpc>
              <a:buNone/>
            </a:pPr>
            <a:r>
              <a:rPr lang="en-US" sz="1779" b="1" dirty="0">
                <a:solidFill>
                  <a:srgbClr val="C3D2C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current work responds</a:t>
            </a:r>
            <a:endParaRPr lang="en-US" sz="1779" dirty="0"/>
          </a:p>
        </p:txBody>
      </p:sp>
      <p:pic>
        <p:nvPicPr>
          <p:cNvPr id="66" name="Image 25" descr="preencoded.png">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266700" y="2028825"/>
            <a:ext cx="7248525" cy="485775"/>
          </a:xfrm>
          <a:prstGeom prst="rect">
            <a:avLst/>
          </a:prstGeom>
        </p:spPr>
      </p:pic>
      <p:pic>
        <p:nvPicPr>
          <p:cNvPr id="67" name="Image 26" descr="preencoded.png">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62025" y="2038350"/>
            <a:ext cx="485775" cy="476250"/>
          </a:xfrm>
          <a:prstGeom prst="rect">
            <a:avLst/>
          </a:prstGeom>
        </p:spPr>
      </p:pic>
      <p:sp>
        <p:nvSpPr>
          <p:cNvPr id="68" name="Text 39"/>
          <p:cNvSpPr/>
          <p:nvPr/>
        </p:nvSpPr>
        <p:spPr>
          <a:xfrm>
            <a:off x="2171700" y="2124075"/>
            <a:ext cx="3752850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58"/>
              </a:lnSpc>
              <a:buNone/>
            </a:pPr>
            <a:r>
              <a:rPr lang="en-US" sz="1765" b="1" dirty="0">
                <a:solidFill>
                  <a:srgbClr val="BECEC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Group Audit has highlighted</a:t>
            </a:r>
            <a:endParaRPr lang="en-US" sz="1765" dirty="0"/>
          </a:p>
        </p:txBody>
      </p:sp>
      <p:pic>
        <p:nvPicPr>
          <p:cNvPr id="69" name="Image 27" descr="preencoded.png">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19075" y="819150"/>
            <a:ext cx="15468600" cy="1047750"/>
          </a:xfrm>
          <a:prstGeom prst="rect">
            <a:avLst/>
          </a:prstGeom>
        </p:spPr>
      </p:pic>
      <p:pic>
        <p:nvPicPr>
          <p:cNvPr id="70" name="Image 28" descr="preencoded.png">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2743200" y="981075"/>
            <a:ext cx="19050" cy="733425"/>
          </a:xfrm>
          <a:prstGeom prst="rect">
            <a:avLst/>
          </a:prstGeom>
        </p:spPr>
      </p:pic>
      <p:pic>
        <p:nvPicPr>
          <p:cNvPr id="71" name="Image 29" descr="preencoded.png">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1362075" y="962025"/>
            <a:ext cx="981075" cy="809625"/>
          </a:xfrm>
          <a:prstGeom prst="rect">
            <a:avLst/>
          </a:prstGeom>
        </p:spPr>
      </p:pic>
      <p:sp>
        <p:nvSpPr>
          <p:cNvPr id="72" name="Text 40"/>
          <p:cNvSpPr/>
          <p:nvPr/>
        </p:nvSpPr>
        <p:spPr>
          <a:xfrm>
            <a:off x="3124200" y="1019175"/>
            <a:ext cx="103251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2409"/>
              </a:lnSpc>
              <a:buNone/>
            </a:pPr>
            <a:r>
              <a:rPr lang="en-US" sz="1947" b="1" dirty="0">
                <a:solidFill>
                  <a:srgbClr val="32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assurance activity reinforces the need for clearer alignment between</a:t>
            </a:r>
            <a:endParaRPr lang="en-US" sz="1947" dirty="0"/>
          </a:p>
          <a:p>
            <a:pPr algn="l" indent="0" marL="0">
              <a:lnSpc>
                <a:spcPts val="2409"/>
              </a:lnSpc>
              <a:buNone/>
            </a:pPr>
            <a:r>
              <a:rPr lang="en-US" sz="1947" b="1" dirty="0">
                <a:solidFill>
                  <a:srgbClr val="3255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assurance, model risk expectations, ownership, evidence and validation capability</a:t>
            </a:r>
            <a:endParaRPr lang="en-US" sz="1947" dirty="0"/>
          </a:p>
        </p:txBody>
      </p:sp>
      <p:sp>
        <p:nvSpPr>
          <p:cNvPr id="73" name="Text 41"/>
          <p:cNvSpPr/>
          <p:nvPr/>
        </p:nvSpPr>
        <p:spPr>
          <a:xfrm>
            <a:off x="304800" y="114300"/>
            <a:ext cx="14849475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4124"/>
              </a:lnSpc>
              <a:buNone/>
            </a:pPr>
            <a:r>
              <a:rPr lang="en-US" sz="3787" b="1" dirty="0">
                <a:solidFill>
                  <a:srgbClr val="1D403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Have Heard from Group Audit and Assurance Activity</a:t>
            </a:r>
            <a:endParaRPr lang="en-US" sz="378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2026-07-12T08:09:04Z</dcterms:created>
  <dcterms:modified xsi:type="dcterms:W3CDTF">2026-07-12T08:09:04Z</dcterms:modified>
</cp:coreProperties>
</file>