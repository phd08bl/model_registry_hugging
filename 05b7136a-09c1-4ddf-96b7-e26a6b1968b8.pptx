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9753600"/>
  <p:notesSz cx="9753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jpeg"/><Relationship Id="rId14" Type="http://schemas.openxmlformats.org/officeDocument/2006/relationships/image" Target="../media/image-1-14.png"/><Relationship Id="rId15" Type="http://schemas.openxmlformats.org/officeDocument/2006/relationships/image" Target="../media/image-1-15.jpeg"/><Relationship Id="rId16" Type="http://schemas.openxmlformats.org/officeDocument/2006/relationships/image" Target="../media/image-1-16.png"/><Relationship Id="rId17" Type="http://schemas.openxmlformats.org/officeDocument/2006/relationships/image" Target="../media/image-1-17.jpeg"/><Relationship Id="rId18" Type="http://schemas.openxmlformats.org/officeDocument/2006/relationships/image" Target="../media/image-1-18.png"/><Relationship Id="rId19" Type="http://schemas.openxmlformats.org/officeDocument/2006/relationships/image" Target="../media/image-1-19.jpe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jpeg"/><Relationship Id="rId40" Type="http://schemas.openxmlformats.org/officeDocument/2006/relationships/image" Target="../media/image-1-40.jpe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jpe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jpe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png"/><Relationship Id="rId64" Type="http://schemas.openxmlformats.org/officeDocument/2006/relationships/image" Target="../media/image-1-64.png"/><Relationship Id="rId65" Type="http://schemas.openxmlformats.org/officeDocument/2006/relationships/image" Target="../media/image-1-65.png"/><Relationship Id="rId66" Type="http://schemas.openxmlformats.org/officeDocument/2006/relationships/image" Target="../media/image-1-66.png"/><Relationship Id="rId67" Type="http://schemas.openxmlformats.org/officeDocument/2006/relationships/image" Target="../media/image-1-67.png"/><Relationship Id="rId68" Type="http://schemas.openxmlformats.org/officeDocument/2006/relationships/image" Target="../media/image-1-68.png"/><Relationship Id="rId69" Type="http://schemas.openxmlformats.org/officeDocument/2006/relationships/image" Target="../media/image-1-69.png"/><Relationship Id="rId70" Type="http://schemas.openxmlformats.org/officeDocument/2006/relationships/image" Target="../media/image-1-70.png"/><Relationship Id="rId71" Type="http://schemas.openxmlformats.org/officeDocument/2006/relationships/image" Target="../media/image-1-71.png"/><Relationship Id="rId72" Type="http://schemas.openxmlformats.org/officeDocument/2006/relationships/image" Target="../media/image-1-72.png"/><Relationship Id="rId73" Type="http://schemas.openxmlformats.org/officeDocument/2006/relationships/image" Target="../media/image-1-73.png"/><Relationship Id="rId74" Type="http://schemas.openxmlformats.org/officeDocument/2006/relationships/image" Target="../media/image-1-74.png"/><Relationship Id="rId75" Type="http://schemas.openxmlformats.org/officeDocument/2006/relationships/image" Target="../media/image-1-75.png"/><Relationship Id="rId76" Type="http://schemas.openxmlformats.org/officeDocument/2006/relationships/image" Target="../media/image-1-76.png"/><Relationship Id="rId77" Type="http://schemas.openxmlformats.org/officeDocument/2006/relationships/image" Target="../media/image-1-77.png"/><Relationship Id="rId78" Type="http://schemas.openxmlformats.org/officeDocument/2006/relationships/image" Target="../media/image-1-78.png"/><Relationship Id="rId79" Type="http://schemas.openxmlformats.org/officeDocument/2006/relationships/image" Target="../media/image-1-79.png"/><Relationship Id="rId80" Type="http://schemas.openxmlformats.org/officeDocument/2006/relationships/image" Target="../media/image-1-80.png"/><Relationship Id="rId81" Type="http://schemas.openxmlformats.org/officeDocument/2006/relationships/image" Target="../media/image-1-81.png"/><Relationship Id="rId82" Type="http://schemas.openxmlformats.org/officeDocument/2006/relationships/image" Target="../media/image-1-82.png"/><Relationship Id="rId83" Type="http://schemas.openxmlformats.org/officeDocument/2006/relationships/image" Target="../media/image-1-83.png"/><Relationship Id="rId84" Type="http://schemas.openxmlformats.org/officeDocument/2006/relationships/image" Target="../media/image-1-84.png"/><Relationship Id="rId85" Type="http://schemas.openxmlformats.org/officeDocument/2006/relationships/image" Target="../media/image-1-85.png"/><Relationship Id="rId86" Type="http://schemas.openxmlformats.org/officeDocument/2006/relationships/image" Target="../media/image-1-86.png"/><Relationship Id="rId87" Type="http://schemas.openxmlformats.org/officeDocument/2006/relationships/image" Target="../media/image-1-87.png"/><Relationship Id="rId88" Type="http://schemas.openxmlformats.org/officeDocument/2006/relationships/image" Target="../media/image-1-88.png"/><Relationship Id="rId89" Type="http://schemas.openxmlformats.org/officeDocument/2006/relationships/image" Target="../media/image-1-89.png"/><Relationship Id="rId90" Type="http://schemas.openxmlformats.org/officeDocument/2006/relationships/image" Target="../media/image-1-90.png"/><Relationship Id="rId91" Type="http://schemas.openxmlformats.org/officeDocument/2006/relationships/image" Target="../media/image-1-91.png"/><Relationship Id="rId92" Type="http://schemas.openxmlformats.org/officeDocument/2006/relationships/image" Target="../media/image-1-92.png"/><Relationship Id="rId93" Type="http://schemas.openxmlformats.org/officeDocument/2006/relationships/image" Target="../media/image-1-93.jpeg"/><Relationship Id="rId94" Type="http://schemas.openxmlformats.org/officeDocument/2006/relationships/image" Target="../media/image-1-94.png"/><Relationship Id="rId95" Type="http://schemas.openxmlformats.org/officeDocument/2006/relationships/image" Target="../media/image-1-95.png"/><Relationship Id="rId96" Type="http://schemas.openxmlformats.org/officeDocument/2006/relationships/image" Target="../media/image-1-96.png"/><Relationship Id="rId97" Type="http://schemas.openxmlformats.org/officeDocument/2006/relationships/image" Target="../media/image-1-97.png"/><Relationship Id="rId98" Type="http://schemas.openxmlformats.org/officeDocument/2006/relationships/image" Target="../media/image-1-98.png"/><Relationship Id="rId99" Type="http://schemas.openxmlformats.org/officeDocument/2006/relationships/image" Target="../media/image-1-99.png"/><Relationship Id="rId100" Type="http://schemas.openxmlformats.org/officeDocument/2006/relationships/image" Target="../media/image-1-100.png"/><Relationship Id="rId101" Type="http://schemas.openxmlformats.org/officeDocument/2006/relationships/image" Target="../media/image-1-101.png"/><Relationship Id="rId102" Type="http://schemas.openxmlformats.org/officeDocument/2006/relationships/image" Target="../media/image-1-102.png"/><Relationship Id="rId103" Type="http://schemas.openxmlformats.org/officeDocument/2006/relationships/image" Target="../media/image-1-103.png"/><Relationship Id="rId104" Type="http://schemas.openxmlformats.org/officeDocument/2006/relationships/image" Target="../media/image-1-104.png"/><Relationship Id="rId105" Type="http://schemas.openxmlformats.org/officeDocument/2006/relationships/image" Target="../media/image-1-105.png"/><Relationship Id="rId106" Type="http://schemas.openxmlformats.org/officeDocument/2006/relationships/image" Target="../media/image-1-106.png"/><Relationship Id="rId107" Type="http://schemas.openxmlformats.org/officeDocument/2006/relationships/image" Target="../media/image-1-107.png"/><Relationship Id="rId108" Type="http://schemas.openxmlformats.org/officeDocument/2006/relationships/image" Target="../media/image-1-108.png"/><Relationship Id="rId109" Type="http://schemas.openxmlformats.org/officeDocument/2006/relationships/image" Target="../media/image-1-109.png"/><Relationship Id="rId110" Type="http://schemas.openxmlformats.org/officeDocument/2006/relationships/image" Target="../media/image-1-110.png"/><Relationship Id="rId111" Type="http://schemas.openxmlformats.org/officeDocument/2006/relationships/image" Target="../media/image-1-111.png"/><Relationship Id="rId112" Type="http://schemas.openxmlformats.org/officeDocument/2006/relationships/image" Target="../media/image-1-112.png"/><Relationship Id="rId113" Type="http://schemas.openxmlformats.org/officeDocument/2006/relationships/image" Target="../media/image-1-113.png"/><Relationship Id="rId114" Type="http://schemas.openxmlformats.org/officeDocument/2006/relationships/image" Target="../media/image-1-114.png"/><Relationship Id="rId115" Type="http://schemas.openxmlformats.org/officeDocument/2006/relationships/image" Target="../media/image-1-115.png"/><Relationship Id="rId116" Type="http://schemas.openxmlformats.org/officeDocument/2006/relationships/image" Target="../media/image-1-116.png"/><Relationship Id="rId117" Type="http://schemas.openxmlformats.org/officeDocument/2006/relationships/image" Target="../media/image-1-117.png"/><Relationship Id="rId118" Type="http://schemas.openxmlformats.org/officeDocument/2006/relationships/image" Target="../media/image-1-118.png"/><Relationship Id="rId119" Type="http://schemas.openxmlformats.org/officeDocument/2006/relationships/slideLayout" Target="../slideLayouts/slideLayout1.xml"/><Relationship Id="rId1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9753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95535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2425" y="8181975"/>
            <a:ext cx="13849350" cy="1123950"/>
          </a:xfrm>
          <a:prstGeom prst="roundRect">
            <a:avLst>
              <a:gd name="adj" fmla="val 11864"/>
            </a:avLst>
          </a:prstGeom>
          <a:solidFill>
            <a:srgbClr val="F8F9F8"/>
          </a:solidFill>
          <a:ln w="9525">
            <a:solidFill>
              <a:srgbClr val="EEF2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06000" y="8229600"/>
            <a:ext cx="4171950" cy="1038225"/>
          </a:xfrm>
          <a:prstGeom prst="roundRect">
            <a:avLst>
              <a:gd name="adj" fmla="val 5505"/>
            </a:avLst>
          </a:prstGeom>
          <a:solidFill>
            <a:srgbClr val="013D1F"/>
          </a:solidFill>
          <a:ln w="9525">
            <a:solidFill>
              <a:srgbClr val="2853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896600" y="8591550"/>
            <a:ext cx="25812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6"/>
              </a:lnSpc>
              <a:buNone/>
            </a:pPr>
            <a:r>
              <a:rPr lang="en-US" sz="900" dirty="0">
                <a:solidFill>
                  <a:srgbClr val="9BB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differentiated capability that</a:t>
            </a:r>
            <a:endParaRPr lang="en-US" sz="900" dirty="0"/>
          </a:p>
          <a:p>
            <a:pPr algn="l" indent="0" marL="0">
              <a:lnSpc>
                <a:spcPts val="1426"/>
              </a:lnSpc>
              <a:buNone/>
            </a:pPr>
            <a:r>
              <a:rPr lang="en-US" sz="900" dirty="0">
                <a:solidFill>
                  <a:srgbClr val="9BB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strengthens our risk culture, earns trust,</a:t>
            </a:r>
            <a:endParaRPr lang="en-US" sz="900" dirty="0"/>
          </a:p>
          <a:p>
            <a:pPr algn="l" indent="0" marL="0">
              <a:lnSpc>
                <a:spcPts val="1426"/>
              </a:lnSpc>
              <a:buNone/>
            </a:pPr>
            <a:r>
              <a:rPr lang="en-US" sz="900" dirty="0">
                <a:solidFill>
                  <a:srgbClr val="9BB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creates sustainable value for the bank.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06125" y="8343900"/>
            <a:ext cx="14287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270" b="1" dirty="0">
                <a:solidFill>
                  <a:srgbClr val="BACC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Term Impact</a:t>
            </a:r>
            <a:endParaRPr lang="en-US" sz="127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450" y="8467725"/>
            <a:ext cx="600075" cy="52387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725" y="8496300"/>
            <a:ext cx="514350" cy="1619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91525" y="8886825"/>
            <a:ext cx="285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60"/>
              </a:lnSpc>
              <a:buNone/>
            </a:pPr>
            <a:r>
              <a:rPr lang="en-US" sz="982" dirty="0">
                <a:solidFill>
                  <a:srgbClr val="61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98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650" y="8258175"/>
            <a:ext cx="571500" cy="581025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8496300"/>
            <a:ext cx="514350" cy="16192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334125" y="8867775"/>
            <a:ext cx="6572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945" dirty="0">
                <a:solidFill>
                  <a:srgbClr val="6566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945" dirty="0"/>
          </a:p>
          <a:p>
            <a:pPr algn="ctr" indent="0" marL="0">
              <a:lnSpc>
                <a:spcPts val="1406"/>
              </a:lnSpc>
              <a:buNone/>
            </a:pPr>
            <a:r>
              <a:rPr lang="en-US" sz="945" dirty="0">
                <a:solidFill>
                  <a:srgbClr val="6566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945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0" y="8258175"/>
            <a:ext cx="581025" cy="581025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7825" y="8496300"/>
            <a:ext cx="514350" cy="16192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467225" y="8877300"/>
            <a:ext cx="6572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78"/>
              </a:lnSpc>
              <a:buNone/>
            </a:pPr>
            <a:r>
              <a:rPr lang="en-US" sz="1012" dirty="0">
                <a:solidFill>
                  <a:srgbClr val="6163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1012" dirty="0"/>
          </a:p>
          <a:p>
            <a:pPr algn="ctr" indent="0" marL="0">
              <a:lnSpc>
                <a:spcPts val="1378"/>
              </a:lnSpc>
              <a:buNone/>
            </a:pPr>
            <a:r>
              <a:rPr lang="en-US" sz="1012" dirty="0">
                <a:solidFill>
                  <a:srgbClr val="6163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012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6275" y="8258175"/>
            <a:ext cx="590550" cy="581025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1400" y="8496300"/>
            <a:ext cx="514350" cy="161925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2381250" y="90487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9"/>
              </a:lnSpc>
              <a:buNone/>
            </a:pPr>
            <a:r>
              <a:rPr lang="en-US" sz="963" dirty="0">
                <a:solidFill>
                  <a:srgbClr val="5F6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Data</a:t>
            </a:r>
            <a:endParaRPr lang="en-US" sz="963" dirty="0"/>
          </a:p>
        </p:txBody>
      </p:sp>
      <p:sp>
        <p:nvSpPr>
          <p:cNvPr id="20" name="Text 9"/>
          <p:cNvSpPr/>
          <p:nvPr/>
        </p:nvSpPr>
        <p:spPr>
          <a:xfrm>
            <a:off x="2657475" y="8896350"/>
            <a:ext cx="409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915" dirty="0">
                <a:solidFill>
                  <a:srgbClr val="6566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</a:t>
            </a:r>
            <a:endParaRPr lang="en-US" sz="915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2225" y="8248650"/>
            <a:ext cx="590550" cy="59055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676275" y="8582025"/>
            <a:ext cx="12858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1090" dirty="0">
                <a:solidFill>
                  <a:srgbClr val="61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transactions</a:t>
            </a:r>
            <a:endParaRPr lang="en-US" sz="109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1090" dirty="0">
                <a:solidFill>
                  <a:srgbClr val="61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intelligence</a:t>
            </a:r>
            <a:endParaRPr lang="en-US" sz="109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1090" dirty="0">
                <a:solidFill>
                  <a:srgbClr val="61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enduring memory</a:t>
            </a:r>
            <a:endParaRPr lang="en-US" sz="1090" dirty="0"/>
          </a:p>
        </p:txBody>
      </p:sp>
      <p:sp>
        <p:nvSpPr>
          <p:cNvPr id="23" name="Text 11"/>
          <p:cNvSpPr/>
          <p:nvPr/>
        </p:nvSpPr>
        <p:spPr>
          <a:xfrm>
            <a:off x="676275" y="832485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1"/>
              </a:lnSpc>
              <a:buNone/>
            </a:pPr>
            <a:r>
              <a:rPr lang="en-US" sz="1332" b="1" dirty="0">
                <a:solidFill>
                  <a:srgbClr val="486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Evolution</a:t>
            </a:r>
            <a:endParaRPr lang="en-US" sz="1332" dirty="0"/>
          </a:p>
        </p:txBody>
      </p:sp>
      <p:sp>
        <p:nvSpPr>
          <p:cNvPr id="24" name="Text 12"/>
          <p:cNvSpPr/>
          <p:nvPr/>
        </p:nvSpPr>
        <p:spPr>
          <a:xfrm>
            <a:off x="7858125" y="9058275"/>
            <a:ext cx="1333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45" dirty="0">
                <a:solidFill>
                  <a:srgbClr val="62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Organisational Memory</a:t>
            </a:r>
            <a:endParaRPr lang="en-US" sz="945" dirty="0"/>
          </a:p>
        </p:txBody>
      </p:sp>
      <p:sp>
        <p:nvSpPr>
          <p:cNvPr id="25" name="Shape 13"/>
          <p:cNvSpPr/>
          <p:nvPr/>
        </p:nvSpPr>
        <p:spPr>
          <a:xfrm>
            <a:off x="6829425" y="6600825"/>
            <a:ext cx="3476625" cy="1524000"/>
          </a:xfrm>
          <a:prstGeom prst="rect">
            <a:avLst/>
          </a:prstGeom>
          <a:solidFill>
            <a:srgbClr val="F4FBF6"/>
          </a:solidFill>
          <a:ln w="38100">
            <a:solidFill>
              <a:srgbClr val="FDFDFD"/>
            </a:solidFill>
            <a:prstDash val="solid"/>
          </a:ln>
        </p:spPr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1825" y="7000875"/>
            <a:ext cx="790575" cy="790575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7924800" y="7610475"/>
            <a:ext cx="21526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1050" dirty="0">
                <a:solidFill>
                  <a:srgbClr val="60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What have we learned</a:t>
            </a:r>
            <a:endParaRPr lang="en-US" sz="1050" dirty="0"/>
          </a:p>
          <a:p>
            <a:pPr algn="l" indent="0" marL="0">
              <a:lnSpc>
                <a:spcPts val="1322"/>
              </a:lnSpc>
              <a:buNone/>
            </a:pPr>
            <a:r>
              <a:rPr lang="en-US" sz="1050" dirty="0">
                <a:solidFill>
                  <a:srgbClr val="60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similar systems in the past?</a:t>
            </a:r>
            <a:endParaRPr lang="en-US" sz="1050" dirty="0"/>
          </a:p>
        </p:txBody>
      </p:sp>
      <p:sp>
        <p:nvSpPr>
          <p:cNvPr id="28" name="Text 15"/>
          <p:cNvSpPr/>
          <p:nvPr/>
        </p:nvSpPr>
        <p:spPr>
          <a:xfrm>
            <a:off x="7924800" y="7077075"/>
            <a:ext cx="2209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7"/>
              </a:lnSpc>
              <a:buNone/>
            </a:pPr>
            <a:r>
              <a:rPr lang="en-US" sz="1332" b="1" dirty="0">
                <a:solidFill>
                  <a:srgbClr val="414D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has our organisation</a:t>
            </a:r>
            <a:endParaRPr lang="en-US" sz="1332" dirty="0"/>
          </a:p>
          <a:p>
            <a:pPr algn="l" indent="0" marL="0">
              <a:lnSpc>
                <a:spcPts val="1707"/>
              </a:lnSpc>
              <a:buNone/>
            </a:pPr>
            <a:r>
              <a:rPr lang="en-US" sz="1332" b="1" dirty="0">
                <a:solidFill>
                  <a:srgbClr val="414D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learned?</a:t>
            </a:r>
            <a:endParaRPr lang="en-US" sz="1332" dirty="0"/>
          </a:p>
        </p:txBody>
      </p:sp>
      <p:sp>
        <p:nvSpPr>
          <p:cNvPr id="29" name="Text 16"/>
          <p:cNvSpPr/>
          <p:nvPr/>
        </p:nvSpPr>
        <p:spPr>
          <a:xfrm>
            <a:off x="7924800" y="6762750"/>
            <a:ext cx="1533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8"/>
              </a:lnSpc>
              <a:buNone/>
            </a:pPr>
            <a:r>
              <a:rPr lang="en-US" sz="1091" b="1" dirty="0">
                <a:solidFill>
                  <a:srgbClr val="4F9E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the question:</a:t>
            </a:r>
            <a:endParaRPr lang="en-US" sz="1091" dirty="0"/>
          </a:p>
        </p:txBody>
      </p:sp>
      <p:sp>
        <p:nvSpPr>
          <p:cNvPr id="30" name="Shape 17"/>
          <p:cNvSpPr/>
          <p:nvPr/>
        </p:nvSpPr>
        <p:spPr>
          <a:xfrm>
            <a:off x="10496550" y="1419225"/>
            <a:ext cx="3667125" cy="6724650"/>
          </a:xfrm>
          <a:prstGeom prst="roundRect">
            <a:avLst>
              <a:gd name="adj" fmla="val 3636"/>
            </a:avLst>
          </a:prstGeom>
          <a:solidFill>
            <a:srgbClr val="FDFDFD"/>
          </a:solidFill>
          <a:ln w="28575">
            <a:solidFill>
              <a:srgbClr val="F4F6F5"/>
            </a:solidFill>
            <a:prstDash val="solid"/>
          </a:ln>
        </p:spPr>
      </p:sp>
      <p:sp>
        <p:nvSpPr>
          <p:cNvPr id="31" name="Text 18"/>
          <p:cNvSpPr/>
          <p:nvPr/>
        </p:nvSpPr>
        <p:spPr>
          <a:xfrm>
            <a:off x="11525250" y="7324725"/>
            <a:ext cx="20955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125" dirty="0">
                <a:solidFill>
                  <a:srgbClr val="6364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Continuously learns and adapts</a:t>
            </a:r>
            <a:endParaRPr lang="en-US" sz="1125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125" dirty="0">
                <a:solidFill>
                  <a:srgbClr val="6364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AI technology, risks and</a:t>
            </a:r>
            <a:endParaRPr lang="en-US" sz="1125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125" dirty="0">
                <a:solidFill>
                  <a:srgbClr val="6364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regulations evolve.</a:t>
            </a:r>
            <a:endParaRPr lang="en-US" sz="1125" dirty="0"/>
          </a:p>
        </p:txBody>
      </p:sp>
      <p:sp>
        <p:nvSpPr>
          <p:cNvPr id="32" name="Text 19"/>
          <p:cNvSpPr/>
          <p:nvPr/>
        </p:nvSpPr>
        <p:spPr>
          <a:xfrm>
            <a:off x="11525250" y="706755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6"/>
              </a:lnSpc>
              <a:buNone/>
            </a:pPr>
            <a:r>
              <a:rPr lang="en-US" sz="1275" b="1" dirty="0">
                <a:solidFill>
                  <a:srgbClr val="4AA1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Future-Proofs Our Capability</a:t>
            </a:r>
            <a:endParaRPr lang="en-US" sz="1275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39425" y="7000875"/>
            <a:ext cx="704850" cy="733425"/>
          </a:xfrm>
          <a:prstGeom prst="rect">
            <a:avLst/>
          </a:prstGeom>
        </p:spPr>
      </p:pic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10850" y="6848475"/>
            <a:ext cx="3448050" cy="5715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11525250" y="6143625"/>
            <a:ext cx="225742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83"/>
              </a:lnSpc>
              <a:buNone/>
            </a:pPr>
            <a:r>
              <a:rPr lang="en-US" sz="1125" dirty="0">
                <a:solidFill>
                  <a:srgbClr val="6262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Codify expert knowledge so every</a:t>
            </a:r>
            <a:endParaRPr lang="en-US" sz="1125" dirty="0"/>
          </a:p>
          <a:p>
            <a:pPr algn="l" indent="0" marL="0">
              <a:lnSpc>
                <a:spcPts val="1583"/>
              </a:lnSpc>
              <a:buNone/>
            </a:pPr>
            <a:r>
              <a:rPr lang="en-US" sz="1125" dirty="0">
                <a:solidFill>
                  <a:srgbClr val="6262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and business unit can</a:t>
            </a:r>
            <a:endParaRPr lang="en-US" sz="1125" dirty="0"/>
          </a:p>
          <a:p>
            <a:pPr algn="l" indent="0" marL="0">
              <a:lnSpc>
                <a:spcPts val="1583"/>
              </a:lnSpc>
              <a:buNone/>
            </a:pPr>
            <a:r>
              <a:rPr lang="en-US" sz="1125" dirty="0">
                <a:solidFill>
                  <a:srgbClr val="6262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 from collective experience.</a:t>
            </a:r>
            <a:endParaRPr lang="en-US" sz="1125" dirty="0"/>
          </a:p>
        </p:txBody>
      </p:sp>
      <p:sp>
        <p:nvSpPr>
          <p:cNvPr id="36" name="Text 21"/>
          <p:cNvSpPr/>
          <p:nvPr/>
        </p:nvSpPr>
        <p:spPr>
          <a:xfrm>
            <a:off x="11525250" y="5886450"/>
            <a:ext cx="21717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1278" b="1" dirty="0">
                <a:solidFill>
                  <a:srgbClr val="449E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Scalable Expertise</a:t>
            </a:r>
            <a:endParaRPr lang="en-US" sz="1278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39425" y="5819775"/>
            <a:ext cx="704850" cy="733425"/>
          </a:xfrm>
          <a:prstGeom prst="rect">
            <a:avLst/>
          </a:prstGeom>
        </p:spPr>
      </p:pic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01325" y="5657850"/>
            <a:ext cx="3448050" cy="57150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11525250" y="4895850"/>
            <a:ext cx="2428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1110" dirty="0">
                <a:solidFill>
                  <a:srgbClr val="5E5F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proven methods, tools and</a:t>
            </a:r>
            <a:endParaRPr lang="en-US" sz="1110" dirty="0"/>
          </a:p>
          <a:p>
            <a:pPr algn="l" indent="0" marL="0">
              <a:lnSpc>
                <a:spcPts val="1652"/>
              </a:lnSpc>
              <a:buNone/>
            </a:pPr>
            <a:r>
              <a:rPr lang="en-US" sz="1110" dirty="0">
                <a:solidFill>
                  <a:srgbClr val="5E5F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 to reduce effort and improve</a:t>
            </a:r>
            <a:endParaRPr lang="en-US" sz="1110" dirty="0"/>
          </a:p>
          <a:p>
            <a:pPr algn="l" indent="0" marL="0">
              <a:lnSpc>
                <a:spcPts val="1652"/>
              </a:lnSpc>
              <a:buNone/>
            </a:pPr>
            <a:r>
              <a:rPr lang="en-US" sz="1110" dirty="0">
                <a:solidFill>
                  <a:srgbClr val="5E5F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quality</a:t>
            </a:r>
            <a:endParaRPr lang="en-US" sz="1110" dirty="0"/>
          </a:p>
        </p:txBody>
      </p:sp>
      <p:sp>
        <p:nvSpPr>
          <p:cNvPr id="40" name="Text 23"/>
          <p:cNvSpPr/>
          <p:nvPr/>
        </p:nvSpPr>
        <p:spPr>
          <a:xfrm>
            <a:off x="11525250" y="4629150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249" b="1" dirty="0">
                <a:solidFill>
                  <a:srgbClr val="4B9F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Increases Efficiency &amp; Quality</a:t>
            </a:r>
            <a:endParaRPr lang="en-US" sz="1249" dirty="0"/>
          </a:p>
        </p:txBody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39425" y="4552950"/>
            <a:ext cx="723900" cy="762000"/>
          </a:xfrm>
          <a:prstGeom prst="rect">
            <a:avLst/>
          </a:prstGeom>
        </p:spPr>
      </p:pic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01325" y="4400550"/>
            <a:ext cx="3457575" cy="57150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11525250" y="3609975"/>
            <a:ext cx="24193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8"/>
              </a:lnSpc>
              <a:buNone/>
            </a:pPr>
            <a:r>
              <a:rPr lang="en-US" sz="975" dirty="0">
                <a:solidFill>
                  <a:srgbClr val="61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Data-driven insights and institutional</a:t>
            </a:r>
            <a:endParaRPr lang="en-US" sz="975" dirty="0"/>
          </a:p>
          <a:p>
            <a:pPr algn="l" indent="0" marL="0">
              <a:lnSpc>
                <a:spcPts val="1538"/>
              </a:lnSpc>
              <a:buNone/>
            </a:pPr>
            <a:r>
              <a:rPr lang="en-US" sz="975" dirty="0">
                <a:solidFill>
                  <a:srgbClr val="61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lead to more accurate and</a:t>
            </a:r>
            <a:endParaRPr lang="en-US" sz="975" dirty="0"/>
          </a:p>
          <a:p>
            <a:pPr algn="l" indent="0" marL="0">
              <a:lnSpc>
                <a:spcPts val="1538"/>
              </a:lnSpc>
              <a:buNone/>
            </a:pPr>
            <a:r>
              <a:rPr lang="en-US" sz="975" dirty="0">
                <a:solidFill>
                  <a:srgbClr val="61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risk decisions.</a:t>
            </a:r>
            <a:endParaRPr lang="en-US" sz="975" dirty="0"/>
          </a:p>
        </p:txBody>
      </p:sp>
      <p:sp>
        <p:nvSpPr>
          <p:cNvPr id="44" name="Text 25"/>
          <p:cNvSpPr/>
          <p:nvPr/>
        </p:nvSpPr>
        <p:spPr>
          <a:xfrm>
            <a:off x="11525250" y="3352800"/>
            <a:ext cx="1847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4"/>
              </a:lnSpc>
              <a:buNone/>
            </a:pPr>
            <a:r>
              <a:rPr lang="en-US" sz="1258" b="1" dirty="0">
                <a:solidFill>
                  <a:srgbClr val="4EA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Drives Better Decisions</a:t>
            </a:r>
            <a:endParaRPr lang="en-US" sz="1258" dirty="0"/>
          </a:p>
        </p:txBody>
      </p:sp>
      <p:pic>
        <p:nvPicPr>
          <p:cNvPr id="4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39425" y="3276600"/>
            <a:ext cx="723900" cy="771525"/>
          </a:xfrm>
          <a:prstGeom prst="rect">
            <a:avLst/>
          </a:prstGeom>
        </p:spPr>
      </p:pic>
      <p:pic>
        <p:nvPicPr>
          <p:cNvPr id="4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01325" y="3114675"/>
            <a:ext cx="3457575" cy="66675"/>
          </a:xfrm>
          <a:prstGeom prst="rect">
            <a:avLst/>
          </a:prstGeom>
        </p:spPr>
      </p:pic>
      <p:sp>
        <p:nvSpPr>
          <p:cNvPr id="47" name="Text 26"/>
          <p:cNvSpPr/>
          <p:nvPr/>
        </p:nvSpPr>
        <p:spPr>
          <a:xfrm>
            <a:off x="11525250" y="2447925"/>
            <a:ext cx="2381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1125" dirty="0">
                <a:solidFill>
                  <a:srgbClr val="6060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accumulated knowledge and</a:t>
            </a:r>
            <a:endParaRPr lang="en-US" sz="1125" dirty="0"/>
          </a:p>
          <a:p>
            <a:pPr algn="l" indent="0" marL="0">
              <a:lnSpc>
                <a:spcPts val="1334"/>
              </a:lnSpc>
              <a:buNone/>
            </a:pPr>
            <a:r>
              <a:rPr lang="en-US" sz="1125" dirty="0">
                <a:solidFill>
                  <a:srgbClr val="6060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cannot be easily copied</a:t>
            </a:r>
            <a:endParaRPr lang="en-US" sz="1125" dirty="0"/>
          </a:p>
        </p:txBody>
      </p:sp>
      <p:sp>
        <p:nvSpPr>
          <p:cNvPr id="48" name="Text 27"/>
          <p:cNvSpPr/>
          <p:nvPr/>
        </p:nvSpPr>
        <p:spPr>
          <a:xfrm>
            <a:off x="11534775" y="2190750"/>
            <a:ext cx="1952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4"/>
              </a:lnSpc>
              <a:buNone/>
            </a:pPr>
            <a:r>
              <a:rPr lang="en-US" sz="1258" b="1" dirty="0">
                <a:solidFill>
                  <a:srgbClr val="4659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a Defensible Moat</a:t>
            </a:r>
            <a:endParaRPr lang="en-US" sz="1258" dirty="0"/>
          </a:p>
        </p:txBody>
      </p:sp>
      <p:pic>
        <p:nvPicPr>
          <p:cNvPr id="4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48950" y="2085975"/>
            <a:ext cx="723900" cy="771525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11020425" y="1638300"/>
            <a:ext cx="26955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5"/>
              </a:lnSpc>
              <a:buNone/>
            </a:pPr>
            <a:r>
              <a:rPr lang="en-US" sz="1482" b="1" dirty="0">
                <a:solidFill>
                  <a:srgbClr val="2E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a Game Changer</a:t>
            </a:r>
            <a:endParaRPr lang="en-US" sz="1482" dirty="0"/>
          </a:p>
        </p:txBody>
      </p:sp>
      <p:sp>
        <p:nvSpPr>
          <p:cNvPr id="51" name="Text 29"/>
          <p:cNvSpPr/>
          <p:nvPr/>
        </p:nvSpPr>
        <p:spPr>
          <a:xfrm>
            <a:off x="4133850" y="7800975"/>
            <a:ext cx="2381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5E5E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memory across domains</a:t>
            </a:r>
            <a:endParaRPr lang="en-US" sz="1080" dirty="0"/>
          </a:p>
        </p:txBody>
      </p:sp>
      <p:pic>
        <p:nvPicPr>
          <p:cNvPr id="5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52875" y="7877175"/>
            <a:ext cx="38100" cy="38100"/>
          </a:xfrm>
          <a:prstGeom prst="rect">
            <a:avLst/>
          </a:prstGeom>
        </p:spPr>
      </p:pic>
      <p:sp>
        <p:nvSpPr>
          <p:cNvPr id="53" name="Text 30"/>
          <p:cNvSpPr/>
          <p:nvPr/>
        </p:nvSpPr>
        <p:spPr>
          <a:xfrm>
            <a:off x="4133850" y="7591425"/>
            <a:ext cx="2000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1124" dirty="0">
                <a:solidFill>
                  <a:srgbClr val="6262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Evolution of risks &amp; mitigations</a:t>
            </a:r>
            <a:endParaRPr lang="en-US" sz="1124" dirty="0"/>
          </a:p>
        </p:txBody>
      </p:sp>
      <p:pic>
        <p:nvPicPr>
          <p:cNvPr id="5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52875" y="7667625"/>
            <a:ext cx="38100" cy="38100"/>
          </a:xfrm>
          <a:prstGeom prst="rect">
            <a:avLst/>
          </a:prstGeom>
        </p:spPr>
      </p:pic>
      <p:sp>
        <p:nvSpPr>
          <p:cNvPr id="55" name="Text 31"/>
          <p:cNvSpPr/>
          <p:nvPr/>
        </p:nvSpPr>
        <p:spPr>
          <a:xfrm>
            <a:off x="4124325" y="7381875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050" dirty="0">
                <a:solidFill>
                  <a:srgbClr val="5C5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wisdom &amp; playbooks</a:t>
            </a:r>
            <a:endParaRPr lang="en-US" sz="1050" dirty="0"/>
          </a:p>
        </p:txBody>
      </p:sp>
      <p:pic>
        <p:nvPicPr>
          <p:cNvPr id="5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52875" y="7458075"/>
            <a:ext cx="38100" cy="47625"/>
          </a:xfrm>
          <a:prstGeom prst="rect">
            <a:avLst/>
          </a:prstGeom>
        </p:spPr>
      </p:pic>
      <p:sp>
        <p:nvSpPr>
          <p:cNvPr id="57" name="Text 32"/>
          <p:cNvSpPr/>
          <p:nvPr/>
        </p:nvSpPr>
        <p:spPr>
          <a:xfrm>
            <a:off x="4133850" y="7172325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1108" dirty="0">
                <a:solidFill>
                  <a:srgbClr val="6364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Findings, overrides &amp; lessons learned</a:t>
            </a:r>
            <a:endParaRPr lang="en-US" sz="1108" dirty="0"/>
          </a:p>
        </p:txBody>
      </p:sp>
      <p:pic>
        <p:nvPicPr>
          <p:cNvPr id="5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52875" y="7258050"/>
            <a:ext cx="38100" cy="38100"/>
          </a:xfrm>
          <a:prstGeom prst="rect">
            <a:avLst/>
          </a:prstGeom>
        </p:spPr>
      </p:pic>
      <p:sp>
        <p:nvSpPr>
          <p:cNvPr id="59" name="Text 33"/>
          <p:cNvSpPr/>
          <p:nvPr/>
        </p:nvSpPr>
        <p:spPr>
          <a:xfrm>
            <a:off x="4133850" y="6962775"/>
            <a:ext cx="2066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1043" dirty="0">
                <a:solidFill>
                  <a:srgbClr val="6363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decisions &amp; rationales</a:t>
            </a:r>
            <a:endParaRPr lang="en-US" sz="1043" dirty="0"/>
          </a:p>
        </p:txBody>
      </p:sp>
      <p:pic>
        <p:nvPicPr>
          <p:cNvPr id="6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52875" y="7048500"/>
            <a:ext cx="38100" cy="38100"/>
          </a:xfrm>
          <a:prstGeom prst="rect">
            <a:avLst/>
          </a:prstGeom>
        </p:spPr>
      </p:pic>
      <p:sp>
        <p:nvSpPr>
          <p:cNvPr id="61" name="Text 34"/>
          <p:cNvSpPr/>
          <p:nvPr/>
        </p:nvSpPr>
        <p:spPr>
          <a:xfrm>
            <a:off x="3971925" y="6715125"/>
            <a:ext cx="1152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1140" b="1" dirty="0">
                <a:solidFill>
                  <a:srgbClr val="509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</a:t>
            </a:r>
            <a:endParaRPr lang="en-US" sz="1140" dirty="0"/>
          </a:p>
        </p:txBody>
      </p:sp>
      <p:sp>
        <p:nvSpPr>
          <p:cNvPr id="62" name="Shape 35"/>
          <p:cNvSpPr/>
          <p:nvPr/>
        </p:nvSpPr>
        <p:spPr>
          <a:xfrm>
            <a:off x="6829425" y="4895850"/>
            <a:ext cx="3476625" cy="1666875"/>
          </a:xfrm>
          <a:prstGeom prst="rect">
            <a:avLst/>
          </a:prstGeom>
          <a:solidFill>
            <a:srgbClr val="F4FBF6"/>
          </a:solidFill>
          <a:ln w="28575">
            <a:solidFill>
              <a:srgbClr val="FDFDFD"/>
            </a:solidFill>
            <a:prstDash val="solid"/>
          </a:ln>
        </p:spPr>
      </p:sp>
      <p:pic>
        <p:nvPicPr>
          <p:cNvPr id="6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19925" y="5353050"/>
            <a:ext cx="752475" cy="800100"/>
          </a:xfrm>
          <a:prstGeom prst="rect">
            <a:avLst/>
          </a:prstGeom>
        </p:spPr>
      </p:pic>
      <p:sp>
        <p:nvSpPr>
          <p:cNvPr id="64" name="Text 36"/>
          <p:cNvSpPr/>
          <p:nvPr/>
        </p:nvSpPr>
        <p:spPr>
          <a:xfrm>
            <a:off x="7924800" y="5991225"/>
            <a:ext cx="21431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125" dirty="0">
                <a:solidFill>
                  <a:srgbClr val="5D6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Which tests are most</a:t>
            </a:r>
            <a:endParaRPr lang="en-US" sz="1125" dirty="0"/>
          </a:p>
          <a:p>
            <a:pPr algn="l" indent="0" marL="0">
              <a:lnSpc>
                <a:spcPts val="1478"/>
              </a:lnSpc>
              <a:buNone/>
            </a:pPr>
            <a:r>
              <a:rPr lang="en-US" sz="1125" dirty="0">
                <a:solidFill>
                  <a:srgbClr val="5D60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for Agentic Al systems?</a:t>
            </a:r>
            <a:endParaRPr lang="en-US" sz="1125" dirty="0"/>
          </a:p>
        </p:txBody>
      </p:sp>
      <p:sp>
        <p:nvSpPr>
          <p:cNvPr id="65" name="Text 37"/>
          <p:cNvSpPr/>
          <p:nvPr/>
        </p:nvSpPr>
        <p:spPr>
          <a:xfrm>
            <a:off x="7924800" y="5419725"/>
            <a:ext cx="1400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389" b="1" dirty="0">
                <a:solidFill>
                  <a:srgbClr val="3F4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we</a:t>
            </a:r>
            <a:endParaRPr lang="en-US" sz="1389" dirty="0"/>
          </a:p>
          <a:p>
            <a:pPr algn="l" indent="0" marL="0">
              <a:lnSpc>
                <a:spcPts val="1701"/>
              </a:lnSpc>
              <a:buNone/>
            </a:pPr>
            <a:r>
              <a:rPr lang="en-US" sz="1389" b="1" dirty="0">
                <a:solidFill>
                  <a:srgbClr val="3F4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recommend?</a:t>
            </a:r>
            <a:endParaRPr lang="en-US" sz="1389" dirty="0"/>
          </a:p>
        </p:txBody>
      </p:sp>
      <p:sp>
        <p:nvSpPr>
          <p:cNvPr id="66" name="Text 38"/>
          <p:cNvSpPr/>
          <p:nvPr/>
        </p:nvSpPr>
        <p:spPr>
          <a:xfrm>
            <a:off x="7934325" y="5057775"/>
            <a:ext cx="1524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1"/>
              </a:lnSpc>
              <a:buNone/>
            </a:pPr>
            <a:r>
              <a:rPr lang="en-US" sz="1084" b="1" dirty="0">
                <a:solidFill>
                  <a:srgbClr val="53A2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the question:</a:t>
            </a:r>
            <a:endParaRPr lang="en-US" sz="1084" dirty="0"/>
          </a:p>
        </p:txBody>
      </p:sp>
      <p:sp>
        <p:nvSpPr>
          <p:cNvPr id="67" name="Text 39"/>
          <p:cNvSpPr/>
          <p:nvPr/>
        </p:nvSpPr>
        <p:spPr>
          <a:xfrm>
            <a:off x="4124325" y="6324600"/>
            <a:ext cx="2019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159" dirty="0">
                <a:solidFill>
                  <a:srgbClr val="61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improvement loop</a:t>
            </a:r>
            <a:endParaRPr lang="en-US" sz="1159" dirty="0"/>
          </a:p>
        </p:txBody>
      </p:sp>
      <p:pic>
        <p:nvPicPr>
          <p:cNvPr id="6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952875" y="6400800"/>
            <a:ext cx="38100" cy="38100"/>
          </a:xfrm>
          <a:prstGeom prst="rect">
            <a:avLst/>
          </a:prstGeom>
        </p:spPr>
      </p:pic>
      <p:sp>
        <p:nvSpPr>
          <p:cNvPr id="69" name="Text 40"/>
          <p:cNvSpPr/>
          <p:nvPr/>
        </p:nvSpPr>
        <p:spPr>
          <a:xfrm>
            <a:off x="4124325" y="6115050"/>
            <a:ext cx="2019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1134" dirty="0">
                <a:solidFill>
                  <a:srgbClr val="6162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Auto-suggested test strategies</a:t>
            </a:r>
            <a:endParaRPr lang="en-US" sz="1134" dirty="0"/>
          </a:p>
        </p:txBody>
      </p:sp>
      <p:pic>
        <p:nvPicPr>
          <p:cNvPr id="7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952875" y="6181725"/>
            <a:ext cx="38100" cy="38100"/>
          </a:xfrm>
          <a:prstGeom prst="rect">
            <a:avLst/>
          </a:prstGeom>
        </p:spPr>
      </p:pic>
      <p:sp>
        <p:nvSpPr>
          <p:cNvPr id="71" name="Text 41"/>
          <p:cNvSpPr/>
          <p:nvPr/>
        </p:nvSpPr>
        <p:spPr>
          <a:xfrm>
            <a:off x="4133850" y="5895975"/>
            <a:ext cx="16478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9"/>
              </a:lnSpc>
              <a:buNone/>
            </a:pPr>
            <a:r>
              <a:rPr lang="en-US" sz="1128" dirty="0">
                <a:solidFill>
                  <a:srgbClr val="5E5F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engine</a:t>
            </a:r>
            <a:endParaRPr lang="en-US" sz="1128" dirty="0"/>
          </a:p>
        </p:txBody>
      </p:sp>
      <p:pic>
        <p:nvPicPr>
          <p:cNvPr id="7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952875" y="5972175"/>
            <a:ext cx="38100" cy="38100"/>
          </a:xfrm>
          <a:prstGeom prst="rect">
            <a:avLst/>
          </a:prstGeom>
        </p:spPr>
      </p:pic>
      <p:sp>
        <p:nvSpPr>
          <p:cNvPr id="73" name="Text 42"/>
          <p:cNvSpPr/>
          <p:nvPr/>
        </p:nvSpPr>
        <p:spPr>
          <a:xfrm>
            <a:off x="4133850" y="5676900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043" dirty="0">
                <a:solidFill>
                  <a:srgbClr val="5F5F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prevalence &amp; trend analytics</a:t>
            </a:r>
            <a:endParaRPr lang="en-US" sz="1043" dirty="0"/>
          </a:p>
        </p:txBody>
      </p:sp>
      <p:pic>
        <p:nvPicPr>
          <p:cNvPr id="7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952875" y="5762625"/>
            <a:ext cx="38100" cy="38100"/>
          </a:xfrm>
          <a:prstGeom prst="rect">
            <a:avLst/>
          </a:prstGeom>
        </p:spPr>
      </p:pic>
      <p:sp>
        <p:nvSpPr>
          <p:cNvPr id="75" name="Text 43"/>
          <p:cNvSpPr/>
          <p:nvPr/>
        </p:nvSpPr>
        <p:spPr>
          <a:xfrm>
            <a:off x="4133850" y="5467350"/>
            <a:ext cx="1971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1128" dirty="0">
                <a:solidFill>
                  <a:srgbClr val="61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effectiveness analysis</a:t>
            </a:r>
            <a:endParaRPr lang="en-US" sz="1128" dirty="0"/>
          </a:p>
        </p:txBody>
      </p:sp>
      <p:pic>
        <p:nvPicPr>
          <p:cNvPr id="76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952875" y="5543550"/>
            <a:ext cx="38100" cy="38100"/>
          </a:xfrm>
          <a:prstGeom prst="rect">
            <a:avLst/>
          </a:prstGeom>
        </p:spPr>
      </p:pic>
      <p:sp>
        <p:nvSpPr>
          <p:cNvPr id="77" name="Text 44"/>
          <p:cNvSpPr/>
          <p:nvPr/>
        </p:nvSpPr>
        <p:spPr>
          <a:xfrm>
            <a:off x="4133850" y="5248275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9"/>
              </a:lnSpc>
              <a:buNone/>
            </a:pPr>
            <a:r>
              <a:rPr lang="en-US" sz="1096" dirty="0">
                <a:solidFill>
                  <a:srgbClr val="6363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discovery across validations</a:t>
            </a:r>
            <a:endParaRPr lang="en-US" sz="1096" dirty="0"/>
          </a:p>
        </p:txBody>
      </p:sp>
      <p:pic>
        <p:nvPicPr>
          <p:cNvPr id="78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952875" y="5334000"/>
            <a:ext cx="38100" cy="38100"/>
          </a:xfrm>
          <a:prstGeom prst="rect">
            <a:avLst/>
          </a:prstGeom>
        </p:spPr>
      </p:pic>
      <p:sp>
        <p:nvSpPr>
          <p:cNvPr id="79" name="Text 45"/>
          <p:cNvSpPr/>
          <p:nvPr/>
        </p:nvSpPr>
        <p:spPr>
          <a:xfrm>
            <a:off x="3971925" y="4991100"/>
            <a:ext cx="1162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1149" b="1" dirty="0">
                <a:solidFill>
                  <a:srgbClr val="4996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</a:t>
            </a:r>
            <a:endParaRPr lang="en-US" sz="1149" dirty="0"/>
          </a:p>
        </p:txBody>
      </p:sp>
      <p:sp>
        <p:nvSpPr>
          <p:cNvPr id="80" name="Shape 46"/>
          <p:cNvSpPr/>
          <p:nvPr/>
        </p:nvSpPr>
        <p:spPr>
          <a:xfrm>
            <a:off x="6829425" y="3200400"/>
            <a:ext cx="3467100" cy="1657350"/>
          </a:xfrm>
          <a:prstGeom prst="rect">
            <a:avLst/>
          </a:prstGeom>
          <a:solidFill>
            <a:srgbClr val="F4FBF6"/>
          </a:solidFill>
          <a:ln w="19050">
            <a:solidFill>
              <a:srgbClr val="FCFDFD"/>
            </a:solidFill>
            <a:prstDash val="solid"/>
          </a:ln>
        </p:spPr>
      </p:sp>
      <p:pic>
        <p:nvPicPr>
          <p:cNvPr id="81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010400" y="3638550"/>
            <a:ext cx="762000" cy="828675"/>
          </a:xfrm>
          <a:prstGeom prst="rect">
            <a:avLst/>
          </a:prstGeom>
        </p:spPr>
      </p:pic>
      <p:sp>
        <p:nvSpPr>
          <p:cNvPr id="82" name="Text 47"/>
          <p:cNvSpPr/>
          <p:nvPr/>
        </p:nvSpPr>
        <p:spPr>
          <a:xfrm>
            <a:off x="7934325" y="4010025"/>
            <a:ext cx="17145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63" dirty="0">
                <a:solidFill>
                  <a:srgbClr val="5C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What are our</a:t>
            </a:r>
            <a:endParaRPr lang="en-US" sz="1163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163" dirty="0">
                <a:solidFill>
                  <a:srgbClr val="5C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methods for</a:t>
            </a:r>
            <a:endParaRPr lang="en-US" sz="1163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163" dirty="0">
                <a:solidFill>
                  <a:srgbClr val="5C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 testing?</a:t>
            </a:r>
            <a:endParaRPr lang="en-US" sz="1163" dirty="0"/>
          </a:p>
        </p:txBody>
      </p:sp>
      <p:sp>
        <p:nvSpPr>
          <p:cNvPr id="83" name="Text 48"/>
          <p:cNvSpPr/>
          <p:nvPr/>
        </p:nvSpPr>
        <p:spPr>
          <a:xfrm>
            <a:off x="7924800" y="3705225"/>
            <a:ext cx="1590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2"/>
              </a:lnSpc>
              <a:buNone/>
            </a:pPr>
            <a:r>
              <a:rPr lang="en-US" sz="1342" b="1" dirty="0">
                <a:solidFill>
                  <a:srgbClr val="444F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we know?</a:t>
            </a:r>
            <a:endParaRPr lang="en-US" sz="1342" dirty="0"/>
          </a:p>
        </p:txBody>
      </p:sp>
      <p:sp>
        <p:nvSpPr>
          <p:cNvPr id="84" name="Text 49"/>
          <p:cNvSpPr/>
          <p:nvPr/>
        </p:nvSpPr>
        <p:spPr>
          <a:xfrm>
            <a:off x="7934325" y="3362325"/>
            <a:ext cx="1533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1091" b="1" dirty="0">
                <a:solidFill>
                  <a:srgbClr val="4C9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the question:</a:t>
            </a:r>
            <a:endParaRPr lang="en-US" sz="1091" dirty="0"/>
          </a:p>
        </p:txBody>
      </p:sp>
      <p:sp>
        <p:nvSpPr>
          <p:cNvPr id="85" name="Text 50"/>
          <p:cNvSpPr/>
          <p:nvPr/>
        </p:nvSpPr>
        <p:spPr>
          <a:xfrm>
            <a:off x="4133850" y="4600575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043" dirty="0">
                <a:solidFill>
                  <a:srgbClr val="6363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&amp; regulation mapping</a:t>
            </a:r>
            <a:endParaRPr lang="en-US" sz="1043" dirty="0"/>
          </a:p>
        </p:txBody>
      </p:sp>
      <p:pic>
        <p:nvPicPr>
          <p:cNvPr id="8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952875" y="4686300"/>
            <a:ext cx="38100" cy="38100"/>
          </a:xfrm>
          <a:prstGeom prst="rect">
            <a:avLst/>
          </a:prstGeom>
        </p:spPr>
      </p:pic>
      <p:sp>
        <p:nvSpPr>
          <p:cNvPr id="87" name="Text 51"/>
          <p:cNvSpPr/>
          <p:nvPr/>
        </p:nvSpPr>
        <p:spPr>
          <a:xfrm>
            <a:off x="4133850" y="4391025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5E5E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&amp; dataset library</a:t>
            </a:r>
            <a:endParaRPr lang="en-US" sz="1080" dirty="0"/>
          </a:p>
        </p:txBody>
      </p:sp>
      <p:pic>
        <p:nvPicPr>
          <p:cNvPr id="88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952875" y="4467225"/>
            <a:ext cx="28575" cy="38100"/>
          </a:xfrm>
          <a:prstGeom prst="rect">
            <a:avLst/>
          </a:prstGeom>
        </p:spPr>
      </p:pic>
      <p:sp>
        <p:nvSpPr>
          <p:cNvPr id="89" name="Text 52"/>
          <p:cNvSpPr/>
          <p:nvPr/>
        </p:nvSpPr>
        <p:spPr>
          <a:xfrm>
            <a:off x="4124325" y="4181475"/>
            <a:ext cx="1352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050" dirty="0">
                <a:solidFill>
                  <a:srgbClr val="5A5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&amp; tool library</a:t>
            </a:r>
            <a:endParaRPr lang="en-US" sz="1050" dirty="0"/>
          </a:p>
        </p:txBody>
      </p:sp>
      <p:pic>
        <p:nvPicPr>
          <p:cNvPr id="90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952875" y="4257675"/>
            <a:ext cx="38100" cy="38100"/>
          </a:xfrm>
          <a:prstGeom prst="rect">
            <a:avLst/>
          </a:prstGeom>
        </p:spPr>
      </p:pic>
      <p:sp>
        <p:nvSpPr>
          <p:cNvPr id="91" name="Text 53"/>
          <p:cNvSpPr/>
          <p:nvPr/>
        </p:nvSpPr>
        <p:spPr>
          <a:xfrm>
            <a:off x="4133850" y="3962400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62" dirty="0">
                <a:solidFill>
                  <a:srgbClr val="61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&amp; prompt library</a:t>
            </a:r>
            <a:endParaRPr lang="en-US" sz="1162" dirty="0"/>
          </a:p>
        </p:txBody>
      </p:sp>
      <p:pic>
        <p:nvPicPr>
          <p:cNvPr id="9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952875" y="4038600"/>
            <a:ext cx="38100" cy="38100"/>
          </a:xfrm>
          <a:prstGeom prst="rect">
            <a:avLst/>
          </a:prstGeom>
        </p:spPr>
      </p:pic>
      <p:sp>
        <p:nvSpPr>
          <p:cNvPr id="93" name="Text 54"/>
          <p:cNvSpPr/>
          <p:nvPr/>
        </p:nvSpPr>
        <p:spPr>
          <a:xfrm>
            <a:off x="4124325" y="3743325"/>
            <a:ext cx="1952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1050" dirty="0">
                <a:solidFill>
                  <a:srgbClr val="60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methods &amp; metrics</a:t>
            </a:r>
            <a:endParaRPr lang="en-US" sz="1050" dirty="0"/>
          </a:p>
        </p:txBody>
      </p:sp>
      <p:pic>
        <p:nvPicPr>
          <p:cNvPr id="94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952875" y="3829050"/>
            <a:ext cx="28575" cy="38100"/>
          </a:xfrm>
          <a:prstGeom prst="rect">
            <a:avLst/>
          </a:prstGeom>
        </p:spPr>
      </p:pic>
      <p:sp>
        <p:nvSpPr>
          <p:cNvPr id="95" name="Text 55"/>
          <p:cNvSpPr/>
          <p:nvPr/>
        </p:nvSpPr>
        <p:spPr>
          <a:xfrm>
            <a:off x="4133850" y="3533775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1156" dirty="0">
                <a:solidFill>
                  <a:srgbClr val="5B5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&amp; control library</a:t>
            </a:r>
            <a:endParaRPr lang="en-US" sz="1156" dirty="0"/>
          </a:p>
        </p:txBody>
      </p:sp>
      <p:pic>
        <p:nvPicPr>
          <p:cNvPr id="96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952875" y="3619500"/>
            <a:ext cx="28575" cy="38100"/>
          </a:xfrm>
          <a:prstGeom prst="rect">
            <a:avLst/>
          </a:prstGeom>
        </p:spPr>
      </p:pic>
      <p:sp>
        <p:nvSpPr>
          <p:cNvPr id="97" name="Text 56"/>
          <p:cNvSpPr/>
          <p:nvPr/>
        </p:nvSpPr>
        <p:spPr>
          <a:xfrm>
            <a:off x="3971925" y="3276600"/>
            <a:ext cx="1181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9"/>
              </a:lnSpc>
              <a:buNone/>
            </a:pPr>
            <a:r>
              <a:rPr lang="en-US" sz="1165" b="1" dirty="0">
                <a:solidFill>
                  <a:srgbClr val="4E9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</a:t>
            </a:r>
            <a:endParaRPr lang="en-US" sz="1165" dirty="0"/>
          </a:p>
        </p:txBody>
      </p:sp>
      <p:pic>
        <p:nvPicPr>
          <p:cNvPr id="98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42875" y="1381125"/>
            <a:ext cx="3810000" cy="6705600"/>
          </a:xfrm>
          <a:prstGeom prst="rect">
            <a:avLst/>
          </a:prstGeom>
        </p:spPr>
      </p:pic>
      <p:sp>
        <p:nvSpPr>
          <p:cNvPr id="99" name="Text 57"/>
          <p:cNvSpPr/>
          <p:nvPr/>
        </p:nvSpPr>
        <p:spPr>
          <a:xfrm>
            <a:off x="1943100" y="7353300"/>
            <a:ext cx="1676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050" dirty="0">
                <a:solidFill>
                  <a:srgbClr val="99D8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living memory of</a:t>
            </a:r>
            <a:endParaRPr lang="en-US" sz="105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1050" dirty="0">
                <a:solidFill>
                  <a:srgbClr val="99D8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Al risk experience that</a:t>
            </a:r>
            <a:endParaRPr lang="en-US" sz="1050" dirty="0"/>
          </a:p>
          <a:p>
            <a:pPr algn="l" indent="0" marL="0">
              <a:lnSpc>
                <a:spcPts val="1554"/>
              </a:lnSpc>
              <a:buNone/>
            </a:pPr>
            <a:r>
              <a:rPr lang="en-US" sz="1050" dirty="0">
                <a:solidFill>
                  <a:srgbClr val="99D8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compounds over time.</a:t>
            </a:r>
            <a:endParaRPr lang="en-US" sz="1050" dirty="0"/>
          </a:p>
        </p:txBody>
      </p:sp>
      <p:sp>
        <p:nvSpPr>
          <p:cNvPr id="100" name="Text 58"/>
          <p:cNvSpPr/>
          <p:nvPr/>
        </p:nvSpPr>
        <p:spPr>
          <a:xfrm>
            <a:off x="1952625" y="7058025"/>
            <a:ext cx="8096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613" b="1" dirty="0">
                <a:solidFill>
                  <a:srgbClr val="CCEC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613" dirty="0"/>
          </a:p>
        </p:txBody>
      </p:sp>
      <p:sp>
        <p:nvSpPr>
          <p:cNvPr id="101" name="Text 59"/>
          <p:cNvSpPr/>
          <p:nvPr/>
        </p:nvSpPr>
        <p:spPr>
          <a:xfrm>
            <a:off x="1943100" y="6772275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549" b="1" dirty="0">
                <a:solidFill>
                  <a:srgbClr val="D7F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Organisational</a:t>
            </a:r>
            <a:endParaRPr lang="en-US" sz="1549" dirty="0"/>
          </a:p>
        </p:txBody>
      </p:sp>
      <p:sp>
        <p:nvSpPr>
          <p:cNvPr id="102" name="Text 60"/>
          <p:cNvSpPr/>
          <p:nvPr/>
        </p:nvSpPr>
        <p:spPr>
          <a:xfrm>
            <a:off x="1504950" y="6724650"/>
            <a:ext cx="3333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975" b="1" dirty="0">
                <a:solidFill>
                  <a:srgbClr val="EAF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3975" dirty="0"/>
          </a:p>
        </p:txBody>
      </p:sp>
      <p:pic>
        <p:nvPicPr>
          <p:cNvPr id="103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57225" y="6772275"/>
            <a:ext cx="695325" cy="819150"/>
          </a:xfrm>
          <a:prstGeom prst="rect">
            <a:avLst/>
          </a:prstGeom>
        </p:spPr>
      </p:pic>
      <p:sp>
        <p:nvSpPr>
          <p:cNvPr id="104" name="Text 61"/>
          <p:cNvSpPr/>
          <p:nvPr/>
        </p:nvSpPr>
        <p:spPr>
          <a:xfrm>
            <a:off x="1952625" y="6153150"/>
            <a:ext cx="1228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7"/>
              </a:lnSpc>
              <a:buNone/>
            </a:pPr>
            <a:r>
              <a:rPr lang="en-US" sz="1141" dirty="0">
                <a:solidFill>
                  <a:srgbClr val="A1D5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recommendations.</a:t>
            </a:r>
            <a:endParaRPr lang="en-US" sz="1141" dirty="0"/>
          </a:p>
        </p:txBody>
      </p:sp>
      <p:sp>
        <p:nvSpPr>
          <p:cNvPr id="105" name="Text 62"/>
          <p:cNvSpPr/>
          <p:nvPr/>
        </p:nvSpPr>
        <p:spPr>
          <a:xfrm>
            <a:off x="1952625" y="5943600"/>
            <a:ext cx="1390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1117" dirty="0">
                <a:solidFill>
                  <a:srgbClr val="9CD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insights, patterns and</a:t>
            </a:r>
            <a:endParaRPr lang="en-US" sz="1117" dirty="0"/>
          </a:p>
        </p:txBody>
      </p:sp>
      <p:sp>
        <p:nvSpPr>
          <p:cNvPr id="106" name="Text 63"/>
          <p:cNvSpPr/>
          <p:nvPr/>
        </p:nvSpPr>
        <p:spPr>
          <a:xfrm>
            <a:off x="1943100" y="5724525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5"/>
              </a:lnSpc>
              <a:buNone/>
            </a:pPr>
            <a:r>
              <a:rPr lang="en-US" sz="1131" dirty="0">
                <a:solidFill>
                  <a:srgbClr val="9CD0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knowledge into</a:t>
            </a:r>
            <a:endParaRPr lang="en-US" sz="1131" dirty="0"/>
          </a:p>
        </p:txBody>
      </p:sp>
      <p:sp>
        <p:nvSpPr>
          <p:cNvPr id="107" name="Text 64"/>
          <p:cNvSpPr/>
          <p:nvPr/>
        </p:nvSpPr>
        <p:spPr>
          <a:xfrm>
            <a:off x="1962150" y="5372100"/>
            <a:ext cx="11811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98" b="1" dirty="0">
                <a:solidFill>
                  <a:srgbClr val="D5E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598" dirty="0"/>
          </a:p>
        </p:txBody>
      </p:sp>
      <p:sp>
        <p:nvSpPr>
          <p:cNvPr id="108" name="Text 65"/>
          <p:cNvSpPr/>
          <p:nvPr/>
        </p:nvSpPr>
        <p:spPr>
          <a:xfrm>
            <a:off x="1943100" y="5086350"/>
            <a:ext cx="742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632" b="1" dirty="0">
                <a:solidFill>
                  <a:srgbClr val="CAE7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Risk</a:t>
            </a:r>
            <a:endParaRPr lang="en-US" sz="1632" dirty="0"/>
          </a:p>
        </p:txBody>
      </p:sp>
      <p:sp>
        <p:nvSpPr>
          <p:cNvPr id="109" name="Text 66"/>
          <p:cNvSpPr/>
          <p:nvPr/>
        </p:nvSpPr>
        <p:spPr>
          <a:xfrm>
            <a:off x="1514475" y="5019675"/>
            <a:ext cx="323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25"/>
              </a:lnSpc>
              <a:buNone/>
            </a:pPr>
            <a:r>
              <a:rPr lang="en-US" sz="4095" b="1" dirty="0">
                <a:solidFill>
                  <a:srgbClr val="E4F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4095" dirty="0"/>
          </a:p>
        </p:txBody>
      </p:sp>
      <p:pic>
        <p:nvPicPr>
          <p:cNvPr id="110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04850" y="5210175"/>
            <a:ext cx="638175" cy="638175"/>
          </a:xfrm>
          <a:prstGeom prst="rect">
            <a:avLst/>
          </a:prstGeom>
        </p:spPr>
      </p:pic>
      <p:sp>
        <p:nvSpPr>
          <p:cNvPr id="111" name="Text 67"/>
          <p:cNvSpPr/>
          <p:nvPr/>
        </p:nvSpPr>
        <p:spPr>
          <a:xfrm>
            <a:off x="1952625" y="4257675"/>
            <a:ext cx="14954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00" dirty="0">
                <a:solidFill>
                  <a:srgbClr val="A2D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from every</a:t>
            </a:r>
            <a:endParaRPr lang="en-US" sz="900" dirty="0"/>
          </a:p>
          <a:p>
            <a:pPr algn="l" indent="0" marL="0">
              <a:lnSpc>
                <a:spcPts val="1434"/>
              </a:lnSpc>
              <a:buNone/>
            </a:pPr>
            <a:r>
              <a:rPr lang="en-US" sz="900" dirty="0">
                <a:solidFill>
                  <a:srgbClr val="A2D8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validation.</a:t>
            </a:r>
            <a:endParaRPr lang="en-US" sz="900" dirty="0"/>
          </a:p>
        </p:txBody>
      </p:sp>
      <p:sp>
        <p:nvSpPr>
          <p:cNvPr id="112" name="Text 68"/>
          <p:cNvSpPr/>
          <p:nvPr/>
        </p:nvSpPr>
        <p:spPr>
          <a:xfrm>
            <a:off x="1952625" y="4067175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8" dirty="0">
                <a:solidFill>
                  <a:srgbClr val="9FD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and structure</a:t>
            </a:r>
            <a:endParaRPr lang="en-US" sz="1108" dirty="0"/>
          </a:p>
        </p:txBody>
      </p:sp>
      <p:sp>
        <p:nvSpPr>
          <p:cNvPr id="113" name="Text 69"/>
          <p:cNvSpPr/>
          <p:nvPr/>
        </p:nvSpPr>
        <p:spPr>
          <a:xfrm>
            <a:off x="1943100" y="3724275"/>
            <a:ext cx="7048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1619" b="1" dirty="0">
                <a:solidFill>
                  <a:srgbClr val="BCE3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</a:t>
            </a:r>
            <a:endParaRPr lang="en-US" sz="1619" dirty="0"/>
          </a:p>
        </p:txBody>
      </p:sp>
      <p:sp>
        <p:nvSpPr>
          <p:cNvPr id="114" name="Text 70"/>
          <p:cNvSpPr/>
          <p:nvPr/>
        </p:nvSpPr>
        <p:spPr>
          <a:xfrm>
            <a:off x="1962150" y="3429000"/>
            <a:ext cx="1143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7"/>
              </a:lnSpc>
              <a:buNone/>
            </a:pPr>
            <a:r>
              <a:rPr lang="en-US" sz="1637" b="1" dirty="0">
                <a:solidFill>
                  <a:srgbClr val="D3EE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637" dirty="0"/>
          </a:p>
        </p:txBody>
      </p:sp>
      <p:sp>
        <p:nvSpPr>
          <p:cNvPr id="115" name="Text 71"/>
          <p:cNvSpPr/>
          <p:nvPr/>
        </p:nvSpPr>
        <p:spPr>
          <a:xfrm>
            <a:off x="1524000" y="3343275"/>
            <a:ext cx="314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25"/>
              </a:lnSpc>
              <a:buNone/>
            </a:pPr>
            <a:r>
              <a:rPr lang="en-US" sz="4170" b="1" dirty="0">
                <a:solidFill>
                  <a:srgbClr val="E2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4170" dirty="0"/>
          </a:p>
        </p:txBody>
      </p:sp>
      <p:pic>
        <p:nvPicPr>
          <p:cNvPr id="116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6750" y="3638550"/>
            <a:ext cx="666750" cy="552450"/>
          </a:xfrm>
          <a:prstGeom prst="rect">
            <a:avLst/>
          </a:prstGeom>
        </p:spPr>
      </p:pic>
      <p:sp>
        <p:nvSpPr>
          <p:cNvPr id="117" name="Shape 72"/>
          <p:cNvSpPr/>
          <p:nvPr/>
        </p:nvSpPr>
        <p:spPr>
          <a:xfrm>
            <a:off x="276225" y="1400175"/>
            <a:ext cx="10058400" cy="1752600"/>
          </a:xfrm>
          <a:prstGeom prst="rect">
            <a:avLst/>
          </a:prstGeom>
          <a:solidFill>
            <a:srgbClr val="FFFFFF"/>
          </a:solidFill>
          <a:ln w="47625">
            <a:solidFill>
              <a:srgbClr val="FDFDFD"/>
            </a:solidFill>
            <a:prstDash val="solid"/>
          </a:ln>
        </p:spPr>
      </p:sp>
      <p:sp>
        <p:nvSpPr>
          <p:cNvPr id="118" name="Shape 73"/>
          <p:cNvSpPr/>
          <p:nvPr/>
        </p:nvSpPr>
        <p:spPr>
          <a:xfrm>
            <a:off x="6829425" y="1476375"/>
            <a:ext cx="3476625" cy="1676400"/>
          </a:xfrm>
          <a:prstGeom prst="rect">
            <a:avLst/>
          </a:prstGeom>
          <a:solidFill>
            <a:srgbClr val="F4FBF6"/>
          </a:solidFill>
          <a:ln w="47625">
            <a:solidFill>
              <a:srgbClr val="FCFCFC"/>
            </a:solidFill>
            <a:prstDash val="solid"/>
          </a:ln>
        </p:spPr>
      </p:sp>
      <p:pic>
        <p:nvPicPr>
          <p:cNvPr id="119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029450" y="1885950"/>
            <a:ext cx="742950" cy="809625"/>
          </a:xfrm>
          <a:prstGeom prst="rect">
            <a:avLst/>
          </a:prstGeom>
        </p:spPr>
      </p:pic>
      <p:sp>
        <p:nvSpPr>
          <p:cNvPr id="120" name="Text 74"/>
          <p:cNvSpPr/>
          <p:nvPr/>
        </p:nvSpPr>
        <p:spPr>
          <a:xfrm>
            <a:off x="7924800" y="2257425"/>
            <a:ext cx="17526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3"/>
              </a:lnSpc>
              <a:buNone/>
            </a:pPr>
            <a:r>
              <a:rPr lang="en-US" sz="1200" dirty="0">
                <a:solidFill>
                  <a:srgbClr val="5E6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How do we run</a:t>
            </a:r>
            <a:endParaRPr lang="en-US" sz="1200" dirty="0"/>
          </a:p>
          <a:p>
            <a:pPr algn="l" indent="0" marL="0">
              <a:lnSpc>
                <a:spcPts val="1753"/>
              </a:lnSpc>
              <a:buNone/>
            </a:pPr>
            <a:r>
              <a:rPr lang="en-US" sz="1200" dirty="0">
                <a:solidFill>
                  <a:srgbClr val="5E6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hallucination test and</a:t>
            </a:r>
            <a:endParaRPr lang="en-US" sz="1200" dirty="0"/>
          </a:p>
          <a:p>
            <a:pPr algn="l" indent="0" marL="0">
              <a:lnSpc>
                <a:spcPts val="1753"/>
              </a:lnSpc>
              <a:buNone/>
            </a:pPr>
            <a:r>
              <a:rPr lang="en-US" sz="1200" dirty="0">
                <a:solidFill>
                  <a:srgbClr val="5E6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report?</a:t>
            </a:r>
            <a:endParaRPr lang="en-US" sz="1200" dirty="0"/>
          </a:p>
        </p:txBody>
      </p:sp>
      <p:sp>
        <p:nvSpPr>
          <p:cNvPr id="121" name="Text 75"/>
          <p:cNvSpPr/>
          <p:nvPr/>
        </p:nvSpPr>
        <p:spPr>
          <a:xfrm>
            <a:off x="7934325" y="1971675"/>
            <a:ext cx="1704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339" b="1" dirty="0">
                <a:solidFill>
                  <a:srgbClr val="445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operate?</a:t>
            </a:r>
            <a:endParaRPr lang="en-US" sz="1339" dirty="0"/>
          </a:p>
        </p:txBody>
      </p:sp>
      <p:sp>
        <p:nvSpPr>
          <p:cNvPr id="122" name="Text 76"/>
          <p:cNvSpPr/>
          <p:nvPr/>
        </p:nvSpPr>
        <p:spPr>
          <a:xfrm>
            <a:off x="7934325" y="1638300"/>
            <a:ext cx="1581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1126" b="1" dirty="0">
                <a:solidFill>
                  <a:srgbClr val="4F9D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the question:</a:t>
            </a:r>
            <a:endParaRPr lang="en-US" sz="1126" dirty="0"/>
          </a:p>
        </p:txBody>
      </p:sp>
      <p:sp>
        <p:nvSpPr>
          <p:cNvPr id="123" name="Text 77"/>
          <p:cNvSpPr/>
          <p:nvPr/>
        </p:nvSpPr>
        <p:spPr>
          <a:xfrm>
            <a:off x="4124325" y="2743200"/>
            <a:ext cx="1571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85" dirty="0">
                <a:solidFill>
                  <a:srgbClr val="5D5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&amp; follow-up</a:t>
            </a:r>
            <a:endParaRPr lang="en-US" sz="1185" dirty="0"/>
          </a:p>
        </p:txBody>
      </p:sp>
      <p:pic>
        <p:nvPicPr>
          <p:cNvPr id="124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943350" y="2828925"/>
            <a:ext cx="38100" cy="47625"/>
          </a:xfrm>
          <a:prstGeom prst="rect">
            <a:avLst/>
          </a:prstGeom>
        </p:spPr>
      </p:pic>
      <p:sp>
        <p:nvSpPr>
          <p:cNvPr id="125" name="Text 78"/>
          <p:cNvSpPr/>
          <p:nvPr/>
        </p:nvSpPr>
        <p:spPr>
          <a:xfrm>
            <a:off x="4124325" y="25241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40" dirty="0">
                <a:solidFill>
                  <a:srgbClr val="5A5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&amp; dashboards</a:t>
            </a:r>
            <a:endParaRPr lang="en-US" sz="1140" dirty="0"/>
          </a:p>
        </p:txBody>
      </p:sp>
      <p:pic>
        <p:nvPicPr>
          <p:cNvPr id="126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943350" y="2600325"/>
            <a:ext cx="38100" cy="38100"/>
          </a:xfrm>
          <a:prstGeom prst="rect">
            <a:avLst/>
          </a:prstGeom>
        </p:spPr>
      </p:pic>
      <p:sp>
        <p:nvSpPr>
          <p:cNvPr id="127" name="Text 79"/>
          <p:cNvSpPr/>
          <p:nvPr/>
        </p:nvSpPr>
        <p:spPr>
          <a:xfrm>
            <a:off x="4114800" y="2295525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48" dirty="0">
                <a:solidFill>
                  <a:srgbClr val="5F5F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execution (Layer 2)</a:t>
            </a:r>
            <a:endParaRPr lang="en-US" sz="1148" dirty="0"/>
          </a:p>
        </p:txBody>
      </p:sp>
      <p:pic>
        <p:nvPicPr>
          <p:cNvPr id="128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943350" y="2381250"/>
            <a:ext cx="38100" cy="28575"/>
          </a:xfrm>
          <a:prstGeom prst="rect">
            <a:avLst/>
          </a:prstGeom>
        </p:spPr>
      </p:pic>
      <p:sp>
        <p:nvSpPr>
          <p:cNvPr id="129" name="Text 80"/>
          <p:cNvSpPr/>
          <p:nvPr/>
        </p:nvSpPr>
        <p:spPr>
          <a:xfrm>
            <a:off x="4124325" y="2066925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31"/>
              </a:lnSpc>
              <a:buNone/>
            </a:pPr>
            <a:r>
              <a:rPr lang="en-US" sz="1153" dirty="0">
                <a:solidFill>
                  <a:srgbClr val="6162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Questionnaires &amp; risk triage</a:t>
            </a:r>
            <a:endParaRPr lang="en-US" sz="1153" dirty="0"/>
          </a:p>
        </p:txBody>
      </p:sp>
      <p:pic>
        <p:nvPicPr>
          <p:cNvPr id="130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943350" y="2152650"/>
            <a:ext cx="38100" cy="38100"/>
          </a:xfrm>
          <a:prstGeom prst="rect">
            <a:avLst/>
          </a:prstGeom>
        </p:spPr>
      </p:pic>
      <p:sp>
        <p:nvSpPr>
          <p:cNvPr id="131" name="Text 81"/>
          <p:cNvSpPr/>
          <p:nvPr/>
        </p:nvSpPr>
        <p:spPr>
          <a:xfrm>
            <a:off x="4124325" y="1838325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8"/>
              </a:lnSpc>
              <a:buNone/>
            </a:pPr>
            <a:r>
              <a:rPr lang="en-US" sz="1174" dirty="0">
                <a:solidFill>
                  <a:srgbClr val="606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&amp; model inventory</a:t>
            </a:r>
            <a:endParaRPr lang="en-US" sz="1174" dirty="0"/>
          </a:p>
        </p:txBody>
      </p:sp>
      <p:pic>
        <p:nvPicPr>
          <p:cNvPr id="132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943350" y="1924050"/>
            <a:ext cx="38100" cy="38100"/>
          </a:xfrm>
          <a:prstGeom prst="rect">
            <a:avLst/>
          </a:prstGeom>
        </p:spPr>
      </p:pic>
      <p:sp>
        <p:nvSpPr>
          <p:cNvPr id="133" name="Text 82"/>
          <p:cNvSpPr/>
          <p:nvPr/>
        </p:nvSpPr>
        <p:spPr>
          <a:xfrm>
            <a:off x="3971925" y="1581150"/>
            <a:ext cx="1181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63" b="1" dirty="0">
                <a:solidFill>
                  <a:srgbClr val="4D6C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</a:t>
            </a:r>
            <a:endParaRPr lang="en-US" sz="1163" dirty="0"/>
          </a:p>
        </p:txBody>
      </p:sp>
      <p:pic>
        <p:nvPicPr>
          <p:cNvPr id="134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23850" y="1457325"/>
            <a:ext cx="3390900" cy="1685925"/>
          </a:xfrm>
          <a:prstGeom prst="rect">
            <a:avLst/>
          </a:prstGeom>
        </p:spPr>
      </p:pic>
      <p:pic>
        <p:nvPicPr>
          <p:cNvPr id="135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85800" y="2019300"/>
            <a:ext cx="647700" cy="619125"/>
          </a:xfrm>
          <a:prstGeom prst="rect">
            <a:avLst/>
          </a:prstGeom>
        </p:spPr>
      </p:pic>
      <p:sp>
        <p:nvSpPr>
          <p:cNvPr id="136" name="Text 83"/>
          <p:cNvSpPr/>
          <p:nvPr/>
        </p:nvSpPr>
        <p:spPr>
          <a:xfrm>
            <a:off x="1962150" y="2581275"/>
            <a:ext cx="11525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975" dirty="0">
                <a:solidFill>
                  <a:srgbClr val="9DB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risk validation</a:t>
            </a:r>
            <a:endParaRPr lang="en-US" sz="975" dirty="0"/>
          </a:p>
          <a:p>
            <a:pPr algn="l" indent="0" marL="0">
              <a:lnSpc>
                <a:spcPts val="1553"/>
              </a:lnSpc>
              <a:buNone/>
            </a:pPr>
            <a:r>
              <a:rPr lang="en-US" sz="975" dirty="0">
                <a:solidFill>
                  <a:srgbClr val="9DB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end-to-end.</a:t>
            </a:r>
            <a:endParaRPr lang="en-US" sz="975" dirty="0"/>
          </a:p>
        </p:txBody>
      </p:sp>
      <p:sp>
        <p:nvSpPr>
          <p:cNvPr id="137" name="Text 84"/>
          <p:cNvSpPr/>
          <p:nvPr/>
        </p:nvSpPr>
        <p:spPr>
          <a:xfrm>
            <a:off x="1962150" y="238125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1158" dirty="0">
                <a:solidFill>
                  <a:srgbClr val="A5BB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Digitise and operate</a:t>
            </a:r>
            <a:endParaRPr lang="en-US" sz="1158" dirty="0"/>
          </a:p>
        </p:txBody>
      </p:sp>
      <p:sp>
        <p:nvSpPr>
          <p:cNvPr id="138" name="Text 85"/>
          <p:cNvSpPr/>
          <p:nvPr/>
        </p:nvSpPr>
        <p:spPr>
          <a:xfrm>
            <a:off x="1962150" y="1714500"/>
            <a:ext cx="12382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79"/>
              </a:lnSpc>
              <a:buNone/>
            </a:pPr>
            <a:r>
              <a:rPr lang="en-US" sz="1702" b="1" dirty="0">
                <a:solidFill>
                  <a:srgbClr val="D6E0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1702" dirty="0"/>
          </a:p>
          <a:p>
            <a:pPr algn="l" indent="0" marL="0">
              <a:lnSpc>
                <a:spcPts val="2079"/>
              </a:lnSpc>
              <a:buNone/>
            </a:pPr>
            <a:r>
              <a:rPr lang="en-US" sz="1702" b="1" dirty="0">
                <a:solidFill>
                  <a:srgbClr val="D6E0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1702" dirty="0"/>
          </a:p>
        </p:txBody>
      </p:sp>
      <p:sp>
        <p:nvSpPr>
          <p:cNvPr id="139" name="Text 86"/>
          <p:cNvSpPr/>
          <p:nvPr/>
        </p:nvSpPr>
        <p:spPr>
          <a:xfrm>
            <a:off x="1581150" y="1714500"/>
            <a:ext cx="20002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65"/>
              </a:lnSpc>
              <a:buNone/>
            </a:pPr>
            <a:r>
              <a:rPr lang="en-US" sz="2747" b="1" dirty="0">
                <a:solidFill>
                  <a:srgbClr val="E8ED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747" dirty="0"/>
          </a:p>
        </p:txBody>
      </p:sp>
      <p:pic>
        <p:nvPicPr>
          <p:cNvPr id="140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14300" y="571500"/>
            <a:ext cx="28575" cy="38100"/>
          </a:xfrm>
          <a:prstGeom prst="rect">
            <a:avLst/>
          </a:prstGeom>
        </p:spPr>
      </p:pic>
      <p:pic>
        <p:nvPicPr>
          <p:cNvPr id="141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0" y="581025"/>
            <a:ext cx="38100" cy="28575"/>
          </a:xfrm>
          <a:prstGeom prst="rect">
            <a:avLst/>
          </a:prstGeom>
        </p:spPr>
      </p:pic>
      <p:pic>
        <p:nvPicPr>
          <p:cNvPr id="142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5250" y="447675"/>
            <a:ext cx="57150" cy="66675"/>
          </a:xfrm>
          <a:prstGeom prst="rect">
            <a:avLst/>
          </a:prstGeom>
        </p:spPr>
      </p:pic>
      <p:pic>
        <p:nvPicPr>
          <p:cNvPr id="143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0" y="457200"/>
            <a:ext cx="47625" cy="47625"/>
          </a:xfrm>
          <a:prstGeom prst="rect">
            <a:avLst/>
          </a:prstGeom>
        </p:spPr>
      </p:pic>
      <p:pic>
        <p:nvPicPr>
          <p:cNvPr id="144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0" y="333375"/>
            <a:ext cx="57150" cy="76200"/>
          </a:xfrm>
          <a:prstGeom prst="rect">
            <a:avLst/>
          </a:prstGeom>
        </p:spPr>
      </p:pic>
      <p:sp>
        <p:nvSpPr>
          <p:cNvPr id="145" name="Shape 87"/>
          <p:cNvSpPr/>
          <p:nvPr/>
        </p:nvSpPr>
        <p:spPr>
          <a:xfrm>
            <a:off x="10839450" y="180975"/>
            <a:ext cx="3352800" cy="1133475"/>
          </a:xfrm>
          <a:prstGeom prst="roundRect">
            <a:avLst>
              <a:gd name="adj" fmla="val 8403"/>
            </a:avLst>
          </a:prstGeom>
          <a:solidFill>
            <a:srgbClr val="EEF8F1"/>
          </a:solidFill>
          <a:ln/>
        </p:spPr>
      </p:sp>
      <p:pic>
        <p:nvPicPr>
          <p:cNvPr id="146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1020425" y="361950"/>
            <a:ext cx="628650" cy="704850"/>
          </a:xfrm>
          <a:prstGeom prst="rect">
            <a:avLst/>
          </a:prstGeom>
        </p:spPr>
      </p:pic>
      <p:sp>
        <p:nvSpPr>
          <p:cNvPr id="147" name="Text 88"/>
          <p:cNvSpPr/>
          <p:nvPr/>
        </p:nvSpPr>
        <p:spPr>
          <a:xfrm>
            <a:off x="11753850" y="609600"/>
            <a:ext cx="2266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00" dirty="0">
                <a:solidFill>
                  <a:srgbClr val="606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become the trusted source of</a:t>
            </a:r>
            <a:endParaRPr lang="en-US" sz="900" dirty="0"/>
          </a:p>
          <a:p>
            <a:pPr algn="l" indent="0" marL="0">
              <a:lnSpc>
                <a:spcPts val="1434"/>
              </a:lnSpc>
              <a:buNone/>
            </a:pPr>
            <a:r>
              <a:rPr lang="en-US" sz="900" dirty="0">
                <a:solidFill>
                  <a:srgbClr val="606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Risk intelligence that empowers</a:t>
            </a:r>
            <a:endParaRPr lang="en-US" sz="900" dirty="0"/>
          </a:p>
          <a:p>
            <a:pPr algn="l" indent="0" marL="0">
              <a:lnSpc>
                <a:spcPts val="1434"/>
              </a:lnSpc>
              <a:buNone/>
            </a:pPr>
            <a:r>
              <a:rPr lang="en-US" sz="900" dirty="0">
                <a:solidFill>
                  <a:srgbClr val="606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decisions across the bank.</a:t>
            </a:r>
            <a:endParaRPr lang="en-US" sz="900" dirty="0"/>
          </a:p>
        </p:txBody>
      </p:sp>
      <p:sp>
        <p:nvSpPr>
          <p:cNvPr id="148" name="Text 89"/>
          <p:cNvSpPr/>
          <p:nvPr/>
        </p:nvSpPr>
        <p:spPr>
          <a:xfrm>
            <a:off x="11753850" y="352425"/>
            <a:ext cx="1266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1385" b="1" dirty="0">
                <a:solidFill>
                  <a:srgbClr val="404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North Star</a:t>
            </a:r>
            <a:endParaRPr lang="en-US" sz="1385" dirty="0"/>
          </a:p>
        </p:txBody>
      </p:sp>
      <p:sp>
        <p:nvSpPr>
          <p:cNvPr id="149" name="Text 90"/>
          <p:cNvSpPr/>
          <p:nvPr/>
        </p:nvSpPr>
        <p:spPr>
          <a:xfrm>
            <a:off x="438150" y="876300"/>
            <a:ext cx="981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1"/>
              </a:lnSpc>
              <a:buNone/>
            </a:pPr>
            <a:r>
              <a:rPr lang="en-US" sz="1458" b="1" dirty="0">
                <a:solidFill>
                  <a:srgbClr val="8C8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an operational platform to an organisational memory and Al Risk intelligence that no one can replicate</a:t>
            </a:r>
            <a:endParaRPr lang="en-US" sz="1458" dirty="0"/>
          </a:p>
        </p:txBody>
      </p:sp>
      <p:pic>
        <p:nvPicPr>
          <p:cNvPr id="150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28600" y="581025"/>
            <a:ext cx="19050" cy="19050"/>
          </a:xfrm>
          <a:prstGeom prst="rect">
            <a:avLst/>
          </a:prstGeom>
        </p:spPr>
      </p:pic>
      <p:pic>
        <p:nvPicPr>
          <p:cNvPr id="151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23850" y="466725"/>
            <a:ext cx="47625" cy="38100"/>
          </a:xfrm>
          <a:prstGeom prst="rect">
            <a:avLst/>
          </a:prstGeom>
        </p:spPr>
      </p:pic>
      <p:sp>
        <p:nvSpPr>
          <p:cNvPr id="152" name="Text 91"/>
          <p:cNvSpPr/>
          <p:nvPr/>
        </p:nvSpPr>
        <p:spPr>
          <a:xfrm>
            <a:off x="428625" y="285750"/>
            <a:ext cx="92106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887" b="1" dirty="0">
                <a:solidFill>
                  <a:srgbClr val="1F2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Long Term Strategy: Four Layers of Advantage</a:t>
            </a:r>
            <a:endParaRPr lang="en-US" sz="2887" dirty="0"/>
          </a:p>
        </p:txBody>
      </p:sp>
      <p:pic>
        <p:nvPicPr>
          <p:cNvPr id="153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09550" y="457200"/>
            <a:ext cx="57150" cy="47625"/>
          </a:xfrm>
          <a:prstGeom prst="rect">
            <a:avLst/>
          </a:prstGeom>
        </p:spPr>
      </p:pic>
      <p:pic>
        <p:nvPicPr>
          <p:cNvPr id="154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04875" y="19050"/>
            <a:ext cx="28575" cy="38100"/>
          </a:xfrm>
          <a:prstGeom prst="rect">
            <a:avLst/>
          </a:prstGeom>
        </p:spPr>
      </p:pic>
      <p:pic>
        <p:nvPicPr>
          <p:cNvPr id="155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33400" y="0"/>
            <a:ext cx="76200" cy="76200"/>
          </a:xfrm>
          <a:prstGeom prst="rect">
            <a:avLst/>
          </a:prstGeom>
        </p:spPr>
      </p:pic>
      <p:pic>
        <p:nvPicPr>
          <p:cNvPr id="156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90500" y="0"/>
            <a:ext cx="95250" cy="85725"/>
          </a:xfrm>
          <a:prstGeom prst="rect">
            <a:avLst/>
          </a:prstGeom>
        </p:spPr>
      </p:pic>
      <p:pic>
        <p:nvPicPr>
          <p:cNvPr id="157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4544675" y="9572625"/>
            <a:ext cx="85725" cy="85725"/>
          </a:xfrm>
          <a:prstGeom prst="rect">
            <a:avLst/>
          </a:prstGeom>
        </p:spPr>
      </p:pic>
      <p:pic>
        <p:nvPicPr>
          <p:cNvPr id="158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4439900" y="9582150"/>
            <a:ext cx="76200" cy="76200"/>
          </a:xfrm>
          <a:prstGeom prst="rect">
            <a:avLst/>
          </a:prstGeom>
        </p:spPr>
      </p:pic>
      <p:pic>
        <p:nvPicPr>
          <p:cNvPr id="159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4325600" y="9582150"/>
            <a:ext cx="76200" cy="76200"/>
          </a:xfrm>
          <a:prstGeom prst="rect">
            <a:avLst/>
          </a:prstGeom>
        </p:spPr>
      </p:pic>
      <p:pic>
        <p:nvPicPr>
          <p:cNvPr id="160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4220825" y="9582150"/>
            <a:ext cx="76200" cy="66675"/>
          </a:xfrm>
          <a:prstGeom prst="rect">
            <a:avLst/>
          </a:prstGeom>
        </p:spPr>
      </p:pic>
      <p:pic>
        <p:nvPicPr>
          <p:cNvPr id="161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4106525" y="9582150"/>
            <a:ext cx="76200" cy="66675"/>
          </a:xfrm>
          <a:prstGeom prst="rect">
            <a:avLst/>
          </a:prstGeom>
        </p:spPr>
      </p:pic>
      <p:pic>
        <p:nvPicPr>
          <p:cNvPr id="162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4001750" y="9582150"/>
            <a:ext cx="66675" cy="66675"/>
          </a:xfrm>
          <a:prstGeom prst="rect">
            <a:avLst/>
          </a:prstGeom>
        </p:spPr>
      </p:pic>
      <p:pic>
        <p:nvPicPr>
          <p:cNvPr id="163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3896975" y="9582150"/>
            <a:ext cx="57150" cy="57150"/>
          </a:xfrm>
          <a:prstGeom prst="rect">
            <a:avLst/>
          </a:prstGeom>
        </p:spPr>
      </p:pic>
      <p:pic>
        <p:nvPicPr>
          <p:cNvPr id="164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3792200" y="9591675"/>
            <a:ext cx="38100" cy="47625"/>
          </a:xfrm>
          <a:prstGeom prst="rect">
            <a:avLst/>
          </a:prstGeom>
        </p:spPr>
      </p:pic>
      <p:pic>
        <p:nvPicPr>
          <p:cNvPr id="165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3677900" y="9591675"/>
            <a:ext cx="38100" cy="38100"/>
          </a:xfrm>
          <a:prstGeom prst="rect">
            <a:avLst/>
          </a:prstGeom>
        </p:spPr>
      </p:pic>
      <p:pic>
        <p:nvPicPr>
          <p:cNvPr id="166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4554200" y="9477375"/>
            <a:ext cx="66675" cy="66675"/>
          </a:xfrm>
          <a:prstGeom prst="rect">
            <a:avLst/>
          </a:prstGeom>
        </p:spPr>
      </p:pic>
      <p:pic>
        <p:nvPicPr>
          <p:cNvPr id="167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14449425" y="9477375"/>
            <a:ext cx="66675" cy="66675"/>
          </a:xfrm>
          <a:prstGeom prst="rect">
            <a:avLst/>
          </a:prstGeom>
        </p:spPr>
      </p:pic>
      <p:pic>
        <p:nvPicPr>
          <p:cNvPr id="168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14335125" y="9477375"/>
            <a:ext cx="66675" cy="66675"/>
          </a:xfrm>
          <a:prstGeom prst="rect">
            <a:avLst/>
          </a:prstGeom>
        </p:spPr>
      </p:pic>
      <p:pic>
        <p:nvPicPr>
          <p:cNvPr id="169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14230350" y="9486900"/>
            <a:ext cx="57150" cy="47625"/>
          </a:xfrm>
          <a:prstGeom prst="rect">
            <a:avLst/>
          </a:prstGeom>
        </p:spPr>
      </p:pic>
      <p:pic>
        <p:nvPicPr>
          <p:cNvPr id="170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14116050" y="9486900"/>
            <a:ext cx="57150" cy="57150"/>
          </a:xfrm>
          <a:prstGeom prst="rect">
            <a:avLst/>
          </a:prstGeom>
        </p:spPr>
      </p:pic>
      <p:pic>
        <p:nvPicPr>
          <p:cNvPr id="171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14011275" y="9486900"/>
            <a:ext cx="47625" cy="47625"/>
          </a:xfrm>
          <a:prstGeom prst="rect">
            <a:avLst/>
          </a:prstGeom>
        </p:spPr>
      </p:pic>
      <p:pic>
        <p:nvPicPr>
          <p:cNvPr id="172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13906500" y="9496425"/>
            <a:ext cx="38100" cy="38100"/>
          </a:xfrm>
          <a:prstGeom prst="rect">
            <a:avLst/>
          </a:prstGeom>
        </p:spPr>
      </p:pic>
      <p:pic>
        <p:nvPicPr>
          <p:cNvPr id="173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13792200" y="9496425"/>
            <a:ext cx="38100" cy="28575"/>
          </a:xfrm>
          <a:prstGeom prst="rect">
            <a:avLst/>
          </a:prstGeom>
        </p:spPr>
      </p:pic>
      <p:pic>
        <p:nvPicPr>
          <p:cNvPr id="174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14563725" y="9391650"/>
            <a:ext cx="57150" cy="47625"/>
          </a:xfrm>
          <a:prstGeom prst="rect">
            <a:avLst/>
          </a:prstGeom>
        </p:spPr>
      </p:pic>
      <p:pic>
        <p:nvPicPr>
          <p:cNvPr id="175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14458950" y="9391650"/>
            <a:ext cx="38100" cy="38100"/>
          </a:xfrm>
          <a:prstGeom prst="rect">
            <a:avLst/>
          </a:prstGeom>
        </p:spPr>
      </p:pic>
      <p:pic>
        <p:nvPicPr>
          <p:cNvPr id="176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14344650" y="9391650"/>
            <a:ext cx="47625" cy="38100"/>
          </a:xfrm>
          <a:prstGeom prst="rect">
            <a:avLst/>
          </a:prstGeom>
        </p:spPr>
      </p:pic>
      <p:pic>
        <p:nvPicPr>
          <p:cNvPr id="177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14239875" y="9391650"/>
            <a:ext cx="38100" cy="38100"/>
          </a:xfrm>
          <a:prstGeom prst="rect">
            <a:avLst/>
          </a:prstGeom>
        </p:spPr>
      </p:pic>
      <p:pic>
        <p:nvPicPr>
          <p:cNvPr id="178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14125575" y="9391650"/>
            <a:ext cx="38100" cy="38100"/>
          </a:xfrm>
          <a:prstGeom prst="rect">
            <a:avLst/>
          </a:prstGeom>
        </p:spPr>
      </p:pic>
      <p:pic>
        <p:nvPicPr>
          <p:cNvPr id="179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0" y="9391650"/>
            <a:ext cx="1028700" cy="342900"/>
          </a:xfrm>
          <a:prstGeom prst="rect">
            <a:avLst/>
          </a:prstGeom>
        </p:spPr>
      </p:pic>
      <p:pic>
        <p:nvPicPr>
          <p:cNvPr id="180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647700" y="9591675"/>
            <a:ext cx="57150" cy="47625"/>
          </a:xfrm>
          <a:prstGeom prst="rect">
            <a:avLst/>
          </a:prstGeom>
        </p:spPr>
      </p:pic>
      <p:pic>
        <p:nvPicPr>
          <p:cNvPr id="181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533400" y="9582150"/>
            <a:ext cx="66675" cy="57150"/>
          </a:xfrm>
          <a:prstGeom prst="rect">
            <a:avLst/>
          </a:prstGeom>
        </p:spPr>
      </p:pic>
      <p:pic>
        <p:nvPicPr>
          <p:cNvPr id="182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419100" y="9582150"/>
            <a:ext cx="76200" cy="66675"/>
          </a:xfrm>
          <a:prstGeom prst="rect">
            <a:avLst/>
          </a:prstGeom>
        </p:spPr>
      </p:pic>
      <p:pic>
        <p:nvPicPr>
          <p:cNvPr id="183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304800" y="9582150"/>
            <a:ext cx="76200" cy="66675"/>
          </a:xfrm>
          <a:prstGeom prst="rect">
            <a:avLst/>
          </a:prstGeom>
        </p:spPr>
      </p:pic>
      <p:pic>
        <p:nvPicPr>
          <p:cNvPr id="184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190500" y="9582150"/>
            <a:ext cx="85725" cy="66675"/>
          </a:xfrm>
          <a:prstGeom prst="rect">
            <a:avLst/>
          </a:prstGeom>
        </p:spPr>
      </p:pic>
      <p:pic>
        <p:nvPicPr>
          <p:cNvPr id="185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85725" y="9582150"/>
            <a:ext cx="76200" cy="66675"/>
          </a:xfrm>
          <a:prstGeom prst="rect">
            <a:avLst/>
          </a:prstGeom>
        </p:spPr>
      </p:pic>
      <p:pic>
        <p:nvPicPr>
          <p:cNvPr id="186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0" y="9572625"/>
            <a:ext cx="57150" cy="95250"/>
          </a:xfrm>
          <a:prstGeom prst="rect">
            <a:avLst/>
          </a:prstGeom>
        </p:spPr>
      </p:pic>
      <p:pic>
        <p:nvPicPr>
          <p:cNvPr id="187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542925" y="9486900"/>
            <a:ext cx="47625" cy="47625"/>
          </a:xfrm>
          <a:prstGeom prst="rect">
            <a:avLst/>
          </a:prstGeom>
        </p:spPr>
      </p:pic>
      <p:pic>
        <p:nvPicPr>
          <p:cNvPr id="188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428625" y="9486900"/>
            <a:ext cx="57150" cy="47625"/>
          </a:xfrm>
          <a:prstGeom prst="rect">
            <a:avLst/>
          </a:prstGeom>
        </p:spPr>
      </p:pic>
      <p:pic>
        <p:nvPicPr>
          <p:cNvPr id="189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314325" y="9477375"/>
            <a:ext cx="57150" cy="66675"/>
          </a:xfrm>
          <a:prstGeom prst="rect">
            <a:avLst/>
          </a:prstGeom>
        </p:spPr>
      </p:pic>
      <p:pic>
        <p:nvPicPr>
          <p:cNvPr id="190" name="Image 96" descr="preencoded.png">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200025" y="9477375"/>
            <a:ext cx="66675" cy="66675"/>
          </a:xfrm>
          <a:prstGeom prst="rect">
            <a:avLst/>
          </a:prstGeom>
        </p:spPr>
      </p:pic>
      <p:pic>
        <p:nvPicPr>
          <p:cNvPr id="191" name="Image 97" descr="preencoded.png">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85725" y="9477375"/>
            <a:ext cx="76200" cy="66675"/>
          </a:xfrm>
          <a:prstGeom prst="rect">
            <a:avLst/>
          </a:prstGeom>
        </p:spPr>
      </p:pic>
      <p:pic>
        <p:nvPicPr>
          <p:cNvPr id="192" name="Image 98" descr="preencoded.png">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0" y="9486900"/>
            <a:ext cx="47625" cy="57150"/>
          </a:xfrm>
          <a:prstGeom prst="rect">
            <a:avLst/>
          </a:prstGeom>
        </p:spPr>
      </p:pic>
      <p:sp>
        <p:nvSpPr>
          <p:cNvPr id="193" name="Shape 92"/>
          <p:cNvSpPr/>
          <p:nvPr/>
        </p:nvSpPr>
        <p:spPr>
          <a:xfrm>
            <a:off x="2276475" y="9334500"/>
            <a:ext cx="9124950" cy="371475"/>
          </a:xfrm>
          <a:prstGeom prst="roundRect">
            <a:avLst>
              <a:gd name="adj" fmla="val 10256"/>
            </a:avLst>
          </a:prstGeom>
          <a:solidFill>
            <a:srgbClr val="EFF8F2"/>
          </a:solidFill>
          <a:ln/>
        </p:spPr>
      </p:sp>
      <p:pic>
        <p:nvPicPr>
          <p:cNvPr id="194" name="Image 99" descr="preencoded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562225" y="9410700"/>
            <a:ext cx="276225" cy="209550"/>
          </a:xfrm>
          <a:prstGeom prst="rect">
            <a:avLst/>
          </a:prstGeom>
        </p:spPr>
      </p:pic>
      <p:sp>
        <p:nvSpPr>
          <p:cNvPr id="195" name="Text 93"/>
          <p:cNvSpPr/>
          <p:nvPr/>
        </p:nvSpPr>
        <p:spPr>
          <a:xfrm>
            <a:off x="6648450" y="9391650"/>
            <a:ext cx="4114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3"/>
              </a:lnSpc>
              <a:buNone/>
            </a:pPr>
            <a:r>
              <a:rPr lang="en-US" sz="1630" b="1" dirty="0">
                <a:solidFill>
                  <a:srgbClr val="309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building the bank's Al Risk brain.</a:t>
            </a:r>
            <a:endParaRPr lang="en-US" sz="1630" dirty="0"/>
          </a:p>
        </p:txBody>
      </p:sp>
      <p:sp>
        <p:nvSpPr>
          <p:cNvPr id="196" name="Text 94"/>
          <p:cNvSpPr/>
          <p:nvPr/>
        </p:nvSpPr>
        <p:spPr>
          <a:xfrm>
            <a:off x="3143250" y="9410700"/>
            <a:ext cx="34004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83"/>
              </a:lnSpc>
              <a:buNone/>
            </a:pPr>
            <a:r>
              <a:rPr lang="en-US" sz="1554" b="1" dirty="0">
                <a:solidFill>
                  <a:srgbClr val="414E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not just building a platform.</a:t>
            </a:r>
            <a:endParaRPr lang="en-US" sz="1554" dirty="0"/>
          </a:p>
        </p:txBody>
      </p:sp>
      <p:pic>
        <p:nvPicPr>
          <p:cNvPr id="197" name="Image 100" descr="preencoded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14544675" y="9677400"/>
            <a:ext cx="85725" cy="76200"/>
          </a:xfrm>
          <a:prstGeom prst="rect">
            <a:avLst/>
          </a:prstGeom>
        </p:spPr>
      </p:pic>
      <p:pic>
        <p:nvPicPr>
          <p:cNvPr id="198" name="Image 101" descr="preencoded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14430375" y="9677400"/>
            <a:ext cx="95250" cy="76200"/>
          </a:xfrm>
          <a:prstGeom prst="rect">
            <a:avLst/>
          </a:prstGeom>
        </p:spPr>
      </p:pic>
      <p:pic>
        <p:nvPicPr>
          <p:cNvPr id="199" name="Image 102" descr="preencoded.png">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14316075" y="9677400"/>
            <a:ext cx="95250" cy="76200"/>
          </a:xfrm>
          <a:prstGeom prst="rect">
            <a:avLst/>
          </a:prstGeom>
        </p:spPr>
      </p:pic>
      <p:pic>
        <p:nvPicPr>
          <p:cNvPr id="200" name="Image 103" descr="preencoded.png">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14211300" y="9677400"/>
            <a:ext cx="85725" cy="76200"/>
          </a:xfrm>
          <a:prstGeom prst="rect">
            <a:avLst/>
          </a:prstGeom>
        </p:spPr>
      </p:pic>
      <p:pic>
        <p:nvPicPr>
          <p:cNvPr id="201" name="Image 104" descr="preencoded.png">    </p:cNvPr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14106525" y="9677400"/>
            <a:ext cx="76200" cy="76200"/>
          </a:xfrm>
          <a:prstGeom prst="rect">
            <a:avLst/>
          </a:prstGeom>
        </p:spPr>
      </p:pic>
      <p:pic>
        <p:nvPicPr>
          <p:cNvPr id="202" name="Image 105" descr="preencoded.png">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13992225" y="9686925"/>
            <a:ext cx="76200" cy="66675"/>
          </a:xfrm>
          <a:prstGeom prst="rect">
            <a:avLst/>
          </a:prstGeom>
        </p:spPr>
      </p:pic>
      <p:pic>
        <p:nvPicPr>
          <p:cNvPr id="203" name="Image 106" descr="preencoded.png">    </p:cNvPr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13887450" y="9686925"/>
            <a:ext cx="66675" cy="66675"/>
          </a:xfrm>
          <a:prstGeom prst="rect">
            <a:avLst/>
          </a:prstGeom>
        </p:spPr>
      </p:pic>
      <p:pic>
        <p:nvPicPr>
          <p:cNvPr id="204" name="Image 107" descr="preencoded.png">    </p:cNvPr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13782675" y="9696450"/>
            <a:ext cx="57150" cy="47625"/>
          </a:xfrm>
          <a:prstGeom prst="rect">
            <a:avLst/>
          </a:prstGeom>
        </p:spPr>
      </p:pic>
      <p:pic>
        <p:nvPicPr>
          <p:cNvPr id="205" name="Image 108" descr="preencoded.png">    </p:cNvPr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13677900" y="9696450"/>
            <a:ext cx="47625" cy="47625"/>
          </a:xfrm>
          <a:prstGeom prst="rect">
            <a:avLst/>
          </a:prstGeom>
        </p:spPr>
      </p:pic>
      <p:pic>
        <p:nvPicPr>
          <p:cNvPr id="206" name="Image 109" descr="preencoded.png">    </p:cNvPr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13573125" y="9696450"/>
            <a:ext cx="28575" cy="38100"/>
          </a:xfrm>
          <a:prstGeom prst="rect">
            <a:avLst/>
          </a:prstGeom>
        </p:spPr>
      </p:pic>
      <p:pic>
        <p:nvPicPr>
          <p:cNvPr id="207" name="Image 110" descr="preencoded.png">    </p:cNvPr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762000" y="9696450"/>
            <a:ext cx="47625" cy="47625"/>
          </a:xfrm>
          <a:prstGeom prst="rect">
            <a:avLst/>
          </a:prstGeom>
        </p:spPr>
      </p:pic>
      <p:pic>
        <p:nvPicPr>
          <p:cNvPr id="208" name="Image 111" descr="preencoded.png">    </p:cNvPr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647700" y="9686925"/>
            <a:ext cx="57150" cy="66675"/>
          </a:xfrm>
          <a:prstGeom prst="rect">
            <a:avLst/>
          </a:prstGeom>
        </p:spPr>
      </p:pic>
      <p:pic>
        <p:nvPicPr>
          <p:cNvPr id="209" name="Image 112" descr="preencoded.png">    </p:cNvPr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533400" y="9686925"/>
            <a:ext cx="66675" cy="66675"/>
          </a:xfrm>
          <a:prstGeom prst="rect">
            <a:avLst/>
          </a:prstGeom>
        </p:spPr>
      </p:pic>
      <p:pic>
        <p:nvPicPr>
          <p:cNvPr id="210" name="Image 113" descr="preencoded.png">    </p:cNvPr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409575" y="9677400"/>
            <a:ext cx="85725" cy="76200"/>
          </a:xfrm>
          <a:prstGeom prst="rect">
            <a:avLst/>
          </a:prstGeom>
        </p:spPr>
      </p:pic>
      <p:pic>
        <p:nvPicPr>
          <p:cNvPr id="211" name="Image 114" descr="preencoded.png">    </p:cNvPr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304800" y="9677400"/>
            <a:ext cx="85725" cy="76200"/>
          </a:xfrm>
          <a:prstGeom prst="rect">
            <a:avLst/>
          </a:prstGeom>
        </p:spPr>
      </p:pic>
      <p:pic>
        <p:nvPicPr>
          <p:cNvPr id="212" name="Image 115" descr="preencoded.png">    </p:cNvPr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190500" y="9677400"/>
            <a:ext cx="85725" cy="76200"/>
          </a:xfrm>
          <a:prstGeom prst="rect">
            <a:avLst/>
          </a:prstGeom>
        </p:spPr>
      </p:pic>
      <p:pic>
        <p:nvPicPr>
          <p:cNvPr id="213" name="Image 116" descr="preencoded.png">    </p:cNvPr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76200" y="9677400"/>
            <a:ext cx="95250" cy="76200"/>
          </a:xfrm>
          <a:prstGeom prst="rect">
            <a:avLst/>
          </a:prstGeom>
        </p:spPr>
      </p:pic>
      <p:pic>
        <p:nvPicPr>
          <p:cNvPr id="214" name="Image 117" descr="preencoded.png">    </p:cNvPr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0" y="9677400"/>
            <a:ext cx="47625" cy="7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2026-07-28T20:46:16Z</dcterms:created>
  <dcterms:modified xsi:type="dcterms:W3CDTF">2026-07-28T20:46:16Z</dcterms:modified>
</cp:coreProperties>
</file>